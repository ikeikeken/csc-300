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2">
  <p:sldMasterIdLst>
    <p:sldMasterId id="2147483684" r:id="rId1"/>
  </p:sldMasterIdLst>
  <p:notesMasterIdLst>
    <p:notesMasterId r:id="rId153"/>
  </p:notesMasterIdLst>
  <p:sldIdLst>
    <p:sldId id="256" r:id="rId2"/>
    <p:sldId id="571" r:id="rId3"/>
    <p:sldId id="617" r:id="rId4"/>
    <p:sldId id="453" r:id="rId5"/>
    <p:sldId id="555" r:id="rId6"/>
    <p:sldId id="296" r:id="rId7"/>
    <p:sldId id="297" r:id="rId8"/>
    <p:sldId id="640" r:id="rId9"/>
    <p:sldId id="299" r:id="rId10"/>
    <p:sldId id="625" r:id="rId11"/>
    <p:sldId id="532" r:id="rId12"/>
    <p:sldId id="310" r:id="rId13"/>
    <p:sldId id="541" r:id="rId14"/>
    <p:sldId id="463" r:id="rId15"/>
    <p:sldId id="429" r:id="rId16"/>
    <p:sldId id="533" r:id="rId17"/>
    <p:sldId id="534" r:id="rId18"/>
    <p:sldId id="565" r:id="rId19"/>
    <p:sldId id="556" r:id="rId20"/>
    <p:sldId id="558" r:id="rId21"/>
    <p:sldId id="559" r:id="rId22"/>
    <p:sldId id="557" r:id="rId23"/>
    <p:sldId id="560" r:id="rId24"/>
    <p:sldId id="642" r:id="rId25"/>
    <p:sldId id="643" r:id="rId26"/>
    <p:sldId id="644" r:id="rId27"/>
    <p:sldId id="645" r:id="rId28"/>
    <p:sldId id="646" r:id="rId29"/>
    <p:sldId id="647" r:id="rId30"/>
    <p:sldId id="648" r:id="rId31"/>
    <p:sldId id="649" r:id="rId32"/>
    <p:sldId id="501" r:id="rId33"/>
    <p:sldId id="546" r:id="rId34"/>
    <p:sldId id="535" r:id="rId35"/>
    <p:sldId id="536" r:id="rId36"/>
    <p:sldId id="566" r:id="rId37"/>
    <p:sldId id="400" r:id="rId38"/>
    <p:sldId id="537" r:id="rId39"/>
    <p:sldId id="405" r:id="rId40"/>
    <p:sldId id="626" r:id="rId41"/>
    <p:sldId id="406" r:id="rId42"/>
    <p:sldId id="402" r:id="rId43"/>
    <p:sldId id="403" r:id="rId44"/>
    <p:sldId id="628" r:id="rId45"/>
    <p:sldId id="629" r:id="rId46"/>
    <p:sldId id="407" r:id="rId47"/>
    <p:sldId id="404" r:id="rId48"/>
    <p:sldId id="408" r:id="rId49"/>
    <p:sldId id="409" r:id="rId50"/>
    <p:sldId id="410" r:id="rId51"/>
    <p:sldId id="411" r:id="rId52"/>
    <p:sldId id="412" r:id="rId53"/>
    <p:sldId id="415" r:id="rId54"/>
    <p:sldId id="431" r:id="rId55"/>
    <p:sldId id="425" r:id="rId56"/>
    <p:sldId id="426" r:id="rId57"/>
    <p:sldId id="550" r:id="rId58"/>
    <p:sldId id="650" r:id="rId59"/>
    <p:sldId id="631" r:id="rId60"/>
    <p:sldId id="422" r:id="rId61"/>
    <p:sldId id="424" r:id="rId62"/>
    <p:sldId id="421" r:id="rId63"/>
    <p:sldId id="423" r:id="rId64"/>
    <p:sldId id="630" r:id="rId65"/>
    <p:sldId id="413" r:id="rId66"/>
    <p:sldId id="414" r:id="rId67"/>
    <p:sldId id="416" r:id="rId68"/>
    <p:sldId id="417" r:id="rId69"/>
    <p:sldId id="427" r:id="rId70"/>
    <p:sldId id="428" r:id="rId71"/>
    <p:sldId id="567" r:id="rId72"/>
    <p:sldId id="654" r:id="rId73"/>
    <p:sldId id="632" r:id="rId74"/>
    <p:sldId id="633" r:id="rId75"/>
    <p:sldId id="641" r:id="rId76"/>
    <p:sldId id="634" r:id="rId77"/>
    <p:sldId id="542" r:id="rId78"/>
    <p:sldId id="543" r:id="rId79"/>
    <p:sldId id="544" r:id="rId80"/>
    <p:sldId id="430" r:id="rId81"/>
    <p:sldId id="545" r:id="rId82"/>
    <p:sldId id="443" r:id="rId83"/>
    <p:sldId id="618" r:id="rId84"/>
    <p:sldId id="619" r:id="rId85"/>
    <p:sldId id="620" r:id="rId86"/>
    <p:sldId id="621" r:id="rId87"/>
    <p:sldId id="622" r:id="rId88"/>
    <p:sldId id="623" r:id="rId89"/>
    <p:sldId id="530" r:id="rId90"/>
    <p:sldId id="398" r:id="rId91"/>
    <p:sldId id="257" r:id="rId92"/>
    <p:sldId id="466" r:id="rId93"/>
    <p:sldId id="445" r:id="rId94"/>
    <p:sldId id="446" r:id="rId95"/>
    <p:sldId id="447" r:id="rId96"/>
    <p:sldId id="448" r:id="rId97"/>
    <p:sldId id="538" r:id="rId98"/>
    <p:sldId id="653" r:id="rId99"/>
    <p:sldId id="385" r:id="rId100"/>
    <p:sldId id="386" r:id="rId101"/>
    <p:sldId id="387" r:id="rId102"/>
    <p:sldId id="388" r:id="rId103"/>
    <p:sldId id="651" r:id="rId104"/>
    <p:sldId id="389" r:id="rId105"/>
    <p:sldId id="390" r:id="rId106"/>
    <p:sldId id="652" r:id="rId107"/>
    <p:sldId id="503" r:id="rId108"/>
    <p:sldId id="548" r:id="rId109"/>
    <p:sldId id="454" r:id="rId110"/>
    <p:sldId id="455" r:id="rId111"/>
    <p:sldId id="456" r:id="rId112"/>
    <p:sldId id="465" r:id="rId113"/>
    <p:sldId id="549" r:id="rId114"/>
    <p:sldId id="480" r:id="rId115"/>
    <p:sldId id="539" r:id="rId116"/>
    <p:sldId id="467" r:id="rId117"/>
    <p:sldId id="468" r:id="rId118"/>
    <p:sldId id="527" r:id="rId119"/>
    <p:sldId id="474" r:id="rId120"/>
    <p:sldId id="500" r:id="rId121"/>
    <p:sldId id="540" r:id="rId122"/>
    <p:sldId id="418" r:id="rId123"/>
    <p:sldId id="475" r:id="rId124"/>
    <p:sldId id="317" r:id="rId125"/>
    <p:sldId id="471" r:id="rId126"/>
    <p:sldId id="472" r:id="rId127"/>
    <p:sldId id="476" r:id="rId128"/>
    <p:sldId id="473" r:id="rId129"/>
    <p:sldId id="554" r:id="rId130"/>
    <p:sldId id="624" r:id="rId131"/>
    <p:sldId id="561" r:id="rId132"/>
    <p:sldId id="569" r:id="rId133"/>
    <p:sldId id="635" r:id="rId134"/>
    <p:sldId id="636" r:id="rId135"/>
    <p:sldId id="637" r:id="rId136"/>
    <p:sldId id="638" r:id="rId137"/>
    <p:sldId id="655" r:id="rId138"/>
    <p:sldId id="656" r:id="rId139"/>
    <p:sldId id="639" r:id="rId140"/>
    <p:sldId id="627" r:id="rId141"/>
    <p:sldId id="551" r:id="rId142"/>
    <p:sldId id="528" r:id="rId143"/>
    <p:sldId id="477" r:id="rId144"/>
    <p:sldId id="552" r:id="rId145"/>
    <p:sldId id="553" r:id="rId146"/>
    <p:sldId id="562" r:id="rId147"/>
    <p:sldId id="563" r:id="rId148"/>
    <p:sldId id="570" r:id="rId149"/>
    <p:sldId id="441" r:id="rId150"/>
    <p:sldId id="531" r:id="rId151"/>
    <p:sldId id="479" r:id="rId152"/>
  </p:sldIdLst>
  <p:sldSz cx="9144000" cy="6858000" type="screen4x3"/>
  <p:notesSz cx="702310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113" autoAdjust="0"/>
    <p:restoredTop sz="94589" autoAdjust="0"/>
  </p:normalViewPr>
  <p:slideViewPr>
    <p:cSldViewPr>
      <p:cViewPr varScale="1">
        <p:scale>
          <a:sx n="115" d="100"/>
          <a:sy n="115" d="100"/>
        </p:scale>
        <p:origin x="1976" y="20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viewProps" Target="viewProp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theme" Target="theme/theme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notesMaster" Target="notesMasters/notesMaster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presProps" Target="presProps.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5455"/>
          </a:xfrm>
          <a:prstGeom prst="rect">
            <a:avLst/>
          </a:prstGeom>
        </p:spPr>
        <p:txBody>
          <a:bodyPr vert="horz" lIns="93324" tIns="46662" rIns="93324" bIns="46662" rtlCol="0"/>
          <a:lstStyle>
            <a:lvl1pPr algn="l">
              <a:defRPr sz="1200"/>
            </a:lvl1pPr>
          </a:lstStyle>
          <a:p>
            <a:endParaRPr lang="en-US" dirty="0"/>
          </a:p>
        </p:txBody>
      </p:sp>
      <p:sp>
        <p:nvSpPr>
          <p:cNvPr id="3" name="Date Placeholder 2"/>
          <p:cNvSpPr>
            <a:spLocks noGrp="1"/>
          </p:cNvSpPr>
          <p:nvPr>
            <p:ph type="dt" idx="1"/>
          </p:nvPr>
        </p:nvSpPr>
        <p:spPr>
          <a:xfrm>
            <a:off x="3978132" y="0"/>
            <a:ext cx="3043343" cy="465455"/>
          </a:xfrm>
          <a:prstGeom prst="rect">
            <a:avLst/>
          </a:prstGeom>
        </p:spPr>
        <p:txBody>
          <a:bodyPr vert="horz" lIns="93324" tIns="46662" rIns="93324" bIns="46662" rtlCol="0"/>
          <a:lstStyle>
            <a:lvl1pPr algn="r">
              <a:defRPr sz="1200"/>
            </a:lvl1pPr>
          </a:lstStyle>
          <a:p>
            <a:fld id="{1AFED6A0-2A9B-4C82-8258-9F5447D6753D}" type="datetimeFigureOut">
              <a:rPr lang="en-US" smtClean="0"/>
              <a:pPr/>
              <a:t>6/13/26</a:t>
            </a:fld>
            <a:endParaRPr lang="en-US" dirty="0"/>
          </a:p>
        </p:txBody>
      </p:sp>
      <p:sp>
        <p:nvSpPr>
          <p:cNvPr id="4" name="Slide Image Placeholder 3"/>
          <p:cNvSpPr>
            <a:spLocks noGrp="1" noRot="1" noChangeAspect="1"/>
          </p:cNvSpPr>
          <p:nvPr>
            <p:ph type="sldImg" idx="2"/>
          </p:nvPr>
        </p:nvSpPr>
        <p:spPr>
          <a:xfrm>
            <a:off x="1184275" y="698500"/>
            <a:ext cx="4654550" cy="3490913"/>
          </a:xfrm>
          <a:prstGeom prst="rect">
            <a:avLst/>
          </a:prstGeom>
          <a:noFill/>
          <a:ln w="12700">
            <a:solidFill>
              <a:prstClr val="black"/>
            </a:solidFill>
          </a:ln>
        </p:spPr>
        <p:txBody>
          <a:bodyPr vert="horz" lIns="93324" tIns="46662" rIns="93324" bIns="46662" rtlCol="0" anchor="ctr"/>
          <a:lstStyle/>
          <a:p>
            <a:endParaRPr lang="en-US" dirty="0"/>
          </a:p>
        </p:txBody>
      </p:sp>
      <p:sp>
        <p:nvSpPr>
          <p:cNvPr id="5" name="Notes Placeholder 4"/>
          <p:cNvSpPr>
            <a:spLocks noGrp="1"/>
          </p:cNvSpPr>
          <p:nvPr>
            <p:ph type="body" sz="quarter" idx="3"/>
          </p:nvPr>
        </p:nvSpPr>
        <p:spPr>
          <a:xfrm>
            <a:off x="702310" y="4421823"/>
            <a:ext cx="5618480" cy="4189095"/>
          </a:xfrm>
          <a:prstGeom prst="rect">
            <a:avLst/>
          </a:prstGeom>
        </p:spPr>
        <p:txBody>
          <a:bodyPr vert="horz" lIns="93324" tIns="46662" rIns="93324" bIns="46662"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29"/>
            <a:ext cx="3043343" cy="465455"/>
          </a:xfrm>
          <a:prstGeom prst="rect">
            <a:avLst/>
          </a:prstGeom>
        </p:spPr>
        <p:txBody>
          <a:bodyPr vert="horz" lIns="93324" tIns="46662" rIns="93324" bIns="46662"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8132" y="8842029"/>
            <a:ext cx="3043343" cy="465455"/>
          </a:xfrm>
          <a:prstGeom prst="rect">
            <a:avLst/>
          </a:prstGeom>
        </p:spPr>
        <p:txBody>
          <a:bodyPr vert="horz" lIns="93324" tIns="46662" rIns="93324" bIns="46662" rtlCol="0" anchor="b"/>
          <a:lstStyle>
            <a:lvl1pPr algn="r">
              <a:defRPr sz="1200"/>
            </a:lvl1pPr>
          </a:lstStyle>
          <a:p>
            <a:fld id="{32193B70-1FBA-4BF1-827B-3C58AADF11E5}" type="slidenum">
              <a:rPr lang="en-US" smtClean="0"/>
              <a:pPr/>
              <a:t>‹#›</a:t>
            </a:fld>
            <a:endParaRPr lang="en-US" dirty="0"/>
          </a:p>
        </p:txBody>
      </p:sp>
    </p:spTree>
    <p:extLst>
      <p:ext uri="{BB962C8B-B14F-4D97-AF65-F5344CB8AC3E}">
        <p14:creationId xmlns:p14="http://schemas.microsoft.com/office/powerpoint/2010/main" val="9622505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193B70-1FBA-4BF1-827B-3C58AADF11E5}" type="slidenum">
              <a:rPr lang="en-US" smtClean="0"/>
              <a:pPr/>
              <a:t>1</a:t>
            </a:fld>
            <a:endParaRPr lang="en-US" dirty="0"/>
          </a:p>
        </p:txBody>
      </p:sp>
    </p:spTree>
    <p:extLst>
      <p:ext uri="{BB962C8B-B14F-4D97-AF65-F5344CB8AC3E}">
        <p14:creationId xmlns:p14="http://schemas.microsoft.com/office/powerpoint/2010/main" val="20470027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2193B70-1FBA-4BF1-827B-3C58AADF11E5}" type="slidenum">
              <a:rPr lang="en-US" smtClean="0"/>
              <a:pPr/>
              <a:t>4</a:t>
            </a:fld>
            <a:endParaRPr lang="en-US" dirty="0"/>
          </a:p>
        </p:txBody>
      </p:sp>
    </p:spTree>
    <p:extLst>
      <p:ext uri="{BB962C8B-B14F-4D97-AF65-F5344CB8AC3E}">
        <p14:creationId xmlns:p14="http://schemas.microsoft.com/office/powerpoint/2010/main" val="22238753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193B70-1FBA-4BF1-827B-3C58AADF11E5}" type="slidenum">
              <a:rPr lang="en-US" smtClean="0"/>
              <a:pPr/>
              <a:t>6</a:t>
            </a:fld>
            <a:endParaRPr lang="en-US" dirty="0"/>
          </a:p>
        </p:txBody>
      </p:sp>
    </p:spTree>
    <p:extLst>
      <p:ext uri="{BB962C8B-B14F-4D97-AF65-F5344CB8AC3E}">
        <p14:creationId xmlns:p14="http://schemas.microsoft.com/office/powerpoint/2010/main" val="5416994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193B70-1FBA-4BF1-827B-3C58AADF11E5}" type="slidenum">
              <a:rPr lang="en-US" smtClean="0"/>
              <a:pPr/>
              <a:t>33</a:t>
            </a:fld>
            <a:endParaRPr lang="en-US" dirty="0"/>
          </a:p>
        </p:txBody>
      </p:sp>
    </p:spTree>
    <p:extLst>
      <p:ext uri="{BB962C8B-B14F-4D97-AF65-F5344CB8AC3E}">
        <p14:creationId xmlns:p14="http://schemas.microsoft.com/office/powerpoint/2010/main" val="14709608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193B70-1FBA-4BF1-827B-3C58AADF11E5}" type="slidenum">
              <a:rPr lang="en-US" smtClean="0"/>
              <a:pPr/>
              <a:t>50</a:t>
            </a:fld>
            <a:endParaRPr lang="en-US" dirty="0"/>
          </a:p>
        </p:txBody>
      </p:sp>
    </p:spTree>
    <p:extLst>
      <p:ext uri="{BB962C8B-B14F-4D97-AF65-F5344CB8AC3E}">
        <p14:creationId xmlns:p14="http://schemas.microsoft.com/office/powerpoint/2010/main" val="13528786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193B70-1FBA-4BF1-827B-3C58AADF11E5}" type="slidenum">
              <a:rPr lang="en-US" smtClean="0"/>
              <a:pPr/>
              <a:t>80</a:t>
            </a:fld>
            <a:endParaRPr lang="en-US" dirty="0"/>
          </a:p>
        </p:txBody>
      </p:sp>
    </p:spTree>
    <p:extLst>
      <p:ext uri="{BB962C8B-B14F-4D97-AF65-F5344CB8AC3E}">
        <p14:creationId xmlns:p14="http://schemas.microsoft.com/office/powerpoint/2010/main" val="2093370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193B70-1FBA-4BF1-827B-3C58AADF11E5}" type="slidenum">
              <a:rPr lang="en-US" smtClean="0"/>
              <a:pPr/>
              <a:t>82</a:t>
            </a:fld>
            <a:endParaRPr lang="en-US" dirty="0"/>
          </a:p>
        </p:txBody>
      </p:sp>
    </p:spTree>
    <p:extLst>
      <p:ext uri="{BB962C8B-B14F-4D97-AF65-F5344CB8AC3E}">
        <p14:creationId xmlns:p14="http://schemas.microsoft.com/office/powerpoint/2010/main" val="37112451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193B70-1FBA-4BF1-827B-3C58AADF11E5}" type="slidenum">
              <a:rPr lang="en-US" smtClean="0"/>
              <a:pPr/>
              <a:t>93</a:t>
            </a:fld>
            <a:endParaRPr lang="en-US" dirty="0"/>
          </a:p>
        </p:txBody>
      </p:sp>
    </p:spTree>
    <p:extLst>
      <p:ext uri="{BB962C8B-B14F-4D97-AF65-F5344CB8AC3E}">
        <p14:creationId xmlns:p14="http://schemas.microsoft.com/office/powerpoint/2010/main" val="32443741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193B70-1FBA-4BF1-827B-3C58AADF11E5}" type="slidenum">
              <a:rPr lang="en-US" smtClean="0"/>
              <a:pPr/>
              <a:t>94</a:t>
            </a:fld>
            <a:endParaRPr lang="en-US" dirty="0"/>
          </a:p>
        </p:txBody>
      </p:sp>
    </p:spTree>
    <p:extLst>
      <p:ext uri="{BB962C8B-B14F-4D97-AF65-F5344CB8AC3E}">
        <p14:creationId xmlns:p14="http://schemas.microsoft.com/office/powerpoint/2010/main" val="33170554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193B70-1FBA-4BF1-827B-3C58AADF11E5}" type="slidenum">
              <a:rPr lang="en-US" smtClean="0"/>
              <a:pPr/>
              <a:t>95</a:t>
            </a:fld>
            <a:endParaRPr lang="en-US" dirty="0"/>
          </a:p>
        </p:txBody>
      </p:sp>
    </p:spTree>
    <p:extLst>
      <p:ext uri="{BB962C8B-B14F-4D97-AF65-F5344CB8AC3E}">
        <p14:creationId xmlns:p14="http://schemas.microsoft.com/office/powerpoint/2010/main" val="3748445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193B70-1FBA-4BF1-827B-3C58AADF11E5}" type="slidenum">
              <a:rPr lang="en-US" smtClean="0"/>
              <a:pPr/>
              <a:t>96</a:t>
            </a:fld>
            <a:endParaRPr lang="en-US" dirty="0"/>
          </a:p>
        </p:txBody>
      </p:sp>
    </p:spTree>
    <p:extLst>
      <p:ext uri="{BB962C8B-B14F-4D97-AF65-F5344CB8AC3E}">
        <p14:creationId xmlns:p14="http://schemas.microsoft.com/office/powerpoint/2010/main" val="11025087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193B70-1FBA-4BF1-827B-3C58AADF11E5}" type="slidenum">
              <a:rPr lang="en-US" smtClean="0"/>
              <a:pPr/>
              <a:t>102</a:t>
            </a:fld>
            <a:endParaRPr lang="en-US" dirty="0"/>
          </a:p>
        </p:txBody>
      </p:sp>
    </p:spTree>
    <p:extLst>
      <p:ext uri="{BB962C8B-B14F-4D97-AF65-F5344CB8AC3E}">
        <p14:creationId xmlns:p14="http://schemas.microsoft.com/office/powerpoint/2010/main" val="12798174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193B70-1FBA-4BF1-827B-3C58AADF11E5}" type="slidenum">
              <a:rPr lang="en-US" smtClean="0"/>
              <a:pPr/>
              <a:t>107</a:t>
            </a:fld>
            <a:endParaRPr lang="en-US" dirty="0"/>
          </a:p>
        </p:txBody>
      </p:sp>
    </p:spTree>
    <p:extLst>
      <p:ext uri="{BB962C8B-B14F-4D97-AF65-F5344CB8AC3E}">
        <p14:creationId xmlns:p14="http://schemas.microsoft.com/office/powerpoint/2010/main" val="24745726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193B70-1FBA-4BF1-827B-3C58AADF11E5}" type="slidenum">
              <a:rPr lang="en-US" smtClean="0"/>
              <a:pPr/>
              <a:t>114</a:t>
            </a:fld>
            <a:endParaRPr lang="en-US" dirty="0"/>
          </a:p>
        </p:txBody>
      </p:sp>
    </p:spTree>
    <p:extLst>
      <p:ext uri="{BB962C8B-B14F-4D97-AF65-F5344CB8AC3E}">
        <p14:creationId xmlns:p14="http://schemas.microsoft.com/office/powerpoint/2010/main" val="13011036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193B70-1FBA-4BF1-827B-3C58AADF11E5}" type="slidenum">
              <a:rPr lang="en-US" smtClean="0"/>
              <a:pPr/>
              <a:t>116</a:t>
            </a:fld>
            <a:endParaRPr lang="en-US" dirty="0"/>
          </a:p>
        </p:txBody>
      </p:sp>
    </p:spTree>
    <p:extLst>
      <p:ext uri="{BB962C8B-B14F-4D97-AF65-F5344CB8AC3E}">
        <p14:creationId xmlns:p14="http://schemas.microsoft.com/office/powerpoint/2010/main" val="18806362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193B70-1FBA-4BF1-827B-3C58AADF11E5}" type="slidenum">
              <a:rPr lang="en-US" smtClean="0"/>
              <a:pPr/>
              <a:t>117</a:t>
            </a:fld>
            <a:endParaRPr lang="en-US" dirty="0"/>
          </a:p>
        </p:txBody>
      </p:sp>
    </p:spTree>
    <p:extLst>
      <p:ext uri="{BB962C8B-B14F-4D97-AF65-F5344CB8AC3E}">
        <p14:creationId xmlns:p14="http://schemas.microsoft.com/office/powerpoint/2010/main" val="42867086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193B70-1FBA-4BF1-827B-3C58AADF11E5}" type="slidenum">
              <a:rPr lang="en-US" smtClean="0"/>
              <a:pPr/>
              <a:t>119</a:t>
            </a:fld>
            <a:endParaRPr lang="en-US" dirty="0"/>
          </a:p>
        </p:txBody>
      </p:sp>
    </p:spTree>
    <p:extLst>
      <p:ext uri="{BB962C8B-B14F-4D97-AF65-F5344CB8AC3E}">
        <p14:creationId xmlns:p14="http://schemas.microsoft.com/office/powerpoint/2010/main" val="6956262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193B70-1FBA-4BF1-827B-3C58AADF11E5}" type="slidenum">
              <a:rPr lang="en-US" smtClean="0"/>
              <a:pPr/>
              <a:t>129</a:t>
            </a:fld>
            <a:endParaRPr lang="en-US" dirty="0"/>
          </a:p>
        </p:txBody>
      </p:sp>
    </p:spTree>
    <p:extLst>
      <p:ext uri="{BB962C8B-B14F-4D97-AF65-F5344CB8AC3E}">
        <p14:creationId xmlns:p14="http://schemas.microsoft.com/office/powerpoint/2010/main" val="40117853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193B70-1FBA-4BF1-827B-3C58AADF11E5}" type="slidenum">
              <a:rPr lang="en-US" smtClean="0"/>
              <a:pPr/>
              <a:t>130</a:t>
            </a:fld>
            <a:endParaRPr lang="en-US" dirty="0"/>
          </a:p>
        </p:txBody>
      </p:sp>
    </p:spTree>
    <p:extLst>
      <p:ext uri="{BB962C8B-B14F-4D97-AF65-F5344CB8AC3E}">
        <p14:creationId xmlns:p14="http://schemas.microsoft.com/office/powerpoint/2010/main" val="8026320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193B70-1FBA-4BF1-827B-3C58AADF11E5}" type="slidenum">
              <a:rPr lang="en-US" smtClean="0"/>
              <a:pPr/>
              <a:t>131</a:t>
            </a:fld>
            <a:endParaRPr lang="en-US" dirty="0"/>
          </a:p>
        </p:txBody>
      </p:sp>
    </p:spTree>
    <p:extLst>
      <p:ext uri="{BB962C8B-B14F-4D97-AF65-F5344CB8AC3E}">
        <p14:creationId xmlns:p14="http://schemas.microsoft.com/office/powerpoint/2010/main" val="633521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193B70-1FBA-4BF1-827B-3C58AADF11E5}" type="slidenum">
              <a:rPr lang="en-US" smtClean="0"/>
              <a:pPr/>
              <a:t>140</a:t>
            </a:fld>
            <a:endParaRPr lang="en-US" dirty="0"/>
          </a:p>
        </p:txBody>
      </p:sp>
    </p:spTree>
    <p:extLst>
      <p:ext uri="{BB962C8B-B14F-4D97-AF65-F5344CB8AC3E}">
        <p14:creationId xmlns:p14="http://schemas.microsoft.com/office/powerpoint/2010/main" val="2987506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193B70-1FBA-4BF1-827B-3C58AADF11E5}" type="slidenum">
              <a:rPr lang="en-US" smtClean="0"/>
              <a:pPr/>
              <a:t>148</a:t>
            </a:fld>
            <a:endParaRPr lang="en-US" dirty="0"/>
          </a:p>
        </p:txBody>
      </p:sp>
    </p:spTree>
    <p:extLst>
      <p:ext uri="{BB962C8B-B14F-4D97-AF65-F5344CB8AC3E}">
        <p14:creationId xmlns:p14="http://schemas.microsoft.com/office/powerpoint/2010/main" val="35387571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BB135A08-A941-47E8-980B-0C67B48B8B60}" type="datetime1">
              <a:rPr lang="en-US" smtClean="0"/>
              <a:pPr/>
              <a:t>6/13/26</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13977939-A071-43C1-9268-F54CC2756BB5}" type="slidenum">
              <a:rPr lang="en-US" smtClean="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475488"/>
          </a:xfrm>
        </p:spPr>
        <p:txBody>
          <a:bodyPr>
            <a:normAutofit/>
          </a:bodyPr>
          <a:lstStyle>
            <a:lvl1pPr>
              <a:defRPr sz="3200" b="1"/>
            </a:lvl1pPr>
          </a:lstStyle>
          <a:p>
            <a:r>
              <a:rPr kumimoji="0" lang="en-US" dirty="0"/>
              <a:t>Click to edit Master title style</a:t>
            </a:r>
          </a:p>
        </p:txBody>
      </p:sp>
      <p:sp>
        <p:nvSpPr>
          <p:cNvPr id="3" name="Content Placeholder 2"/>
          <p:cNvSpPr>
            <a:spLocks noGrp="1"/>
          </p:cNvSpPr>
          <p:nvPr>
            <p:ph idx="1"/>
          </p:nvPr>
        </p:nvSpPr>
        <p:spPr>
          <a:xfrm>
            <a:off x="457200" y="1249680"/>
            <a:ext cx="8229600" cy="438912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93530B5F-47C6-4DBB-B756-C623F13B76A5}" type="datetime1">
              <a:rPr lang="en-US" smtClean="0"/>
              <a:pPr/>
              <a:t>6/13/26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3977939-A071-43C1-9268-F54CC2756BB5}"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2FDDC656-64BE-4604-AC2E-086C336BC315}" type="datetime1">
              <a:rPr lang="en-US" smtClean="0"/>
              <a:pPr/>
              <a:t>6/13/26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3977939-A071-43C1-9268-F54CC2756BB5}" type="slidenum">
              <a:rPr lang="en-US" smtClean="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627888"/>
          </a:xfrm>
        </p:spPr>
        <p:txBody>
          <a:bodyPr/>
          <a:lstStyle/>
          <a:p>
            <a:r>
              <a:rPr kumimoji="0" lang="en-US" dirty="0"/>
              <a:t>Click to edit Master title style</a:t>
            </a:r>
          </a:p>
        </p:txBody>
      </p:sp>
      <p:sp>
        <p:nvSpPr>
          <p:cNvPr id="3" name="Content Placeholder 2"/>
          <p:cNvSpPr>
            <a:spLocks noGrp="1"/>
          </p:cNvSpPr>
          <p:nvPr>
            <p:ph sz="half" idx="1"/>
          </p:nvPr>
        </p:nvSpPr>
        <p:spPr>
          <a:xfrm>
            <a:off x="457200" y="1356360"/>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356360"/>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6BB0D293-D1DD-4D8D-BA40-016A26FC25B4}" type="datetime1">
              <a:rPr lang="en-US" smtClean="0"/>
              <a:pPr/>
              <a:t>6/13/26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3977939-A071-43C1-9268-F54CC2756BB5}"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551688"/>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28612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29063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94548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194548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88DE278D-C272-4A19-90DF-E7B4F1583077}" type="datetime1">
              <a:rPr lang="en-US" smtClean="0"/>
              <a:pPr/>
              <a:t>6/13/26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13977939-A071-43C1-9268-F54CC2756BB5}"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305800" cy="627888"/>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3200" b="1">
                <a:ln>
                  <a:noFill/>
                </a:ln>
                <a:solidFill>
                  <a:schemeClr val="tx2"/>
                </a:solidFill>
                <a:effectLst/>
                <a:latin typeface="+mj-lt"/>
                <a:ea typeface="+mj-ea"/>
                <a:cs typeface="+mj-cs"/>
              </a:defRPr>
            </a:lvl1pPr>
          </a:lstStyle>
          <a:p>
            <a:r>
              <a:rPr kumimoji="0" lang="en-US" dirty="0"/>
              <a:t>Click to edit Master title style</a:t>
            </a:r>
          </a:p>
        </p:txBody>
      </p:sp>
      <p:sp>
        <p:nvSpPr>
          <p:cNvPr id="3" name="Date Placeholder 2"/>
          <p:cNvSpPr>
            <a:spLocks noGrp="1"/>
          </p:cNvSpPr>
          <p:nvPr>
            <p:ph type="dt" sz="half" idx="10"/>
          </p:nvPr>
        </p:nvSpPr>
        <p:spPr/>
        <p:txBody>
          <a:bodyPr/>
          <a:lstStyle/>
          <a:p>
            <a:fld id="{C906D93A-8790-407E-966B-CDC69F6431C7}" type="datetime1">
              <a:rPr lang="en-US" smtClean="0"/>
              <a:pPr/>
              <a:t>6/13/26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13977939-A071-43C1-9268-F54CC2756BB5}"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B26F31C-6E57-4714-80DB-7584EB32BDBE}" type="datetime1">
              <a:rPr lang="en-US" smtClean="0"/>
              <a:pPr/>
              <a:t>6/13/26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13977939-A071-43C1-9268-F54CC2756BB5}"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4936B705-7618-435E-90A4-10AD478F8AAF}" type="datetime1">
              <a:rPr lang="en-US" smtClean="0"/>
              <a:pPr/>
              <a:t>6/13/26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3977939-A071-43C1-9268-F54CC2756BB5}"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3B45BA05-853E-42AE-BF9A-870A1D1380C2}" type="datetime1">
              <a:rPr lang="en-US" smtClean="0"/>
              <a:pPr/>
              <a:t>6/13/26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077200" y="6356350"/>
            <a:ext cx="609600" cy="365125"/>
          </a:xfrm>
        </p:spPr>
        <p:txBody>
          <a:bodyPr/>
          <a:lstStyle/>
          <a:p>
            <a:fld id="{13977939-A071-43C1-9268-F54CC2756BB5}" type="slidenum">
              <a:rPr lang="en-US" smtClean="0"/>
              <a:pPr/>
              <a:t>‹#›</a:t>
            </a:fld>
            <a:endParaRPr lang="en-US" dirty="0"/>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dirty="0"/>
              <a:t>Click icon to add picture</a:t>
            </a:r>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E73A3E9-4B8C-4762-9C73-5016B62FBE4A}" type="datetime1">
              <a:rPr lang="en-US" smtClean="0"/>
              <a:pPr/>
              <a:t>6/13/26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3977939-A071-43C1-9268-F54CC2756BB5}"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6676DFD4-AFF6-4EC4-978D-94617FF7741D}" type="datetime1">
              <a:rPr lang="en-US" smtClean="0"/>
              <a:pPr/>
              <a:t>6/13/26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3977939-A071-43C1-9268-F54CC2756BB5}"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9" name="Title Placeholder 8"/>
          <p:cNvSpPr>
            <a:spLocks noGrp="1"/>
          </p:cNvSpPr>
          <p:nvPr>
            <p:ph type="title"/>
          </p:nvPr>
        </p:nvSpPr>
        <p:spPr>
          <a:xfrm>
            <a:off x="457200" y="381000"/>
            <a:ext cx="8229600" cy="627888"/>
          </a:xfrm>
          <a:prstGeom prst="rect">
            <a:avLst/>
          </a:prstGeom>
        </p:spPr>
        <p:txBody>
          <a:bodyPr vert="horz" lIns="0" rIns="0" bIns="0" anchor="b">
            <a:normAutofit/>
          </a:bodyPr>
          <a:lstStyle/>
          <a:p>
            <a:r>
              <a:rPr kumimoji="0" lang="en-US" dirty="0"/>
              <a:t>Click to edit Master title style</a:t>
            </a:r>
          </a:p>
        </p:txBody>
      </p:sp>
      <p:sp>
        <p:nvSpPr>
          <p:cNvPr id="30" name="Text Placeholder 29"/>
          <p:cNvSpPr>
            <a:spLocks noGrp="1"/>
          </p:cNvSpPr>
          <p:nvPr>
            <p:ph type="body" idx="1"/>
          </p:nvPr>
        </p:nvSpPr>
        <p:spPr>
          <a:xfrm>
            <a:off x="457200" y="13258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C7758603-0FE5-404F-A08E-0663569AC92D}" type="datetime1">
              <a:rPr lang="en-US" smtClean="0"/>
              <a:pPr/>
              <a:t>6/13/26</a:t>
            </a:fld>
            <a:endParaRPr lang="en-US" dirty="0"/>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dirty="0"/>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13977939-A071-43C1-9268-F54CC2756BB5}" type="slidenum">
              <a:rPr lang="en-US" smtClean="0"/>
              <a:pPr/>
              <a:t>‹#›</a:t>
            </a:fld>
            <a:endParaRPr lang="en-US" dirty="0"/>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dirty="0"/>
            </a:p>
          </p:txBody>
        </p:sp>
      </p:gr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rtl="0" eaLnBrk="1" latinLnBrk="0" hangingPunct="1">
        <a:spcBef>
          <a:spcPct val="0"/>
        </a:spcBef>
        <a:buNone/>
        <a:defRPr kumimoji="0" sz="3200" b="1"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www.programmedlessons.org/Java9/index.html"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javatpoint.com/java-8-method-reference" TargetMode="External"/><Relationship Id="rId7" Type="http://schemas.openxmlformats.org/officeDocument/2006/relationships/hyperlink" Target="https://howtodoinjava.com/java8/java-streams-by-examples/" TargetMode="External"/><Relationship Id="rId2" Type="http://schemas.openxmlformats.org/officeDocument/2006/relationships/hyperlink" Target="https://howtodoinjava.com/java8/lambda-expressions/" TargetMode="External"/><Relationship Id="rId1" Type="http://schemas.openxmlformats.org/officeDocument/2006/relationships/slideLayout" Target="../slideLayouts/slideLayout2.xml"/><Relationship Id="rId6" Type="http://schemas.openxmlformats.org/officeDocument/2006/relationships/hyperlink" Target="http://tutorials.jenkov.com/java-functional-programming/streams.html#java-stream-definition" TargetMode="External"/><Relationship Id="rId5" Type="http://schemas.openxmlformats.org/officeDocument/2006/relationships/hyperlink" Target="https://examples.javacodegeeks.com/java-functional-interface-example/" TargetMode="External"/><Relationship Id="rId4" Type="http://schemas.openxmlformats.org/officeDocument/2006/relationships/hyperlink" Target="https://howtodoinjava.com/java8/lambda-method-references-example/"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hyperlink" Target="https://docs.oracle.com/en/java/javase/21/"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6.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6.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1371600"/>
            <a:ext cx="7851648" cy="1828800"/>
          </a:xfrm>
        </p:spPr>
        <p:txBody>
          <a:bodyPr/>
          <a:lstStyle/>
          <a:p>
            <a:r>
              <a:rPr lang="en-US" dirty="0"/>
              <a:t>LESSON 3</a:t>
            </a:r>
          </a:p>
        </p:txBody>
      </p:sp>
      <p:sp>
        <p:nvSpPr>
          <p:cNvPr id="3" name="Subtitle 2"/>
          <p:cNvSpPr>
            <a:spLocks noGrp="1"/>
          </p:cNvSpPr>
          <p:nvPr>
            <p:ph type="subTitle" idx="1"/>
          </p:nvPr>
        </p:nvSpPr>
        <p:spPr>
          <a:xfrm>
            <a:off x="533400" y="3228536"/>
            <a:ext cx="7854696" cy="2638864"/>
          </a:xfrm>
        </p:spPr>
        <p:txBody>
          <a:bodyPr>
            <a:normAutofit fontScale="92500" lnSpcReduction="10000"/>
          </a:bodyPr>
          <a:lstStyle/>
          <a:p>
            <a:r>
              <a:rPr lang="en-US" dirty="0">
                <a:latin typeface="+mj-lt"/>
              </a:rPr>
              <a:t>Reviewing Java Implementation Of OO Principles – Part 1</a:t>
            </a:r>
          </a:p>
          <a:p>
            <a:r>
              <a:rPr lang="en-US" dirty="0">
                <a:latin typeface="+mj-lt"/>
              </a:rPr>
              <a:t>Classes, Encapsulation, Aggregation, Enumeration, Inheritance </a:t>
            </a:r>
          </a:p>
          <a:p>
            <a:r>
              <a:rPr lang="en-US" dirty="0">
                <a:latin typeface="+mj-lt"/>
              </a:rPr>
              <a:t>A Rapid Review </a:t>
            </a:r>
          </a:p>
          <a:p>
            <a:r>
              <a:rPr lang="en-US" dirty="0">
                <a:latin typeface="+mj-lt"/>
              </a:rPr>
              <a:t>CSC  300</a:t>
            </a:r>
          </a:p>
          <a:p>
            <a:r>
              <a:rPr lang="en-US" dirty="0">
                <a:latin typeface="+mj-lt"/>
              </a:rPr>
              <a:t>Fall 2026</a:t>
            </a:r>
          </a:p>
          <a:p>
            <a:r>
              <a:rPr lang="en-US" dirty="0">
                <a:latin typeface="+mj-lt"/>
              </a:rPr>
              <a:t>Howard Rosenthal</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475488"/>
          </a:xfrm>
        </p:spPr>
        <p:txBody>
          <a:bodyPr>
            <a:noAutofit/>
          </a:bodyPr>
          <a:lstStyle/>
          <a:p>
            <a:r>
              <a:rPr lang="en-US" dirty="0"/>
              <a:t>Course References</a:t>
            </a:r>
          </a:p>
        </p:txBody>
      </p:sp>
      <p:sp>
        <p:nvSpPr>
          <p:cNvPr id="3" name="Content Placeholder 2"/>
          <p:cNvSpPr>
            <a:spLocks noGrp="1"/>
          </p:cNvSpPr>
          <p:nvPr>
            <p:ph idx="1"/>
          </p:nvPr>
        </p:nvSpPr>
        <p:spPr>
          <a:xfrm>
            <a:off x="304800" y="609600"/>
            <a:ext cx="8534400" cy="6106510"/>
          </a:xfrm>
        </p:spPr>
        <p:txBody>
          <a:bodyPr>
            <a:normAutofit fontScale="70000" lnSpcReduction="20000"/>
          </a:bodyPr>
          <a:lstStyle/>
          <a:p>
            <a:r>
              <a:rPr lang="en-US" dirty="0"/>
              <a:t>Materials for this course have utilized materials in the following documents.  Additional materials taken from web sites will be referenced when utilized.</a:t>
            </a:r>
          </a:p>
          <a:p>
            <a:pPr marL="514350" indent="-514350">
              <a:buFont typeface="+mj-lt"/>
              <a:buAutoNum type="arabicPeriod"/>
            </a:pPr>
            <a:r>
              <a:rPr lang="en-US" dirty="0">
                <a:hlinkClick r:id="rId2"/>
              </a:rPr>
              <a:t>http://www.programmedlessons.org/Java9/index.html</a:t>
            </a:r>
            <a:endParaRPr lang="en-US" dirty="0"/>
          </a:p>
          <a:p>
            <a:pPr marL="514350" indent="-514350">
              <a:buFont typeface="+mj-lt"/>
              <a:buAutoNum type="arabicPeriod"/>
            </a:pPr>
            <a:r>
              <a:rPr lang="en-US" dirty="0"/>
              <a:t>Anderson, Julie and Franceschi, Herve, Java Illuminated 5</a:t>
            </a:r>
            <a:r>
              <a:rPr lang="en-US" baseline="30000" dirty="0"/>
              <a:t>TH</a:t>
            </a:r>
            <a:r>
              <a:rPr lang="en-US" dirty="0"/>
              <a:t> Edition,, Jones and Bartlett, 2019</a:t>
            </a:r>
          </a:p>
          <a:p>
            <a:pPr marL="514350" indent="-514350">
              <a:buFont typeface="+mj-lt"/>
              <a:buAutoNum type="arabicPeriod"/>
            </a:pPr>
            <a:r>
              <a:rPr lang="en-US" dirty="0"/>
              <a:t>Bravaco, Ralph and Simonson, Shai, Java Programming From The Ground Up, McGraw Hill, 2010</a:t>
            </a:r>
          </a:p>
          <a:p>
            <a:pPr marL="514350" indent="-514350">
              <a:buFont typeface="+mj-lt"/>
              <a:buAutoNum type="arabicPeriod"/>
            </a:pPr>
            <a:r>
              <a:rPr lang="en-US" dirty="0"/>
              <a:t>Deitel, Paul and Deitel, Harvey, Java, How To Program, Early Objects, Eleventh Edition, Pearson Publishing, 2018</a:t>
            </a:r>
          </a:p>
          <a:p>
            <a:pPr marL="514350" indent="-514350">
              <a:buFont typeface="+mj-lt"/>
              <a:buAutoNum type="arabicPeriod"/>
            </a:pPr>
            <a:r>
              <a:rPr lang="en-US" dirty="0"/>
              <a:t>Gaddis, Tony, Starting Out With Objects From Control Structures Through Objects, Seventh Edition, Pearson Publishing, 2019</a:t>
            </a:r>
          </a:p>
          <a:p>
            <a:pPr marL="514350" indent="-514350">
              <a:buFont typeface="+mj-lt"/>
              <a:buAutoNum type="arabicPeriod"/>
            </a:pPr>
            <a:r>
              <a:rPr lang="en-US" dirty="0"/>
              <a:t>Horstmann, Cay, Core Java For The Impatient, Addison Wesley- Pearson Education, 2015</a:t>
            </a:r>
          </a:p>
          <a:p>
            <a:pPr marL="514350" indent="-514350">
              <a:buFont typeface="+mj-lt"/>
              <a:buAutoNum type="arabicPeriod"/>
            </a:pPr>
            <a:r>
              <a:rPr lang="en-US" dirty="0"/>
              <a:t>Lecessi, Ralph, Functional Interfaces In Java, Apress, 2019</a:t>
            </a:r>
          </a:p>
          <a:p>
            <a:pPr marL="514350" indent="-514350">
              <a:buFont typeface="+mj-lt"/>
              <a:buAutoNum type="arabicPeriod"/>
            </a:pPr>
            <a:r>
              <a:rPr lang="en-US" dirty="0"/>
              <a:t>Naftalin, Maurice and Wadler, Philip, Java Generics and Collections, O’Reilly Media, 2007</a:t>
            </a:r>
          </a:p>
          <a:p>
            <a:pPr marL="514350" indent="-514350">
              <a:buFont typeface="+mj-lt"/>
              <a:buAutoNum type="arabicPeriod"/>
            </a:pPr>
            <a:r>
              <a:rPr lang="en-US" dirty="0"/>
              <a:t>Schmuller, Joseph, Teach Yourself UML In 24 Hours Second Edition, SAMS Publishing, 2002</a:t>
            </a:r>
          </a:p>
          <a:p>
            <a:pPr marL="514350" indent="-514350">
              <a:buFont typeface="+mj-lt"/>
              <a:buAutoNum type="arabicPeriod"/>
            </a:pPr>
            <a:r>
              <a:rPr lang="en-US" dirty="0"/>
              <a:t>Urma, Raoul-Gabriel, Fusco, Mario and Mycroft, Alan, Java 8 in Action: Lambdas, Streams, and Functional-Style Programming, Manning Publishing, Second Edition 2019</a:t>
            </a:r>
          </a:p>
          <a:p>
            <a:pPr marL="514350" indent="-514350">
              <a:buFont typeface="+mj-lt"/>
              <a:buAutoNum type="arabicPeriod"/>
            </a:pPr>
            <a:r>
              <a:rPr lang="en-US" dirty="0"/>
              <a:t>Wirfs-Brock, Rebecca, Wilkerson, Brian and Wiener, Laura, Designing Object-Oriented Software, Prentice Hall, 1990</a:t>
            </a:r>
          </a:p>
          <a:p>
            <a:pPr marL="514350" indent="-514350">
              <a:buFont typeface="+mj-lt"/>
              <a:buAutoNum type="arabicPeriod"/>
            </a:pPr>
            <a:r>
              <a:rPr lang="en-US" dirty="0"/>
              <a:t>Oracle On-Line Documentation and Tutorials, https://docs.oracle.com</a:t>
            </a:r>
          </a:p>
        </p:txBody>
      </p:sp>
      <p:sp>
        <p:nvSpPr>
          <p:cNvPr id="4" name="Slide Number Placeholder 3"/>
          <p:cNvSpPr>
            <a:spLocks noGrp="1"/>
          </p:cNvSpPr>
          <p:nvPr>
            <p:ph type="sldNum" sz="quarter" idx="12"/>
          </p:nvPr>
        </p:nvSpPr>
        <p:spPr/>
        <p:txBody>
          <a:bodyPr/>
          <a:lstStyle/>
          <a:p>
            <a:fld id="{13977939-A071-43C1-9268-F54CC2756BB5}" type="slidenum">
              <a:rPr lang="en-US" smtClean="0"/>
              <a:pPr/>
              <a:t>2</a:t>
            </a:fld>
            <a:endParaRPr lang="en-US" dirty="0"/>
          </a:p>
        </p:txBody>
      </p:sp>
    </p:spTree>
    <p:extLst>
      <p:ext uri="{BB962C8B-B14F-4D97-AF65-F5344CB8AC3E}">
        <p14:creationId xmlns:p14="http://schemas.microsoft.com/office/powerpoint/2010/main" val="10738782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Links</a:t>
            </a:r>
          </a:p>
        </p:txBody>
      </p:sp>
      <p:sp>
        <p:nvSpPr>
          <p:cNvPr id="3" name="Content Placeholder 2"/>
          <p:cNvSpPr>
            <a:spLocks noGrp="1"/>
          </p:cNvSpPr>
          <p:nvPr>
            <p:ph idx="1"/>
          </p:nvPr>
        </p:nvSpPr>
        <p:spPr>
          <a:xfrm>
            <a:off x="457200" y="1249680"/>
            <a:ext cx="8382000" cy="5151120"/>
          </a:xfrm>
        </p:spPr>
        <p:txBody>
          <a:bodyPr>
            <a:normAutofit fontScale="85000" lnSpcReduction="20000"/>
          </a:bodyPr>
          <a:lstStyle/>
          <a:p>
            <a:r>
              <a:rPr lang="en-US" dirty="0">
                <a:hlinkClick r:id="rId2">
                  <a:extLst>
                    <a:ext uri="{A12FA001-AC4F-418D-AE19-62706E023703}">
                      <ahyp:hlinkClr xmlns:ahyp="http://schemas.microsoft.com/office/drawing/2018/hyperlinkcolor" val="tx"/>
                    </a:ext>
                  </a:extLst>
                </a:hlinkClick>
              </a:rPr>
              <a:t>https://howtodoinjava.com/java8/lambda-expressions/</a:t>
            </a:r>
            <a:endParaRPr lang="en-US" dirty="0"/>
          </a:p>
          <a:p>
            <a:r>
              <a:rPr lang="en-US" dirty="0">
                <a:hlinkClick r:id="rId3">
                  <a:extLst>
                    <a:ext uri="{A12FA001-AC4F-418D-AE19-62706E023703}">
                      <ahyp:hlinkClr xmlns:ahyp="http://schemas.microsoft.com/office/drawing/2018/hyperlinkcolor" val="tx"/>
                    </a:ext>
                  </a:extLst>
                </a:hlinkClick>
              </a:rPr>
              <a:t>https://www.javatpoint.com/java-8-method-reference</a:t>
            </a:r>
            <a:endParaRPr lang="en-US" dirty="0"/>
          </a:p>
          <a:p>
            <a:r>
              <a:rPr lang="en-US" dirty="0">
                <a:hlinkClick r:id="rId4">
                  <a:extLst>
                    <a:ext uri="{A12FA001-AC4F-418D-AE19-62706E023703}">
                      <ahyp:hlinkClr xmlns:ahyp="http://schemas.microsoft.com/office/drawing/2018/hyperlinkcolor" val="tx"/>
                    </a:ext>
                  </a:extLst>
                </a:hlinkClick>
              </a:rPr>
              <a:t>https://howtodoinjava.com/java8/lambda-method-references-example/</a:t>
            </a:r>
            <a:endParaRPr lang="en-US" dirty="0"/>
          </a:p>
          <a:p>
            <a:r>
              <a:rPr lang="en-US" dirty="0">
                <a:hlinkClick r:id="rId5">
                  <a:extLst>
                    <a:ext uri="{A12FA001-AC4F-418D-AE19-62706E023703}">
                      <ahyp:hlinkClr xmlns:ahyp="http://schemas.microsoft.com/office/drawing/2018/hyperlinkcolor" val="tx"/>
                    </a:ext>
                  </a:extLst>
                </a:hlinkClick>
              </a:rPr>
              <a:t>https://examples.javacodegeeks.com/java-functional-interface-example/</a:t>
            </a:r>
            <a:endParaRPr lang="en-US" dirty="0"/>
          </a:p>
          <a:p>
            <a:r>
              <a:rPr lang="en-US" dirty="0">
                <a:hlinkClick r:id="rId6">
                  <a:extLst>
                    <a:ext uri="{A12FA001-AC4F-418D-AE19-62706E023703}">
                      <ahyp:hlinkClr xmlns:ahyp="http://schemas.microsoft.com/office/drawing/2018/hyperlinkcolor" val="tx"/>
                    </a:ext>
                  </a:extLst>
                </a:hlinkClick>
              </a:rPr>
              <a:t>http://tutorials.jenkov.com/java-functional-programming/streams.html#java-stream-definition</a:t>
            </a:r>
            <a:endParaRPr lang="en-US" dirty="0"/>
          </a:p>
          <a:p>
            <a:r>
              <a:rPr lang="en-US" dirty="0">
                <a:hlinkClick r:id="rId7">
                  <a:extLst>
                    <a:ext uri="{A12FA001-AC4F-418D-AE19-62706E023703}">
                      <ahyp:hlinkClr xmlns:ahyp="http://schemas.microsoft.com/office/drawing/2018/hyperlinkcolor" val="tx"/>
                    </a:ext>
                  </a:extLst>
                </a:hlinkClick>
              </a:rPr>
              <a:t>https://howtodoinjava.com/java8/java-streams-by-examples/</a:t>
            </a:r>
            <a:endParaRPr lang="en-US" dirty="0"/>
          </a:p>
          <a:p>
            <a:pPr marL="0" indent="0">
              <a:buNone/>
            </a:pPr>
            <a:endParaRPr lang="en-US" dirty="0"/>
          </a:p>
          <a:p>
            <a:pPr marL="0" indent="0">
              <a:buNone/>
            </a:pPr>
            <a:endParaRPr lang="en-US" dirty="0"/>
          </a:p>
          <a:p>
            <a:pPr marL="0" indent="0">
              <a:buNone/>
            </a:pPr>
            <a:r>
              <a:rPr lang="en-US" dirty="0"/>
              <a:t>Significant Portions of  the following reference are used in this lesson:</a:t>
            </a:r>
          </a:p>
          <a:p>
            <a:pPr marL="0" indent="0">
              <a:buNone/>
            </a:pPr>
            <a:r>
              <a:rPr lang="en-US" dirty="0"/>
              <a:t>Urma, Raoul-Gabriel, Fusco, Mario and Mycroft, Alan, Java 8 in Action: Lambdas, Streams, and Functional-Style Programming, Manning Publishing, Second Edition 2019</a:t>
            </a:r>
          </a:p>
          <a:p>
            <a:pPr marL="0" indent="0">
              <a:buNone/>
            </a:pPr>
            <a:endParaRPr lang="en-US" dirty="0"/>
          </a:p>
        </p:txBody>
      </p:sp>
      <p:sp>
        <p:nvSpPr>
          <p:cNvPr id="4" name="Slide Number Placeholder 3"/>
          <p:cNvSpPr>
            <a:spLocks noGrp="1"/>
          </p:cNvSpPr>
          <p:nvPr>
            <p:ph type="sldNum" sz="quarter" idx="12"/>
          </p:nvPr>
        </p:nvSpPr>
        <p:spPr/>
        <p:txBody>
          <a:bodyPr/>
          <a:lstStyle/>
          <a:p>
            <a:fld id="{13977939-A071-43C1-9268-F54CC2756BB5}" type="slidenum">
              <a:rPr lang="en-US" smtClean="0"/>
              <a:pPr/>
              <a:t>3</a:t>
            </a:fld>
            <a:endParaRPr lang="en-US" dirty="0"/>
          </a:p>
        </p:txBody>
      </p:sp>
    </p:spTree>
    <p:extLst>
      <p:ext uri="{BB962C8B-B14F-4D97-AF65-F5344CB8AC3E}">
        <p14:creationId xmlns:p14="http://schemas.microsoft.com/office/powerpoint/2010/main" val="36505314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Lesson Goals</a:t>
            </a:r>
          </a:p>
        </p:txBody>
      </p:sp>
      <p:sp>
        <p:nvSpPr>
          <p:cNvPr id="3" name="Content Placeholder 2"/>
          <p:cNvSpPr>
            <a:spLocks noGrp="1"/>
          </p:cNvSpPr>
          <p:nvPr>
            <p:ph idx="1"/>
          </p:nvPr>
        </p:nvSpPr>
        <p:spPr>
          <a:xfrm>
            <a:off x="457200" y="1249680"/>
            <a:ext cx="8229600" cy="4922520"/>
          </a:xfrm>
        </p:spPr>
        <p:txBody>
          <a:bodyPr>
            <a:normAutofit fontScale="85000" lnSpcReduction="20000"/>
          </a:bodyPr>
          <a:lstStyle/>
          <a:p>
            <a:r>
              <a:rPr lang="en-US" dirty="0"/>
              <a:t>Basic Principles</a:t>
            </a:r>
          </a:p>
          <a:p>
            <a:r>
              <a:rPr lang="en-US" dirty="0"/>
              <a:t>Understand the Object-Oriented paradigm</a:t>
            </a:r>
          </a:p>
          <a:p>
            <a:r>
              <a:rPr lang="en-US" dirty="0"/>
              <a:t>Introduce new, modernized features in Java.</a:t>
            </a:r>
          </a:p>
          <a:p>
            <a:r>
              <a:rPr lang="en-US" dirty="0"/>
              <a:t>Java and AI</a:t>
            </a:r>
          </a:p>
          <a:p>
            <a:r>
              <a:rPr lang="en-US" dirty="0"/>
              <a:t>Review (from CSC 123) of how basic object-oriented principles are implemented in Java</a:t>
            </a:r>
          </a:p>
          <a:p>
            <a:pPr lvl="1"/>
            <a:r>
              <a:rPr lang="en-US" dirty="0"/>
              <a:t>Classes and encapsulation</a:t>
            </a:r>
          </a:p>
          <a:p>
            <a:pPr lvl="1"/>
            <a:r>
              <a:rPr lang="en-US" dirty="0"/>
              <a:t>Accessors and Mutators</a:t>
            </a:r>
          </a:p>
          <a:p>
            <a:r>
              <a:rPr lang="en-US" dirty="0"/>
              <a:t>Describe UML</a:t>
            </a:r>
          </a:p>
          <a:p>
            <a:r>
              <a:rPr lang="en-US" dirty="0"/>
              <a:t>Look at Immutable classes</a:t>
            </a:r>
          </a:p>
          <a:p>
            <a:r>
              <a:rPr lang="en-US" dirty="0"/>
              <a:t>The String Constant Pool</a:t>
            </a:r>
          </a:p>
          <a:p>
            <a:r>
              <a:rPr lang="en-US" dirty="0"/>
              <a:t>Review Aggregation</a:t>
            </a:r>
          </a:p>
          <a:p>
            <a:r>
              <a:rPr lang="en-US" dirty="0"/>
              <a:t>Review the Enumeration class</a:t>
            </a:r>
          </a:p>
          <a:p>
            <a:r>
              <a:rPr lang="en-US" dirty="0"/>
              <a:t>Review Inheritance</a:t>
            </a:r>
          </a:p>
        </p:txBody>
      </p:sp>
      <p:sp>
        <p:nvSpPr>
          <p:cNvPr id="4" name="Slide Number Placeholder 3"/>
          <p:cNvSpPr>
            <a:spLocks noGrp="1"/>
          </p:cNvSpPr>
          <p:nvPr>
            <p:ph type="sldNum" sz="quarter" idx="12"/>
          </p:nvPr>
        </p:nvSpPr>
        <p:spPr/>
        <p:txBody>
          <a:bodyPr/>
          <a:lstStyle/>
          <a:p>
            <a:fld id="{13977939-A071-43C1-9268-F54CC2756BB5}" type="slidenum">
              <a:rPr lang="en-US" smtClean="0"/>
              <a:pPr/>
              <a:t>4</a:t>
            </a:fld>
            <a:endParaRPr lang="en-US" dirty="0"/>
          </a:p>
        </p:txBody>
      </p:sp>
    </p:spTree>
    <p:extLst>
      <p:ext uri="{BB962C8B-B14F-4D97-AF65-F5344CB8AC3E}">
        <p14:creationId xmlns:p14="http://schemas.microsoft.com/office/powerpoint/2010/main" val="5607780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21B7619-9FC2-D949-8E53-5E651D565C01}"/>
              </a:ext>
            </a:extLst>
          </p:cNvPr>
          <p:cNvSpPr>
            <a:spLocks noGrp="1"/>
          </p:cNvSpPr>
          <p:nvPr>
            <p:ph type="title" idx="4294967295"/>
          </p:nvPr>
        </p:nvSpPr>
        <p:spPr>
          <a:xfrm>
            <a:off x="530225" y="2705100"/>
            <a:ext cx="7772400" cy="1509713"/>
          </a:xfrm>
          <a:prstGeom prst="rect">
            <a:avLst/>
          </a:prstGeom>
          <a:noFill/>
          <a:ln>
            <a:noFill/>
            <a:prstDash/>
          </a:ln>
          <a:effectLst/>
        </p:spPr>
        <p:txBody>
          <a:bodyPr rot="0" spcFirstLastPara="0" vertOverflow="overflow" horzOverflow="overflow" vert="horz" wrap="square" lIns="45720" tIns="45720" rIns="45720" bIns="45720" numCol="1" spcCol="0" rtlCol="0" fromWordArt="0" anchor="t" anchorCtr="0" forceAA="0" compatLnSpc="1">
            <a:prstTxWarp prst="textNoShape">
              <a:avLst/>
            </a:prstTxWarp>
            <a:normAutofit/>
          </a:bodyPr>
          <a:lstStyle/>
          <a:p>
            <a:pPr marL="0" marR="0" lvl="0" indent="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200" b="0" i="0" u="none" strike="noStrike" kern="1200" cap="none" spc="0" normalizeH="0" baseline="0" noProof="0" dirty="0">
                <a:ln>
                  <a:noFill/>
                </a:ln>
                <a:solidFill>
                  <a:schemeClr val="tx1"/>
                </a:solidFill>
                <a:effectLst/>
                <a:uLnTx/>
                <a:uFillTx/>
                <a:latin typeface="+mn-lt"/>
                <a:ea typeface="+mn-ea"/>
                <a:cs typeface="+mn-cs"/>
              </a:rPr>
              <a:t>Some Basic Principles In Java</a:t>
            </a:r>
          </a:p>
        </p:txBody>
      </p:sp>
      <p:sp>
        <p:nvSpPr>
          <p:cNvPr id="4" name="Slide Number Placeholder 3">
            <a:extLst>
              <a:ext uri="{FF2B5EF4-FFF2-40B4-BE49-F238E27FC236}">
                <a16:creationId xmlns:a16="http://schemas.microsoft.com/office/drawing/2014/main" id="{91385887-F09F-E943-B1AD-19E172522FF2}"/>
              </a:ext>
            </a:extLst>
          </p:cNvPr>
          <p:cNvSpPr>
            <a:spLocks noGrp="1"/>
          </p:cNvSpPr>
          <p:nvPr>
            <p:ph type="sldNum" sz="quarter" idx="12"/>
          </p:nvPr>
        </p:nvSpPr>
        <p:spPr/>
        <p:txBody>
          <a:bodyPr/>
          <a:lstStyle/>
          <a:p>
            <a:fld id="{13977939-A071-43C1-9268-F54CC2756BB5}" type="slidenum">
              <a:rPr lang="en-US" smtClean="0"/>
              <a:pPr/>
              <a:t>5</a:t>
            </a:fld>
            <a:endParaRPr lang="en-US" dirty="0"/>
          </a:p>
        </p:txBody>
      </p:sp>
    </p:spTree>
    <p:extLst>
      <p:ext uri="{BB962C8B-B14F-4D97-AF65-F5344CB8AC3E}">
        <p14:creationId xmlns:p14="http://schemas.microsoft.com/office/powerpoint/2010/main" val="31112224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81000"/>
            <a:ext cx="8839200" cy="609600"/>
          </a:xfrm>
        </p:spPr>
        <p:txBody>
          <a:bodyPr>
            <a:normAutofit/>
          </a:bodyPr>
          <a:lstStyle/>
          <a:p>
            <a:r>
              <a:rPr lang="en-US" dirty="0"/>
              <a:t>Basic Concepts In Computer Software</a:t>
            </a:r>
          </a:p>
        </p:txBody>
      </p:sp>
      <p:sp>
        <p:nvSpPr>
          <p:cNvPr id="3" name="Content Placeholder 2"/>
          <p:cNvSpPr>
            <a:spLocks noGrp="1"/>
          </p:cNvSpPr>
          <p:nvPr>
            <p:ph idx="1"/>
          </p:nvPr>
        </p:nvSpPr>
        <p:spPr>
          <a:xfrm>
            <a:off x="457200" y="1066799"/>
            <a:ext cx="8229600" cy="5654675"/>
          </a:xfrm>
        </p:spPr>
        <p:txBody>
          <a:bodyPr>
            <a:normAutofit lnSpcReduction="10000"/>
          </a:bodyPr>
          <a:lstStyle/>
          <a:p>
            <a:r>
              <a:rPr lang="en-US" sz="1800" b="1" dirty="0"/>
              <a:t>Operating System</a:t>
            </a:r>
            <a:r>
              <a:rPr lang="en-US" sz="1800" dirty="0"/>
              <a:t> – Software that controls all aspects of the computer – DOS, Windows, MAC OS, UNIX, etc.</a:t>
            </a:r>
          </a:p>
          <a:p>
            <a:r>
              <a:rPr lang="en-US" sz="1800" b="1" dirty="0"/>
              <a:t>Languages and levels of abstraction</a:t>
            </a:r>
          </a:p>
          <a:p>
            <a:pPr lvl="1"/>
            <a:r>
              <a:rPr lang="en-US" sz="1600" b="1" dirty="0"/>
              <a:t>Machine Language</a:t>
            </a:r>
            <a:r>
              <a:rPr lang="en-US" sz="1600" dirty="0"/>
              <a:t> – expressed in </a:t>
            </a:r>
            <a:r>
              <a:rPr lang="en-US" sz="1600" dirty="0">
                <a:latin typeface="Arial" pitchFamily="34" charset="0"/>
                <a:cs typeface="Arial" pitchFamily="34" charset="0"/>
              </a:rPr>
              <a:t>0’s</a:t>
            </a:r>
            <a:r>
              <a:rPr lang="en-US" sz="1600" dirty="0"/>
              <a:t> and </a:t>
            </a:r>
            <a:r>
              <a:rPr lang="en-US" sz="1600" dirty="0">
                <a:latin typeface="Arial" pitchFamily="34" charset="0"/>
                <a:cs typeface="Arial" pitchFamily="34" charset="0"/>
              </a:rPr>
              <a:t>1’s</a:t>
            </a:r>
            <a:r>
              <a:rPr lang="en-US" sz="1600" dirty="0"/>
              <a:t>. This is what the machine understands.  A long time ago programmers coded in </a:t>
            </a:r>
            <a:r>
              <a:rPr lang="en-US" sz="1600" dirty="0">
                <a:latin typeface="Arial"/>
                <a:cs typeface="Arial"/>
              </a:rPr>
              <a:t>0</a:t>
            </a:r>
            <a:r>
              <a:rPr lang="en-US" sz="1600" dirty="0"/>
              <a:t>’s and </a:t>
            </a:r>
            <a:r>
              <a:rPr lang="en-US" sz="1600" dirty="0">
                <a:latin typeface="Arial"/>
                <a:cs typeface="Arial"/>
              </a:rPr>
              <a:t>1</a:t>
            </a:r>
            <a:r>
              <a:rPr lang="en-US" sz="1600" dirty="0"/>
              <a:t>’s. It was very hard to write complex programs.</a:t>
            </a:r>
          </a:p>
          <a:p>
            <a:pPr lvl="1"/>
            <a:r>
              <a:rPr lang="en-US" sz="1600" dirty="0"/>
              <a:t>Even today computers are doing all their work representing and manipulating data in binary</a:t>
            </a:r>
          </a:p>
          <a:p>
            <a:pPr lvl="1"/>
            <a:r>
              <a:rPr lang="en-US" sz="1600" b="1" dirty="0"/>
              <a:t>Assembly Language</a:t>
            </a:r>
            <a:r>
              <a:rPr lang="en-US" sz="1600" dirty="0"/>
              <a:t> – A low-level programming language in which a mnemonic is used to represent each of the machine language instructions for a particular computer </a:t>
            </a:r>
          </a:p>
          <a:p>
            <a:pPr marL="365760" lvl="1" indent="0">
              <a:buNone/>
            </a:pPr>
            <a:r>
              <a:rPr lang="en-US" sz="1600" b="1" dirty="0">
                <a:latin typeface="Arial"/>
                <a:cs typeface="Arial"/>
              </a:rPr>
              <a:t>Assembly Language            Machine Language</a:t>
            </a:r>
            <a:endParaRPr lang="en-US" sz="1600" dirty="0">
              <a:latin typeface="Arial"/>
              <a:cs typeface="Arial"/>
            </a:endParaRPr>
          </a:p>
          <a:p>
            <a:pPr marL="365760" lvl="1" indent="0">
              <a:buNone/>
            </a:pPr>
            <a:r>
              <a:rPr lang="en-US" sz="1600" dirty="0">
                <a:latin typeface="Arial"/>
                <a:cs typeface="Arial"/>
              </a:rPr>
              <a:t>      ADD                                            00100101</a:t>
            </a:r>
          </a:p>
          <a:p>
            <a:pPr marL="365760" lvl="1" indent="0">
              <a:buNone/>
            </a:pPr>
            <a:r>
              <a:rPr lang="en-US" sz="1600" b="1" dirty="0">
                <a:latin typeface="Arial"/>
                <a:cs typeface="Arial"/>
              </a:rPr>
              <a:t>      </a:t>
            </a:r>
            <a:r>
              <a:rPr lang="en-US" sz="1600" dirty="0">
                <a:latin typeface="Arial"/>
                <a:cs typeface="Arial"/>
              </a:rPr>
              <a:t>SUB                                            00010011 </a:t>
            </a:r>
          </a:p>
          <a:p>
            <a:pPr lvl="1"/>
            <a:r>
              <a:rPr lang="en-US" sz="1600" b="1" dirty="0"/>
              <a:t>Assembler</a:t>
            </a:r>
            <a:r>
              <a:rPr lang="en-US" sz="1600" dirty="0"/>
              <a:t> – The program that translates Assembly Language into Machine Language</a:t>
            </a:r>
          </a:p>
          <a:p>
            <a:pPr lvl="1"/>
            <a:r>
              <a:rPr lang="en-US" sz="1600" b="1" dirty="0"/>
              <a:t>Higher Level Languages</a:t>
            </a:r>
            <a:r>
              <a:rPr lang="en-US" sz="1600" dirty="0"/>
              <a:t> – Used to write programs in a more understandable form. Examples include Fortran, C, C++, LISP, Java</a:t>
            </a:r>
          </a:p>
          <a:p>
            <a:r>
              <a:rPr lang="en-US" sz="1800" b="1" dirty="0"/>
              <a:t>Layered Architectures</a:t>
            </a:r>
            <a:r>
              <a:rPr lang="en-US" sz="1800" dirty="0"/>
              <a:t> – An approach that allows application programmers to take advantage of software written by others – i.e. IO drivers, databases, user interfaces, etc. – in order to make the life of the application writer easier</a:t>
            </a:r>
          </a:p>
          <a:p>
            <a:pPr lvl="1"/>
            <a:r>
              <a:rPr lang="en-US" sz="1600" dirty="0"/>
              <a:t>You have probably heard of full-stack skills</a:t>
            </a:r>
          </a:p>
          <a:p>
            <a:endParaRPr lang="en-US" sz="1800" dirty="0"/>
          </a:p>
        </p:txBody>
      </p:sp>
      <p:sp>
        <p:nvSpPr>
          <p:cNvPr id="4" name="Slide Number Placeholder 3"/>
          <p:cNvSpPr>
            <a:spLocks noGrp="1"/>
          </p:cNvSpPr>
          <p:nvPr>
            <p:ph type="sldNum" sz="quarter" idx="12"/>
          </p:nvPr>
        </p:nvSpPr>
        <p:spPr/>
        <p:txBody>
          <a:bodyPr/>
          <a:lstStyle/>
          <a:p>
            <a:fld id="{13977939-A071-43C1-9268-F54CC2756BB5}" type="slidenum">
              <a:rPr lang="en-US" smtClean="0"/>
              <a:pPr/>
              <a:t>6</a:t>
            </a:fld>
            <a:endParaRPr lang="en-US" dirty="0"/>
          </a:p>
        </p:txBody>
      </p:sp>
    </p:spTree>
    <p:extLst>
      <p:ext uri="{BB962C8B-B14F-4D97-AF65-F5344CB8AC3E}">
        <p14:creationId xmlns:p14="http://schemas.microsoft.com/office/powerpoint/2010/main" val="39561575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3977939-A071-43C1-9268-F54CC2756BB5}" type="slidenum">
              <a:rPr lang="en-US" smtClean="0"/>
              <a:pPr/>
              <a:t>7</a:t>
            </a:fld>
            <a:endParaRPr lang="en-US" dirty="0"/>
          </a:p>
        </p:txBody>
      </p:sp>
      <p:sp>
        <p:nvSpPr>
          <p:cNvPr id="7" name="Title 1"/>
          <p:cNvSpPr txBox="1">
            <a:spLocks noGrp="1"/>
          </p:cNvSpPr>
          <p:nvPr>
            <p:ph type="title" idx="4294967295"/>
          </p:nvPr>
        </p:nvSpPr>
        <p:spPr>
          <a:xfrm>
            <a:off x="1143000" y="381000"/>
            <a:ext cx="6781800" cy="551688"/>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rtl="0" eaLnBrk="1" latinLnBrk="0" hangingPunct="1">
              <a:spcBef>
                <a:spcPct val="0"/>
              </a:spcBef>
              <a:buNone/>
              <a:defRPr kumimoji="0" sz="5000" b="0" kern="1200">
                <a:ln>
                  <a:noFill/>
                </a:ln>
                <a:solidFill>
                  <a:schemeClr val="tx2"/>
                </a:solidFill>
                <a:effectLst/>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schemeClr val="tx2"/>
                </a:solidFill>
                <a:effectLst/>
                <a:uLnTx/>
                <a:uFillTx/>
                <a:latin typeface="Calibri" pitchFamily="34" charset="0"/>
                <a:ea typeface="+mj-ea"/>
                <a:cs typeface="Calibri" pitchFamily="34" charset="0"/>
              </a:rPr>
              <a:t>A Layered Computer Architecture</a:t>
            </a:r>
            <a:endParaRPr kumimoji="0" lang="en-US" sz="3200" b="0" i="0" u="none" strike="noStrike" kern="1200" cap="none" spc="0" normalizeH="0" baseline="0" noProof="0" dirty="0">
              <a:ln>
                <a:noFill/>
              </a:ln>
              <a:solidFill>
                <a:schemeClr val="tx2"/>
              </a:solidFill>
              <a:effectLst/>
              <a:uLnTx/>
              <a:uFillTx/>
              <a:latin typeface="+mj-lt"/>
              <a:ea typeface="+mj-ea"/>
              <a:cs typeface="+mj-cs"/>
            </a:endParaRPr>
          </a:p>
        </p:txBody>
      </p:sp>
      <p:pic>
        <p:nvPicPr>
          <p:cNvPr id="8" name="Picture 7" descr="Example of an agent architecture"/>
          <p:cNvPicPr/>
          <p:nvPr/>
        </p:nvPicPr>
        <p:blipFill rotWithShape="1">
          <a:blip r:embed="rId2"/>
          <a:srcRect l="8194" t="11765" r="2697" b="4911"/>
          <a:stretch/>
        </p:blipFill>
        <p:spPr>
          <a:xfrm>
            <a:off x="762001" y="1237488"/>
            <a:ext cx="7853494" cy="5239511"/>
          </a:xfrm>
          <a:prstGeom prst="rect">
            <a:avLst/>
          </a:prstGeom>
        </p:spPr>
      </p:pic>
    </p:spTree>
    <p:extLst>
      <p:ext uri="{BB962C8B-B14F-4D97-AF65-F5344CB8AC3E}">
        <p14:creationId xmlns:p14="http://schemas.microsoft.com/office/powerpoint/2010/main" val="41002634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960C2-B8AE-4027-5818-00759A711764}"/>
              </a:ext>
            </a:extLst>
          </p:cNvPr>
          <p:cNvSpPr>
            <a:spLocks noGrp="1"/>
          </p:cNvSpPr>
          <p:nvPr>
            <p:ph type="title"/>
          </p:nvPr>
        </p:nvSpPr>
        <p:spPr/>
        <p:txBody>
          <a:bodyPr>
            <a:noAutofit/>
          </a:bodyPr>
          <a:lstStyle/>
          <a:p>
            <a:r>
              <a:rPr lang="en-US" dirty="0"/>
              <a:t>Agent Architectures</a:t>
            </a:r>
          </a:p>
        </p:txBody>
      </p:sp>
      <p:sp>
        <p:nvSpPr>
          <p:cNvPr id="4" name="Slide Number Placeholder 3">
            <a:extLst>
              <a:ext uri="{FF2B5EF4-FFF2-40B4-BE49-F238E27FC236}">
                <a16:creationId xmlns:a16="http://schemas.microsoft.com/office/drawing/2014/main" id="{7EF5CA77-C338-FE2F-6E32-3AFB2DEE398F}"/>
              </a:ext>
            </a:extLst>
          </p:cNvPr>
          <p:cNvSpPr>
            <a:spLocks noGrp="1"/>
          </p:cNvSpPr>
          <p:nvPr>
            <p:ph type="sldNum" sz="quarter" idx="12"/>
          </p:nvPr>
        </p:nvSpPr>
        <p:spPr/>
        <p:txBody>
          <a:bodyPr/>
          <a:lstStyle/>
          <a:p>
            <a:fld id="{13977939-A071-43C1-9268-F54CC2756BB5}" type="slidenum">
              <a:rPr lang="en-US" smtClean="0"/>
              <a:pPr/>
              <a:t>8</a:t>
            </a:fld>
            <a:endParaRPr lang="en-US" dirty="0"/>
          </a:p>
        </p:txBody>
      </p:sp>
      <p:pic>
        <p:nvPicPr>
          <p:cNvPr id="5" name="Picture 4">
            <a:extLst>
              <a:ext uri="{FF2B5EF4-FFF2-40B4-BE49-F238E27FC236}">
                <a16:creationId xmlns:a16="http://schemas.microsoft.com/office/drawing/2014/main" id="{6194C7C4-04C0-1065-3BBA-24D00EDC7842}"/>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57200" y="977462"/>
            <a:ext cx="8229600" cy="4903076"/>
          </a:xfrm>
          <a:prstGeom prst="rect">
            <a:avLst/>
          </a:prstGeom>
        </p:spPr>
      </p:pic>
      <p:sp>
        <p:nvSpPr>
          <p:cNvPr id="6" name="TextBox 5">
            <a:extLst>
              <a:ext uri="{FF2B5EF4-FFF2-40B4-BE49-F238E27FC236}">
                <a16:creationId xmlns:a16="http://schemas.microsoft.com/office/drawing/2014/main" id="{12CCF2F5-826F-FE10-DF36-D4F9C55F088E}"/>
              </a:ext>
            </a:extLst>
          </p:cNvPr>
          <p:cNvSpPr txBox="1"/>
          <p:nvPr/>
        </p:nvSpPr>
        <p:spPr>
          <a:xfrm>
            <a:off x="990600" y="6356350"/>
            <a:ext cx="5695085" cy="461665"/>
          </a:xfrm>
          <a:prstGeom prst="rect">
            <a:avLst/>
          </a:prstGeom>
          <a:noFill/>
        </p:spPr>
        <p:txBody>
          <a:bodyPr wrap="none" rtlCol="0">
            <a:spAutoFit/>
          </a:bodyPr>
          <a:lstStyle/>
          <a:p>
            <a:r>
              <a:rPr lang="en-US" sz="1200" dirty="0"/>
              <a:t>Envisioning Recommendations on an LLM-Bases Agent Platform, Zhang, Jizhi etal, </a:t>
            </a:r>
          </a:p>
          <a:p>
            <a:r>
              <a:rPr lang="en-US" sz="1200" dirty="0"/>
              <a:t>Communications Of The ACM May 2025 P. 51</a:t>
            </a:r>
          </a:p>
        </p:txBody>
      </p:sp>
    </p:spTree>
    <p:extLst>
      <p:ext uri="{BB962C8B-B14F-4D97-AF65-F5344CB8AC3E}">
        <p14:creationId xmlns:p14="http://schemas.microsoft.com/office/powerpoint/2010/main" val="37024762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199"/>
            <a:ext cx="8839200" cy="633815"/>
          </a:xfrm>
        </p:spPr>
        <p:txBody>
          <a:bodyPr>
            <a:normAutofit/>
          </a:bodyPr>
          <a:lstStyle/>
          <a:p>
            <a:r>
              <a:rPr lang="en-US" sz="3200" dirty="0"/>
              <a:t>Java Is Machine Independent</a:t>
            </a:r>
          </a:p>
        </p:txBody>
      </p:sp>
      <p:sp>
        <p:nvSpPr>
          <p:cNvPr id="3" name="Content Placeholder 2"/>
          <p:cNvSpPr>
            <a:spLocks noGrp="1"/>
          </p:cNvSpPr>
          <p:nvPr>
            <p:ph idx="1"/>
          </p:nvPr>
        </p:nvSpPr>
        <p:spPr>
          <a:xfrm>
            <a:off x="457200" y="709374"/>
            <a:ext cx="8229600" cy="4410552"/>
          </a:xfrm>
        </p:spPr>
        <p:txBody>
          <a:bodyPr>
            <a:noAutofit/>
          </a:bodyPr>
          <a:lstStyle/>
          <a:p>
            <a:r>
              <a:rPr lang="en-US" sz="2000" dirty="0"/>
              <a:t>Java solves the problems of machine dependence. JAVA standardizes the language and the compiler, which creates bytecode – a form of binary representation. </a:t>
            </a:r>
          </a:p>
          <a:p>
            <a:pPr lvl="1"/>
            <a:r>
              <a:rPr lang="en-US" sz="1800" dirty="0"/>
              <a:t>The bytecode is then presented to a </a:t>
            </a:r>
            <a:r>
              <a:rPr lang="en-US" sz="1800" b="1" dirty="0"/>
              <a:t>Java Virtual Machine</a:t>
            </a:r>
            <a:r>
              <a:rPr lang="en-US" sz="1800" dirty="0"/>
              <a:t> (JVM) which interprets Bytecode exactly the same way regardless of the machine. </a:t>
            </a:r>
          </a:p>
          <a:p>
            <a:pPr lvl="2"/>
            <a:r>
              <a:rPr lang="en-US" sz="1800" dirty="0"/>
              <a:t>This is called </a:t>
            </a:r>
            <a:r>
              <a:rPr lang="en-US" sz="1800" b="1" dirty="0"/>
              <a:t>Machine Independence. </a:t>
            </a:r>
          </a:p>
          <a:p>
            <a:pPr lvl="2"/>
            <a:r>
              <a:rPr lang="en-US" sz="1800" dirty="0"/>
              <a:t>Remember that bytecode is different from Unicode – the two byte representation of characters (some characters now require 4 characters)</a:t>
            </a:r>
          </a:p>
          <a:p>
            <a:r>
              <a:rPr lang="en-US" sz="2000" dirty="0"/>
              <a:t>The bytecode can be thought of as the machine language of the JVM</a:t>
            </a:r>
          </a:p>
          <a:p>
            <a:pPr lvl="1"/>
            <a:r>
              <a:rPr lang="en-US" sz="1800" dirty="0"/>
              <a:t>The JVM is a virtual machine in software. It has its own machine language. All Java code is compiled for the JVM</a:t>
            </a:r>
          </a:p>
          <a:p>
            <a:pPr lvl="1"/>
            <a:r>
              <a:rPr lang="en-US" sz="1800" dirty="0"/>
              <a:t>However, bytecode must be interpreted in order to create machine language instructions that are executed by the physical machine</a:t>
            </a:r>
          </a:p>
          <a:p>
            <a:pPr lvl="1"/>
            <a:r>
              <a:rPr lang="en-US" sz="1800" dirty="0"/>
              <a:t>Oracle typically provides the JVMs for the individual machines</a:t>
            </a:r>
          </a:p>
        </p:txBody>
      </p:sp>
      <p:sp>
        <p:nvSpPr>
          <p:cNvPr id="4" name="Slide Number Placeholder 3"/>
          <p:cNvSpPr>
            <a:spLocks noGrp="1"/>
          </p:cNvSpPr>
          <p:nvPr>
            <p:ph type="sldNum" sz="quarter" idx="12"/>
          </p:nvPr>
        </p:nvSpPr>
        <p:spPr/>
        <p:txBody>
          <a:bodyPr/>
          <a:lstStyle/>
          <a:p>
            <a:fld id="{13977939-A071-43C1-9268-F54CC2756BB5}" type="slidenum">
              <a:rPr lang="en-US" smtClean="0"/>
              <a:pPr/>
              <a:t>9</a:t>
            </a:fld>
            <a:endParaRPr lang="en-US" dirty="0"/>
          </a:p>
        </p:txBody>
      </p:sp>
      <p:sp>
        <p:nvSpPr>
          <p:cNvPr id="9" name="Process 8"/>
          <p:cNvSpPr/>
          <p:nvPr/>
        </p:nvSpPr>
        <p:spPr>
          <a:xfrm>
            <a:off x="1676400" y="5234226"/>
            <a:ext cx="1066800" cy="609600"/>
          </a:xfrm>
          <a:prstGeom prst="flowChartProcess">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a:solidFill>
                  <a:schemeClr val="tx1"/>
                </a:solidFill>
              </a:rPr>
              <a:t>Java Compiler</a:t>
            </a:r>
          </a:p>
        </p:txBody>
      </p:sp>
      <p:sp>
        <p:nvSpPr>
          <p:cNvPr id="10" name="Data 9"/>
          <p:cNvSpPr/>
          <p:nvPr/>
        </p:nvSpPr>
        <p:spPr>
          <a:xfrm>
            <a:off x="381000" y="5196126"/>
            <a:ext cx="990600" cy="685800"/>
          </a:xfrm>
          <a:prstGeom prst="flowChartInputOutpu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a:solidFill>
                  <a:schemeClr val="tx1"/>
                </a:solidFill>
              </a:rPr>
              <a:t>Source Code</a:t>
            </a:r>
          </a:p>
          <a:p>
            <a:pPr algn="ctr"/>
            <a:r>
              <a:rPr lang="en-US" sz="1000" dirty="0">
                <a:solidFill>
                  <a:schemeClr val="tx1"/>
                </a:solidFill>
              </a:rPr>
              <a:t>(.java)</a:t>
            </a:r>
          </a:p>
        </p:txBody>
      </p:sp>
      <p:sp>
        <p:nvSpPr>
          <p:cNvPr id="12" name="Data 11"/>
          <p:cNvSpPr/>
          <p:nvPr/>
        </p:nvSpPr>
        <p:spPr>
          <a:xfrm>
            <a:off x="3200400" y="5158026"/>
            <a:ext cx="1143000" cy="762000"/>
          </a:xfrm>
          <a:prstGeom prst="flowChartInputOutpu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a:solidFill>
                  <a:schemeClr val="tx1"/>
                </a:solidFill>
              </a:rPr>
              <a:t>Bytecode</a:t>
            </a:r>
          </a:p>
          <a:p>
            <a:pPr algn="ctr"/>
            <a:r>
              <a:rPr lang="en-US" sz="1000" dirty="0">
                <a:solidFill>
                  <a:schemeClr val="tx1"/>
                </a:solidFill>
              </a:rPr>
              <a:t>(.class)</a:t>
            </a:r>
          </a:p>
        </p:txBody>
      </p:sp>
      <p:sp>
        <p:nvSpPr>
          <p:cNvPr id="13" name="Process 12"/>
          <p:cNvSpPr/>
          <p:nvPr/>
        </p:nvSpPr>
        <p:spPr>
          <a:xfrm>
            <a:off x="4953000" y="5234226"/>
            <a:ext cx="1066800" cy="609600"/>
          </a:xfrm>
          <a:prstGeom prst="flowChartProcess">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a:solidFill>
                  <a:schemeClr val="tx1"/>
                </a:solidFill>
              </a:rPr>
              <a:t>Java Virtual</a:t>
            </a:r>
          </a:p>
          <a:p>
            <a:pPr algn="ctr"/>
            <a:r>
              <a:rPr lang="en-US" sz="1000" dirty="0">
                <a:solidFill>
                  <a:schemeClr val="tx1"/>
                </a:solidFill>
              </a:rPr>
              <a:t>Machine</a:t>
            </a:r>
          </a:p>
        </p:txBody>
      </p:sp>
      <p:sp>
        <p:nvSpPr>
          <p:cNvPr id="14" name="Data 13"/>
          <p:cNvSpPr/>
          <p:nvPr/>
        </p:nvSpPr>
        <p:spPr>
          <a:xfrm>
            <a:off x="6324600" y="5158026"/>
            <a:ext cx="1219200" cy="762000"/>
          </a:xfrm>
          <a:prstGeom prst="flowChartInputOutpu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a:solidFill>
                  <a:schemeClr val="tx1"/>
                </a:solidFill>
              </a:rPr>
              <a:t>Machine Language </a:t>
            </a:r>
          </a:p>
        </p:txBody>
      </p:sp>
      <p:sp>
        <p:nvSpPr>
          <p:cNvPr id="15" name="Terminator 14"/>
          <p:cNvSpPr/>
          <p:nvPr/>
        </p:nvSpPr>
        <p:spPr>
          <a:xfrm>
            <a:off x="8001000" y="5310426"/>
            <a:ext cx="914400" cy="457200"/>
          </a:xfrm>
          <a:prstGeom prst="flowChartTerminator">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a:solidFill>
                  <a:srgbClr val="000000"/>
                </a:solidFill>
              </a:rPr>
              <a:t>Target Machine</a:t>
            </a:r>
          </a:p>
        </p:txBody>
      </p:sp>
      <p:cxnSp>
        <p:nvCxnSpPr>
          <p:cNvPr id="17" name="Straight Arrow Connector 16">
            <a:extLst>
              <a:ext uri="{C183D7F6-B498-43B3-948B-1728B52AA6E4}">
                <adec:decorative xmlns:adec="http://schemas.microsoft.com/office/drawing/2017/decorative" val="1"/>
              </a:ext>
            </a:extLst>
          </p:cNvPr>
          <p:cNvCxnSpPr/>
          <p:nvPr/>
        </p:nvCxnSpPr>
        <p:spPr>
          <a:xfrm>
            <a:off x="1272540" y="5539026"/>
            <a:ext cx="40386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C183D7F6-B498-43B3-948B-1728B52AA6E4}">
                <adec:decorative xmlns:adec="http://schemas.microsoft.com/office/drawing/2017/decorative" val="1"/>
              </a:ext>
            </a:extLst>
          </p:cNvPr>
          <p:cNvCxnSpPr/>
          <p:nvPr/>
        </p:nvCxnSpPr>
        <p:spPr>
          <a:xfrm>
            <a:off x="2743200" y="5539026"/>
            <a:ext cx="57150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C183D7F6-B498-43B3-948B-1728B52AA6E4}">
                <adec:decorative xmlns:adec="http://schemas.microsoft.com/office/drawing/2017/decorative" val="1"/>
              </a:ext>
            </a:extLst>
          </p:cNvPr>
          <p:cNvCxnSpPr/>
          <p:nvPr/>
        </p:nvCxnSpPr>
        <p:spPr>
          <a:xfrm>
            <a:off x="4229100" y="5539026"/>
            <a:ext cx="72390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C183D7F6-B498-43B3-948B-1728B52AA6E4}">
                <adec:decorative xmlns:adec="http://schemas.microsoft.com/office/drawing/2017/decorative" val="1"/>
              </a:ext>
            </a:extLst>
          </p:cNvPr>
          <p:cNvCxnSpPr/>
          <p:nvPr/>
        </p:nvCxnSpPr>
        <p:spPr>
          <a:xfrm>
            <a:off x="6019800" y="5539026"/>
            <a:ext cx="42672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C183D7F6-B498-43B3-948B-1728B52AA6E4}">
                <adec:decorative xmlns:adec="http://schemas.microsoft.com/office/drawing/2017/decorative" val="1"/>
              </a:ext>
            </a:extLst>
          </p:cNvPr>
          <p:cNvCxnSpPr/>
          <p:nvPr/>
        </p:nvCxnSpPr>
        <p:spPr>
          <a:xfrm>
            <a:off x="7421880" y="5539026"/>
            <a:ext cx="57912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876800" y="5843826"/>
            <a:ext cx="1295400" cy="861774"/>
          </a:xfrm>
          <a:prstGeom prst="rect">
            <a:avLst/>
          </a:prstGeom>
          <a:noFill/>
        </p:spPr>
        <p:txBody>
          <a:bodyPr wrap="square" rtlCol="0">
            <a:spAutoFit/>
          </a:bodyPr>
          <a:lstStyle/>
          <a:p>
            <a:r>
              <a:rPr lang="en-US" sz="1000" dirty="0"/>
              <a:t>JVM takes the compiled bytecode and interprets it into the machine code </a:t>
            </a:r>
          </a:p>
        </p:txBody>
      </p:sp>
      <p:sp>
        <p:nvSpPr>
          <p:cNvPr id="6" name="TextBox 5">
            <a:extLst>
              <a:ext uri="{FF2B5EF4-FFF2-40B4-BE49-F238E27FC236}">
                <a16:creationId xmlns:a16="http://schemas.microsoft.com/office/drawing/2014/main" id="{CDFF2016-37CF-8834-9BAD-903CE2AE6F85}"/>
              </a:ext>
            </a:extLst>
          </p:cNvPr>
          <p:cNvSpPr txBox="1"/>
          <p:nvPr/>
        </p:nvSpPr>
        <p:spPr>
          <a:xfrm>
            <a:off x="1654629" y="5881926"/>
            <a:ext cx="1295400" cy="861774"/>
          </a:xfrm>
          <a:prstGeom prst="rect">
            <a:avLst/>
          </a:prstGeom>
          <a:noFill/>
        </p:spPr>
        <p:txBody>
          <a:bodyPr wrap="square" rtlCol="0">
            <a:spAutoFit/>
          </a:bodyPr>
          <a:lstStyle/>
          <a:p>
            <a:r>
              <a:rPr lang="en-US" sz="1000" dirty="0"/>
              <a:t>The Compiler is actually a static programming tool as well as a compiler</a:t>
            </a:r>
          </a:p>
        </p:txBody>
      </p:sp>
    </p:spTree>
    <p:extLst>
      <p:ext uri="{BB962C8B-B14F-4D97-AF65-F5344CB8AC3E}">
        <p14:creationId xmlns:p14="http://schemas.microsoft.com/office/powerpoint/2010/main" val="18810774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C8665-C4D0-A26E-3F79-074336093CF1}"/>
              </a:ext>
            </a:extLst>
          </p:cNvPr>
          <p:cNvSpPr>
            <a:spLocks noGrp="1"/>
          </p:cNvSpPr>
          <p:nvPr>
            <p:ph type="title"/>
          </p:nvPr>
        </p:nvSpPr>
        <p:spPr/>
        <p:txBody>
          <a:bodyPr/>
          <a:lstStyle/>
          <a:p>
            <a:r>
              <a:rPr lang="en-US" dirty="0"/>
              <a:t>Java Is Machine Independent – Another View</a:t>
            </a:r>
          </a:p>
        </p:txBody>
      </p:sp>
      <p:sp>
        <p:nvSpPr>
          <p:cNvPr id="3" name="Slide Number Placeholder 2">
            <a:extLst>
              <a:ext uri="{FF2B5EF4-FFF2-40B4-BE49-F238E27FC236}">
                <a16:creationId xmlns:a16="http://schemas.microsoft.com/office/drawing/2014/main" id="{67AFEA26-64AE-CE0F-0E03-CB786DC7C18A}"/>
              </a:ext>
            </a:extLst>
          </p:cNvPr>
          <p:cNvSpPr>
            <a:spLocks noGrp="1"/>
          </p:cNvSpPr>
          <p:nvPr>
            <p:ph type="sldNum" sz="quarter" idx="12"/>
          </p:nvPr>
        </p:nvSpPr>
        <p:spPr/>
        <p:txBody>
          <a:bodyPr/>
          <a:lstStyle/>
          <a:p>
            <a:fld id="{13977939-A071-43C1-9268-F54CC2756BB5}" type="slidenum">
              <a:rPr lang="en-US" smtClean="0"/>
              <a:pPr/>
              <a:t>10</a:t>
            </a:fld>
            <a:endParaRPr lang="en-US" dirty="0"/>
          </a:p>
        </p:txBody>
      </p:sp>
      <p:pic>
        <p:nvPicPr>
          <p:cNvPr id="1026" name="Picture 2" descr="What is Java Bytecode and how does it work? Edureka">
            <a:extLst>
              <a:ext uri="{FF2B5EF4-FFF2-40B4-BE49-F238E27FC236}">
                <a16:creationId xmlns:a16="http://schemas.microsoft.com/office/drawing/2014/main" id="{7642AEBD-FBB1-C3BA-8DE2-DBFB5318C73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2857" t="13333" r="11428"/>
          <a:stretch/>
        </p:blipFill>
        <p:spPr bwMode="auto">
          <a:xfrm>
            <a:off x="2286000" y="1307041"/>
            <a:ext cx="4572000" cy="50561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50663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A8453D-50CF-A44E-914D-141AF037B5B8}"/>
              </a:ext>
            </a:extLst>
          </p:cNvPr>
          <p:cNvSpPr>
            <a:spLocks noGrp="1"/>
          </p:cNvSpPr>
          <p:nvPr>
            <p:ph type="title"/>
          </p:nvPr>
        </p:nvSpPr>
        <p:spPr/>
        <p:txBody>
          <a:bodyPr>
            <a:noAutofit/>
          </a:bodyPr>
          <a:lstStyle/>
          <a:p>
            <a:r>
              <a:rPr lang="en-US" dirty="0"/>
              <a:t>What Is Object Oriented Programming</a:t>
            </a:r>
          </a:p>
        </p:txBody>
      </p:sp>
      <p:sp>
        <p:nvSpPr>
          <p:cNvPr id="3" name="Content Placeholder 2">
            <a:extLst>
              <a:ext uri="{FF2B5EF4-FFF2-40B4-BE49-F238E27FC236}">
                <a16:creationId xmlns:a16="http://schemas.microsoft.com/office/drawing/2014/main" id="{4117A69C-4BC9-7244-B63C-0C2D6E9906DA}"/>
              </a:ext>
            </a:extLst>
          </p:cNvPr>
          <p:cNvSpPr>
            <a:spLocks noGrp="1"/>
          </p:cNvSpPr>
          <p:nvPr>
            <p:ph idx="1"/>
          </p:nvPr>
        </p:nvSpPr>
        <p:spPr>
          <a:xfrm>
            <a:off x="457200" y="1249680"/>
            <a:ext cx="8229600" cy="5303520"/>
          </a:xfrm>
        </p:spPr>
        <p:txBody>
          <a:bodyPr>
            <a:normAutofit fontScale="92500" lnSpcReduction="20000"/>
          </a:bodyPr>
          <a:lstStyle/>
          <a:p>
            <a:r>
              <a:rPr lang="en-US" dirty="0"/>
              <a:t>Object-Oriented programming consists of three stages:</a:t>
            </a:r>
          </a:p>
          <a:p>
            <a:pPr lvl="1"/>
            <a:r>
              <a:rPr lang="en-US" dirty="0"/>
              <a:t>Creating the Program</a:t>
            </a:r>
          </a:p>
          <a:p>
            <a:pPr lvl="2"/>
            <a:r>
              <a:rPr lang="en-US" dirty="0"/>
              <a:t>The programmer creates source files that define classes for objects the program will use when it is running.</a:t>
            </a:r>
          </a:p>
          <a:p>
            <a:pPr lvl="2"/>
            <a:r>
              <a:rPr lang="en-US" dirty="0"/>
              <a:t>The programmer defines a class that contains the static main() method which is used to start the program running.</a:t>
            </a:r>
          </a:p>
          <a:p>
            <a:pPr lvl="1"/>
            <a:r>
              <a:rPr lang="en-US" dirty="0"/>
              <a:t>Compiling the Program</a:t>
            </a:r>
          </a:p>
          <a:p>
            <a:pPr lvl="2"/>
            <a:r>
              <a:rPr lang="en-US" dirty="0"/>
              <a:t>The program is compiled into bytecode.</a:t>
            </a:r>
          </a:p>
          <a:p>
            <a:pPr lvl="2"/>
            <a:r>
              <a:rPr lang="en-US" dirty="0"/>
              <a:t>There may be several source files. Each is compiled into bytecode.</a:t>
            </a:r>
          </a:p>
          <a:p>
            <a:pPr lvl="1"/>
            <a:r>
              <a:rPr lang="en-US" dirty="0"/>
              <a:t>Running the Program</a:t>
            </a:r>
          </a:p>
          <a:p>
            <a:pPr lvl="2"/>
            <a:r>
              <a:rPr lang="en-US" dirty="0"/>
              <a:t>The Java interpreter looks for a static main() method and starts running it.</a:t>
            </a:r>
          </a:p>
          <a:p>
            <a:pPr lvl="3"/>
            <a:r>
              <a:rPr lang="en-US" dirty="0"/>
              <a:t>Since main() is static it can start running even though no objects have been created, yet.</a:t>
            </a:r>
          </a:p>
          <a:p>
            <a:pPr lvl="2"/>
            <a:r>
              <a:rPr lang="en-US" dirty="0"/>
              <a:t>As the program runs, objects are created and their methods are activated (called).</a:t>
            </a:r>
          </a:p>
          <a:p>
            <a:pPr lvl="3"/>
            <a:r>
              <a:rPr lang="en-US" dirty="0"/>
              <a:t>The exact order of object creation and method activation depends on the task to be performed and the input data.</a:t>
            </a:r>
          </a:p>
        </p:txBody>
      </p:sp>
      <p:sp>
        <p:nvSpPr>
          <p:cNvPr id="4" name="Slide Number Placeholder 3">
            <a:extLst>
              <a:ext uri="{FF2B5EF4-FFF2-40B4-BE49-F238E27FC236}">
                <a16:creationId xmlns:a16="http://schemas.microsoft.com/office/drawing/2014/main" id="{F266E8E4-B04E-6447-A560-DE76E6E645E5}"/>
              </a:ext>
            </a:extLst>
          </p:cNvPr>
          <p:cNvSpPr>
            <a:spLocks noGrp="1"/>
          </p:cNvSpPr>
          <p:nvPr>
            <p:ph type="sldNum" sz="quarter" idx="12"/>
          </p:nvPr>
        </p:nvSpPr>
        <p:spPr/>
        <p:txBody>
          <a:bodyPr/>
          <a:lstStyle/>
          <a:p>
            <a:fld id="{13977939-A071-43C1-9268-F54CC2756BB5}" type="slidenum">
              <a:rPr lang="en-US" smtClean="0"/>
              <a:pPr/>
              <a:t>11</a:t>
            </a:fld>
            <a:endParaRPr lang="en-US" dirty="0"/>
          </a:p>
        </p:txBody>
      </p:sp>
    </p:spTree>
    <p:extLst>
      <p:ext uri="{BB962C8B-B14F-4D97-AF65-F5344CB8AC3E}">
        <p14:creationId xmlns:p14="http://schemas.microsoft.com/office/powerpoint/2010/main" val="19003901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81000"/>
            <a:ext cx="8839200" cy="960412"/>
          </a:xfrm>
        </p:spPr>
        <p:txBody>
          <a:bodyPr>
            <a:noAutofit/>
          </a:bodyPr>
          <a:lstStyle/>
          <a:p>
            <a:r>
              <a:rPr lang="en-US" dirty="0"/>
              <a:t>Basic Concepts In Computer Software – Object Oriented Programming</a:t>
            </a:r>
          </a:p>
        </p:txBody>
      </p:sp>
      <p:sp>
        <p:nvSpPr>
          <p:cNvPr id="3" name="Content Placeholder 2"/>
          <p:cNvSpPr>
            <a:spLocks noGrp="1"/>
          </p:cNvSpPr>
          <p:nvPr>
            <p:ph idx="1"/>
          </p:nvPr>
        </p:nvSpPr>
        <p:spPr>
          <a:xfrm>
            <a:off x="457200" y="1447800"/>
            <a:ext cx="8229600" cy="5410200"/>
          </a:xfrm>
        </p:spPr>
        <p:txBody>
          <a:bodyPr>
            <a:normAutofit/>
          </a:bodyPr>
          <a:lstStyle/>
          <a:p>
            <a:r>
              <a:rPr lang="en-US" sz="2200" dirty="0"/>
              <a:t>Original higher-level languages were imperative, but not object-oriented</a:t>
            </a:r>
          </a:p>
          <a:p>
            <a:pPr lvl="1"/>
            <a:r>
              <a:rPr lang="en-US" sz="2000" dirty="0"/>
              <a:t>Good for solving math problems</a:t>
            </a:r>
          </a:p>
          <a:p>
            <a:pPr lvl="1"/>
            <a:r>
              <a:rPr lang="en-US" sz="2000" dirty="0"/>
              <a:t>Little relationship between the data and the operations</a:t>
            </a:r>
          </a:p>
          <a:p>
            <a:pPr lvl="1"/>
            <a:r>
              <a:rPr lang="en-US" sz="2000" dirty="0"/>
              <a:t>Tended to do poorly with higher levels of abstraction</a:t>
            </a:r>
          </a:p>
          <a:p>
            <a:r>
              <a:rPr lang="en-US" sz="2200" dirty="0"/>
              <a:t>Object Oriented Programming  </a:t>
            </a:r>
          </a:p>
          <a:p>
            <a:pPr lvl="1"/>
            <a:r>
              <a:rPr lang="en-US" sz="2000" dirty="0"/>
              <a:t>Organizes data and operations/processes together into an object.</a:t>
            </a:r>
          </a:p>
          <a:p>
            <a:pPr lvl="1"/>
            <a:r>
              <a:rPr lang="en-US" sz="2000" dirty="0"/>
              <a:t>At the higher level of abstraction we have the </a:t>
            </a:r>
            <a:r>
              <a:rPr lang="en-US" sz="2000" dirty="0">
                <a:solidFill>
                  <a:srgbClr val="FF0000"/>
                </a:solidFill>
              </a:rPr>
              <a:t>class</a:t>
            </a:r>
            <a:r>
              <a:rPr lang="en-US" sz="2000" dirty="0"/>
              <a:t> which is a description of an object that specifies the types of data values that it can hold and the operations that it can perform </a:t>
            </a:r>
          </a:p>
          <a:p>
            <a:pPr lvl="2"/>
            <a:r>
              <a:rPr lang="en-US" sz="1800" dirty="0"/>
              <a:t>A class is a higher form of a data type</a:t>
            </a:r>
          </a:p>
          <a:p>
            <a:pPr lvl="2"/>
            <a:r>
              <a:rPr lang="en-US" sz="1800" dirty="0"/>
              <a:t>It </a:t>
            </a:r>
            <a:r>
              <a:rPr lang="en-US" sz="1800" b="1" dirty="0">
                <a:solidFill>
                  <a:srgbClr val="FF0000"/>
                </a:solidFill>
              </a:rPr>
              <a:t>encapsulates</a:t>
            </a:r>
            <a:r>
              <a:rPr lang="en-US" sz="1800" dirty="0"/>
              <a:t> data and methods together</a:t>
            </a:r>
          </a:p>
          <a:p>
            <a:pPr lvl="1"/>
            <a:r>
              <a:rPr lang="en-US" sz="2000" dirty="0"/>
              <a:t>Classes are instantiated into individual objects</a:t>
            </a:r>
          </a:p>
        </p:txBody>
      </p:sp>
      <p:sp>
        <p:nvSpPr>
          <p:cNvPr id="4" name="Slide Number Placeholder 3"/>
          <p:cNvSpPr>
            <a:spLocks noGrp="1"/>
          </p:cNvSpPr>
          <p:nvPr>
            <p:ph type="sldNum" sz="quarter" idx="12"/>
          </p:nvPr>
        </p:nvSpPr>
        <p:spPr/>
        <p:txBody>
          <a:bodyPr/>
          <a:lstStyle/>
          <a:p>
            <a:fld id="{13977939-A071-43C1-9268-F54CC2756BB5}" type="slidenum">
              <a:rPr lang="en-US" smtClean="0"/>
              <a:pPr/>
              <a:t>12</a:t>
            </a:fld>
            <a:endParaRPr lang="en-US" dirty="0"/>
          </a:p>
        </p:txBody>
      </p:sp>
    </p:spTree>
    <p:extLst>
      <p:ext uri="{BB962C8B-B14F-4D97-AF65-F5344CB8AC3E}">
        <p14:creationId xmlns:p14="http://schemas.microsoft.com/office/powerpoint/2010/main" val="30874037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88FBA-5BEB-9C41-8B87-0C050C493E1B}"/>
              </a:ext>
            </a:extLst>
          </p:cNvPr>
          <p:cNvSpPr>
            <a:spLocks noGrp="1"/>
          </p:cNvSpPr>
          <p:nvPr>
            <p:ph type="title"/>
          </p:nvPr>
        </p:nvSpPr>
        <p:spPr>
          <a:xfrm>
            <a:off x="228600" y="457200"/>
            <a:ext cx="8686800" cy="475488"/>
          </a:xfrm>
        </p:spPr>
        <p:txBody>
          <a:bodyPr>
            <a:noAutofit/>
          </a:bodyPr>
          <a:lstStyle/>
          <a:p>
            <a:r>
              <a:rPr lang="en-US" dirty="0"/>
              <a:t>What Is Object-Oriented Design?</a:t>
            </a:r>
          </a:p>
        </p:txBody>
      </p:sp>
      <p:sp>
        <p:nvSpPr>
          <p:cNvPr id="3" name="Content Placeholder 2">
            <a:extLst>
              <a:ext uri="{FF2B5EF4-FFF2-40B4-BE49-F238E27FC236}">
                <a16:creationId xmlns:a16="http://schemas.microsoft.com/office/drawing/2014/main" id="{0531623D-E8AB-F34D-8127-5A8AA2011B5A}"/>
              </a:ext>
            </a:extLst>
          </p:cNvPr>
          <p:cNvSpPr>
            <a:spLocks noGrp="1"/>
          </p:cNvSpPr>
          <p:nvPr>
            <p:ph idx="1"/>
          </p:nvPr>
        </p:nvSpPr>
        <p:spPr>
          <a:xfrm>
            <a:off x="457200" y="1249680"/>
            <a:ext cx="8229600" cy="5151120"/>
          </a:xfrm>
        </p:spPr>
        <p:txBody>
          <a:bodyPr>
            <a:normAutofit/>
          </a:bodyPr>
          <a:lstStyle/>
          <a:p>
            <a:r>
              <a:rPr lang="en-US" dirty="0"/>
              <a:t>Object-oriented design encourages a view of the world as a system of cooperating and collaborating agents, some of which work sequentially, and other concurrently</a:t>
            </a:r>
          </a:p>
          <a:p>
            <a:pPr lvl="1"/>
            <a:r>
              <a:rPr lang="en-US" dirty="0"/>
              <a:t>First ask what the program is needed to do, not the how</a:t>
            </a:r>
          </a:p>
          <a:p>
            <a:pPr lvl="1"/>
            <a:r>
              <a:rPr lang="en-US" dirty="0"/>
              <a:t>Identify the classes</a:t>
            </a:r>
          </a:p>
          <a:p>
            <a:pPr lvl="1"/>
            <a:r>
              <a:rPr lang="en-US" dirty="0"/>
              <a:t>Instantiate the object and the relationships between the objects</a:t>
            </a:r>
          </a:p>
          <a:p>
            <a:r>
              <a:rPr lang="en-US" dirty="0"/>
              <a:t>Hide the implementation but publish the interfaces (you usually methods as the interfaces)</a:t>
            </a:r>
          </a:p>
          <a:p>
            <a:pPr lvl="1"/>
            <a:r>
              <a:rPr lang="en-US" dirty="0"/>
              <a:t>This allows for greater software reuse (i.e. String, Scanner, etc. are examples you are familiar with).</a:t>
            </a:r>
          </a:p>
        </p:txBody>
      </p:sp>
      <p:sp>
        <p:nvSpPr>
          <p:cNvPr id="4" name="Slide Number Placeholder 3">
            <a:extLst>
              <a:ext uri="{FF2B5EF4-FFF2-40B4-BE49-F238E27FC236}">
                <a16:creationId xmlns:a16="http://schemas.microsoft.com/office/drawing/2014/main" id="{7A6F44AA-7C6F-0547-BCA7-9FF1AD3FE8C9}"/>
              </a:ext>
            </a:extLst>
          </p:cNvPr>
          <p:cNvSpPr>
            <a:spLocks noGrp="1"/>
          </p:cNvSpPr>
          <p:nvPr>
            <p:ph type="sldNum" sz="quarter" idx="12"/>
          </p:nvPr>
        </p:nvSpPr>
        <p:spPr/>
        <p:txBody>
          <a:bodyPr/>
          <a:lstStyle/>
          <a:p>
            <a:fld id="{13977939-A071-43C1-9268-F54CC2756BB5}" type="slidenum">
              <a:rPr lang="en-US" smtClean="0"/>
              <a:pPr/>
              <a:t>13</a:t>
            </a:fld>
            <a:endParaRPr lang="en-US" dirty="0"/>
          </a:p>
        </p:txBody>
      </p:sp>
    </p:spTree>
    <p:extLst>
      <p:ext uri="{BB962C8B-B14F-4D97-AF65-F5344CB8AC3E}">
        <p14:creationId xmlns:p14="http://schemas.microsoft.com/office/powerpoint/2010/main" val="11987328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730ED-44C7-3947-9E31-67F17077091E}"/>
              </a:ext>
            </a:extLst>
          </p:cNvPr>
          <p:cNvSpPr>
            <a:spLocks noGrp="1"/>
          </p:cNvSpPr>
          <p:nvPr>
            <p:ph type="title"/>
          </p:nvPr>
        </p:nvSpPr>
        <p:spPr>
          <a:xfrm>
            <a:off x="457200" y="286512"/>
            <a:ext cx="8229600" cy="475488"/>
          </a:xfrm>
        </p:spPr>
        <p:txBody>
          <a:bodyPr>
            <a:noAutofit/>
          </a:bodyPr>
          <a:lstStyle/>
          <a:p>
            <a:r>
              <a:rPr lang="en-US" dirty="0"/>
              <a:t>Modularity and Classes</a:t>
            </a:r>
          </a:p>
        </p:txBody>
      </p:sp>
      <p:sp>
        <p:nvSpPr>
          <p:cNvPr id="3" name="Content Placeholder 2">
            <a:extLst>
              <a:ext uri="{FF2B5EF4-FFF2-40B4-BE49-F238E27FC236}">
                <a16:creationId xmlns:a16="http://schemas.microsoft.com/office/drawing/2014/main" id="{B1FAE938-2D3A-134A-A41A-1F663F32C8A5}"/>
              </a:ext>
            </a:extLst>
          </p:cNvPr>
          <p:cNvSpPr>
            <a:spLocks noGrp="1"/>
          </p:cNvSpPr>
          <p:nvPr>
            <p:ph idx="1"/>
          </p:nvPr>
        </p:nvSpPr>
        <p:spPr>
          <a:xfrm>
            <a:off x="304800" y="762000"/>
            <a:ext cx="8610600" cy="6019800"/>
          </a:xfrm>
        </p:spPr>
        <p:txBody>
          <a:bodyPr>
            <a:normAutofit fontScale="85000" lnSpcReduction="20000"/>
          </a:bodyPr>
          <a:lstStyle/>
          <a:p>
            <a:r>
              <a:rPr lang="en-US" dirty="0"/>
              <a:t>Modularity is extremely important in OOP. </a:t>
            </a:r>
          </a:p>
          <a:p>
            <a:pPr lvl="1"/>
            <a:r>
              <a:rPr lang="en-US" dirty="0"/>
              <a:t>It breaks big problems down into chunks and solve each chunk. </a:t>
            </a:r>
          </a:p>
          <a:p>
            <a:r>
              <a:rPr lang="en-US" dirty="0"/>
              <a:t>Why modules?</a:t>
            </a:r>
          </a:p>
          <a:p>
            <a:pPr lvl="1"/>
            <a:r>
              <a:rPr lang="en-US" dirty="0"/>
              <a:t>Modules are conceptually easier to handle</a:t>
            </a:r>
          </a:p>
          <a:p>
            <a:pPr lvl="1"/>
            <a:r>
              <a:rPr lang="en-US" dirty="0"/>
              <a:t>Different people can work on different modules simultaneously </a:t>
            </a:r>
          </a:p>
          <a:p>
            <a:pPr lvl="1"/>
            <a:r>
              <a:rPr lang="en-US" dirty="0"/>
              <a:t>Modules may be re-used in other software projects</a:t>
            </a:r>
          </a:p>
          <a:p>
            <a:pPr lvl="1"/>
            <a:r>
              <a:rPr lang="en-US" dirty="0"/>
              <a:t>Modules can be individually tested as we go (unit testing)</a:t>
            </a:r>
          </a:p>
          <a:p>
            <a:r>
              <a:rPr lang="en-US" dirty="0"/>
              <a:t>The modular unit of Java is a class which has both:</a:t>
            </a:r>
          </a:p>
          <a:p>
            <a:pPr lvl="1"/>
            <a:r>
              <a:rPr lang="en-US" dirty="0"/>
              <a:t>State</a:t>
            </a:r>
          </a:p>
          <a:p>
            <a:pPr lvl="2"/>
            <a:r>
              <a:rPr lang="en-US" dirty="0"/>
              <a:t>Properties that describe that specific instance</a:t>
            </a:r>
          </a:p>
          <a:p>
            <a:pPr lvl="3"/>
            <a:r>
              <a:rPr lang="en-US" dirty="0"/>
              <a:t>e.g. color, maximum speed, value</a:t>
            </a:r>
          </a:p>
          <a:p>
            <a:pPr lvl="1"/>
            <a:r>
              <a:rPr lang="en-US" dirty="0"/>
              <a:t>Behavior/Functionality – described via methods</a:t>
            </a:r>
          </a:p>
          <a:p>
            <a:pPr lvl="2"/>
            <a:r>
              <a:rPr lang="en-US" dirty="0"/>
              <a:t>Things that it can do</a:t>
            </a:r>
          </a:p>
          <a:p>
            <a:pPr lvl="2"/>
            <a:r>
              <a:rPr lang="en-US" dirty="0"/>
              <a:t>Methods often mutate the state</a:t>
            </a:r>
          </a:p>
          <a:p>
            <a:pPr lvl="3"/>
            <a:r>
              <a:rPr lang="en-US" dirty="0"/>
              <a:t>E.g. accelerate, brake, turn</a:t>
            </a:r>
          </a:p>
          <a:p>
            <a:r>
              <a:rPr lang="en-US" dirty="0"/>
              <a:t>A few important reminders</a:t>
            </a:r>
          </a:p>
          <a:p>
            <a:pPr lvl="1"/>
            <a:r>
              <a:rPr lang="en-US" dirty="0"/>
              <a:t>A class can have objects from other classes as members via aggregation</a:t>
            </a:r>
          </a:p>
          <a:p>
            <a:pPr lvl="1"/>
            <a:r>
              <a:rPr lang="en-US" dirty="0"/>
              <a:t>You can have private inner classes within a class when necessary. This is true when the inner class is only needed to construct the outer class.</a:t>
            </a:r>
          </a:p>
          <a:p>
            <a:endParaRPr lang="en-US" dirty="0"/>
          </a:p>
        </p:txBody>
      </p:sp>
      <p:sp>
        <p:nvSpPr>
          <p:cNvPr id="4" name="Slide Number Placeholder 3">
            <a:extLst>
              <a:ext uri="{FF2B5EF4-FFF2-40B4-BE49-F238E27FC236}">
                <a16:creationId xmlns:a16="http://schemas.microsoft.com/office/drawing/2014/main" id="{8F0068B1-9772-2840-8DBD-8A4197AF14B2}"/>
              </a:ext>
            </a:extLst>
          </p:cNvPr>
          <p:cNvSpPr>
            <a:spLocks noGrp="1"/>
          </p:cNvSpPr>
          <p:nvPr>
            <p:ph type="sldNum" sz="quarter" idx="12"/>
          </p:nvPr>
        </p:nvSpPr>
        <p:spPr/>
        <p:txBody>
          <a:bodyPr/>
          <a:lstStyle/>
          <a:p>
            <a:fld id="{13977939-A071-43C1-9268-F54CC2756BB5}" type="slidenum">
              <a:rPr lang="en-US" smtClean="0"/>
              <a:pPr/>
              <a:t>14</a:t>
            </a:fld>
            <a:endParaRPr lang="en-US" dirty="0"/>
          </a:p>
        </p:txBody>
      </p:sp>
    </p:spTree>
    <p:extLst>
      <p:ext uri="{BB962C8B-B14F-4D97-AF65-F5344CB8AC3E}">
        <p14:creationId xmlns:p14="http://schemas.microsoft.com/office/powerpoint/2010/main" val="40282436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F8DB3-A97D-6548-94D6-662BE19D15A1}"/>
              </a:ext>
            </a:extLst>
          </p:cNvPr>
          <p:cNvSpPr>
            <a:spLocks noGrp="1"/>
          </p:cNvSpPr>
          <p:nvPr>
            <p:ph type="title"/>
          </p:nvPr>
        </p:nvSpPr>
        <p:spPr/>
        <p:txBody>
          <a:bodyPr>
            <a:noAutofit/>
          </a:bodyPr>
          <a:lstStyle/>
          <a:p>
            <a:r>
              <a:rPr lang="en-US" dirty="0"/>
              <a:t>Objects In Java </a:t>
            </a:r>
          </a:p>
        </p:txBody>
      </p:sp>
      <p:sp>
        <p:nvSpPr>
          <p:cNvPr id="3" name="Content Placeholder 2">
            <a:extLst>
              <a:ext uri="{FF2B5EF4-FFF2-40B4-BE49-F238E27FC236}">
                <a16:creationId xmlns:a16="http://schemas.microsoft.com/office/drawing/2014/main" id="{A6930ABC-9C54-9242-BEBB-6ADE2F8BD9F8}"/>
              </a:ext>
            </a:extLst>
          </p:cNvPr>
          <p:cNvSpPr>
            <a:spLocks noGrp="1"/>
          </p:cNvSpPr>
          <p:nvPr>
            <p:ph idx="1"/>
          </p:nvPr>
        </p:nvSpPr>
        <p:spPr>
          <a:xfrm>
            <a:off x="457200" y="932688"/>
            <a:ext cx="8229600" cy="5620512"/>
          </a:xfrm>
        </p:spPr>
        <p:txBody>
          <a:bodyPr>
            <a:normAutofit fontScale="92500"/>
          </a:bodyPr>
          <a:lstStyle/>
          <a:p>
            <a:r>
              <a:rPr lang="en-US" dirty="0"/>
              <a:t>An object exists in memory and performs a specific task.</a:t>
            </a:r>
          </a:p>
          <a:p>
            <a:r>
              <a:rPr lang="en-US" dirty="0"/>
              <a:t>Objects have two general capabilities under encapsulation:</a:t>
            </a:r>
          </a:p>
          <a:p>
            <a:pPr lvl="1"/>
            <a:r>
              <a:rPr lang="en-US" dirty="0"/>
              <a:t>Objects can store data. </a:t>
            </a:r>
          </a:p>
          <a:p>
            <a:pPr lvl="2"/>
            <a:r>
              <a:rPr lang="en-US" dirty="0"/>
              <a:t>The pieces of data stored in an object are known as fields.</a:t>
            </a:r>
          </a:p>
          <a:p>
            <a:pPr lvl="1"/>
            <a:r>
              <a:rPr lang="en-US" dirty="0"/>
              <a:t>Objects can perform operations. </a:t>
            </a:r>
          </a:p>
          <a:p>
            <a:pPr lvl="3"/>
            <a:r>
              <a:rPr lang="en-US" dirty="0"/>
              <a:t>The operations that an object can perform are known as methods.</a:t>
            </a:r>
          </a:p>
          <a:p>
            <a:r>
              <a:rPr lang="en-US" dirty="0"/>
              <a:t>When a program needs the services of a particular type of object, it creates that object in memory using the keyword </a:t>
            </a:r>
            <a:r>
              <a:rPr lang="en-US" dirty="0">
                <a:solidFill>
                  <a:srgbClr val="FF0000"/>
                </a:solidFill>
              </a:rPr>
              <a:t>new</a:t>
            </a:r>
            <a:r>
              <a:rPr lang="en-US" dirty="0"/>
              <a:t> and then calls that object's methods as necessary.</a:t>
            </a:r>
          </a:p>
          <a:p>
            <a:r>
              <a:rPr lang="en-US" dirty="0"/>
              <a:t>The class is the </a:t>
            </a:r>
            <a:r>
              <a:rPr lang="en-US" dirty="0">
                <a:solidFill>
                  <a:srgbClr val="FF0000"/>
                </a:solidFill>
              </a:rPr>
              <a:t>blueprint</a:t>
            </a:r>
            <a:r>
              <a:rPr lang="en-US" dirty="0"/>
              <a:t> for objects of that type </a:t>
            </a:r>
          </a:p>
          <a:p>
            <a:pPr lvl="1"/>
            <a:r>
              <a:rPr lang="en-US" dirty="0"/>
              <a:t>A class is code that describes a particular type of object. </a:t>
            </a:r>
          </a:p>
          <a:p>
            <a:pPr lvl="1"/>
            <a:r>
              <a:rPr lang="en-US" dirty="0"/>
              <a:t>It specifies the data that an object can hold (the object's fields), and the actions that an object can perform (the object's methods). </a:t>
            </a:r>
          </a:p>
          <a:p>
            <a:endParaRPr lang="en-US" dirty="0"/>
          </a:p>
        </p:txBody>
      </p:sp>
      <p:sp>
        <p:nvSpPr>
          <p:cNvPr id="4" name="Slide Number Placeholder 3">
            <a:extLst>
              <a:ext uri="{FF2B5EF4-FFF2-40B4-BE49-F238E27FC236}">
                <a16:creationId xmlns:a16="http://schemas.microsoft.com/office/drawing/2014/main" id="{774196BE-A45C-D344-B4EA-94026BF8CD71}"/>
              </a:ext>
            </a:extLst>
          </p:cNvPr>
          <p:cNvSpPr>
            <a:spLocks noGrp="1"/>
          </p:cNvSpPr>
          <p:nvPr>
            <p:ph type="sldNum" sz="quarter" idx="12"/>
          </p:nvPr>
        </p:nvSpPr>
        <p:spPr/>
        <p:txBody>
          <a:bodyPr/>
          <a:lstStyle/>
          <a:p>
            <a:fld id="{13977939-A071-43C1-9268-F54CC2756BB5}" type="slidenum">
              <a:rPr lang="en-US" smtClean="0"/>
              <a:pPr/>
              <a:t>15</a:t>
            </a:fld>
            <a:endParaRPr lang="en-US" dirty="0"/>
          </a:p>
        </p:txBody>
      </p:sp>
    </p:spTree>
    <p:extLst>
      <p:ext uri="{BB962C8B-B14F-4D97-AF65-F5344CB8AC3E}">
        <p14:creationId xmlns:p14="http://schemas.microsoft.com/office/powerpoint/2010/main" val="25760395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6181F-D367-164A-ACE5-8DDB00E165C0}"/>
              </a:ext>
            </a:extLst>
          </p:cNvPr>
          <p:cNvSpPr>
            <a:spLocks noGrp="1"/>
          </p:cNvSpPr>
          <p:nvPr>
            <p:ph type="title"/>
          </p:nvPr>
        </p:nvSpPr>
        <p:spPr/>
        <p:txBody>
          <a:bodyPr>
            <a:noAutofit/>
          </a:bodyPr>
          <a:lstStyle/>
          <a:p>
            <a:r>
              <a:rPr lang="en-US" dirty="0"/>
              <a:t>Communicating Objects</a:t>
            </a:r>
          </a:p>
        </p:txBody>
      </p:sp>
      <p:sp>
        <p:nvSpPr>
          <p:cNvPr id="3" name="Content Placeholder 2">
            <a:extLst>
              <a:ext uri="{FF2B5EF4-FFF2-40B4-BE49-F238E27FC236}">
                <a16:creationId xmlns:a16="http://schemas.microsoft.com/office/drawing/2014/main" id="{EAB65954-789E-9340-9C36-BAF4522517CC}"/>
              </a:ext>
            </a:extLst>
          </p:cNvPr>
          <p:cNvSpPr>
            <a:spLocks noGrp="1"/>
          </p:cNvSpPr>
          <p:nvPr>
            <p:ph idx="1"/>
          </p:nvPr>
        </p:nvSpPr>
        <p:spPr>
          <a:xfrm>
            <a:off x="457200" y="990599"/>
            <a:ext cx="8229600" cy="5730875"/>
          </a:xfrm>
        </p:spPr>
        <p:txBody>
          <a:bodyPr>
            <a:normAutofit fontScale="92500" lnSpcReduction="20000"/>
          </a:bodyPr>
          <a:lstStyle/>
          <a:p>
            <a:r>
              <a:rPr lang="en-US" dirty="0"/>
              <a:t>A running program is a collection of objects that are each doing their own task and communicating with other objects. </a:t>
            </a:r>
          </a:p>
          <a:p>
            <a:pPr lvl="1"/>
            <a:r>
              <a:rPr lang="en-US" dirty="0"/>
              <a:t>The picture (next slide) shows a running program for a pizza shop. </a:t>
            </a:r>
          </a:p>
          <a:p>
            <a:pPr lvl="1"/>
            <a:r>
              <a:rPr lang="en-US" dirty="0"/>
              <a:t>The jagged lines represent communication. The boss is special and so is drawn with dotted lines.</a:t>
            </a:r>
          </a:p>
          <a:p>
            <a:pPr lvl="1"/>
            <a:r>
              <a:rPr lang="en-US" dirty="0"/>
              <a:t>You could organize this design differently to reduce the load on the manager</a:t>
            </a:r>
          </a:p>
          <a:p>
            <a:r>
              <a:rPr lang="en-US" dirty="0"/>
              <a:t>In Java programs the main() method is special because it is where the Java interpreter starts the whole program running. </a:t>
            </a:r>
          </a:p>
          <a:p>
            <a:pPr lvl="1"/>
            <a:r>
              <a:rPr lang="en-US" dirty="0"/>
              <a:t>The main() method is a static method, which means that there will be only one instance of it and that it exists (as part of a class) before any objects have been created.</a:t>
            </a:r>
          </a:p>
          <a:p>
            <a:pPr lvl="1"/>
            <a:r>
              <a:rPr lang="en-US" dirty="0"/>
              <a:t>The class with the main method is usually referred to as the Driver Class or the Client.</a:t>
            </a:r>
          </a:p>
        </p:txBody>
      </p:sp>
      <p:sp>
        <p:nvSpPr>
          <p:cNvPr id="4" name="Slide Number Placeholder 3">
            <a:extLst>
              <a:ext uri="{FF2B5EF4-FFF2-40B4-BE49-F238E27FC236}">
                <a16:creationId xmlns:a16="http://schemas.microsoft.com/office/drawing/2014/main" id="{6B007170-C12C-C04B-BF02-F7AF772B5290}"/>
              </a:ext>
            </a:extLst>
          </p:cNvPr>
          <p:cNvSpPr>
            <a:spLocks noGrp="1"/>
          </p:cNvSpPr>
          <p:nvPr>
            <p:ph type="sldNum" sz="quarter" idx="12"/>
          </p:nvPr>
        </p:nvSpPr>
        <p:spPr/>
        <p:txBody>
          <a:bodyPr/>
          <a:lstStyle/>
          <a:p>
            <a:fld id="{13977939-A071-43C1-9268-F54CC2756BB5}" type="slidenum">
              <a:rPr lang="en-US" smtClean="0"/>
              <a:pPr/>
              <a:t>16</a:t>
            </a:fld>
            <a:endParaRPr lang="en-US" dirty="0"/>
          </a:p>
        </p:txBody>
      </p:sp>
    </p:spTree>
    <p:extLst>
      <p:ext uri="{BB962C8B-B14F-4D97-AF65-F5344CB8AC3E}">
        <p14:creationId xmlns:p14="http://schemas.microsoft.com/office/powerpoint/2010/main" val="26442234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B178F-30BE-254F-99D6-BA78BF0A75EB}"/>
              </a:ext>
            </a:extLst>
          </p:cNvPr>
          <p:cNvSpPr>
            <a:spLocks noGrp="1"/>
          </p:cNvSpPr>
          <p:nvPr>
            <p:ph type="title"/>
          </p:nvPr>
        </p:nvSpPr>
        <p:spPr/>
        <p:txBody>
          <a:bodyPr/>
          <a:lstStyle/>
          <a:p>
            <a:r>
              <a:rPr lang="en-US" dirty="0"/>
              <a:t>Communicating Objects (2)</a:t>
            </a:r>
          </a:p>
        </p:txBody>
      </p:sp>
      <p:sp>
        <p:nvSpPr>
          <p:cNvPr id="3" name="Slide Number Placeholder 2">
            <a:extLst>
              <a:ext uri="{FF2B5EF4-FFF2-40B4-BE49-F238E27FC236}">
                <a16:creationId xmlns:a16="http://schemas.microsoft.com/office/drawing/2014/main" id="{FE1DEC3B-F497-774B-8F7F-26C167B42C6B}"/>
              </a:ext>
            </a:extLst>
          </p:cNvPr>
          <p:cNvSpPr>
            <a:spLocks noGrp="1"/>
          </p:cNvSpPr>
          <p:nvPr>
            <p:ph type="sldNum" sz="quarter" idx="12"/>
          </p:nvPr>
        </p:nvSpPr>
        <p:spPr/>
        <p:txBody>
          <a:bodyPr/>
          <a:lstStyle/>
          <a:p>
            <a:fld id="{13977939-A071-43C1-9268-F54CC2756BB5}" type="slidenum">
              <a:rPr lang="en-US" smtClean="0"/>
              <a:pPr/>
              <a:t>17</a:t>
            </a:fld>
            <a:endParaRPr lang="en-US" dirty="0"/>
          </a:p>
        </p:txBody>
      </p:sp>
      <p:pic>
        <p:nvPicPr>
          <p:cNvPr id="4" name="Picture 3">
            <a:extLst>
              <a:ext uri="{FF2B5EF4-FFF2-40B4-BE49-F238E27FC236}">
                <a16:creationId xmlns:a16="http://schemas.microsoft.com/office/drawing/2014/main" id="{606DD4C9-981F-CE41-9955-867730999A7D}"/>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755168" y="1323555"/>
            <a:ext cx="5328863" cy="4466095"/>
          </a:xfrm>
          <a:prstGeom prst="rect">
            <a:avLst/>
          </a:prstGeom>
        </p:spPr>
      </p:pic>
    </p:spTree>
    <p:extLst>
      <p:ext uri="{BB962C8B-B14F-4D97-AF65-F5344CB8AC3E}">
        <p14:creationId xmlns:p14="http://schemas.microsoft.com/office/powerpoint/2010/main" val="20903876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256F19F-D593-CC4E-819E-88E56EBB5459}"/>
              </a:ext>
            </a:extLst>
          </p:cNvPr>
          <p:cNvSpPr>
            <a:spLocks noGrp="1"/>
          </p:cNvSpPr>
          <p:nvPr>
            <p:ph type="title" idx="4294967295"/>
          </p:nvPr>
        </p:nvSpPr>
        <p:spPr>
          <a:xfrm>
            <a:off x="530225" y="2705100"/>
            <a:ext cx="7772400" cy="1509713"/>
          </a:xfrm>
          <a:prstGeom prst="rect">
            <a:avLst/>
          </a:prstGeom>
          <a:noFill/>
          <a:ln>
            <a:noFill/>
            <a:prstDash/>
          </a:ln>
          <a:effectLst/>
        </p:spPr>
        <p:txBody>
          <a:bodyPr rot="0" spcFirstLastPara="0" vertOverflow="overflow" horzOverflow="overflow" vert="horz" wrap="square" lIns="45720" tIns="45720" rIns="45720" bIns="45720" numCol="1" spcCol="0" rtlCol="0" fromWordArt="0" anchor="t" anchorCtr="0" forceAA="0" compatLnSpc="1">
            <a:prstTxWarp prst="textNoShape">
              <a:avLst/>
            </a:prstTxWarp>
            <a:normAutofit/>
          </a:bodyPr>
          <a:lstStyle/>
          <a:p>
            <a:pPr marL="0" marR="0" lvl="0" indent="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200" b="0" i="0" u="none" strike="noStrike" kern="1200" cap="none" spc="0" normalizeH="0" baseline="0" noProof="0" dirty="0">
                <a:ln>
                  <a:noFill/>
                </a:ln>
                <a:solidFill>
                  <a:schemeClr val="tx1"/>
                </a:solidFill>
                <a:effectLst/>
                <a:uLnTx/>
                <a:uFillTx/>
                <a:latin typeface="+mn-lt"/>
                <a:ea typeface="+mn-ea"/>
                <a:cs typeface="+mn-cs"/>
              </a:rPr>
              <a:t>Modern Enhancements In Java</a:t>
            </a:r>
          </a:p>
        </p:txBody>
      </p:sp>
      <p:sp>
        <p:nvSpPr>
          <p:cNvPr id="4" name="Slide Number Placeholder 3">
            <a:extLst>
              <a:ext uri="{FF2B5EF4-FFF2-40B4-BE49-F238E27FC236}">
                <a16:creationId xmlns:a16="http://schemas.microsoft.com/office/drawing/2014/main" id="{D4720E97-9555-174A-95F7-D32F8395ADCC}"/>
              </a:ext>
            </a:extLst>
          </p:cNvPr>
          <p:cNvSpPr>
            <a:spLocks noGrp="1"/>
          </p:cNvSpPr>
          <p:nvPr>
            <p:ph type="sldNum" sz="quarter" idx="12"/>
          </p:nvPr>
        </p:nvSpPr>
        <p:spPr/>
        <p:txBody>
          <a:bodyPr/>
          <a:lstStyle/>
          <a:p>
            <a:fld id="{13977939-A071-43C1-9268-F54CC2756BB5}" type="slidenum">
              <a:rPr lang="en-US" smtClean="0"/>
              <a:pPr/>
              <a:t>18</a:t>
            </a:fld>
            <a:endParaRPr lang="en-US" dirty="0"/>
          </a:p>
        </p:txBody>
      </p:sp>
    </p:spTree>
    <p:extLst>
      <p:ext uri="{BB962C8B-B14F-4D97-AF65-F5344CB8AC3E}">
        <p14:creationId xmlns:p14="http://schemas.microsoft.com/office/powerpoint/2010/main" val="3465128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730ED-44C7-3947-9E31-67F17077091E}"/>
              </a:ext>
            </a:extLst>
          </p:cNvPr>
          <p:cNvSpPr>
            <a:spLocks noGrp="1"/>
          </p:cNvSpPr>
          <p:nvPr>
            <p:ph type="title"/>
          </p:nvPr>
        </p:nvSpPr>
        <p:spPr>
          <a:xfrm>
            <a:off x="457200" y="152400"/>
            <a:ext cx="8229600" cy="475488"/>
          </a:xfrm>
        </p:spPr>
        <p:txBody>
          <a:bodyPr>
            <a:noAutofit/>
          </a:bodyPr>
          <a:lstStyle/>
          <a:p>
            <a:r>
              <a:rPr lang="en-US" dirty="0"/>
              <a:t>Modernized Java</a:t>
            </a:r>
          </a:p>
        </p:txBody>
      </p:sp>
      <p:sp>
        <p:nvSpPr>
          <p:cNvPr id="3" name="Content Placeholder 2">
            <a:extLst>
              <a:ext uri="{FF2B5EF4-FFF2-40B4-BE49-F238E27FC236}">
                <a16:creationId xmlns:a16="http://schemas.microsoft.com/office/drawing/2014/main" id="{B1FAE938-2D3A-134A-A41A-1F663F32C8A5}"/>
              </a:ext>
            </a:extLst>
          </p:cNvPr>
          <p:cNvSpPr>
            <a:spLocks noGrp="1"/>
          </p:cNvSpPr>
          <p:nvPr>
            <p:ph idx="1"/>
          </p:nvPr>
        </p:nvSpPr>
        <p:spPr>
          <a:xfrm>
            <a:off x="457200" y="609600"/>
            <a:ext cx="8229600" cy="6248400"/>
          </a:xfrm>
        </p:spPr>
        <p:txBody>
          <a:bodyPr>
            <a:normAutofit fontScale="85000" lnSpcReduction="20000"/>
          </a:bodyPr>
          <a:lstStyle/>
          <a:p>
            <a:r>
              <a:rPr lang="en-US" dirty="0"/>
              <a:t>Java has continued to evolve, most specifically starting with Java 8, where the main benefits included providing more programming tools and concepts to solve new or existing programming problems </a:t>
            </a:r>
          </a:p>
          <a:p>
            <a:pPr lvl="1"/>
            <a:r>
              <a:rPr lang="en-US" dirty="0"/>
              <a:t>More quickly </a:t>
            </a:r>
          </a:p>
          <a:p>
            <a:pPr lvl="1"/>
            <a:r>
              <a:rPr lang="en-US" dirty="0"/>
              <a:t>More concisely </a:t>
            </a:r>
          </a:p>
          <a:p>
            <a:pPr lvl="1"/>
            <a:r>
              <a:rPr lang="en-US" dirty="0"/>
              <a:t>In a more easily maintainable way.</a:t>
            </a:r>
          </a:p>
          <a:p>
            <a:r>
              <a:rPr lang="en-US" dirty="0"/>
              <a:t>Since Java was was first developed there have been major changes in the computing world</a:t>
            </a:r>
          </a:p>
          <a:p>
            <a:pPr lvl="1"/>
            <a:r>
              <a:rPr lang="en-US" dirty="0"/>
              <a:t>The introduction of big, multi-terabyte and greater data sets</a:t>
            </a:r>
          </a:p>
          <a:p>
            <a:pPr lvl="1"/>
            <a:r>
              <a:rPr lang="en-US" dirty="0"/>
              <a:t>Multi-core processors and multi-computer clusters</a:t>
            </a:r>
          </a:p>
          <a:p>
            <a:r>
              <a:rPr lang="en-US" dirty="0"/>
              <a:t>Several new programming concepts helped drive the changes in Java</a:t>
            </a:r>
          </a:p>
          <a:p>
            <a:pPr lvl="1"/>
            <a:r>
              <a:rPr lang="en-US" dirty="0"/>
              <a:t>Functions </a:t>
            </a:r>
          </a:p>
          <a:p>
            <a:pPr lvl="1"/>
            <a:r>
              <a:rPr lang="en-US" dirty="0"/>
              <a:t>Behavior Parameterization</a:t>
            </a:r>
          </a:p>
          <a:p>
            <a:pPr lvl="1"/>
            <a:r>
              <a:rPr lang="en-US" dirty="0"/>
              <a:t>Stream Processing</a:t>
            </a:r>
          </a:p>
          <a:p>
            <a:pPr lvl="1"/>
            <a:r>
              <a:rPr lang="en-US" dirty="0"/>
              <a:t>Parallelism and Shared Mutable Data</a:t>
            </a:r>
          </a:p>
          <a:p>
            <a:pPr lvl="1"/>
            <a:r>
              <a:rPr lang="en-US" dirty="0"/>
              <a:t>We will try to study each of these, to the extent possible this semester</a:t>
            </a:r>
          </a:p>
          <a:p>
            <a:pPr lvl="1"/>
            <a:r>
              <a:rPr lang="en-US" dirty="0"/>
              <a:t>The first 3 demonstrate a key adaptation of declarative programming inside of Java</a:t>
            </a:r>
          </a:p>
        </p:txBody>
      </p:sp>
      <p:sp>
        <p:nvSpPr>
          <p:cNvPr id="4" name="Slide Number Placeholder 3">
            <a:extLst>
              <a:ext uri="{FF2B5EF4-FFF2-40B4-BE49-F238E27FC236}">
                <a16:creationId xmlns:a16="http://schemas.microsoft.com/office/drawing/2014/main" id="{8F0068B1-9772-2840-8DBD-8A4197AF14B2}"/>
              </a:ext>
            </a:extLst>
          </p:cNvPr>
          <p:cNvSpPr>
            <a:spLocks noGrp="1"/>
          </p:cNvSpPr>
          <p:nvPr>
            <p:ph type="sldNum" sz="quarter" idx="12"/>
          </p:nvPr>
        </p:nvSpPr>
        <p:spPr/>
        <p:txBody>
          <a:bodyPr/>
          <a:lstStyle/>
          <a:p>
            <a:fld id="{13977939-A071-43C1-9268-F54CC2756BB5}" type="slidenum">
              <a:rPr lang="en-US" smtClean="0"/>
              <a:pPr/>
              <a:t>19</a:t>
            </a:fld>
            <a:endParaRPr lang="en-US" dirty="0"/>
          </a:p>
        </p:txBody>
      </p:sp>
    </p:spTree>
    <p:extLst>
      <p:ext uri="{BB962C8B-B14F-4D97-AF65-F5344CB8AC3E}">
        <p14:creationId xmlns:p14="http://schemas.microsoft.com/office/powerpoint/2010/main" val="30743120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730ED-44C7-3947-9E31-67F17077091E}"/>
              </a:ext>
            </a:extLst>
          </p:cNvPr>
          <p:cNvSpPr>
            <a:spLocks noGrp="1"/>
          </p:cNvSpPr>
          <p:nvPr>
            <p:ph type="title"/>
          </p:nvPr>
        </p:nvSpPr>
        <p:spPr/>
        <p:txBody>
          <a:bodyPr>
            <a:noAutofit/>
          </a:bodyPr>
          <a:lstStyle/>
          <a:p>
            <a:r>
              <a:rPr lang="en-US" dirty="0"/>
              <a:t>Functions In Java</a:t>
            </a:r>
          </a:p>
        </p:txBody>
      </p:sp>
      <p:sp>
        <p:nvSpPr>
          <p:cNvPr id="3" name="Content Placeholder 2">
            <a:extLst>
              <a:ext uri="{FF2B5EF4-FFF2-40B4-BE49-F238E27FC236}">
                <a16:creationId xmlns:a16="http://schemas.microsoft.com/office/drawing/2014/main" id="{B1FAE938-2D3A-134A-A41A-1F663F32C8A5}"/>
              </a:ext>
            </a:extLst>
          </p:cNvPr>
          <p:cNvSpPr>
            <a:spLocks noGrp="1"/>
          </p:cNvSpPr>
          <p:nvPr>
            <p:ph idx="1"/>
          </p:nvPr>
        </p:nvSpPr>
        <p:spPr>
          <a:xfrm>
            <a:off x="457200" y="932688"/>
            <a:ext cx="8229600" cy="5925312"/>
          </a:xfrm>
        </p:spPr>
        <p:txBody>
          <a:bodyPr>
            <a:normAutofit lnSpcReduction="10000"/>
          </a:bodyPr>
          <a:lstStyle/>
          <a:p>
            <a:r>
              <a:rPr lang="en-US" dirty="0"/>
              <a:t>The word </a:t>
            </a:r>
            <a:r>
              <a:rPr lang="en-US" i="1" dirty="0"/>
              <a:t>function </a:t>
            </a:r>
            <a:r>
              <a:rPr lang="en-US" dirty="0"/>
              <a:t>in programming languages is commonly used as a synonym for </a:t>
            </a:r>
            <a:r>
              <a:rPr lang="en-US" i="1" dirty="0"/>
              <a:t>method</a:t>
            </a:r>
            <a:r>
              <a:rPr lang="en-US" dirty="0"/>
              <a:t>, particularly a static method </a:t>
            </a:r>
          </a:p>
          <a:p>
            <a:pPr lvl="1"/>
            <a:r>
              <a:rPr lang="en-US" dirty="0"/>
              <a:t>We also think of it being used for </a:t>
            </a:r>
            <a:r>
              <a:rPr lang="en-US" i="1" dirty="0"/>
              <a:t>mathematical function</a:t>
            </a:r>
            <a:r>
              <a:rPr lang="en-US" dirty="0"/>
              <a:t>, one without side effects. Fortunately, as you’ll see, when Java 8 refers to functions these usages nearly coincide. </a:t>
            </a:r>
          </a:p>
          <a:p>
            <a:r>
              <a:rPr lang="en-US" dirty="0"/>
              <a:t>Starting with Java 8 we had functions as new forms of value. </a:t>
            </a:r>
          </a:p>
          <a:p>
            <a:pPr lvl="1"/>
            <a:r>
              <a:rPr lang="en-US" dirty="0"/>
              <a:t>These facilitate the use of streams, which Java 8 provides to exploit parallel programming on multi-core processors. </a:t>
            </a:r>
          </a:p>
          <a:p>
            <a:pPr lvl="1"/>
            <a:r>
              <a:rPr lang="en-US" dirty="0"/>
              <a:t>This approach allows us to use lambdas (pieces of code) and to pass references to lambdas as parameters for methods</a:t>
            </a:r>
          </a:p>
        </p:txBody>
      </p:sp>
      <p:sp>
        <p:nvSpPr>
          <p:cNvPr id="4" name="Slide Number Placeholder 3">
            <a:extLst>
              <a:ext uri="{FF2B5EF4-FFF2-40B4-BE49-F238E27FC236}">
                <a16:creationId xmlns:a16="http://schemas.microsoft.com/office/drawing/2014/main" id="{8F0068B1-9772-2840-8DBD-8A4197AF14B2}"/>
              </a:ext>
            </a:extLst>
          </p:cNvPr>
          <p:cNvSpPr>
            <a:spLocks noGrp="1"/>
          </p:cNvSpPr>
          <p:nvPr>
            <p:ph type="sldNum" sz="quarter" idx="12"/>
          </p:nvPr>
        </p:nvSpPr>
        <p:spPr/>
        <p:txBody>
          <a:bodyPr/>
          <a:lstStyle/>
          <a:p>
            <a:fld id="{13977939-A071-43C1-9268-F54CC2756BB5}" type="slidenum">
              <a:rPr lang="en-US" smtClean="0"/>
              <a:pPr/>
              <a:t>20</a:t>
            </a:fld>
            <a:endParaRPr lang="en-US" dirty="0"/>
          </a:p>
        </p:txBody>
      </p:sp>
    </p:spTree>
    <p:extLst>
      <p:ext uri="{BB962C8B-B14F-4D97-AF65-F5344CB8AC3E}">
        <p14:creationId xmlns:p14="http://schemas.microsoft.com/office/powerpoint/2010/main" val="32726474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730ED-44C7-3947-9E31-67F17077091E}"/>
              </a:ext>
            </a:extLst>
          </p:cNvPr>
          <p:cNvSpPr>
            <a:spLocks noGrp="1"/>
          </p:cNvSpPr>
          <p:nvPr>
            <p:ph type="title"/>
          </p:nvPr>
        </p:nvSpPr>
        <p:spPr/>
        <p:txBody>
          <a:bodyPr>
            <a:noAutofit/>
          </a:bodyPr>
          <a:lstStyle/>
          <a:p>
            <a:r>
              <a:rPr lang="en-US" dirty="0"/>
              <a:t>Behavior Parameterization</a:t>
            </a:r>
          </a:p>
        </p:txBody>
      </p:sp>
      <p:sp>
        <p:nvSpPr>
          <p:cNvPr id="3" name="Content Placeholder 2">
            <a:extLst>
              <a:ext uri="{FF2B5EF4-FFF2-40B4-BE49-F238E27FC236}">
                <a16:creationId xmlns:a16="http://schemas.microsoft.com/office/drawing/2014/main" id="{B1FAE938-2D3A-134A-A41A-1F663F32C8A5}"/>
              </a:ext>
            </a:extLst>
          </p:cNvPr>
          <p:cNvSpPr>
            <a:spLocks noGrp="1"/>
          </p:cNvSpPr>
          <p:nvPr>
            <p:ph idx="1"/>
          </p:nvPr>
        </p:nvSpPr>
        <p:spPr>
          <a:xfrm>
            <a:off x="457200" y="932688"/>
            <a:ext cx="8229600" cy="5620512"/>
          </a:xfrm>
        </p:spPr>
        <p:txBody>
          <a:bodyPr>
            <a:normAutofit/>
          </a:bodyPr>
          <a:lstStyle/>
          <a:p>
            <a:r>
              <a:rPr lang="en-US" dirty="0"/>
              <a:t>Another programming concept added to Java 8 is the ability to pass a piece of code to an API. </a:t>
            </a:r>
          </a:p>
          <a:p>
            <a:pPr lvl="1"/>
            <a:r>
              <a:rPr lang="en-US" dirty="0"/>
              <a:t>This is what is meant by behavior parameterization.</a:t>
            </a:r>
          </a:p>
          <a:p>
            <a:r>
              <a:rPr lang="en-US" dirty="0"/>
              <a:t>The designers of Java 8 decided to allow methods to be values—to make it easier for you to program. </a:t>
            </a:r>
          </a:p>
          <a:p>
            <a:pPr lvl="1"/>
            <a:r>
              <a:rPr lang="en-US" dirty="0"/>
              <a:t>Moreover, the Java 8 feature of methods as values forms the basis of various other Java 8 features (such as Streams).</a:t>
            </a:r>
          </a:p>
          <a:p>
            <a:r>
              <a:rPr lang="en-US" dirty="0"/>
              <a:t>Object and Method references allow you to pass a method as a parameter. </a:t>
            </a:r>
          </a:p>
          <a:p>
            <a:pPr lvl="1"/>
            <a:r>
              <a:rPr lang="en-US" dirty="0"/>
              <a:t>The use of the Comparator interface when creating new objects for a class is an example of this that we will study shortly </a:t>
            </a:r>
          </a:p>
        </p:txBody>
      </p:sp>
      <p:sp>
        <p:nvSpPr>
          <p:cNvPr id="4" name="Slide Number Placeholder 3">
            <a:extLst>
              <a:ext uri="{FF2B5EF4-FFF2-40B4-BE49-F238E27FC236}">
                <a16:creationId xmlns:a16="http://schemas.microsoft.com/office/drawing/2014/main" id="{8F0068B1-9772-2840-8DBD-8A4197AF14B2}"/>
              </a:ext>
            </a:extLst>
          </p:cNvPr>
          <p:cNvSpPr>
            <a:spLocks noGrp="1"/>
          </p:cNvSpPr>
          <p:nvPr>
            <p:ph type="sldNum" sz="quarter" idx="12"/>
          </p:nvPr>
        </p:nvSpPr>
        <p:spPr/>
        <p:txBody>
          <a:bodyPr/>
          <a:lstStyle/>
          <a:p>
            <a:fld id="{13977939-A071-43C1-9268-F54CC2756BB5}" type="slidenum">
              <a:rPr lang="en-US" smtClean="0"/>
              <a:pPr/>
              <a:t>21</a:t>
            </a:fld>
            <a:endParaRPr lang="en-US" dirty="0"/>
          </a:p>
        </p:txBody>
      </p:sp>
    </p:spTree>
    <p:extLst>
      <p:ext uri="{BB962C8B-B14F-4D97-AF65-F5344CB8AC3E}">
        <p14:creationId xmlns:p14="http://schemas.microsoft.com/office/powerpoint/2010/main" val="21237998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730ED-44C7-3947-9E31-67F17077091E}"/>
              </a:ext>
            </a:extLst>
          </p:cNvPr>
          <p:cNvSpPr>
            <a:spLocks noGrp="1"/>
          </p:cNvSpPr>
          <p:nvPr>
            <p:ph type="title"/>
          </p:nvPr>
        </p:nvSpPr>
        <p:spPr/>
        <p:txBody>
          <a:bodyPr>
            <a:noAutofit/>
          </a:bodyPr>
          <a:lstStyle/>
          <a:p>
            <a:r>
              <a:rPr lang="en-US" dirty="0"/>
              <a:t>Streaming In Java</a:t>
            </a:r>
          </a:p>
        </p:txBody>
      </p:sp>
      <p:sp>
        <p:nvSpPr>
          <p:cNvPr id="3" name="Content Placeholder 2">
            <a:extLst>
              <a:ext uri="{FF2B5EF4-FFF2-40B4-BE49-F238E27FC236}">
                <a16:creationId xmlns:a16="http://schemas.microsoft.com/office/drawing/2014/main" id="{B1FAE938-2D3A-134A-A41A-1F663F32C8A5}"/>
              </a:ext>
            </a:extLst>
          </p:cNvPr>
          <p:cNvSpPr>
            <a:spLocks noGrp="1"/>
          </p:cNvSpPr>
          <p:nvPr>
            <p:ph idx="1"/>
          </p:nvPr>
        </p:nvSpPr>
        <p:spPr>
          <a:xfrm>
            <a:off x="457200" y="932688"/>
            <a:ext cx="8229600" cy="5620512"/>
          </a:xfrm>
        </p:spPr>
        <p:txBody>
          <a:bodyPr>
            <a:normAutofit fontScale="92500" lnSpcReduction="10000"/>
          </a:bodyPr>
          <a:lstStyle/>
          <a:p>
            <a:r>
              <a:rPr lang="en-US" dirty="0"/>
              <a:t>A stream is a sequence of data items that are conceptually produced one at a time. </a:t>
            </a:r>
          </a:p>
          <a:p>
            <a:pPr lvl="1"/>
            <a:r>
              <a:rPr lang="en-US" dirty="0"/>
              <a:t>A program might read items from an input stream one by one and similarly write items to an output stream. </a:t>
            </a:r>
          </a:p>
          <a:p>
            <a:pPr lvl="1"/>
            <a:r>
              <a:rPr lang="en-US" dirty="0"/>
              <a:t>The output stream of one program could well be the input stream of another.</a:t>
            </a:r>
          </a:p>
          <a:p>
            <a:r>
              <a:rPr lang="en-US" dirty="0"/>
              <a:t>The key motivation for Streams is that you can program at a higher level of abstraction, structuring your thoughts of turning a stream of this into a stream of that (similar to how you think when writing database queries) rather than one item at a time. </a:t>
            </a:r>
          </a:p>
          <a:p>
            <a:pPr lvl="1"/>
            <a:r>
              <a:rPr lang="en-US" dirty="0"/>
              <a:t>Another advantage is that Java 8 can transparently run your pipeline of Stream operations on several CPU cores on disjoint parts of the input—this is parallelism almost for free instead of hard work using Threads in java.</a:t>
            </a:r>
          </a:p>
          <a:p>
            <a:r>
              <a:rPr lang="en-US" dirty="0"/>
              <a:t>Streams are a key element of functional programming</a:t>
            </a:r>
          </a:p>
        </p:txBody>
      </p:sp>
      <p:sp>
        <p:nvSpPr>
          <p:cNvPr id="4" name="Slide Number Placeholder 3">
            <a:extLst>
              <a:ext uri="{FF2B5EF4-FFF2-40B4-BE49-F238E27FC236}">
                <a16:creationId xmlns:a16="http://schemas.microsoft.com/office/drawing/2014/main" id="{8F0068B1-9772-2840-8DBD-8A4197AF14B2}"/>
              </a:ext>
            </a:extLst>
          </p:cNvPr>
          <p:cNvSpPr>
            <a:spLocks noGrp="1"/>
          </p:cNvSpPr>
          <p:nvPr>
            <p:ph type="sldNum" sz="quarter" idx="12"/>
          </p:nvPr>
        </p:nvSpPr>
        <p:spPr/>
        <p:txBody>
          <a:bodyPr/>
          <a:lstStyle/>
          <a:p>
            <a:fld id="{13977939-A071-43C1-9268-F54CC2756BB5}" type="slidenum">
              <a:rPr lang="en-US" smtClean="0"/>
              <a:pPr/>
              <a:t>22</a:t>
            </a:fld>
            <a:endParaRPr lang="en-US" dirty="0"/>
          </a:p>
        </p:txBody>
      </p:sp>
    </p:spTree>
    <p:extLst>
      <p:ext uri="{BB962C8B-B14F-4D97-AF65-F5344CB8AC3E}">
        <p14:creationId xmlns:p14="http://schemas.microsoft.com/office/powerpoint/2010/main" val="18602355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730ED-44C7-3947-9E31-67F17077091E}"/>
              </a:ext>
            </a:extLst>
          </p:cNvPr>
          <p:cNvSpPr>
            <a:spLocks noGrp="1"/>
          </p:cNvSpPr>
          <p:nvPr>
            <p:ph type="title"/>
          </p:nvPr>
        </p:nvSpPr>
        <p:spPr/>
        <p:txBody>
          <a:bodyPr>
            <a:noAutofit/>
          </a:bodyPr>
          <a:lstStyle/>
          <a:p>
            <a:r>
              <a:rPr lang="en-US" dirty="0"/>
              <a:t>Parallelism and Shared Mutable Data</a:t>
            </a:r>
          </a:p>
        </p:txBody>
      </p:sp>
      <p:sp>
        <p:nvSpPr>
          <p:cNvPr id="3" name="Content Placeholder 2">
            <a:extLst>
              <a:ext uri="{FF2B5EF4-FFF2-40B4-BE49-F238E27FC236}">
                <a16:creationId xmlns:a16="http://schemas.microsoft.com/office/drawing/2014/main" id="{B1FAE938-2D3A-134A-A41A-1F663F32C8A5}"/>
              </a:ext>
            </a:extLst>
          </p:cNvPr>
          <p:cNvSpPr>
            <a:spLocks noGrp="1"/>
          </p:cNvSpPr>
          <p:nvPr>
            <p:ph idx="1"/>
          </p:nvPr>
        </p:nvSpPr>
        <p:spPr>
          <a:xfrm>
            <a:off x="457200" y="932688"/>
            <a:ext cx="8229600" cy="5925312"/>
          </a:xfrm>
        </p:spPr>
        <p:txBody>
          <a:bodyPr>
            <a:normAutofit fontScale="77500" lnSpcReduction="20000"/>
          </a:bodyPr>
          <a:lstStyle/>
          <a:p>
            <a:r>
              <a:rPr lang="en-US" dirty="0"/>
              <a:t>Parallelism and shared mutable data has also been embedded into Java </a:t>
            </a:r>
          </a:p>
          <a:p>
            <a:pPr lvl="1"/>
            <a:r>
              <a:rPr lang="en-US" dirty="0"/>
              <a:t>You may have to make some small changes in the way you code the behavior passed to stream methods. </a:t>
            </a:r>
          </a:p>
          <a:p>
            <a:pPr lvl="1"/>
            <a:r>
              <a:rPr lang="en-US" dirty="0"/>
              <a:t>At first, these changes might feel a little uncomfortable, but once you get used to them, you’ll love them. </a:t>
            </a:r>
          </a:p>
          <a:p>
            <a:pPr lvl="1"/>
            <a:r>
              <a:rPr lang="en-US" dirty="0"/>
              <a:t>You must provide behavior that is safe to execute concurrently on different pieces of the input. Typically this means writing code that doesn’t access shared mutable data to do its job. </a:t>
            </a:r>
          </a:p>
          <a:p>
            <a:pPr lvl="1"/>
            <a:r>
              <a:rPr lang="en-US" dirty="0"/>
              <a:t>Sometimes these are referred to as pure functions or side-effect-free functions or stateless functions. </a:t>
            </a:r>
          </a:p>
          <a:p>
            <a:pPr lvl="2"/>
            <a:r>
              <a:rPr lang="en-US" dirty="0"/>
              <a:t>If there’s a shared variable or object, which is written to, then things no longer work. What if two processes want to modify the shared variable at the same time? </a:t>
            </a:r>
          </a:p>
          <a:p>
            <a:pPr lvl="1"/>
            <a:r>
              <a:rPr lang="en-US" dirty="0"/>
              <a:t>Java 8 streams exploit parallelism more easily than Java’s Threads API, so although it’s </a:t>
            </a:r>
            <a:r>
              <a:rPr lang="en-US" i="1" dirty="0"/>
              <a:t>possible </a:t>
            </a:r>
            <a:r>
              <a:rPr lang="en-US" dirty="0"/>
              <a:t>to use synchronized to break the no-shared-mutable-data rule, it’s fighting the system in that it’s abusing an abstraction optimized around that rule. </a:t>
            </a:r>
          </a:p>
          <a:p>
            <a:pPr lvl="1"/>
            <a:r>
              <a:rPr lang="en-US" dirty="0"/>
              <a:t>Using synchronized across multiple processing cores is often far more expensive than you expect, because synchronization forces code to execute sequentially, which works against the goal of parallelism. </a:t>
            </a:r>
          </a:p>
          <a:p>
            <a:r>
              <a:rPr lang="en-US" dirty="0"/>
              <a:t>The no-shared-mutable- data requirement means that a method is perfectly described solely by the way it transforms arguments to results; in other words, it behaves as a mathematical function and has no (visible) side effects.</a:t>
            </a:r>
          </a:p>
          <a:p>
            <a:endParaRPr lang="en-US" dirty="0"/>
          </a:p>
        </p:txBody>
      </p:sp>
      <p:sp>
        <p:nvSpPr>
          <p:cNvPr id="4" name="Slide Number Placeholder 3">
            <a:extLst>
              <a:ext uri="{FF2B5EF4-FFF2-40B4-BE49-F238E27FC236}">
                <a16:creationId xmlns:a16="http://schemas.microsoft.com/office/drawing/2014/main" id="{8F0068B1-9772-2840-8DBD-8A4197AF14B2}"/>
              </a:ext>
            </a:extLst>
          </p:cNvPr>
          <p:cNvSpPr>
            <a:spLocks noGrp="1"/>
          </p:cNvSpPr>
          <p:nvPr>
            <p:ph type="sldNum" sz="quarter" idx="12"/>
          </p:nvPr>
        </p:nvSpPr>
        <p:spPr/>
        <p:txBody>
          <a:bodyPr/>
          <a:lstStyle/>
          <a:p>
            <a:fld id="{13977939-A071-43C1-9268-F54CC2756BB5}" type="slidenum">
              <a:rPr lang="en-US" smtClean="0"/>
              <a:pPr/>
              <a:t>23</a:t>
            </a:fld>
            <a:endParaRPr lang="en-US" dirty="0"/>
          </a:p>
        </p:txBody>
      </p:sp>
    </p:spTree>
    <p:extLst>
      <p:ext uri="{BB962C8B-B14F-4D97-AF65-F5344CB8AC3E}">
        <p14:creationId xmlns:p14="http://schemas.microsoft.com/office/powerpoint/2010/main" val="27191058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462A0-E1F3-CDF6-C5F5-740548370964}"/>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8CF9319-E8DF-9AA4-A879-101BA0577653}"/>
              </a:ext>
            </a:extLst>
          </p:cNvPr>
          <p:cNvSpPr>
            <a:spLocks noGrp="1"/>
          </p:cNvSpPr>
          <p:nvPr>
            <p:ph type="title" idx="4294967295"/>
          </p:nvPr>
        </p:nvSpPr>
        <p:spPr>
          <a:xfrm>
            <a:off x="530225" y="2705100"/>
            <a:ext cx="7772400" cy="1509713"/>
          </a:xfrm>
          <a:prstGeom prst="rect">
            <a:avLst/>
          </a:prstGeom>
          <a:noFill/>
          <a:ln>
            <a:noFill/>
            <a:prstDash/>
          </a:ln>
          <a:effectLst/>
        </p:spPr>
        <p:txBody>
          <a:bodyPr rot="0" spcFirstLastPara="0" vertOverflow="overflow" horzOverflow="overflow" vert="horz" wrap="square" lIns="45720" tIns="45720" rIns="45720" bIns="45720" numCol="1" spcCol="0" rtlCol="0" fromWordArt="0" anchor="t" anchorCtr="0" forceAA="0" compatLnSpc="1">
            <a:prstTxWarp prst="textNoShape">
              <a:avLst/>
            </a:prstTxWarp>
            <a:normAutofit/>
          </a:bodyPr>
          <a:lstStyle/>
          <a:p>
            <a:pPr marL="0" marR="0" lvl="0" indent="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200" b="0" i="0" u="none" strike="noStrike" kern="1200" cap="none" spc="0" normalizeH="0" baseline="0" noProof="0" dirty="0">
                <a:ln>
                  <a:noFill/>
                </a:ln>
                <a:solidFill>
                  <a:schemeClr val="tx1"/>
                </a:solidFill>
                <a:effectLst/>
                <a:uLnTx/>
                <a:uFillTx/>
                <a:latin typeface="+mn-lt"/>
                <a:ea typeface="+mn-ea"/>
                <a:cs typeface="+mn-cs"/>
              </a:rPr>
              <a:t>Java and AI</a:t>
            </a:r>
          </a:p>
        </p:txBody>
      </p:sp>
      <p:sp>
        <p:nvSpPr>
          <p:cNvPr id="4" name="Slide Number Placeholder 3">
            <a:extLst>
              <a:ext uri="{FF2B5EF4-FFF2-40B4-BE49-F238E27FC236}">
                <a16:creationId xmlns:a16="http://schemas.microsoft.com/office/drawing/2014/main" id="{EADFF059-5928-EEC9-1C84-51450E8765ED}"/>
              </a:ext>
            </a:extLst>
          </p:cNvPr>
          <p:cNvSpPr>
            <a:spLocks noGrp="1"/>
          </p:cNvSpPr>
          <p:nvPr>
            <p:ph type="sldNum" sz="quarter" idx="12"/>
          </p:nvPr>
        </p:nvSpPr>
        <p:spPr/>
        <p:txBody>
          <a:bodyPr/>
          <a:lstStyle/>
          <a:p>
            <a:fld id="{13977939-A071-43C1-9268-F54CC2756BB5}" type="slidenum">
              <a:rPr lang="en-US" smtClean="0"/>
              <a:pPr/>
              <a:t>24</a:t>
            </a:fld>
            <a:endParaRPr lang="en-US" dirty="0"/>
          </a:p>
        </p:txBody>
      </p:sp>
    </p:spTree>
    <p:extLst>
      <p:ext uri="{BB962C8B-B14F-4D97-AF65-F5344CB8AC3E}">
        <p14:creationId xmlns:p14="http://schemas.microsoft.com/office/powerpoint/2010/main" val="39123270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91913B-94CA-0494-7103-55F5076DED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EE4F4E-190C-5ACA-3EC9-6683D79F3B45}"/>
              </a:ext>
            </a:extLst>
          </p:cNvPr>
          <p:cNvSpPr>
            <a:spLocks noGrp="1"/>
          </p:cNvSpPr>
          <p:nvPr>
            <p:ph type="title"/>
          </p:nvPr>
        </p:nvSpPr>
        <p:spPr/>
        <p:txBody>
          <a:bodyPr>
            <a:noAutofit/>
          </a:bodyPr>
          <a:lstStyle/>
          <a:p>
            <a:r>
              <a:rPr lang="en-US" dirty="0"/>
              <a:t>Introduction</a:t>
            </a:r>
          </a:p>
        </p:txBody>
      </p:sp>
      <p:sp>
        <p:nvSpPr>
          <p:cNvPr id="3" name="Content Placeholder 2">
            <a:extLst>
              <a:ext uri="{FF2B5EF4-FFF2-40B4-BE49-F238E27FC236}">
                <a16:creationId xmlns:a16="http://schemas.microsoft.com/office/drawing/2014/main" id="{69C3D688-DF1E-6183-2682-171E1FB9B3FC}"/>
              </a:ext>
            </a:extLst>
          </p:cNvPr>
          <p:cNvSpPr>
            <a:spLocks noGrp="1"/>
          </p:cNvSpPr>
          <p:nvPr>
            <p:ph idx="1"/>
          </p:nvPr>
        </p:nvSpPr>
        <p:spPr>
          <a:xfrm>
            <a:off x="457200" y="932688"/>
            <a:ext cx="8229600" cy="5925312"/>
          </a:xfrm>
        </p:spPr>
        <p:txBody>
          <a:bodyPr>
            <a:normAutofit/>
          </a:bodyPr>
          <a:lstStyle/>
          <a:p>
            <a:r>
              <a:rPr lang="en-US" dirty="0"/>
              <a:t>In the world of artificial intelligence (AI) and machine learning (ML), Python has long been the dominant language due to its simplicity and vast ecosystem of AI libraries. </a:t>
            </a:r>
          </a:p>
          <a:p>
            <a:r>
              <a:rPr lang="en-US" dirty="0"/>
              <a:t>However, as AI/ML continues to revolutionize industries, Java is making an unexpected but significant rise. </a:t>
            </a:r>
          </a:p>
          <a:p>
            <a:pPr lvl="1"/>
            <a:r>
              <a:rPr lang="en-US" dirty="0"/>
              <a:t>The language known for its speed, scalability, and robustness is now an essential player in the AI/ML ecosystem with its ability to power large-scale, enterprise-level applications has made it the ideal tool for AI/ML integration, especially when performance and scalability are paramount.</a:t>
            </a:r>
          </a:p>
          <a:p>
            <a:endParaRPr lang="en-US" dirty="0"/>
          </a:p>
        </p:txBody>
      </p:sp>
      <p:sp>
        <p:nvSpPr>
          <p:cNvPr id="4" name="Slide Number Placeholder 3">
            <a:extLst>
              <a:ext uri="{FF2B5EF4-FFF2-40B4-BE49-F238E27FC236}">
                <a16:creationId xmlns:a16="http://schemas.microsoft.com/office/drawing/2014/main" id="{D411670C-D8EF-88BC-A454-21D421BEC903}"/>
              </a:ext>
            </a:extLst>
          </p:cNvPr>
          <p:cNvSpPr>
            <a:spLocks noGrp="1"/>
          </p:cNvSpPr>
          <p:nvPr>
            <p:ph type="sldNum" sz="quarter" idx="12"/>
          </p:nvPr>
        </p:nvSpPr>
        <p:spPr/>
        <p:txBody>
          <a:bodyPr/>
          <a:lstStyle/>
          <a:p>
            <a:fld id="{13977939-A071-43C1-9268-F54CC2756BB5}" type="slidenum">
              <a:rPr lang="en-US" smtClean="0"/>
              <a:pPr/>
              <a:t>25</a:t>
            </a:fld>
            <a:endParaRPr lang="en-US" dirty="0"/>
          </a:p>
        </p:txBody>
      </p:sp>
    </p:spTree>
    <p:extLst>
      <p:ext uri="{BB962C8B-B14F-4D97-AF65-F5344CB8AC3E}">
        <p14:creationId xmlns:p14="http://schemas.microsoft.com/office/powerpoint/2010/main" val="31139221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530B6D-3D8F-B2BB-A0E5-DF169826DF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6FBBD5-F509-B1F1-AE65-FAD461B69B87}"/>
              </a:ext>
            </a:extLst>
          </p:cNvPr>
          <p:cNvSpPr>
            <a:spLocks noGrp="1"/>
          </p:cNvSpPr>
          <p:nvPr>
            <p:ph type="title"/>
          </p:nvPr>
        </p:nvSpPr>
        <p:spPr/>
        <p:txBody>
          <a:bodyPr>
            <a:noAutofit/>
          </a:bodyPr>
          <a:lstStyle/>
          <a:p>
            <a:r>
              <a:rPr lang="en-US" dirty="0"/>
              <a:t>Why Java is Becoming a Strong Contender in AI/ML Development</a:t>
            </a:r>
          </a:p>
        </p:txBody>
      </p:sp>
      <p:sp>
        <p:nvSpPr>
          <p:cNvPr id="3" name="Content Placeholder 2">
            <a:extLst>
              <a:ext uri="{FF2B5EF4-FFF2-40B4-BE49-F238E27FC236}">
                <a16:creationId xmlns:a16="http://schemas.microsoft.com/office/drawing/2014/main" id="{D761B693-551B-7D74-1A8A-DE2CB13BC0D9}"/>
              </a:ext>
            </a:extLst>
          </p:cNvPr>
          <p:cNvSpPr>
            <a:spLocks noGrp="1"/>
          </p:cNvSpPr>
          <p:nvPr>
            <p:ph idx="1"/>
          </p:nvPr>
        </p:nvSpPr>
        <p:spPr>
          <a:xfrm>
            <a:off x="457200" y="932688"/>
            <a:ext cx="8229600" cy="5925312"/>
          </a:xfrm>
        </p:spPr>
        <p:txBody>
          <a:bodyPr>
            <a:normAutofit fontScale="77500" lnSpcReduction="20000"/>
          </a:bodyPr>
          <a:lstStyle/>
          <a:p>
            <a:r>
              <a:rPr lang="en-US" dirty="0"/>
              <a:t>Java has traditionally been a workhorse for enterprise applications, web development, and backend systems for the following reasons. </a:t>
            </a:r>
          </a:p>
          <a:p>
            <a:r>
              <a:rPr lang="en-US" dirty="0"/>
              <a:t>High Performance &amp; Scalability</a:t>
            </a:r>
          </a:p>
          <a:p>
            <a:pPr lvl="1"/>
            <a:r>
              <a:rPr lang="en-US" dirty="0"/>
              <a:t>Java’s JVM (Java Virtual Machine) enables it to handle large-scale applications, massive datasets, and real-time processing making it particularly well-suited for AI/ML models that need to scale as they grow more complex.</a:t>
            </a:r>
          </a:p>
          <a:p>
            <a:r>
              <a:rPr lang="en-US" dirty="0"/>
              <a:t>Enterprise Integration</a:t>
            </a:r>
          </a:p>
          <a:p>
            <a:pPr lvl="1"/>
            <a:r>
              <a:rPr lang="en-US" dirty="0"/>
              <a:t>Java is a staple in large enterprise environments, and its ability to integrate smoothly with existing infrastructure makes it a go-to language for organizations looking to incorporate AI without abandoning their current technology stack.</a:t>
            </a:r>
          </a:p>
          <a:p>
            <a:r>
              <a:rPr lang="en-US" dirty="0"/>
              <a:t>Concurrency &amp; Parallelism</a:t>
            </a:r>
          </a:p>
          <a:p>
            <a:pPr lvl="1"/>
            <a:r>
              <a:rPr lang="en-US" dirty="0"/>
              <a:t>With its robust support for multithreading and parallel processing, Java is a natural fit for AI/ML tasks that require simultaneous execution of numerous computations, such as training complex models or processing vast amounts of data.</a:t>
            </a:r>
          </a:p>
          <a:p>
            <a:r>
              <a:rPr lang="en-US" dirty="0"/>
              <a:t>Stability &amp; Reliability</a:t>
            </a:r>
          </a:p>
          <a:p>
            <a:pPr lvl="1"/>
            <a:r>
              <a:rPr lang="en-US" dirty="0"/>
              <a:t>Java’s long track record in building large-scale applications means it offers a level of stability and reliability that’s crucial when developing mission-critical AI/ML systems.</a:t>
            </a:r>
          </a:p>
        </p:txBody>
      </p:sp>
      <p:sp>
        <p:nvSpPr>
          <p:cNvPr id="4" name="Slide Number Placeholder 3">
            <a:extLst>
              <a:ext uri="{FF2B5EF4-FFF2-40B4-BE49-F238E27FC236}">
                <a16:creationId xmlns:a16="http://schemas.microsoft.com/office/drawing/2014/main" id="{1D4D8693-45BB-0E8F-A4B7-9E0F99D86C1C}"/>
              </a:ext>
            </a:extLst>
          </p:cNvPr>
          <p:cNvSpPr>
            <a:spLocks noGrp="1"/>
          </p:cNvSpPr>
          <p:nvPr>
            <p:ph type="sldNum" sz="quarter" idx="12"/>
          </p:nvPr>
        </p:nvSpPr>
        <p:spPr/>
        <p:txBody>
          <a:bodyPr/>
          <a:lstStyle/>
          <a:p>
            <a:fld id="{13977939-A071-43C1-9268-F54CC2756BB5}" type="slidenum">
              <a:rPr lang="en-US" smtClean="0"/>
              <a:pPr/>
              <a:t>26</a:t>
            </a:fld>
            <a:endParaRPr lang="en-US" dirty="0"/>
          </a:p>
        </p:txBody>
      </p:sp>
    </p:spTree>
    <p:extLst>
      <p:ext uri="{BB962C8B-B14F-4D97-AF65-F5344CB8AC3E}">
        <p14:creationId xmlns:p14="http://schemas.microsoft.com/office/powerpoint/2010/main" val="37750868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5CF5F-C692-E8FF-D1E7-E0A4EF7D1D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2CD1EB-A4BE-166D-0562-EE03DE3FAE16}"/>
              </a:ext>
            </a:extLst>
          </p:cNvPr>
          <p:cNvSpPr>
            <a:spLocks noGrp="1"/>
          </p:cNvSpPr>
          <p:nvPr>
            <p:ph type="title"/>
          </p:nvPr>
        </p:nvSpPr>
        <p:spPr/>
        <p:txBody>
          <a:bodyPr>
            <a:noAutofit/>
          </a:bodyPr>
          <a:lstStyle/>
          <a:p>
            <a:r>
              <a:rPr lang="en-US" dirty="0"/>
              <a:t>AI/ML Frameworks in Java: The Key Players (1)</a:t>
            </a:r>
          </a:p>
        </p:txBody>
      </p:sp>
      <p:sp>
        <p:nvSpPr>
          <p:cNvPr id="3" name="Content Placeholder 2">
            <a:extLst>
              <a:ext uri="{FF2B5EF4-FFF2-40B4-BE49-F238E27FC236}">
                <a16:creationId xmlns:a16="http://schemas.microsoft.com/office/drawing/2014/main" id="{41319752-933E-A47B-C654-A6DCC21A92DD}"/>
              </a:ext>
            </a:extLst>
          </p:cNvPr>
          <p:cNvSpPr>
            <a:spLocks noGrp="1"/>
          </p:cNvSpPr>
          <p:nvPr>
            <p:ph idx="1"/>
          </p:nvPr>
        </p:nvSpPr>
        <p:spPr>
          <a:xfrm>
            <a:off x="457200" y="932688"/>
            <a:ext cx="8458200" cy="5925312"/>
          </a:xfrm>
        </p:spPr>
        <p:txBody>
          <a:bodyPr>
            <a:normAutofit lnSpcReduction="10000"/>
          </a:bodyPr>
          <a:lstStyle/>
          <a:p>
            <a:r>
              <a:rPr lang="en-US" b="1" dirty="0"/>
              <a:t>Deeplearning4j (DL4J): Java’s Deep Learning Framework</a:t>
            </a:r>
          </a:p>
          <a:p>
            <a:pPr lvl="1"/>
            <a:r>
              <a:rPr lang="en-US" dirty="0"/>
              <a:t>Deeplearning4j (DL4J) is an open-source, distributed deep learning library for Java, Scala, and Clojure. </a:t>
            </a:r>
          </a:p>
          <a:p>
            <a:pPr lvl="1"/>
            <a:r>
              <a:rPr lang="en-US" dirty="0"/>
              <a:t>It is designed to run on top of Hadoop and Spark, making it ideal for big data applications. DL4J supports neural networks, recurrent networks, convolutional networks, and reinforcement learning.</a:t>
            </a:r>
          </a:p>
          <a:p>
            <a:pPr lvl="1"/>
            <a:r>
              <a:rPr lang="en-US" dirty="0"/>
              <a:t>DL4J offers flexibility for building deep learning models with custom layers and loss functions, which is rare among Java libraries. </a:t>
            </a:r>
          </a:p>
          <a:p>
            <a:pPr lvl="1"/>
            <a:r>
              <a:rPr lang="en-US" dirty="0"/>
              <a:t>Plus, its integration with Spark allows developers to scale out training tasks across a distributed environment.</a:t>
            </a:r>
          </a:p>
          <a:p>
            <a:pPr lvl="1"/>
            <a:r>
              <a:rPr lang="en-US" dirty="0"/>
              <a:t>DL4J is used by companies like Skyscanner and Accenture for building advanced predictive models, like fraud detection systems and personalized recommendations.</a:t>
            </a:r>
          </a:p>
        </p:txBody>
      </p:sp>
      <p:sp>
        <p:nvSpPr>
          <p:cNvPr id="4" name="Slide Number Placeholder 3">
            <a:extLst>
              <a:ext uri="{FF2B5EF4-FFF2-40B4-BE49-F238E27FC236}">
                <a16:creationId xmlns:a16="http://schemas.microsoft.com/office/drawing/2014/main" id="{4A9D99A2-BDCA-9073-69DD-1BBB232A217A}"/>
              </a:ext>
            </a:extLst>
          </p:cNvPr>
          <p:cNvSpPr>
            <a:spLocks noGrp="1"/>
          </p:cNvSpPr>
          <p:nvPr>
            <p:ph type="sldNum" sz="quarter" idx="12"/>
          </p:nvPr>
        </p:nvSpPr>
        <p:spPr/>
        <p:txBody>
          <a:bodyPr/>
          <a:lstStyle/>
          <a:p>
            <a:fld id="{13977939-A071-43C1-9268-F54CC2756BB5}" type="slidenum">
              <a:rPr lang="en-US" smtClean="0"/>
              <a:pPr/>
              <a:t>27</a:t>
            </a:fld>
            <a:endParaRPr lang="en-US" dirty="0"/>
          </a:p>
        </p:txBody>
      </p:sp>
    </p:spTree>
    <p:extLst>
      <p:ext uri="{BB962C8B-B14F-4D97-AF65-F5344CB8AC3E}">
        <p14:creationId xmlns:p14="http://schemas.microsoft.com/office/powerpoint/2010/main" val="19792948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B8CBB-58E8-4CCD-1E99-2E638EDAB2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7D0D35-34E9-C7F7-D35A-12802E7C8CBD}"/>
              </a:ext>
            </a:extLst>
          </p:cNvPr>
          <p:cNvSpPr>
            <a:spLocks noGrp="1"/>
          </p:cNvSpPr>
          <p:nvPr>
            <p:ph type="title"/>
          </p:nvPr>
        </p:nvSpPr>
        <p:spPr/>
        <p:txBody>
          <a:bodyPr>
            <a:noAutofit/>
          </a:bodyPr>
          <a:lstStyle/>
          <a:p>
            <a:r>
              <a:rPr lang="en-US" dirty="0"/>
              <a:t>AI/ML Frameworks in Java: The Key Players (2)</a:t>
            </a:r>
          </a:p>
        </p:txBody>
      </p:sp>
      <p:sp>
        <p:nvSpPr>
          <p:cNvPr id="3" name="Content Placeholder 2">
            <a:extLst>
              <a:ext uri="{FF2B5EF4-FFF2-40B4-BE49-F238E27FC236}">
                <a16:creationId xmlns:a16="http://schemas.microsoft.com/office/drawing/2014/main" id="{D72EBEFD-CCDB-0EAF-D90B-81BA0257ED70}"/>
              </a:ext>
            </a:extLst>
          </p:cNvPr>
          <p:cNvSpPr>
            <a:spLocks noGrp="1"/>
          </p:cNvSpPr>
          <p:nvPr>
            <p:ph idx="1"/>
          </p:nvPr>
        </p:nvSpPr>
        <p:spPr>
          <a:xfrm>
            <a:off x="457200" y="932688"/>
            <a:ext cx="8229600" cy="5925312"/>
          </a:xfrm>
        </p:spPr>
        <p:txBody>
          <a:bodyPr>
            <a:normAutofit fontScale="77500" lnSpcReduction="20000"/>
          </a:bodyPr>
          <a:lstStyle/>
          <a:p>
            <a:r>
              <a:rPr lang="en-US" b="1" dirty="0"/>
              <a:t>Weka: A Comprehensive Toolkit for Data Mining</a:t>
            </a:r>
          </a:p>
          <a:p>
            <a:pPr lvl="1"/>
            <a:r>
              <a:rPr lang="en-US" dirty="0"/>
              <a:t>Weka is one of the most well-known Java libraries for machine learning and data mining and provides an all-in-one solution that supports classification, regression, clustering, and even visualization of data models.</a:t>
            </a:r>
          </a:p>
          <a:p>
            <a:pPr lvl="1"/>
            <a:r>
              <a:rPr lang="en-US" dirty="0"/>
              <a:t>Weka provides newcomers to machine learning, with an intuitive graphical user interface and easy access to a variety of machine learning algorithms and tools.</a:t>
            </a:r>
          </a:p>
          <a:p>
            <a:pPr lvl="1"/>
            <a:r>
              <a:rPr lang="en-US" dirty="0"/>
              <a:t>Weka is often used for academic purposes, but companies in healthcare, retail, and finance have also used it to develop predictive models for patient diagnosis, inventory forecasting, and market trend analysis.</a:t>
            </a:r>
          </a:p>
          <a:p>
            <a:r>
              <a:rPr lang="en-US" b="1" dirty="0"/>
              <a:t>MOA: Real-Time Data Stream Mining</a:t>
            </a:r>
          </a:p>
          <a:p>
            <a:pPr lvl="1"/>
            <a:r>
              <a:rPr lang="en-US" dirty="0"/>
              <a:t>MOA (Massive Online Analysis) is an open-source framework for data stream mining, designed to handle real-time data. </a:t>
            </a:r>
          </a:p>
          <a:p>
            <a:pPr lvl="1"/>
            <a:r>
              <a:rPr lang="en-US" dirty="0"/>
              <a:t>It allows developers to create machine learning models for applications that process data streams, such as IoT devices and real-time analytics.</a:t>
            </a:r>
          </a:p>
          <a:p>
            <a:pPr lvl="1"/>
            <a:r>
              <a:rPr lang="en-US" dirty="0"/>
              <a:t>MOA is built for speed and scalability, making it a perfect fit for applications where data arrives continuously and decisions need to be made in real-time.</a:t>
            </a:r>
          </a:p>
          <a:p>
            <a:pPr lvl="1"/>
            <a:r>
              <a:rPr lang="en-US" dirty="0"/>
              <a:t>It’s used in IoT systems to predict sensor data trends or in financial markets to identify fraudulent transactions as they happen.</a:t>
            </a:r>
          </a:p>
        </p:txBody>
      </p:sp>
      <p:sp>
        <p:nvSpPr>
          <p:cNvPr id="4" name="Slide Number Placeholder 3">
            <a:extLst>
              <a:ext uri="{FF2B5EF4-FFF2-40B4-BE49-F238E27FC236}">
                <a16:creationId xmlns:a16="http://schemas.microsoft.com/office/drawing/2014/main" id="{ED095B29-3F5C-BC67-C33F-22F3C3177F0C}"/>
              </a:ext>
            </a:extLst>
          </p:cNvPr>
          <p:cNvSpPr>
            <a:spLocks noGrp="1"/>
          </p:cNvSpPr>
          <p:nvPr>
            <p:ph type="sldNum" sz="quarter" idx="12"/>
          </p:nvPr>
        </p:nvSpPr>
        <p:spPr/>
        <p:txBody>
          <a:bodyPr/>
          <a:lstStyle/>
          <a:p>
            <a:fld id="{13977939-A071-43C1-9268-F54CC2756BB5}" type="slidenum">
              <a:rPr lang="en-US" smtClean="0"/>
              <a:pPr/>
              <a:t>28</a:t>
            </a:fld>
            <a:endParaRPr lang="en-US" dirty="0"/>
          </a:p>
        </p:txBody>
      </p:sp>
    </p:spTree>
    <p:extLst>
      <p:ext uri="{BB962C8B-B14F-4D97-AF65-F5344CB8AC3E}">
        <p14:creationId xmlns:p14="http://schemas.microsoft.com/office/powerpoint/2010/main" val="42701427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ED891-1F8E-5874-CF1D-57813E21AE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BA28EE-3E54-99FB-E0F6-B0FD9DE65238}"/>
              </a:ext>
            </a:extLst>
          </p:cNvPr>
          <p:cNvSpPr>
            <a:spLocks noGrp="1"/>
          </p:cNvSpPr>
          <p:nvPr>
            <p:ph type="title"/>
          </p:nvPr>
        </p:nvSpPr>
        <p:spPr/>
        <p:txBody>
          <a:bodyPr>
            <a:noAutofit/>
          </a:bodyPr>
          <a:lstStyle/>
          <a:p>
            <a:r>
              <a:rPr lang="en-US" dirty="0"/>
              <a:t>AI/ML Frameworks in Java: The Key Players (3)</a:t>
            </a:r>
          </a:p>
        </p:txBody>
      </p:sp>
      <p:sp>
        <p:nvSpPr>
          <p:cNvPr id="3" name="Content Placeholder 2">
            <a:extLst>
              <a:ext uri="{FF2B5EF4-FFF2-40B4-BE49-F238E27FC236}">
                <a16:creationId xmlns:a16="http://schemas.microsoft.com/office/drawing/2014/main" id="{5BB1E908-3151-3FCD-765F-B0BABBD56FAA}"/>
              </a:ext>
            </a:extLst>
          </p:cNvPr>
          <p:cNvSpPr>
            <a:spLocks noGrp="1"/>
          </p:cNvSpPr>
          <p:nvPr>
            <p:ph idx="1"/>
          </p:nvPr>
        </p:nvSpPr>
        <p:spPr>
          <a:xfrm>
            <a:off x="457200" y="932688"/>
            <a:ext cx="8458200" cy="5925312"/>
          </a:xfrm>
        </p:spPr>
        <p:txBody>
          <a:bodyPr>
            <a:normAutofit fontScale="92500"/>
          </a:bodyPr>
          <a:lstStyle/>
          <a:p>
            <a:r>
              <a:rPr lang="en-US" b="1" dirty="0"/>
              <a:t>TensorFlow for Java: Power of Google’s AI Framework in Java</a:t>
            </a:r>
          </a:p>
          <a:p>
            <a:pPr lvl="1"/>
            <a:r>
              <a:rPr lang="en-US" dirty="0"/>
              <a:t>TensorFlow, Google’s open-source AI framework, offers a Java API for machine learning and deep learning. </a:t>
            </a:r>
          </a:p>
          <a:p>
            <a:pPr lvl="1"/>
            <a:r>
              <a:rPr lang="en-US" dirty="0"/>
              <a:t>While TensorFlow is primarily associated with Python, its Java API provides a robust way to use pre-trained models and create new models for AI applications directly in Java.</a:t>
            </a:r>
          </a:p>
          <a:p>
            <a:pPr lvl="1"/>
            <a:r>
              <a:rPr lang="en-US" dirty="0"/>
              <a:t>Java developers can now leverage TensorFlow’s powerful machine learning algorithms without needing to switch to Python. </a:t>
            </a:r>
          </a:p>
          <a:p>
            <a:pPr lvl="1"/>
            <a:r>
              <a:rPr lang="en-US" dirty="0"/>
              <a:t>It’s a great choice for production environments that rely on Java for deployment, providing seamless integration between AI models and enterprise applications.</a:t>
            </a:r>
          </a:p>
          <a:p>
            <a:pPr lvl="1"/>
            <a:r>
              <a:rPr lang="en-US" dirty="0"/>
              <a:t>Organizations like eBay and Twitter are using TensorFlow in Java to deploy models for image recognition, recommendation engines, and even natural language processing (NLP).</a:t>
            </a:r>
          </a:p>
        </p:txBody>
      </p:sp>
      <p:sp>
        <p:nvSpPr>
          <p:cNvPr id="4" name="Slide Number Placeholder 3">
            <a:extLst>
              <a:ext uri="{FF2B5EF4-FFF2-40B4-BE49-F238E27FC236}">
                <a16:creationId xmlns:a16="http://schemas.microsoft.com/office/drawing/2014/main" id="{EE3FDD70-60BE-F1C2-4295-C8A8AE0FB545}"/>
              </a:ext>
            </a:extLst>
          </p:cNvPr>
          <p:cNvSpPr>
            <a:spLocks noGrp="1"/>
          </p:cNvSpPr>
          <p:nvPr>
            <p:ph type="sldNum" sz="quarter" idx="12"/>
          </p:nvPr>
        </p:nvSpPr>
        <p:spPr/>
        <p:txBody>
          <a:bodyPr/>
          <a:lstStyle/>
          <a:p>
            <a:fld id="{13977939-A071-43C1-9268-F54CC2756BB5}" type="slidenum">
              <a:rPr lang="en-US" smtClean="0"/>
              <a:pPr/>
              <a:t>29</a:t>
            </a:fld>
            <a:endParaRPr lang="en-US" dirty="0"/>
          </a:p>
        </p:txBody>
      </p:sp>
    </p:spTree>
    <p:extLst>
      <p:ext uri="{BB962C8B-B14F-4D97-AF65-F5344CB8AC3E}">
        <p14:creationId xmlns:p14="http://schemas.microsoft.com/office/powerpoint/2010/main" val="11267935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B74EB-1D21-D541-E4A8-C82123D2BD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819C3A-307D-C889-AB65-503A37B512E6}"/>
              </a:ext>
            </a:extLst>
          </p:cNvPr>
          <p:cNvSpPr>
            <a:spLocks noGrp="1"/>
          </p:cNvSpPr>
          <p:nvPr>
            <p:ph type="title"/>
          </p:nvPr>
        </p:nvSpPr>
        <p:spPr>
          <a:xfrm>
            <a:off x="457200" y="457200"/>
            <a:ext cx="8458200" cy="475488"/>
          </a:xfrm>
        </p:spPr>
        <p:txBody>
          <a:bodyPr>
            <a:noAutofit/>
          </a:bodyPr>
          <a:lstStyle/>
          <a:p>
            <a:r>
              <a:rPr lang="en-US" dirty="0"/>
              <a:t>Real-World Applications Using Java in AI/ML (1)</a:t>
            </a:r>
          </a:p>
        </p:txBody>
      </p:sp>
      <p:sp>
        <p:nvSpPr>
          <p:cNvPr id="3" name="Content Placeholder 2">
            <a:extLst>
              <a:ext uri="{FF2B5EF4-FFF2-40B4-BE49-F238E27FC236}">
                <a16:creationId xmlns:a16="http://schemas.microsoft.com/office/drawing/2014/main" id="{2702BFBE-3054-8F35-17A2-EEA00473F5A1}"/>
              </a:ext>
            </a:extLst>
          </p:cNvPr>
          <p:cNvSpPr>
            <a:spLocks noGrp="1"/>
          </p:cNvSpPr>
          <p:nvPr>
            <p:ph idx="1"/>
          </p:nvPr>
        </p:nvSpPr>
        <p:spPr>
          <a:xfrm>
            <a:off x="457200" y="932688"/>
            <a:ext cx="8458200" cy="5925312"/>
          </a:xfrm>
        </p:spPr>
        <p:txBody>
          <a:bodyPr>
            <a:normAutofit fontScale="85000" lnSpcReduction="10000"/>
          </a:bodyPr>
          <a:lstStyle/>
          <a:p>
            <a:r>
              <a:rPr lang="en-US" b="1" dirty="0"/>
              <a:t>Predictive Analytics in Finance</a:t>
            </a:r>
          </a:p>
          <a:p>
            <a:pPr lvl="1"/>
            <a:r>
              <a:rPr lang="en-US" dirty="0"/>
              <a:t>Java is heavily used in the finance industry, where predictive analytics play a critical role in risk assessment, fraud detection, and algorithmic trading. </a:t>
            </a:r>
          </a:p>
          <a:p>
            <a:pPr lvl="1"/>
            <a:r>
              <a:rPr lang="en-US" dirty="0"/>
              <a:t>Using Java with frameworks like DL4J, banks and financial institutions can build models that predict stock market trends, evaluate loan risk, and detect fraudulent transactions in real-time.</a:t>
            </a:r>
          </a:p>
          <a:p>
            <a:pPr lvl="1"/>
            <a:r>
              <a:rPr lang="en-US" dirty="0"/>
              <a:t>A large banking institution might use Java to integrate a deep learning model trained on historical transaction data to detect anomalies that signal potential fraud.</a:t>
            </a:r>
          </a:p>
          <a:p>
            <a:r>
              <a:rPr lang="en-US" b="1" dirty="0"/>
              <a:t>Personalized Recommendation Engines</a:t>
            </a:r>
          </a:p>
          <a:p>
            <a:pPr lvl="1"/>
            <a:r>
              <a:rPr lang="en-US" dirty="0"/>
              <a:t>From Netflix’s movie suggestions to Amazon’s product recommendations, AI-powered recommendation engines are ubiquitous. Java’s efficiency and scalability make it an ideal choice for building these systems, especially when working with large user datasets.</a:t>
            </a:r>
          </a:p>
          <a:p>
            <a:pPr lvl="1"/>
            <a:r>
              <a:rPr lang="en-US" dirty="0"/>
              <a:t>An e-commerce platform might use Java and TensorFlow to build a recommendation system that analyzes customer preferences and suggests products that are most likely to lead to a sale.</a:t>
            </a:r>
          </a:p>
        </p:txBody>
      </p:sp>
      <p:sp>
        <p:nvSpPr>
          <p:cNvPr id="4" name="Slide Number Placeholder 3">
            <a:extLst>
              <a:ext uri="{FF2B5EF4-FFF2-40B4-BE49-F238E27FC236}">
                <a16:creationId xmlns:a16="http://schemas.microsoft.com/office/drawing/2014/main" id="{EA566D76-4682-4855-2F69-A27E4226D009}"/>
              </a:ext>
            </a:extLst>
          </p:cNvPr>
          <p:cNvSpPr>
            <a:spLocks noGrp="1"/>
          </p:cNvSpPr>
          <p:nvPr>
            <p:ph type="sldNum" sz="quarter" idx="12"/>
          </p:nvPr>
        </p:nvSpPr>
        <p:spPr/>
        <p:txBody>
          <a:bodyPr/>
          <a:lstStyle/>
          <a:p>
            <a:fld id="{13977939-A071-43C1-9268-F54CC2756BB5}" type="slidenum">
              <a:rPr lang="en-US" smtClean="0"/>
              <a:pPr/>
              <a:t>30</a:t>
            </a:fld>
            <a:endParaRPr lang="en-US" dirty="0"/>
          </a:p>
        </p:txBody>
      </p:sp>
    </p:spTree>
    <p:extLst>
      <p:ext uri="{BB962C8B-B14F-4D97-AF65-F5344CB8AC3E}">
        <p14:creationId xmlns:p14="http://schemas.microsoft.com/office/powerpoint/2010/main" val="13152518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6E662-6FD0-C29B-BAC2-FC866667CF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3370E3-230F-E450-46F1-FE3D81C16BDF}"/>
              </a:ext>
            </a:extLst>
          </p:cNvPr>
          <p:cNvSpPr>
            <a:spLocks noGrp="1"/>
          </p:cNvSpPr>
          <p:nvPr>
            <p:ph type="title"/>
          </p:nvPr>
        </p:nvSpPr>
        <p:spPr>
          <a:xfrm>
            <a:off x="457200" y="457200"/>
            <a:ext cx="8458200" cy="475488"/>
          </a:xfrm>
        </p:spPr>
        <p:txBody>
          <a:bodyPr>
            <a:noAutofit/>
          </a:bodyPr>
          <a:lstStyle/>
          <a:p>
            <a:r>
              <a:rPr lang="en-US" dirty="0"/>
              <a:t>Real-World Applications Using Java in AI/ML (2)</a:t>
            </a:r>
          </a:p>
        </p:txBody>
      </p:sp>
      <p:sp>
        <p:nvSpPr>
          <p:cNvPr id="3" name="Content Placeholder 2">
            <a:extLst>
              <a:ext uri="{FF2B5EF4-FFF2-40B4-BE49-F238E27FC236}">
                <a16:creationId xmlns:a16="http://schemas.microsoft.com/office/drawing/2014/main" id="{3788F67D-C3C2-22DE-A743-2A88C92AD7A7}"/>
              </a:ext>
            </a:extLst>
          </p:cNvPr>
          <p:cNvSpPr>
            <a:spLocks noGrp="1"/>
          </p:cNvSpPr>
          <p:nvPr>
            <p:ph idx="1"/>
          </p:nvPr>
        </p:nvSpPr>
        <p:spPr>
          <a:xfrm>
            <a:off x="457200" y="932688"/>
            <a:ext cx="8458200" cy="5925312"/>
          </a:xfrm>
        </p:spPr>
        <p:txBody>
          <a:bodyPr>
            <a:normAutofit fontScale="77500" lnSpcReduction="20000"/>
          </a:bodyPr>
          <a:lstStyle/>
          <a:p>
            <a:r>
              <a:rPr lang="en-US" b="1" dirty="0"/>
              <a:t>Autonomous Vehicles</a:t>
            </a:r>
          </a:p>
          <a:p>
            <a:pPr lvl="1"/>
            <a:r>
              <a:rPr lang="en-US" dirty="0"/>
              <a:t>The AI in autonomous driving systems relies heavily on real-time decision-making. </a:t>
            </a:r>
          </a:p>
          <a:p>
            <a:pPr lvl="1"/>
            <a:r>
              <a:rPr lang="en-US" dirty="0"/>
              <a:t>Java’s multi-threading capabilities make it perfect for handling the complex and concurrent tasks involved in processing data from various sensors, such as cameras, radar, and LIDAR, to navigate a vehicle safely.</a:t>
            </a:r>
          </a:p>
          <a:p>
            <a:pPr lvl="1"/>
            <a:r>
              <a:rPr lang="en-US" dirty="0"/>
              <a:t>A self-driving car company might leverage Java to process real-time data streams from vehicle sensors, using deep learning models to recognize pedestrians, other vehicles, and traffic signals.</a:t>
            </a:r>
          </a:p>
          <a:p>
            <a:r>
              <a:rPr lang="en-US" b="1" dirty="0"/>
              <a:t>Healthcare AI for Diagnostics</a:t>
            </a:r>
          </a:p>
          <a:p>
            <a:pPr lvl="1"/>
            <a:r>
              <a:rPr lang="en-US" dirty="0"/>
              <a:t>AI will transform healthcare by improving diagnostic accuracy and patient outcomes. </a:t>
            </a:r>
          </a:p>
          <a:p>
            <a:pPr lvl="1"/>
            <a:r>
              <a:rPr lang="en-US" dirty="0"/>
              <a:t>Java, when combined with machine learning frameworks like DL4J or TensorFlow, allows healthcare professionals to develop AI systems capable of analyzing medical images, genetic data, and patient histories.</a:t>
            </a:r>
          </a:p>
          <a:p>
            <a:pPr lvl="1"/>
            <a:r>
              <a:rPr lang="en-US" dirty="0"/>
              <a:t>In radiology, Java-powered AI systems are being used to detect abnormalities in X-rays and MRIs, offering doctors a powerful tool for early diagnosis of conditions like cancer.</a:t>
            </a:r>
          </a:p>
          <a:p>
            <a:pPr lvl="1"/>
            <a:r>
              <a:rPr lang="en-US" dirty="0"/>
              <a:t>For More See: https://</a:t>
            </a:r>
            <a:r>
              <a:rPr lang="en-US" dirty="0" err="1"/>
              <a:t>sam-solutions.com</a:t>
            </a:r>
            <a:r>
              <a:rPr lang="en-US" dirty="0"/>
              <a:t>/blog/ai-tools-for-java-developers/</a:t>
            </a:r>
          </a:p>
        </p:txBody>
      </p:sp>
      <p:sp>
        <p:nvSpPr>
          <p:cNvPr id="4" name="Slide Number Placeholder 3">
            <a:extLst>
              <a:ext uri="{FF2B5EF4-FFF2-40B4-BE49-F238E27FC236}">
                <a16:creationId xmlns:a16="http://schemas.microsoft.com/office/drawing/2014/main" id="{87520090-F349-7578-FC35-B48FADEBCCD2}"/>
              </a:ext>
            </a:extLst>
          </p:cNvPr>
          <p:cNvSpPr>
            <a:spLocks noGrp="1"/>
          </p:cNvSpPr>
          <p:nvPr>
            <p:ph type="sldNum" sz="quarter" idx="12"/>
          </p:nvPr>
        </p:nvSpPr>
        <p:spPr/>
        <p:txBody>
          <a:bodyPr/>
          <a:lstStyle/>
          <a:p>
            <a:fld id="{13977939-A071-43C1-9268-F54CC2756BB5}" type="slidenum">
              <a:rPr lang="en-US" smtClean="0"/>
              <a:pPr/>
              <a:t>31</a:t>
            </a:fld>
            <a:endParaRPr lang="en-US" dirty="0"/>
          </a:p>
        </p:txBody>
      </p:sp>
    </p:spTree>
    <p:extLst>
      <p:ext uri="{BB962C8B-B14F-4D97-AF65-F5344CB8AC3E}">
        <p14:creationId xmlns:p14="http://schemas.microsoft.com/office/powerpoint/2010/main" val="14597684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B54EB93-B9C2-FE41-AD73-D2E9EB840A25}"/>
              </a:ext>
            </a:extLst>
          </p:cNvPr>
          <p:cNvSpPr>
            <a:spLocks noGrp="1"/>
          </p:cNvSpPr>
          <p:nvPr>
            <p:ph type="title" idx="4294967295"/>
          </p:nvPr>
        </p:nvSpPr>
        <p:spPr>
          <a:xfrm>
            <a:off x="530225" y="2705100"/>
            <a:ext cx="7772400" cy="1509713"/>
          </a:xfrm>
          <a:prstGeom prst="rect">
            <a:avLst/>
          </a:prstGeom>
          <a:noFill/>
          <a:ln>
            <a:noFill/>
            <a:prstDash/>
          </a:ln>
          <a:effectLst/>
        </p:spPr>
        <p:txBody>
          <a:bodyPr rot="0" spcFirstLastPara="0" vertOverflow="overflow" horzOverflow="overflow" vert="horz" wrap="square" lIns="45720" tIns="45720" rIns="45720" bIns="45720" numCol="1" spcCol="0" rtlCol="0" fromWordArt="0" anchor="t" anchorCtr="0" forceAA="0" compatLnSpc="1">
            <a:prstTxWarp prst="textNoShape">
              <a:avLst/>
            </a:prstTxWarp>
            <a:normAutofit/>
          </a:bodyPr>
          <a:lstStyle/>
          <a:p>
            <a:pPr marL="0" marR="0" lvl="0" indent="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200" b="0" i="0" u="none" strike="noStrike" kern="1200" cap="none" spc="0" normalizeH="0" baseline="0" noProof="0" dirty="0">
                <a:ln>
                  <a:noFill/>
                </a:ln>
                <a:solidFill>
                  <a:schemeClr val="tx1"/>
                </a:solidFill>
                <a:effectLst/>
                <a:uLnTx/>
                <a:uFillTx/>
                <a:latin typeface="+mn-lt"/>
                <a:ea typeface="+mn-ea"/>
                <a:cs typeface="+mn-cs"/>
              </a:rPr>
              <a:t>Classes and Encapsulation</a:t>
            </a:r>
          </a:p>
        </p:txBody>
      </p:sp>
      <p:sp>
        <p:nvSpPr>
          <p:cNvPr id="4" name="Slide Number Placeholder 3">
            <a:extLst>
              <a:ext uri="{FF2B5EF4-FFF2-40B4-BE49-F238E27FC236}">
                <a16:creationId xmlns:a16="http://schemas.microsoft.com/office/drawing/2014/main" id="{79387A36-1490-9948-9126-F5CD84DD7A4D}"/>
              </a:ext>
            </a:extLst>
          </p:cNvPr>
          <p:cNvSpPr>
            <a:spLocks noGrp="1"/>
          </p:cNvSpPr>
          <p:nvPr>
            <p:ph type="sldNum" sz="quarter" idx="12"/>
          </p:nvPr>
        </p:nvSpPr>
        <p:spPr/>
        <p:txBody>
          <a:bodyPr/>
          <a:lstStyle/>
          <a:p>
            <a:fld id="{13977939-A071-43C1-9268-F54CC2756BB5}" type="slidenum">
              <a:rPr lang="en-US" smtClean="0"/>
              <a:pPr/>
              <a:t>32</a:t>
            </a:fld>
            <a:endParaRPr lang="en-US" dirty="0"/>
          </a:p>
        </p:txBody>
      </p:sp>
    </p:spTree>
    <p:extLst>
      <p:ext uri="{BB962C8B-B14F-4D97-AF65-F5344CB8AC3E}">
        <p14:creationId xmlns:p14="http://schemas.microsoft.com/office/powerpoint/2010/main" val="11711018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CCB6D-D2F4-F54D-9FD6-44A3AF1808AC}"/>
              </a:ext>
            </a:extLst>
          </p:cNvPr>
          <p:cNvSpPr>
            <a:spLocks noGrp="1"/>
          </p:cNvSpPr>
          <p:nvPr>
            <p:ph type="title"/>
          </p:nvPr>
        </p:nvSpPr>
        <p:spPr/>
        <p:txBody>
          <a:bodyPr>
            <a:noAutofit/>
          </a:bodyPr>
          <a:lstStyle/>
          <a:p>
            <a:r>
              <a:rPr lang="en-US" dirty="0"/>
              <a:t>Encapsulation</a:t>
            </a:r>
          </a:p>
        </p:txBody>
      </p:sp>
      <p:sp>
        <p:nvSpPr>
          <p:cNvPr id="3" name="Content Placeholder 2">
            <a:extLst>
              <a:ext uri="{FF2B5EF4-FFF2-40B4-BE49-F238E27FC236}">
                <a16:creationId xmlns:a16="http://schemas.microsoft.com/office/drawing/2014/main" id="{26A7B004-E1B2-944B-A41E-D9C44CA95DB7}"/>
              </a:ext>
            </a:extLst>
          </p:cNvPr>
          <p:cNvSpPr>
            <a:spLocks noGrp="1"/>
          </p:cNvSpPr>
          <p:nvPr>
            <p:ph idx="1"/>
          </p:nvPr>
        </p:nvSpPr>
        <p:spPr>
          <a:xfrm>
            <a:off x="457200" y="957943"/>
            <a:ext cx="8229600" cy="5900057"/>
          </a:xfrm>
        </p:spPr>
        <p:txBody>
          <a:bodyPr>
            <a:normAutofit fontScale="85000" lnSpcReduction="20000"/>
          </a:bodyPr>
          <a:lstStyle/>
          <a:p>
            <a:r>
              <a:rPr lang="en-US" dirty="0"/>
              <a:t>The act of grouping both data and the operations that affect that data into a single class/object is known as encapsulation</a:t>
            </a:r>
          </a:p>
          <a:p>
            <a:r>
              <a:rPr lang="en-US" dirty="0"/>
              <a:t>Another name for encapsulation is information hiding. </a:t>
            </a:r>
          </a:p>
          <a:p>
            <a:pPr lvl="1"/>
            <a:r>
              <a:rPr lang="en-US" dirty="0"/>
              <a:t>The basic idea is that a class should expose a clean interface that allows interaction, but nothing about its internal state. </a:t>
            </a:r>
          </a:p>
          <a:p>
            <a:pPr lvl="1"/>
            <a:r>
              <a:rPr lang="en-US" dirty="0"/>
              <a:t>The general rule is that all state variables should start out as private and only have that access relaxed if there is a very, very good reason</a:t>
            </a:r>
          </a:p>
          <a:p>
            <a:pPr lvl="2"/>
            <a:r>
              <a:rPr lang="en-US" dirty="0"/>
              <a:t>The most standard example is a static class variable, which is almost always public</a:t>
            </a:r>
          </a:p>
          <a:p>
            <a:r>
              <a:rPr lang="en-US" dirty="0"/>
              <a:t>Encapsulation helps to minimize coupling between classes. </a:t>
            </a:r>
          </a:p>
          <a:p>
            <a:pPr lvl="1"/>
            <a:r>
              <a:rPr lang="en-US" dirty="0"/>
              <a:t>High coupling between two classes, A and B, implies that a change in A is likely to ripple through to B. </a:t>
            </a:r>
          </a:p>
          <a:p>
            <a:pPr lvl="1"/>
            <a:r>
              <a:rPr lang="en-US" dirty="0"/>
              <a:t>In a large software project, you really don’t want a change in one class to mean you have to go and fix up the other 200 classes! So we strive for low coupling.</a:t>
            </a:r>
          </a:p>
          <a:p>
            <a:r>
              <a:rPr lang="en-US" dirty="0"/>
              <a:t>It’s also related to cohesion. </a:t>
            </a:r>
          </a:p>
          <a:p>
            <a:pPr lvl="1"/>
            <a:r>
              <a:rPr lang="en-US" dirty="0"/>
              <a:t>A highly cohesive class contains only a set of strongly related functions rather than being a random mix of functionality. </a:t>
            </a:r>
          </a:p>
          <a:p>
            <a:pPr lvl="1"/>
            <a:r>
              <a:rPr lang="en-US" dirty="0"/>
              <a:t>We strive for high cohesion.</a:t>
            </a:r>
          </a:p>
        </p:txBody>
      </p:sp>
      <p:sp>
        <p:nvSpPr>
          <p:cNvPr id="4" name="Slide Number Placeholder 3">
            <a:extLst>
              <a:ext uri="{FF2B5EF4-FFF2-40B4-BE49-F238E27FC236}">
                <a16:creationId xmlns:a16="http://schemas.microsoft.com/office/drawing/2014/main" id="{7FD585D4-7D94-274D-9067-0E7F831E0F27}"/>
              </a:ext>
            </a:extLst>
          </p:cNvPr>
          <p:cNvSpPr>
            <a:spLocks noGrp="1"/>
          </p:cNvSpPr>
          <p:nvPr>
            <p:ph type="sldNum" sz="quarter" idx="12"/>
          </p:nvPr>
        </p:nvSpPr>
        <p:spPr/>
        <p:txBody>
          <a:bodyPr/>
          <a:lstStyle/>
          <a:p>
            <a:fld id="{13977939-A071-43C1-9268-F54CC2756BB5}" type="slidenum">
              <a:rPr lang="en-US" smtClean="0"/>
              <a:pPr/>
              <a:t>33</a:t>
            </a:fld>
            <a:endParaRPr lang="en-US" dirty="0"/>
          </a:p>
        </p:txBody>
      </p:sp>
    </p:spTree>
    <p:extLst>
      <p:ext uri="{BB962C8B-B14F-4D97-AF65-F5344CB8AC3E}">
        <p14:creationId xmlns:p14="http://schemas.microsoft.com/office/powerpoint/2010/main" val="11739398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D9E68-8471-6A41-877F-978A3298AFAC}"/>
              </a:ext>
            </a:extLst>
          </p:cNvPr>
          <p:cNvSpPr>
            <a:spLocks noGrp="1"/>
          </p:cNvSpPr>
          <p:nvPr>
            <p:ph type="title"/>
          </p:nvPr>
        </p:nvSpPr>
        <p:spPr>
          <a:xfrm>
            <a:off x="457200" y="228600"/>
            <a:ext cx="8229600" cy="475488"/>
          </a:xfrm>
        </p:spPr>
        <p:txBody>
          <a:bodyPr>
            <a:noAutofit/>
          </a:bodyPr>
          <a:lstStyle/>
          <a:p>
            <a:r>
              <a:rPr lang="en-US" dirty="0"/>
              <a:t>The Syntax Of A Class Definition</a:t>
            </a:r>
          </a:p>
        </p:txBody>
      </p:sp>
      <p:sp>
        <p:nvSpPr>
          <p:cNvPr id="3" name="Content Placeholder 2">
            <a:extLst>
              <a:ext uri="{FF2B5EF4-FFF2-40B4-BE49-F238E27FC236}">
                <a16:creationId xmlns:a16="http://schemas.microsoft.com/office/drawing/2014/main" id="{F86B5EDA-F030-ED41-BE2E-15BA9AD25A37}"/>
              </a:ext>
            </a:extLst>
          </p:cNvPr>
          <p:cNvSpPr>
            <a:spLocks noGrp="1"/>
          </p:cNvSpPr>
          <p:nvPr>
            <p:ph idx="1"/>
          </p:nvPr>
        </p:nvSpPr>
        <p:spPr>
          <a:xfrm>
            <a:off x="457200" y="704088"/>
            <a:ext cx="8229600" cy="6153911"/>
          </a:xfrm>
        </p:spPr>
        <p:txBody>
          <a:bodyPr>
            <a:normAutofit fontScale="77500" lnSpcReduction="20000"/>
          </a:bodyPr>
          <a:lstStyle/>
          <a:p>
            <a:pPr marL="0" indent="0">
              <a:buNone/>
            </a:pPr>
            <a:r>
              <a:rPr lang="en-US" dirty="0"/>
              <a:t>Modifiers class ClassName</a:t>
            </a:r>
          </a:p>
          <a:p>
            <a:pPr marL="0" indent="0">
              <a:buNone/>
            </a:pPr>
            <a:r>
              <a:rPr lang="en-US" dirty="0"/>
              <a:t>{</a:t>
            </a:r>
          </a:p>
          <a:p>
            <a:pPr marL="0" indent="0">
              <a:buNone/>
            </a:pPr>
            <a:r>
              <a:rPr lang="en-US" dirty="0"/>
              <a:t>  // Description of the </a:t>
            </a:r>
            <a:r>
              <a:rPr lang="en-US" dirty="0">
                <a:solidFill>
                  <a:srgbClr val="FF0000"/>
                </a:solidFill>
              </a:rPr>
              <a:t>instance variables</a:t>
            </a:r>
          </a:p>
          <a:p>
            <a:pPr marL="0" indent="0">
              <a:buNone/>
            </a:pPr>
            <a:r>
              <a:rPr lang="en-US" dirty="0"/>
              <a:t> // Description of the class (static) variables</a:t>
            </a:r>
          </a:p>
          <a:p>
            <a:pPr marL="0" indent="0">
              <a:buNone/>
            </a:pPr>
            <a:r>
              <a:rPr lang="en-US" dirty="0"/>
              <a:t> // Description of the </a:t>
            </a:r>
            <a:r>
              <a:rPr lang="en-US" dirty="0">
                <a:solidFill>
                  <a:srgbClr val="FF0000"/>
                </a:solidFill>
              </a:rPr>
              <a:t>constructors</a:t>
            </a:r>
            <a:endParaRPr lang="en-US" dirty="0"/>
          </a:p>
          <a:p>
            <a:pPr marL="0" indent="0">
              <a:buNone/>
            </a:pPr>
            <a:r>
              <a:rPr lang="en-US" dirty="0"/>
              <a:t> // Description of the </a:t>
            </a:r>
            <a:r>
              <a:rPr lang="en-US" dirty="0">
                <a:solidFill>
                  <a:srgbClr val="FF0000"/>
                </a:solidFill>
              </a:rPr>
              <a:t>methods</a:t>
            </a:r>
          </a:p>
          <a:p>
            <a:pPr marL="0" indent="0">
              <a:buNone/>
            </a:pPr>
            <a:r>
              <a:rPr lang="en-US" dirty="0"/>
              <a:t>}</a:t>
            </a:r>
          </a:p>
          <a:p>
            <a:r>
              <a:rPr lang="en-US" dirty="0"/>
              <a:t>A few notes:</a:t>
            </a:r>
          </a:p>
          <a:p>
            <a:pPr lvl="1"/>
            <a:r>
              <a:rPr lang="en-US" dirty="0"/>
              <a:t>Every class is a subclass of the Object class</a:t>
            </a:r>
          </a:p>
          <a:p>
            <a:pPr lvl="1"/>
            <a:r>
              <a:rPr lang="en-US" dirty="0"/>
              <a:t>For now, replace modifiers with public in the class that contains main and don't include it in other classes in the same file. – </a:t>
            </a:r>
            <a:r>
              <a:rPr lang="en-US" dirty="0">
                <a:solidFill>
                  <a:srgbClr val="FF0000"/>
                </a:solidFill>
              </a:rPr>
              <a:t>Preference is for a separate file for each class</a:t>
            </a:r>
          </a:p>
          <a:p>
            <a:pPr lvl="2"/>
            <a:r>
              <a:rPr lang="en-US" dirty="0">
                <a:solidFill>
                  <a:srgbClr val="FF0000"/>
                </a:solidFill>
              </a:rPr>
              <a:t>Only the file containing the class with main can contain other classes, </a:t>
            </a:r>
            <a:r>
              <a:rPr lang="en-US" b="1" dirty="0">
                <a:solidFill>
                  <a:srgbClr val="FF0000"/>
                </a:solidFill>
              </a:rPr>
              <a:t>but don’t do this – Simply put each class in a separate file</a:t>
            </a:r>
          </a:p>
          <a:p>
            <a:pPr lvl="1"/>
            <a:r>
              <a:rPr lang="en-US" dirty="0"/>
              <a:t>Separating the class into sections is done for clarity. It is not a rule of the language.</a:t>
            </a:r>
          </a:p>
          <a:p>
            <a:pPr lvl="1"/>
            <a:r>
              <a:rPr lang="en-US" dirty="0"/>
              <a:t>A simple class might have just a few variables and be defined in just a few lines of code. A large, complicated class might take thousands of lines of code for its definition.</a:t>
            </a:r>
          </a:p>
          <a:p>
            <a:pPr lvl="1"/>
            <a:r>
              <a:rPr lang="en-US" altLang="en-US" dirty="0"/>
              <a:t>Use a noun for the class name and begin the class name with a capital letter</a:t>
            </a:r>
            <a:endParaRPr lang="en-US" dirty="0"/>
          </a:p>
        </p:txBody>
      </p:sp>
      <p:sp>
        <p:nvSpPr>
          <p:cNvPr id="4" name="Slide Number Placeholder 3">
            <a:extLst>
              <a:ext uri="{FF2B5EF4-FFF2-40B4-BE49-F238E27FC236}">
                <a16:creationId xmlns:a16="http://schemas.microsoft.com/office/drawing/2014/main" id="{E7FD8CA8-3520-3142-9468-E4D3F7ED413B}"/>
              </a:ext>
            </a:extLst>
          </p:cNvPr>
          <p:cNvSpPr>
            <a:spLocks noGrp="1"/>
          </p:cNvSpPr>
          <p:nvPr>
            <p:ph type="sldNum" sz="quarter" idx="12"/>
          </p:nvPr>
        </p:nvSpPr>
        <p:spPr/>
        <p:txBody>
          <a:bodyPr/>
          <a:lstStyle/>
          <a:p>
            <a:fld id="{13977939-A071-43C1-9268-F54CC2756BB5}" type="slidenum">
              <a:rPr lang="en-US" smtClean="0"/>
              <a:pPr/>
              <a:t>34</a:t>
            </a:fld>
            <a:endParaRPr lang="en-US" dirty="0"/>
          </a:p>
        </p:txBody>
      </p:sp>
    </p:spTree>
    <p:extLst>
      <p:ext uri="{BB962C8B-B14F-4D97-AF65-F5344CB8AC3E}">
        <p14:creationId xmlns:p14="http://schemas.microsoft.com/office/powerpoint/2010/main" val="7055502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DAF3E-0520-684C-9557-BD110A5C9F95}"/>
              </a:ext>
            </a:extLst>
          </p:cNvPr>
          <p:cNvSpPr>
            <a:spLocks noGrp="1"/>
          </p:cNvSpPr>
          <p:nvPr>
            <p:ph type="title"/>
          </p:nvPr>
        </p:nvSpPr>
        <p:spPr/>
        <p:txBody>
          <a:bodyPr>
            <a:noAutofit/>
          </a:bodyPr>
          <a:lstStyle/>
          <a:p>
            <a:r>
              <a:rPr lang="en-US" dirty="0"/>
              <a:t>The Driver class</a:t>
            </a:r>
          </a:p>
        </p:txBody>
      </p:sp>
      <p:sp>
        <p:nvSpPr>
          <p:cNvPr id="3" name="Content Placeholder 2">
            <a:extLst>
              <a:ext uri="{FF2B5EF4-FFF2-40B4-BE49-F238E27FC236}">
                <a16:creationId xmlns:a16="http://schemas.microsoft.com/office/drawing/2014/main" id="{7CC639A9-D78C-8B4D-B01D-BF6CB3466783}"/>
              </a:ext>
            </a:extLst>
          </p:cNvPr>
          <p:cNvSpPr>
            <a:spLocks noGrp="1"/>
          </p:cNvSpPr>
          <p:nvPr>
            <p:ph idx="1"/>
          </p:nvPr>
        </p:nvSpPr>
        <p:spPr>
          <a:xfrm>
            <a:off x="457200" y="932688"/>
            <a:ext cx="8229600" cy="5620512"/>
          </a:xfrm>
        </p:spPr>
        <p:txBody>
          <a:bodyPr>
            <a:normAutofit fontScale="92500" lnSpcReduction="10000"/>
          </a:bodyPr>
          <a:lstStyle/>
          <a:p>
            <a:r>
              <a:rPr lang="en-US" dirty="0"/>
              <a:t>The Java interpreter starts a program by looking for a static main(String [] args) method. </a:t>
            </a:r>
          </a:p>
          <a:p>
            <a:pPr lvl="1"/>
            <a:r>
              <a:rPr lang="en-US" dirty="0">
                <a:solidFill>
                  <a:srgbClr val="FF0000"/>
                </a:solidFill>
              </a:rPr>
              <a:t>Since the method is static the interpreter can run it without first constructing an object</a:t>
            </a:r>
            <a:r>
              <a:rPr lang="en-US" dirty="0"/>
              <a:t>.</a:t>
            </a:r>
          </a:p>
          <a:p>
            <a:pPr lvl="1"/>
            <a:r>
              <a:rPr lang="en-US" dirty="0"/>
              <a:t>It is convenient to have a separate class that serves no other purpose than to contain the main(String [] args) method, or a main method with a bunch of supporting methods. This testing class is used to start things running. Sometimes the class that contains main(String [] args) is called a driver</a:t>
            </a:r>
          </a:p>
          <a:p>
            <a:pPr lvl="1"/>
            <a:r>
              <a:rPr lang="en-US" dirty="0"/>
              <a:t>Usually main(String [] args) constructs objects of various classes (or at least one other class that drives the overall program). Once a class is created the main program can call the public methods of that class. These objects do the real work of the program via their methods.</a:t>
            </a:r>
          </a:p>
          <a:p>
            <a:pPr lvl="1"/>
            <a:r>
              <a:rPr lang="en-US" dirty="0"/>
              <a:t>We often try to minimize the code in the driver to what is absolutely required to instantiate a core class</a:t>
            </a:r>
          </a:p>
        </p:txBody>
      </p:sp>
      <p:sp>
        <p:nvSpPr>
          <p:cNvPr id="4" name="Slide Number Placeholder 3">
            <a:extLst>
              <a:ext uri="{FF2B5EF4-FFF2-40B4-BE49-F238E27FC236}">
                <a16:creationId xmlns:a16="http://schemas.microsoft.com/office/drawing/2014/main" id="{04757977-00C4-F34E-8A96-F08B6F73E16D}"/>
              </a:ext>
            </a:extLst>
          </p:cNvPr>
          <p:cNvSpPr>
            <a:spLocks noGrp="1"/>
          </p:cNvSpPr>
          <p:nvPr>
            <p:ph type="sldNum" sz="quarter" idx="12"/>
          </p:nvPr>
        </p:nvSpPr>
        <p:spPr/>
        <p:txBody>
          <a:bodyPr/>
          <a:lstStyle/>
          <a:p>
            <a:fld id="{13977939-A071-43C1-9268-F54CC2756BB5}" type="slidenum">
              <a:rPr lang="en-US" smtClean="0"/>
              <a:pPr/>
              <a:t>35</a:t>
            </a:fld>
            <a:endParaRPr lang="en-US" dirty="0"/>
          </a:p>
        </p:txBody>
      </p:sp>
    </p:spTree>
    <p:extLst>
      <p:ext uri="{BB962C8B-B14F-4D97-AF65-F5344CB8AC3E}">
        <p14:creationId xmlns:p14="http://schemas.microsoft.com/office/powerpoint/2010/main" val="38292830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DAF3E-0520-684C-9557-BD110A5C9F95}"/>
              </a:ext>
            </a:extLst>
          </p:cNvPr>
          <p:cNvSpPr>
            <a:spLocks noGrp="1"/>
          </p:cNvSpPr>
          <p:nvPr>
            <p:ph type="title"/>
          </p:nvPr>
        </p:nvSpPr>
        <p:spPr/>
        <p:txBody>
          <a:bodyPr>
            <a:noAutofit/>
          </a:bodyPr>
          <a:lstStyle/>
          <a:p>
            <a:r>
              <a:rPr lang="en-US" dirty="0"/>
              <a:t>Reusing Classes From The Java Library</a:t>
            </a:r>
          </a:p>
        </p:txBody>
      </p:sp>
      <p:sp>
        <p:nvSpPr>
          <p:cNvPr id="3" name="Content Placeholder 2">
            <a:extLst>
              <a:ext uri="{FF2B5EF4-FFF2-40B4-BE49-F238E27FC236}">
                <a16:creationId xmlns:a16="http://schemas.microsoft.com/office/drawing/2014/main" id="{7CC639A9-D78C-8B4D-B01D-BF6CB3466783}"/>
              </a:ext>
            </a:extLst>
          </p:cNvPr>
          <p:cNvSpPr>
            <a:spLocks noGrp="1"/>
          </p:cNvSpPr>
          <p:nvPr>
            <p:ph idx="1"/>
          </p:nvPr>
        </p:nvSpPr>
        <p:spPr>
          <a:xfrm>
            <a:off x="457200" y="1249680"/>
            <a:ext cx="8229600" cy="5303520"/>
          </a:xfrm>
        </p:spPr>
        <p:txBody>
          <a:bodyPr>
            <a:normAutofit lnSpcReduction="10000"/>
          </a:bodyPr>
          <a:lstStyle/>
          <a:p>
            <a:r>
              <a:rPr lang="en-US" dirty="0"/>
              <a:t>Java contains many off-the shelf classes</a:t>
            </a:r>
          </a:p>
          <a:p>
            <a:r>
              <a:rPr lang="en-US" dirty="0"/>
              <a:t>You are already familiar with a few of these classes</a:t>
            </a:r>
          </a:p>
          <a:p>
            <a:pPr lvl="1"/>
            <a:r>
              <a:rPr lang="en-US" dirty="0"/>
              <a:t>Scanner,</a:t>
            </a:r>
          </a:p>
          <a:p>
            <a:pPr lvl="1"/>
            <a:r>
              <a:rPr lang="en-US" dirty="0"/>
              <a:t>String</a:t>
            </a:r>
          </a:p>
          <a:p>
            <a:pPr lvl="1"/>
            <a:r>
              <a:rPr lang="en-US" dirty="0"/>
              <a:t>StringBuilder</a:t>
            </a:r>
          </a:p>
          <a:p>
            <a:pPr lvl="1"/>
            <a:r>
              <a:rPr lang="en-US" dirty="0"/>
              <a:t>ArrayList</a:t>
            </a:r>
          </a:p>
          <a:p>
            <a:pPr lvl="1"/>
            <a:r>
              <a:rPr lang="en-US" dirty="0"/>
              <a:t>Exception</a:t>
            </a:r>
          </a:p>
          <a:p>
            <a:r>
              <a:rPr lang="en-US" dirty="0"/>
              <a:t>Each class has many methods</a:t>
            </a:r>
          </a:p>
          <a:p>
            <a:r>
              <a:rPr lang="en-US" dirty="0"/>
              <a:t>You can look at documentation through a simple search</a:t>
            </a:r>
          </a:p>
          <a:p>
            <a:pPr lvl="1"/>
            <a:r>
              <a:rPr lang="en-US" dirty="0"/>
              <a:t>Oracle Docs Java SE 21 </a:t>
            </a:r>
            <a:r>
              <a:rPr lang="en-US" i="1" dirty="0"/>
              <a:t>ClassName </a:t>
            </a:r>
            <a:r>
              <a:rPr lang="en-US" dirty="0"/>
              <a:t>or go to:</a:t>
            </a:r>
          </a:p>
          <a:p>
            <a:pPr marL="393192" lvl="1" indent="0">
              <a:buNone/>
            </a:pPr>
            <a:r>
              <a:rPr lang="en-US" dirty="0">
                <a:solidFill>
                  <a:srgbClr val="FF0000"/>
                </a:solidFill>
                <a:hlinkClick r:id="rId2">
                  <a:extLst>
                    <a:ext uri="{A12FA001-AC4F-418D-AE19-62706E023703}">
                      <ahyp:hlinkClr xmlns:ahyp="http://schemas.microsoft.com/office/drawing/2018/hyperlinkcolor" val="tx"/>
                    </a:ext>
                  </a:extLst>
                </a:hlinkClick>
              </a:rPr>
              <a:t>https://docs.oracle.com/en/java/javase/21/</a:t>
            </a:r>
            <a:endParaRPr lang="en-US" dirty="0">
              <a:solidFill>
                <a:srgbClr val="FF0000"/>
              </a:solidFill>
            </a:endParaRPr>
          </a:p>
          <a:p>
            <a:pPr marL="393192" lvl="1" indent="0">
              <a:buNone/>
            </a:pPr>
            <a:endParaRPr lang="en-US" dirty="0"/>
          </a:p>
        </p:txBody>
      </p:sp>
      <p:sp>
        <p:nvSpPr>
          <p:cNvPr id="4" name="Slide Number Placeholder 3">
            <a:extLst>
              <a:ext uri="{FF2B5EF4-FFF2-40B4-BE49-F238E27FC236}">
                <a16:creationId xmlns:a16="http://schemas.microsoft.com/office/drawing/2014/main" id="{04757977-00C4-F34E-8A96-F08B6F73E16D}"/>
              </a:ext>
            </a:extLst>
          </p:cNvPr>
          <p:cNvSpPr>
            <a:spLocks noGrp="1"/>
          </p:cNvSpPr>
          <p:nvPr>
            <p:ph type="sldNum" sz="quarter" idx="12"/>
          </p:nvPr>
        </p:nvSpPr>
        <p:spPr/>
        <p:txBody>
          <a:bodyPr/>
          <a:lstStyle/>
          <a:p>
            <a:fld id="{13977939-A071-43C1-9268-F54CC2756BB5}" type="slidenum">
              <a:rPr lang="en-US" smtClean="0"/>
              <a:pPr/>
              <a:t>36</a:t>
            </a:fld>
            <a:endParaRPr lang="en-US" dirty="0"/>
          </a:p>
        </p:txBody>
      </p:sp>
    </p:spTree>
    <p:extLst>
      <p:ext uri="{BB962C8B-B14F-4D97-AF65-F5344CB8AC3E}">
        <p14:creationId xmlns:p14="http://schemas.microsoft.com/office/powerpoint/2010/main" val="12094493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33164-E26E-194A-9E7A-677FEB18C161}"/>
              </a:ext>
            </a:extLst>
          </p:cNvPr>
          <p:cNvSpPr>
            <a:spLocks noGrp="1"/>
          </p:cNvSpPr>
          <p:nvPr>
            <p:ph type="title"/>
          </p:nvPr>
        </p:nvSpPr>
        <p:spPr>
          <a:xfrm>
            <a:off x="457200" y="76200"/>
            <a:ext cx="8229600" cy="475488"/>
          </a:xfrm>
        </p:spPr>
        <p:txBody>
          <a:bodyPr>
            <a:noAutofit/>
          </a:bodyPr>
          <a:lstStyle/>
          <a:p>
            <a:r>
              <a:rPr lang="en-US" dirty="0"/>
              <a:t>Basic Terminology</a:t>
            </a:r>
          </a:p>
        </p:txBody>
      </p:sp>
      <p:sp>
        <p:nvSpPr>
          <p:cNvPr id="3" name="Content Placeholder 2">
            <a:extLst>
              <a:ext uri="{FF2B5EF4-FFF2-40B4-BE49-F238E27FC236}">
                <a16:creationId xmlns:a16="http://schemas.microsoft.com/office/drawing/2014/main" id="{FC222E85-8A79-3C48-AF06-63C3777356A0}"/>
              </a:ext>
            </a:extLst>
          </p:cNvPr>
          <p:cNvSpPr>
            <a:spLocks noGrp="1"/>
          </p:cNvSpPr>
          <p:nvPr>
            <p:ph idx="1"/>
          </p:nvPr>
        </p:nvSpPr>
        <p:spPr>
          <a:xfrm>
            <a:off x="76200" y="533400"/>
            <a:ext cx="8915400" cy="4419600"/>
          </a:xfrm>
        </p:spPr>
        <p:txBody>
          <a:bodyPr>
            <a:normAutofit fontScale="70000" lnSpcReduction="20000"/>
          </a:bodyPr>
          <a:lstStyle/>
          <a:p>
            <a:r>
              <a:rPr lang="en-US" altLang="en-US" dirty="0"/>
              <a:t>Fields </a:t>
            </a:r>
          </a:p>
          <a:p>
            <a:pPr lvl="1"/>
            <a:r>
              <a:rPr lang="en-US" altLang="en-US" dirty="0"/>
              <a:t>Instance variables: the data for each object – usually private and accessed externally via a method</a:t>
            </a:r>
          </a:p>
          <a:p>
            <a:pPr lvl="1"/>
            <a:r>
              <a:rPr lang="en-US" altLang="en-US" dirty="0"/>
              <a:t>Class data: </a:t>
            </a:r>
            <a:r>
              <a:rPr lang="en-US" altLang="en-US" i="1" dirty="0"/>
              <a:t>static</a:t>
            </a:r>
            <a:r>
              <a:rPr lang="en-US" altLang="en-US" dirty="0"/>
              <a:t> data that all objects share – not related to any particular instantiation</a:t>
            </a:r>
          </a:p>
          <a:p>
            <a:r>
              <a:rPr lang="en-US" altLang="en-US" dirty="0"/>
              <a:t>Members </a:t>
            </a:r>
          </a:p>
          <a:p>
            <a:pPr lvl="1"/>
            <a:r>
              <a:rPr lang="en-US" altLang="en-US" dirty="0"/>
              <a:t>Fields and methods</a:t>
            </a:r>
          </a:p>
          <a:p>
            <a:r>
              <a:rPr lang="en-US" altLang="en-US" dirty="0"/>
              <a:t>Access Modifier</a:t>
            </a:r>
          </a:p>
          <a:p>
            <a:pPr lvl="1"/>
            <a:r>
              <a:rPr lang="en-US" altLang="en-US" dirty="0"/>
              <a:t>Determines access rights for the class and its members</a:t>
            </a:r>
          </a:p>
          <a:p>
            <a:pPr lvl="1"/>
            <a:r>
              <a:rPr lang="en-US" altLang="en-US" dirty="0"/>
              <a:t>Defines where the class and its members can be used</a:t>
            </a:r>
          </a:p>
          <a:p>
            <a:r>
              <a:rPr lang="en-US" altLang="en-US" dirty="0"/>
              <a:t>When no access modifier is specified for a class, method, or data member it is assigned its default access modifier. </a:t>
            </a:r>
          </a:p>
          <a:p>
            <a:pPr lvl="1"/>
            <a:r>
              <a:rPr lang="en-US" altLang="en-US" dirty="0"/>
              <a:t>The data members, classes, or methods that are not declared using any access modifiers i.e. having default access modifiers are accessible only within the same package or folder (this is the default access type).</a:t>
            </a:r>
          </a:p>
          <a:p>
            <a:pPr lvl="1"/>
            <a:r>
              <a:rPr lang="en-US" altLang="en-US" b="1" dirty="0">
                <a:solidFill>
                  <a:srgbClr val="FF0000"/>
                </a:solidFill>
              </a:rPr>
              <a:t>Please declare each access type explicitly </a:t>
            </a:r>
            <a:r>
              <a:rPr lang="en-US" altLang="en-US" dirty="0"/>
              <a:t>– most often classes, class variables variables and all methods except helper are typically declared public, instance variables are private</a:t>
            </a:r>
          </a:p>
        </p:txBody>
      </p:sp>
      <p:sp>
        <p:nvSpPr>
          <p:cNvPr id="4" name="Slide Number Placeholder 3">
            <a:extLst>
              <a:ext uri="{FF2B5EF4-FFF2-40B4-BE49-F238E27FC236}">
                <a16:creationId xmlns:a16="http://schemas.microsoft.com/office/drawing/2014/main" id="{802C5C56-3C10-2D43-8DDB-F298494F9217}"/>
              </a:ext>
            </a:extLst>
          </p:cNvPr>
          <p:cNvSpPr>
            <a:spLocks noGrp="1"/>
          </p:cNvSpPr>
          <p:nvPr>
            <p:ph type="sldNum" sz="quarter" idx="12"/>
          </p:nvPr>
        </p:nvSpPr>
        <p:spPr/>
        <p:txBody>
          <a:bodyPr/>
          <a:lstStyle/>
          <a:p>
            <a:fld id="{13977939-A071-43C1-9268-F54CC2756BB5}" type="slidenum">
              <a:rPr lang="en-US" smtClean="0"/>
              <a:pPr/>
              <a:t>37</a:t>
            </a:fld>
            <a:endParaRPr lang="en-US" dirty="0"/>
          </a:p>
        </p:txBody>
      </p:sp>
      <p:pic>
        <p:nvPicPr>
          <p:cNvPr id="5" name="Picture 4" descr="Table with descriptions">
            <a:extLst>
              <a:ext uri="{FF2B5EF4-FFF2-40B4-BE49-F238E27FC236}">
                <a16:creationId xmlns:a16="http://schemas.microsoft.com/office/drawing/2014/main" id="{00534035-73B6-3544-B5E0-677F2DE4B9F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8729" y="4715901"/>
            <a:ext cx="6704666" cy="2065899"/>
          </a:xfrm>
          <a:prstGeom prst="rect">
            <a:avLst/>
          </a:prstGeom>
        </p:spPr>
      </p:pic>
    </p:spTree>
    <p:extLst>
      <p:ext uri="{BB962C8B-B14F-4D97-AF65-F5344CB8AC3E}">
        <p14:creationId xmlns:p14="http://schemas.microsoft.com/office/powerpoint/2010/main" val="8308823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11C52-BEB3-814E-99A5-36B6D2D98F6D}"/>
              </a:ext>
            </a:extLst>
          </p:cNvPr>
          <p:cNvSpPr>
            <a:spLocks noGrp="1"/>
          </p:cNvSpPr>
          <p:nvPr>
            <p:ph type="title"/>
          </p:nvPr>
        </p:nvSpPr>
        <p:spPr>
          <a:xfrm>
            <a:off x="457200" y="76200"/>
            <a:ext cx="8229600" cy="475488"/>
          </a:xfrm>
        </p:spPr>
        <p:txBody>
          <a:bodyPr>
            <a:noAutofit/>
          </a:bodyPr>
          <a:lstStyle/>
          <a:p>
            <a:r>
              <a:rPr lang="en-US" dirty="0"/>
              <a:t>public vs. private</a:t>
            </a:r>
          </a:p>
        </p:txBody>
      </p:sp>
      <p:sp>
        <p:nvSpPr>
          <p:cNvPr id="3" name="Content Placeholder 2">
            <a:extLst>
              <a:ext uri="{FF2B5EF4-FFF2-40B4-BE49-F238E27FC236}">
                <a16:creationId xmlns:a16="http://schemas.microsoft.com/office/drawing/2014/main" id="{83702B5E-46B9-E947-9104-06C77041EAC5}"/>
              </a:ext>
            </a:extLst>
          </p:cNvPr>
          <p:cNvSpPr>
            <a:spLocks noGrp="1"/>
          </p:cNvSpPr>
          <p:nvPr>
            <p:ph idx="1"/>
          </p:nvPr>
        </p:nvSpPr>
        <p:spPr>
          <a:xfrm>
            <a:off x="457200" y="533400"/>
            <a:ext cx="8382000" cy="6324600"/>
          </a:xfrm>
        </p:spPr>
        <p:txBody>
          <a:bodyPr>
            <a:normAutofit fontScale="77500" lnSpcReduction="20000"/>
          </a:bodyPr>
          <a:lstStyle/>
          <a:p>
            <a:r>
              <a:rPr lang="en-US" altLang="en-US" dirty="0"/>
              <a:t>Classes are usually declared to be public</a:t>
            </a:r>
          </a:p>
          <a:p>
            <a:pPr lvl="1"/>
            <a:r>
              <a:rPr lang="en-US" altLang="en-US" dirty="0"/>
              <a:t>We need to be able to access them from other classes or they are less useful</a:t>
            </a:r>
          </a:p>
          <a:p>
            <a:r>
              <a:rPr lang="en-US" altLang="en-US" dirty="0"/>
              <a:t>Instance variables are usually declared to be private.</a:t>
            </a:r>
          </a:p>
          <a:p>
            <a:pPr lvl="1"/>
            <a:r>
              <a:rPr lang="en-US" altLang="en-US" dirty="0"/>
              <a:t>It is good practice to make most instance variables private and only access them through public meth0ds of the class</a:t>
            </a:r>
          </a:p>
          <a:p>
            <a:pPr lvl="1"/>
            <a:r>
              <a:rPr lang="en-US" altLang="en-US" dirty="0"/>
              <a:t>We minimize the number of instance values and use methods to obtain derived values</a:t>
            </a:r>
          </a:p>
          <a:p>
            <a:r>
              <a:rPr lang="en-US" altLang="en-US" dirty="0"/>
              <a:t>Methods that will be called by the client of the class are usually declared to be </a:t>
            </a:r>
            <a:r>
              <a:rPr lang="en-US" altLang="en-US" i="1" dirty="0"/>
              <a:t>public.</a:t>
            </a:r>
          </a:p>
          <a:p>
            <a:pPr lvl="1"/>
            <a:r>
              <a:rPr lang="en-US" altLang="en-US" dirty="0"/>
              <a:t>Note On Interfaces: It is important to note that for members of an interface, the default access is implicitly public (wee will discuss Interfaces in Lesson 4.</a:t>
            </a:r>
          </a:p>
          <a:p>
            <a:r>
              <a:rPr lang="en-US" altLang="en-US" dirty="0"/>
              <a:t>Methods that will be called only by other methods of the class are usually declared to be </a:t>
            </a:r>
            <a:r>
              <a:rPr lang="en-US" altLang="en-US" i="1" dirty="0"/>
              <a:t>private. </a:t>
            </a:r>
            <a:r>
              <a:rPr lang="en-US" altLang="en-US" dirty="0"/>
              <a:t>These are typically </a:t>
            </a:r>
            <a:r>
              <a:rPr lang="en-US" altLang="en-US" i="1" dirty="0"/>
              <a:t>helper</a:t>
            </a:r>
            <a:r>
              <a:rPr lang="en-US" altLang="en-US" dirty="0"/>
              <a:t> methods.</a:t>
            </a:r>
          </a:p>
          <a:p>
            <a:r>
              <a:rPr lang="en-US" altLang="en-US" dirty="0"/>
              <a:t>APIs (name and parameters of methods as well as return values) of methods are published (made known) so that clients will know how to instantiate objects and call the methods of the class.</a:t>
            </a:r>
          </a:p>
          <a:p>
            <a:r>
              <a:rPr lang="en-US" altLang="en-US" dirty="0"/>
              <a:t>The third access modifier is </a:t>
            </a:r>
            <a:r>
              <a:rPr lang="en-US" altLang="en-US" i="1" dirty="0"/>
              <a:t>protected</a:t>
            </a:r>
            <a:r>
              <a:rPr lang="en-US" altLang="en-US" dirty="0"/>
              <a:t>, which we use less often, and I recommend that you avoid in this class after my first few examples.</a:t>
            </a:r>
          </a:p>
          <a:p>
            <a:r>
              <a:rPr lang="en-US" altLang="en-US" dirty="0">
                <a:solidFill>
                  <a:srgbClr val="FF0000"/>
                </a:solidFill>
              </a:rPr>
              <a:t>Note: Please explicitly state the access type as opposed to leaving it to a default which is package/folder private (which means public within the package/folder)</a:t>
            </a:r>
          </a:p>
          <a:p>
            <a:endParaRPr lang="en-US" dirty="0"/>
          </a:p>
        </p:txBody>
      </p:sp>
      <p:sp>
        <p:nvSpPr>
          <p:cNvPr id="4" name="Slide Number Placeholder 3">
            <a:extLst>
              <a:ext uri="{FF2B5EF4-FFF2-40B4-BE49-F238E27FC236}">
                <a16:creationId xmlns:a16="http://schemas.microsoft.com/office/drawing/2014/main" id="{8116E1CE-6E23-F84D-9DFC-C21D73A35D7D}"/>
              </a:ext>
            </a:extLst>
          </p:cNvPr>
          <p:cNvSpPr>
            <a:spLocks noGrp="1"/>
          </p:cNvSpPr>
          <p:nvPr>
            <p:ph type="sldNum" sz="quarter" idx="12"/>
          </p:nvPr>
        </p:nvSpPr>
        <p:spPr/>
        <p:txBody>
          <a:bodyPr/>
          <a:lstStyle/>
          <a:p>
            <a:fld id="{13977939-A071-43C1-9268-F54CC2756BB5}" type="slidenum">
              <a:rPr lang="en-US" smtClean="0"/>
              <a:pPr/>
              <a:t>38</a:t>
            </a:fld>
            <a:endParaRPr lang="en-US" dirty="0"/>
          </a:p>
        </p:txBody>
      </p:sp>
    </p:spTree>
    <p:extLst>
      <p:ext uri="{BB962C8B-B14F-4D97-AF65-F5344CB8AC3E}">
        <p14:creationId xmlns:p14="http://schemas.microsoft.com/office/powerpoint/2010/main" val="30741670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309E3-E8CA-A84A-977A-9CF73763530C}"/>
              </a:ext>
            </a:extLst>
          </p:cNvPr>
          <p:cNvSpPr>
            <a:spLocks noGrp="1"/>
          </p:cNvSpPr>
          <p:nvPr>
            <p:ph type="title"/>
          </p:nvPr>
        </p:nvSpPr>
        <p:spPr>
          <a:xfrm>
            <a:off x="457200" y="228600"/>
            <a:ext cx="8229600" cy="475488"/>
          </a:xfrm>
        </p:spPr>
        <p:txBody>
          <a:bodyPr>
            <a:noAutofit/>
          </a:bodyPr>
          <a:lstStyle/>
          <a:p>
            <a:r>
              <a:rPr lang="en-US" dirty="0"/>
              <a:t>Constructors</a:t>
            </a:r>
          </a:p>
        </p:txBody>
      </p:sp>
      <p:sp>
        <p:nvSpPr>
          <p:cNvPr id="3" name="Content Placeholder 2">
            <a:extLst>
              <a:ext uri="{FF2B5EF4-FFF2-40B4-BE49-F238E27FC236}">
                <a16:creationId xmlns:a16="http://schemas.microsoft.com/office/drawing/2014/main" id="{0529AAEE-4317-0040-9C17-D42C1A711D68}"/>
              </a:ext>
            </a:extLst>
          </p:cNvPr>
          <p:cNvSpPr>
            <a:spLocks noGrp="1"/>
          </p:cNvSpPr>
          <p:nvPr>
            <p:ph idx="1"/>
          </p:nvPr>
        </p:nvSpPr>
        <p:spPr>
          <a:xfrm>
            <a:off x="457200" y="806450"/>
            <a:ext cx="8458200" cy="5746750"/>
          </a:xfrm>
        </p:spPr>
        <p:txBody>
          <a:bodyPr>
            <a:normAutofit fontScale="92500" lnSpcReduction="20000"/>
          </a:bodyPr>
          <a:lstStyle/>
          <a:p>
            <a:r>
              <a:rPr lang="en-US" altLang="en-US" dirty="0">
                <a:cs typeface="Times New Roman" panose="02020603050405020304" pitchFamily="18" charset="0"/>
              </a:rPr>
              <a:t>Constructors are called automatically when an object is instantiated using the </a:t>
            </a:r>
            <a:r>
              <a:rPr lang="en-US" altLang="en-US" i="1" dirty="0">
                <a:cs typeface="Times New Roman" panose="02020603050405020304" pitchFamily="18" charset="0"/>
              </a:rPr>
              <a:t>new </a:t>
            </a:r>
            <a:r>
              <a:rPr lang="en-US" altLang="en-US" dirty="0">
                <a:cs typeface="Times New Roman" panose="02020603050405020304" pitchFamily="18" charset="0"/>
              </a:rPr>
              <a:t>keyword </a:t>
            </a:r>
          </a:p>
          <a:p>
            <a:pPr lvl="1"/>
            <a:r>
              <a:rPr lang="en-US" altLang="en-US" dirty="0">
                <a:cs typeface="Times New Roman" panose="02020603050405020304" pitchFamily="18" charset="0"/>
              </a:rPr>
              <a:t>Constructors do not have any return value in the header (nor in the body)</a:t>
            </a:r>
          </a:p>
          <a:p>
            <a:pPr lvl="1"/>
            <a:r>
              <a:rPr lang="en-US" altLang="en-US" dirty="0">
                <a:cs typeface="Times New Roman" panose="02020603050405020304" pitchFamily="18" charset="0"/>
              </a:rPr>
              <a:t>A reference to the object is returned and if there is an appropriate reference variable the reference is stored there</a:t>
            </a:r>
          </a:p>
          <a:p>
            <a:r>
              <a:rPr lang="en-US" altLang="en-US" dirty="0">
                <a:cs typeface="Times New Roman" panose="02020603050405020304" pitchFamily="18" charset="0"/>
              </a:rPr>
              <a:t>A constructor is automatically executed each time an object of the class is instantiated.</a:t>
            </a:r>
          </a:p>
          <a:p>
            <a:r>
              <a:rPr lang="en-US" altLang="en-US" dirty="0">
                <a:cs typeface="Times New Roman" panose="02020603050405020304" pitchFamily="18" charset="0"/>
              </a:rPr>
              <a:t>A constructor method has the same name as the class</a:t>
            </a:r>
          </a:p>
          <a:p>
            <a:pPr lvl="1"/>
            <a:r>
              <a:rPr lang="en-US" altLang="en-US" dirty="0">
                <a:cs typeface="Times New Roman" panose="02020603050405020304" pitchFamily="18" charset="0"/>
              </a:rPr>
              <a:t>The only exception to this is when you place multiple classes into the file containing main, in which case the file has the same name as the class containing main.</a:t>
            </a:r>
          </a:p>
          <a:p>
            <a:r>
              <a:rPr lang="en-US" altLang="en-US" dirty="0">
                <a:cs typeface="Times New Roman" panose="02020603050405020304" pitchFamily="18" charset="0"/>
              </a:rPr>
              <a:t>A class can have several constructors. </a:t>
            </a:r>
          </a:p>
          <a:p>
            <a:pPr lvl="1"/>
            <a:r>
              <a:rPr lang="en-US" altLang="en-US" dirty="0"/>
              <a:t>Each constructor must have a different number of parameters or parameters of different types – just like an overloaded method.</a:t>
            </a:r>
            <a:endParaRPr lang="en-US" altLang="en-US" dirty="0">
              <a:cs typeface="Times New Roman" panose="02020603050405020304" pitchFamily="18" charset="0"/>
            </a:endParaRPr>
          </a:p>
          <a:p>
            <a:r>
              <a:rPr lang="en-US" altLang="en-US" dirty="0">
                <a:cs typeface="Times New Roman" panose="02020603050405020304" pitchFamily="18" charset="0"/>
              </a:rPr>
              <a:t>The job of the class constructors is to initialize the instance variables of the new object, where possible.</a:t>
            </a:r>
          </a:p>
        </p:txBody>
      </p:sp>
      <p:sp>
        <p:nvSpPr>
          <p:cNvPr id="4" name="Slide Number Placeholder 3">
            <a:extLst>
              <a:ext uri="{FF2B5EF4-FFF2-40B4-BE49-F238E27FC236}">
                <a16:creationId xmlns:a16="http://schemas.microsoft.com/office/drawing/2014/main" id="{A6C2F180-C223-5044-9109-312D1A3535D5}"/>
              </a:ext>
            </a:extLst>
          </p:cNvPr>
          <p:cNvSpPr>
            <a:spLocks noGrp="1"/>
          </p:cNvSpPr>
          <p:nvPr>
            <p:ph type="sldNum" sz="quarter" idx="12"/>
          </p:nvPr>
        </p:nvSpPr>
        <p:spPr/>
        <p:txBody>
          <a:bodyPr/>
          <a:lstStyle/>
          <a:p>
            <a:fld id="{13977939-A071-43C1-9268-F54CC2756BB5}" type="slidenum">
              <a:rPr lang="en-US" smtClean="0"/>
              <a:pPr/>
              <a:t>39</a:t>
            </a:fld>
            <a:endParaRPr lang="en-US" dirty="0"/>
          </a:p>
        </p:txBody>
      </p:sp>
    </p:spTree>
    <p:extLst>
      <p:ext uri="{BB962C8B-B14F-4D97-AF65-F5344CB8AC3E}">
        <p14:creationId xmlns:p14="http://schemas.microsoft.com/office/powerpoint/2010/main" val="34035566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309E3-E8CA-A84A-977A-9CF73763530C}"/>
              </a:ext>
            </a:extLst>
          </p:cNvPr>
          <p:cNvSpPr>
            <a:spLocks noGrp="1"/>
          </p:cNvSpPr>
          <p:nvPr>
            <p:ph type="title"/>
          </p:nvPr>
        </p:nvSpPr>
        <p:spPr>
          <a:xfrm>
            <a:off x="457200" y="228600"/>
            <a:ext cx="8229600" cy="475488"/>
          </a:xfrm>
        </p:spPr>
        <p:txBody>
          <a:bodyPr>
            <a:noAutofit/>
          </a:bodyPr>
          <a:lstStyle/>
          <a:p>
            <a:r>
              <a:rPr lang="en-US" dirty="0"/>
              <a:t>The Default Constructor</a:t>
            </a:r>
          </a:p>
        </p:txBody>
      </p:sp>
      <p:sp>
        <p:nvSpPr>
          <p:cNvPr id="3" name="Content Placeholder 2">
            <a:extLst>
              <a:ext uri="{FF2B5EF4-FFF2-40B4-BE49-F238E27FC236}">
                <a16:creationId xmlns:a16="http://schemas.microsoft.com/office/drawing/2014/main" id="{0529AAEE-4317-0040-9C17-D42C1A711D68}"/>
              </a:ext>
            </a:extLst>
          </p:cNvPr>
          <p:cNvSpPr>
            <a:spLocks noGrp="1"/>
          </p:cNvSpPr>
          <p:nvPr>
            <p:ph idx="1"/>
          </p:nvPr>
        </p:nvSpPr>
        <p:spPr>
          <a:xfrm>
            <a:off x="457200" y="931128"/>
            <a:ext cx="8458200" cy="5714999"/>
          </a:xfrm>
        </p:spPr>
        <p:txBody>
          <a:bodyPr>
            <a:normAutofit fontScale="92500"/>
          </a:bodyPr>
          <a:lstStyle/>
          <a:p>
            <a:r>
              <a:rPr lang="en-US" altLang="en-US" dirty="0">
                <a:solidFill>
                  <a:srgbClr val="FF0000"/>
                </a:solidFill>
                <a:cs typeface="Times New Roman" panose="02020603050405020304" pitchFamily="18" charset="0"/>
              </a:rPr>
              <a:t>If and only if no constructor is specified a </a:t>
            </a:r>
            <a:r>
              <a:rPr lang="en-US" altLang="en-US" b="1" dirty="0">
                <a:solidFill>
                  <a:srgbClr val="FF0000"/>
                </a:solidFill>
                <a:cs typeface="Times New Roman" panose="02020603050405020304" pitchFamily="18" charset="0"/>
              </a:rPr>
              <a:t>default constructor </a:t>
            </a:r>
            <a:r>
              <a:rPr lang="en-US" altLang="en-US" dirty="0">
                <a:cs typeface="Times New Roman" panose="02020603050405020304" pitchFamily="18" charset="0"/>
              </a:rPr>
              <a:t>is created by the compiler. </a:t>
            </a:r>
          </a:p>
          <a:p>
            <a:pPr lvl="1"/>
            <a:r>
              <a:rPr lang="en-US" altLang="en-US" dirty="0">
                <a:cs typeface="Times New Roman" panose="02020603050405020304" pitchFamily="18" charset="0"/>
              </a:rPr>
              <a:t>The default constructor implicitly calls the superclass’s constructor with no parameters - super()</a:t>
            </a:r>
          </a:p>
          <a:p>
            <a:pPr lvl="2"/>
            <a:r>
              <a:rPr lang="en-US" altLang="en-US" dirty="0">
                <a:cs typeface="Times New Roman" panose="02020603050405020304" pitchFamily="18" charset="0"/>
              </a:rPr>
              <a:t>We will further discuss this with inheritance</a:t>
            </a:r>
          </a:p>
          <a:p>
            <a:pPr lvl="1"/>
            <a:r>
              <a:rPr lang="en-US" dirty="0"/>
              <a:t>The default constructor doesn’t accept arguments. </a:t>
            </a:r>
            <a:endParaRPr lang="en-US" sz="1800" dirty="0"/>
          </a:p>
          <a:p>
            <a:pPr lvl="1"/>
            <a:r>
              <a:rPr lang="en-US" dirty="0"/>
              <a:t>The </a:t>
            </a:r>
            <a:r>
              <a:rPr lang="en-US" i="1" dirty="0"/>
              <a:t>only </a:t>
            </a:r>
            <a:r>
              <a:rPr lang="en-US" dirty="0"/>
              <a:t>time that Java provides a default constructor is when you do not write your own constructor for a class. </a:t>
            </a:r>
            <a:endParaRPr lang="en-US" altLang="en-US" dirty="0">
              <a:cs typeface="Times New Roman" panose="02020603050405020304" pitchFamily="18" charset="0"/>
            </a:endParaRPr>
          </a:p>
          <a:p>
            <a:pPr lvl="1"/>
            <a:r>
              <a:rPr lang="en-US" altLang="en-US" dirty="0">
                <a:cs typeface="Times New Roman" panose="02020603050405020304" pitchFamily="18" charset="0"/>
              </a:rPr>
              <a:t>The default constructor for a published class should be published as part of the class API</a:t>
            </a:r>
          </a:p>
          <a:p>
            <a:pPr lvl="1"/>
            <a:r>
              <a:rPr lang="en-US" altLang="en-US" dirty="0">
                <a:cs typeface="Times New Roman" panose="02020603050405020304" pitchFamily="18" charset="0"/>
              </a:rPr>
              <a:t>As we will see it is often helpful to write a default constructor for any class that has subclasses</a:t>
            </a:r>
          </a:p>
          <a:p>
            <a:pPr lvl="1"/>
            <a:r>
              <a:rPr lang="en-US" altLang="en-US" dirty="0">
                <a:cs typeface="Times New Roman" panose="02020603050405020304" pitchFamily="18" charset="0"/>
              </a:rPr>
              <a:t>If you write the default constructor it can contain statements</a:t>
            </a:r>
          </a:p>
          <a:p>
            <a:pPr lvl="1"/>
            <a:r>
              <a:rPr lang="en-US" altLang="en-US" dirty="0">
                <a:cs typeface="Times New Roman" panose="02020603050405020304" pitchFamily="18" charset="0"/>
              </a:rPr>
              <a:t>If Java inserts a default constructor it has no statements (an empty body)</a:t>
            </a:r>
          </a:p>
        </p:txBody>
      </p:sp>
      <p:sp>
        <p:nvSpPr>
          <p:cNvPr id="4" name="Slide Number Placeholder 3">
            <a:extLst>
              <a:ext uri="{FF2B5EF4-FFF2-40B4-BE49-F238E27FC236}">
                <a16:creationId xmlns:a16="http://schemas.microsoft.com/office/drawing/2014/main" id="{A6C2F180-C223-5044-9109-312D1A3535D5}"/>
              </a:ext>
            </a:extLst>
          </p:cNvPr>
          <p:cNvSpPr>
            <a:spLocks noGrp="1"/>
          </p:cNvSpPr>
          <p:nvPr>
            <p:ph type="sldNum" sz="quarter" idx="12"/>
          </p:nvPr>
        </p:nvSpPr>
        <p:spPr/>
        <p:txBody>
          <a:bodyPr/>
          <a:lstStyle/>
          <a:p>
            <a:fld id="{13977939-A071-43C1-9268-F54CC2756BB5}" type="slidenum">
              <a:rPr lang="en-US" smtClean="0"/>
              <a:pPr/>
              <a:t>40</a:t>
            </a:fld>
            <a:endParaRPr lang="en-US" dirty="0"/>
          </a:p>
        </p:txBody>
      </p:sp>
    </p:spTree>
    <p:extLst>
      <p:ext uri="{BB962C8B-B14F-4D97-AF65-F5344CB8AC3E}">
        <p14:creationId xmlns:p14="http://schemas.microsoft.com/office/powerpoint/2010/main" val="29353715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56D1D-B568-2B41-942E-CDD2887D3D19}"/>
              </a:ext>
            </a:extLst>
          </p:cNvPr>
          <p:cNvSpPr>
            <a:spLocks noGrp="1"/>
          </p:cNvSpPr>
          <p:nvPr>
            <p:ph type="title"/>
          </p:nvPr>
        </p:nvSpPr>
        <p:spPr>
          <a:xfrm>
            <a:off x="304800" y="532130"/>
            <a:ext cx="8534400" cy="475488"/>
          </a:xfrm>
        </p:spPr>
        <p:txBody>
          <a:bodyPr>
            <a:noAutofit/>
          </a:bodyPr>
          <a:lstStyle/>
          <a:p>
            <a:r>
              <a:rPr lang="en-US" dirty="0"/>
              <a:t>Syntax Of The Constructor</a:t>
            </a:r>
          </a:p>
        </p:txBody>
      </p:sp>
      <p:sp>
        <p:nvSpPr>
          <p:cNvPr id="3" name="Content Placeholder 2">
            <a:extLst>
              <a:ext uri="{FF2B5EF4-FFF2-40B4-BE49-F238E27FC236}">
                <a16:creationId xmlns:a16="http://schemas.microsoft.com/office/drawing/2014/main" id="{854006D1-5E4E-0047-86EC-11E2F8F10E7E}"/>
              </a:ext>
            </a:extLst>
          </p:cNvPr>
          <p:cNvSpPr>
            <a:spLocks noGrp="1"/>
          </p:cNvSpPr>
          <p:nvPr>
            <p:ph idx="1"/>
          </p:nvPr>
        </p:nvSpPr>
        <p:spPr/>
        <p:txBody>
          <a:bodyPr>
            <a:normAutofit/>
          </a:bodyPr>
          <a:lstStyle/>
          <a:p>
            <a:pPr>
              <a:buNone/>
            </a:pPr>
            <a:r>
              <a:rPr lang="en-US" altLang="en-US" sz="2800" dirty="0">
                <a:cs typeface="Courier New" panose="02070309020205020404" pitchFamily="49" charset="0"/>
              </a:rPr>
              <a:t>Syntax:</a:t>
            </a:r>
          </a:p>
          <a:p>
            <a:pPr>
              <a:buNone/>
            </a:pPr>
            <a:r>
              <a:rPr lang="en-US" altLang="en-US" sz="2800" dirty="0">
                <a:cs typeface="Courier New" panose="02070309020205020404" pitchFamily="49" charset="0"/>
              </a:rPr>
              <a:t>public ClassName( parameter list ) </a:t>
            </a:r>
          </a:p>
          <a:p>
            <a:pPr>
              <a:buNone/>
            </a:pPr>
            <a:r>
              <a:rPr lang="en-US" altLang="en-US" sz="2800" dirty="0">
                <a:cs typeface="Courier New" panose="02070309020205020404" pitchFamily="49" charset="0"/>
              </a:rPr>
              <a:t>  {</a:t>
            </a:r>
            <a:endParaRPr lang="en-US" altLang="en-US" sz="2800" dirty="0">
              <a:cs typeface="Times New Roman" panose="02020603050405020304" pitchFamily="18" charset="0"/>
            </a:endParaRPr>
          </a:p>
          <a:p>
            <a:pPr>
              <a:buNone/>
            </a:pPr>
            <a:r>
              <a:rPr lang="en-US" altLang="en-US" sz="2800" dirty="0">
                <a:cs typeface="Courier New" panose="02070309020205020404" pitchFamily="49" charset="0"/>
              </a:rPr>
              <a:t>    // constructor body </a:t>
            </a:r>
          </a:p>
          <a:p>
            <a:pPr>
              <a:buNone/>
            </a:pPr>
            <a:r>
              <a:rPr lang="en-US" altLang="en-US" sz="2800" dirty="0">
                <a:cs typeface="Courier New" panose="02070309020205020404" pitchFamily="49" charset="0"/>
              </a:rPr>
              <a:t>  }</a:t>
            </a:r>
          </a:p>
          <a:p>
            <a:pPr>
              <a:buNone/>
            </a:pPr>
            <a:endParaRPr lang="en-US" altLang="en-US" sz="2800" dirty="0">
              <a:cs typeface="Courier New" panose="02070309020205020404" pitchFamily="49" charset="0"/>
            </a:endParaRPr>
          </a:p>
          <a:p>
            <a:pPr>
              <a:buNone/>
            </a:pPr>
            <a:endParaRPr lang="en-US" altLang="en-US" sz="2800" dirty="0">
              <a:cs typeface="Courier New" panose="02070309020205020404" pitchFamily="49" charset="0"/>
            </a:endParaRPr>
          </a:p>
        </p:txBody>
      </p:sp>
      <p:sp>
        <p:nvSpPr>
          <p:cNvPr id="4" name="Slide Number Placeholder 3">
            <a:extLst>
              <a:ext uri="{FF2B5EF4-FFF2-40B4-BE49-F238E27FC236}">
                <a16:creationId xmlns:a16="http://schemas.microsoft.com/office/drawing/2014/main" id="{9BD96773-AE37-D140-A5D3-D0441B2200CE}"/>
              </a:ext>
            </a:extLst>
          </p:cNvPr>
          <p:cNvSpPr>
            <a:spLocks noGrp="1"/>
          </p:cNvSpPr>
          <p:nvPr>
            <p:ph type="sldNum" sz="quarter" idx="12"/>
          </p:nvPr>
        </p:nvSpPr>
        <p:spPr/>
        <p:txBody>
          <a:bodyPr/>
          <a:lstStyle/>
          <a:p>
            <a:fld id="{13977939-A071-43C1-9268-F54CC2756BB5}" type="slidenum">
              <a:rPr lang="en-US" smtClean="0"/>
              <a:pPr/>
              <a:t>41</a:t>
            </a:fld>
            <a:endParaRPr lang="en-US" dirty="0"/>
          </a:p>
        </p:txBody>
      </p:sp>
    </p:spTree>
    <p:extLst>
      <p:ext uri="{BB962C8B-B14F-4D97-AF65-F5344CB8AC3E}">
        <p14:creationId xmlns:p14="http://schemas.microsoft.com/office/powerpoint/2010/main" val="152893416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DB668-9626-FF40-A26B-5616EED039B1}"/>
              </a:ext>
            </a:extLst>
          </p:cNvPr>
          <p:cNvSpPr>
            <a:spLocks noGrp="1"/>
          </p:cNvSpPr>
          <p:nvPr>
            <p:ph type="title"/>
          </p:nvPr>
        </p:nvSpPr>
        <p:spPr/>
        <p:txBody>
          <a:bodyPr>
            <a:noAutofit/>
          </a:bodyPr>
          <a:lstStyle/>
          <a:p>
            <a:r>
              <a:rPr lang="en-US" dirty="0"/>
              <a:t>Instance Variables</a:t>
            </a:r>
          </a:p>
        </p:txBody>
      </p:sp>
      <p:sp>
        <p:nvSpPr>
          <p:cNvPr id="3" name="Content Placeholder 2">
            <a:extLst>
              <a:ext uri="{FF2B5EF4-FFF2-40B4-BE49-F238E27FC236}">
                <a16:creationId xmlns:a16="http://schemas.microsoft.com/office/drawing/2014/main" id="{C0D0D7F0-4C97-0641-B01F-A7A7047CF39C}"/>
              </a:ext>
            </a:extLst>
          </p:cNvPr>
          <p:cNvSpPr>
            <a:spLocks noGrp="1"/>
          </p:cNvSpPr>
          <p:nvPr>
            <p:ph idx="1"/>
          </p:nvPr>
        </p:nvSpPr>
        <p:spPr>
          <a:xfrm>
            <a:off x="457200" y="990599"/>
            <a:ext cx="8229600" cy="5730875"/>
          </a:xfrm>
        </p:spPr>
        <p:txBody>
          <a:bodyPr>
            <a:normAutofit fontScale="77500" lnSpcReduction="20000"/>
          </a:bodyPr>
          <a:lstStyle/>
          <a:p>
            <a:r>
              <a:rPr lang="en-US" dirty="0"/>
              <a:t>Each instance of a class has its own set of fields, which are known as instance fields. </a:t>
            </a:r>
          </a:p>
          <a:p>
            <a:pPr lvl="1"/>
            <a:r>
              <a:rPr lang="en-US" dirty="0"/>
              <a:t>You can create several instances of a class and store different values in each instance’s fields. </a:t>
            </a:r>
          </a:p>
          <a:p>
            <a:pPr lvl="1"/>
            <a:r>
              <a:rPr lang="en-US" dirty="0"/>
              <a:t>The methods that operate on an instance of a class are known as instance methods. </a:t>
            </a:r>
          </a:p>
          <a:p>
            <a:pPr lvl="1"/>
            <a:r>
              <a:rPr lang="en-US" dirty="0"/>
              <a:t>You access an instance method via a reference to the specific object</a:t>
            </a:r>
          </a:p>
          <a:p>
            <a:pPr lvl="1"/>
            <a:r>
              <a:rPr lang="en-US" dirty="0"/>
              <a:t>The reference is to the object.  It is not a pointer. </a:t>
            </a:r>
          </a:p>
          <a:p>
            <a:r>
              <a:rPr lang="en-US" sz="2800" dirty="0"/>
              <a:t>Java </a:t>
            </a:r>
            <a:r>
              <a:rPr lang="en-US" sz="2800" dirty="0">
                <a:solidFill>
                  <a:srgbClr val="FF0000"/>
                </a:solidFill>
              </a:rPr>
              <a:t>doesn’t</a:t>
            </a:r>
            <a:r>
              <a:rPr lang="en-US" sz="2800" dirty="0"/>
              <a:t> expose pointers to the programmer (for C++ people)</a:t>
            </a:r>
          </a:p>
          <a:p>
            <a:pPr lvl="1"/>
            <a:r>
              <a:rPr lang="en-US" sz="2600" dirty="0"/>
              <a:t>A pointer is just the name given to memory addresses when we handle them in code. </a:t>
            </a:r>
          </a:p>
          <a:p>
            <a:pPr lvl="1"/>
            <a:r>
              <a:rPr lang="en-US" dirty="0"/>
              <a:t>They are very powerful concepts to work with, but you need to take a lot of care if you start moving things around in memory yourself</a:t>
            </a:r>
          </a:p>
          <a:p>
            <a:pPr lvl="1"/>
            <a:r>
              <a:rPr lang="en-US" dirty="0"/>
              <a:t>So no pointers, no jumping around in memory,  no problem.</a:t>
            </a:r>
          </a:p>
          <a:p>
            <a:pPr lvl="0"/>
            <a:r>
              <a:rPr lang="en-US" sz="2800" dirty="0"/>
              <a:t>Instead Java provides references</a:t>
            </a:r>
          </a:p>
          <a:p>
            <a:pPr lvl="1"/>
            <a:r>
              <a:rPr lang="en-US" dirty="0"/>
              <a:t>These are like pointers except they are guaranteed to refer to either an object in memory or “null”.</a:t>
            </a:r>
          </a:p>
          <a:p>
            <a:pPr lvl="1"/>
            <a:r>
              <a:rPr lang="en-US" dirty="0"/>
              <a:t>So if the reference isn’t null, it is valid</a:t>
            </a:r>
          </a:p>
          <a:p>
            <a:r>
              <a:rPr lang="en-US" dirty="0"/>
              <a:t>Note: There is a more advanced generic class Optional&lt;T&gt; which deals with the issue of null values</a:t>
            </a:r>
          </a:p>
          <a:p>
            <a:endParaRPr lang="en-US" dirty="0"/>
          </a:p>
        </p:txBody>
      </p:sp>
      <p:sp>
        <p:nvSpPr>
          <p:cNvPr id="4" name="Slide Number Placeholder 3">
            <a:extLst>
              <a:ext uri="{FF2B5EF4-FFF2-40B4-BE49-F238E27FC236}">
                <a16:creationId xmlns:a16="http://schemas.microsoft.com/office/drawing/2014/main" id="{015C08B2-2297-A14A-A4AC-E483ED652B98}"/>
              </a:ext>
            </a:extLst>
          </p:cNvPr>
          <p:cNvSpPr>
            <a:spLocks noGrp="1"/>
          </p:cNvSpPr>
          <p:nvPr>
            <p:ph type="sldNum" sz="quarter" idx="12"/>
          </p:nvPr>
        </p:nvSpPr>
        <p:spPr/>
        <p:txBody>
          <a:bodyPr/>
          <a:lstStyle/>
          <a:p>
            <a:fld id="{13977939-A071-43C1-9268-F54CC2756BB5}" type="slidenum">
              <a:rPr lang="en-US" smtClean="0"/>
              <a:pPr/>
              <a:t>42</a:t>
            </a:fld>
            <a:endParaRPr lang="en-US" dirty="0"/>
          </a:p>
        </p:txBody>
      </p:sp>
    </p:spTree>
    <p:extLst>
      <p:ext uri="{BB962C8B-B14F-4D97-AF65-F5344CB8AC3E}">
        <p14:creationId xmlns:p14="http://schemas.microsoft.com/office/powerpoint/2010/main" val="33643536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AEB0B-FBB3-2149-8B94-E97575548676}"/>
              </a:ext>
            </a:extLst>
          </p:cNvPr>
          <p:cNvSpPr>
            <a:spLocks noGrp="1"/>
          </p:cNvSpPr>
          <p:nvPr>
            <p:ph type="title"/>
          </p:nvPr>
        </p:nvSpPr>
        <p:spPr/>
        <p:txBody>
          <a:bodyPr>
            <a:noAutofit/>
          </a:bodyPr>
          <a:lstStyle/>
          <a:p>
            <a:r>
              <a:rPr lang="en-US" dirty="0"/>
              <a:t>The Syntax Of An Instance Variable</a:t>
            </a:r>
          </a:p>
        </p:txBody>
      </p:sp>
      <p:sp>
        <p:nvSpPr>
          <p:cNvPr id="3" name="Content Placeholder 2">
            <a:extLst>
              <a:ext uri="{FF2B5EF4-FFF2-40B4-BE49-F238E27FC236}">
                <a16:creationId xmlns:a16="http://schemas.microsoft.com/office/drawing/2014/main" id="{4FF5CE5C-705D-BA40-8D8D-54C682551A3C}"/>
              </a:ext>
            </a:extLst>
          </p:cNvPr>
          <p:cNvSpPr>
            <a:spLocks noGrp="1"/>
          </p:cNvSpPr>
          <p:nvPr>
            <p:ph idx="1"/>
          </p:nvPr>
        </p:nvSpPr>
        <p:spPr>
          <a:xfrm>
            <a:off x="457200" y="932687"/>
            <a:ext cx="8229600" cy="5788787"/>
          </a:xfrm>
        </p:spPr>
        <p:txBody>
          <a:bodyPr>
            <a:normAutofit fontScale="92500" lnSpcReduction="20000"/>
          </a:bodyPr>
          <a:lstStyle/>
          <a:p>
            <a:r>
              <a:rPr lang="en-US" altLang="en-US" dirty="0">
                <a:cs typeface="Courier New" panose="02070309020205020404" pitchFamily="49" charset="0"/>
              </a:rPr>
              <a:t>Syntax: </a:t>
            </a:r>
            <a:endParaRPr lang="en-US" altLang="en-US" sz="2000" dirty="0">
              <a:latin typeface="Courier New" panose="02070309020205020404" pitchFamily="49" charset="0"/>
              <a:cs typeface="Courier New" panose="02070309020205020404" pitchFamily="49" charset="0"/>
            </a:endParaRPr>
          </a:p>
          <a:p>
            <a:pPr>
              <a:buNone/>
            </a:pPr>
            <a:r>
              <a:rPr lang="en-US" altLang="en-US" sz="2000" dirty="0">
                <a:latin typeface="Courier New" panose="02070309020205020404" pitchFamily="49" charset="0"/>
                <a:cs typeface="Courier New" panose="02070309020205020404" pitchFamily="49" charset="0"/>
              </a:rPr>
              <a:t>   </a:t>
            </a:r>
            <a:r>
              <a:rPr lang="en-US" altLang="en-US" sz="2000" dirty="0">
                <a:solidFill>
                  <a:srgbClr val="FF0000"/>
                </a:solidFill>
                <a:cs typeface="Courier New" panose="02070309020205020404" pitchFamily="49" charset="0"/>
              </a:rPr>
              <a:t>accessModifier dataType identifierList;</a:t>
            </a:r>
          </a:p>
          <a:p>
            <a:pPr>
              <a:buFont typeface="Arial" panose="020B0604020202020204" pitchFamily="34" charset="0"/>
              <a:buChar char="•"/>
            </a:pPr>
            <a:r>
              <a:rPr lang="en-US" altLang="en-US" i="1" dirty="0"/>
              <a:t>dataType</a:t>
            </a:r>
            <a:r>
              <a:rPr lang="en-US" altLang="en-US" dirty="0"/>
              <a:t> can be a primitive data type or a class type.</a:t>
            </a:r>
          </a:p>
          <a:p>
            <a:pPr>
              <a:buFont typeface="Arial" panose="020B0604020202020204" pitchFamily="34" charset="0"/>
              <a:buChar char="•"/>
            </a:pPr>
            <a:r>
              <a:rPr lang="en-US" altLang="en-US" i="1" dirty="0"/>
              <a:t>identifierList</a:t>
            </a:r>
            <a:r>
              <a:rPr lang="en-US" altLang="en-US" dirty="0"/>
              <a:t> can contain:</a:t>
            </a:r>
          </a:p>
          <a:p>
            <a:pPr lvl="1"/>
            <a:r>
              <a:rPr lang="en-US" altLang="en-US" dirty="0"/>
              <a:t>One or more variable names of the same data type</a:t>
            </a:r>
          </a:p>
          <a:p>
            <a:pPr lvl="1"/>
            <a:r>
              <a:rPr lang="en-US" altLang="en-US" dirty="0"/>
              <a:t>Multiple variable names separated by commas</a:t>
            </a:r>
          </a:p>
          <a:p>
            <a:pPr lvl="1"/>
            <a:r>
              <a:rPr lang="en-US" altLang="en-US" dirty="0"/>
              <a:t>Initialization values</a:t>
            </a:r>
          </a:p>
          <a:p>
            <a:r>
              <a:rPr lang="en-US" altLang="en-US" dirty="0"/>
              <a:t>Optionally, instance variables can be declared as </a:t>
            </a:r>
            <a:r>
              <a:rPr lang="en-US" altLang="en-US" i="1" dirty="0"/>
              <a:t>final.</a:t>
            </a:r>
          </a:p>
          <a:p>
            <a:pPr lvl="1"/>
            <a:r>
              <a:rPr lang="en-US" altLang="en-US" dirty="0"/>
              <a:t>By convention capitalize any final </a:t>
            </a:r>
            <a:r>
              <a:rPr lang="en-US" altLang="en-US" i="1" dirty="0"/>
              <a:t>variables.</a:t>
            </a:r>
          </a:p>
          <a:p>
            <a:r>
              <a:rPr lang="en-US" altLang="en-US" dirty="0">
                <a:cs typeface="Courier New" panose="02070309020205020404" pitchFamily="49" charset="0"/>
              </a:rPr>
              <a:t>Conventions</a:t>
            </a:r>
          </a:p>
          <a:p>
            <a:pPr lvl="1"/>
            <a:r>
              <a:rPr lang="en-US" altLang="en-US" dirty="0">
                <a:cs typeface="Courier New" panose="02070309020205020404" pitchFamily="49" charset="0"/>
              </a:rPr>
              <a:t>Begin the instance variable identifier with a </a:t>
            </a:r>
            <a:r>
              <a:rPr lang="en-US" altLang="en-US" dirty="0">
                <a:solidFill>
                  <a:srgbClr val="FF0000"/>
                </a:solidFill>
                <a:cs typeface="Courier New" panose="02070309020205020404" pitchFamily="49" charset="0"/>
              </a:rPr>
              <a:t>lowercase letter </a:t>
            </a:r>
            <a:r>
              <a:rPr lang="en-US" altLang="en-US" dirty="0">
                <a:cs typeface="Courier New" panose="02070309020205020404" pitchFamily="49" charset="0"/>
              </a:rPr>
              <a:t>and capitalize internal words as per our normal practices (camelCase)</a:t>
            </a:r>
          </a:p>
          <a:p>
            <a:pPr lvl="1"/>
            <a:r>
              <a:rPr lang="en-US" altLang="en-US" dirty="0">
                <a:cs typeface="Courier New" panose="02070309020205020404" pitchFamily="49" charset="0"/>
              </a:rPr>
              <a:t>Define instance variables as </a:t>
            </a:r>
            <a:r>
              <a:rPr lang="en-US" altLang="en-US" i="1" dirty="0">
                <a:cs typeface="Courier New" panose="02070309020205020404" pitchFamily="49" charset="0"/>
              </a:rPr>
              <a:t>private </a:t>
            </a:r>
            <a:r>
              <a:rPr lang="en-US" altLang="en-US" dirty="0">
                <a:cs typeface="Courier New" panose="02070309020205020404" pitchFamily="49" charset="0"/>
              </a:rPr>
              <a:t>so that only the methods of the class will be able to set or change their values.</a:t>
            </a:r>
          </a:p>
          <a:p>
            <a:r>
              <a:rPr lang="en-US" altLang="en-US" sz="2800" dirty="0">
                <a:cs typeface="Times New Roman" panose="02020603050405020304" pitchFamily="18" charset="0"/>
              </a:rPr>
              <a:t>See </a:t>
            </a:r>
            <a:r>
              <a:rPr lang="en-US" altLang="en-US" sz="2800" dirty="0">
                <a:solidFill>
                  <a:srgbClr val="FF0000"/>
                </a:solidFill>
                <a:cs typeface="Times New Roman" panose="02020603050405020304" pitchFamily="18" charset="0"/>
              </a:rPr>
              <a:t>AutoClientV1.java</a:t>
            </a:r>
            <a:r>
              <a:rPr lang="en-US" altLang="en-US" sz="2800" dirty="0">
                <a:cs typeface="Times New Roman" panose="02020603050405020304" pitchFamily="18" charset="0"/>
              </a:rPr>
              <a:t>, </a:t>
            </a:r>
            <a:r>
              <a:rPr lang="en-US" altLang="en-US" sz="2800" dirty="0">
                <a:solidFill>
                  <a:srgbClr val="FF0000"/>
                </a:solidFill>
                <a:cs typeface="Times New Roman" panose="02020603050405020304" pitchFamily="18" charset="0"/>
              </a:rPr>
              <a:t>AutoV1.java</a:t>
            </a:r>
          </a:p>
          <a:p>
            <a:pPr lvl="1"/>
            <a:r>
              <a:rPr lang="en-US" altLang="en-US" sz="2600" dirty="0">
                <a:cs typeface="Times New Roman" panose="02020603050405020304" pitchFamily="18" charset="0"/>
              </a:rPr>
              <a:t>This driver does nothing but instantiate a few objects</a:t>
            </a:r>
            <a:endParaRPr lang="en-US" altLang="en-US" i="1" dirty="0">
              <a:cs typeface="Courier New" panose="02070309020205020404" pitchFamily="49" charset="0"/>
            </a:endParaRPr>
          </a:p>
          <a:p>
            <a:endParaRPr lang="en-US" altLang="en-US" dirty="0">
              <a:cs typeface="Times New Roman" panose="02020603050405020304" pitchFamily="18" charset="0"/>
            </a:endParaRPr>
          </a:p>
          <a:p>
            <a:endParaRPr lang="en-US" altLang="en-US" i="1" dirty="0"/>
          </a:p>
          <a:p>
            <a:endParaRPr lang="en-US" dirty="0"/>
          </a:p>
        </p:txBody>
      </p:sp>
      <p:sp>
        <p:nvSpPr>
          <p:cNvPr id="4" name="Slide Number Placeholder 3">
            <a:extLst>
              <a:ext uri="{FF2B5EF4-FFF2-40B4-BE49-F238E27FC236}">
                <a16:creationId xmlns:a16="http://schemas.microsoft.com/office/drawing/2014/main" id="{833D2D4C-FDE5-2E43-A113-15BB91BEF14C}"/>
              </a:ext>
            </a:extLst>
          </p:cNvPr>
          <p:cNvSpPr>
            <a:spLocks noGrp="1"/>
          </p:cNvSpPr>
          <p:nvPr>
            <p:ph type="sldNum" sz="quarter" idx="12"/>
          </p:nvPr>
        </p:nvSpPr>
        <p:spPr/>
        <p:txBody>
          <a:bodyPr/>
          <a:lstStyle/>
          <a:p>
            <a:fld id="{13977939-A071-43C1-9268-F54CC2756BB5}" type="slidenum">
              <a:rPr lang="en-US" smtClean="0"/>
              <a:pPr/>
              <a:t>43</a:t>
            </a:fld>
            <a:endParaRPr lang="en-US" dirty="0"/>
          </a:p>
        </p:txBody>
      </p:sp>
    </p:spTree>
    <p:extLst>
      <p:ext uri="{BB962C8B-B14F-4D97-AF65-F5344CB8AC3E}">
        <p14:creationId xmlns:p14="http://schemas.microsoft.com/office/powerpoint/2010/main" val="17901594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1C45D-50CD-0207-BFFC-F4EAF49FA9FF}"/>
              </a:ext>
            </a:extLst>
          </p:cNvPr>
          <p:cNvSpPr>
            <a:spLocks noGrp="1"/>
          </p:cNvSpPr>
          <p:nvPr>
            <p:ph type="title"/>
          </p:nvPr>
        </p:nvSpPr>
        <p:spPr/>
        <p:txBody>
          <a:bodyPr>
            <a:noAutofit/>
          </a:bodyPr>
          <a:lstStyle/>
          <a:p>
            <a:r>
              <a:rPr lang="en-US" dirty="0"/>
              <a:t>References vs. Pointers In Java (1)</a:t>
            </a:r>
          </a:p>
        </p:txBody>
      </p:sp>
      <p:sp>
        <p:nvSpPr>
          <p:cNvPr id="3" name="Content Placeholder 2">
            <a:extLst>
              <a:ext uri="{FF2B5EF4-FFF2-40B4-BE49-F238E27FC236}">
                <a16:creationId xmlns:a16="http://schemas.microsoft.com/office/drawing/2014/main" id="{DA917146-CC79-F759-7B56-B93CDDD5DD84}"/>
              </a:ext>
            </a:extLst>
          </p:cNvPr>
          <p:cNvSpPr>
            <a:spLocks noGrp="1"/>
          </p:cNvSpPr>
          <p:nvPr>
            <p:ph idx="1"/>
          </p:nvPr>
        </p:nvSpPr>
        <p:spPr>
          <a:xfrm>
            <a:off x="457200" y="1066801"/>
            <a:ext cx="8229600" cy="5654674"/>
          </a:xfrm>
        </p:spPr>
        <p:txBody>
          <a:bodyPr>
            <a:normAutofit fontScale="70000" lnSpcReduction="20000"/>
          </a:bodyPr>
          <a:lstStyle/>
          <a:p>
            <a:r>
              <a:rPr lang="en-US" dirty="0"/>
              <a:t>Java doesn’t have pointers; Java has references. </a:t>
            </a:r>
          </a:p>
          <a:p>
            <a:pPr lvl="1"/>
            <a:r>
              <a:rPr lang="en-US" dirty="0"/>
              <a:t>A reference is a variable that refers to something else and can be used as an alias for that something else. </a:t>
            </a:r>
          </a:p>
          <a:p>
            <a:pPr lvl="1"/>
            <a:r>
              <a:rPr lang="en-US" dirty="0"/>
              <a:t>A pointer is a variable that stores a memory address, for the purpose of acting as an alias to what is stored at that address. </a:t>
            </a:r>
          </a:p>
          <a:p>
            <a:r>
              <a:rPr lang="en-US" dirty="0"/>
              <a:t>So, a pointer is a reference, but a reference is not necessarily a pointer. </a:t>
            </a:r>
          </a:p>
          <a:p>
            <a:pPr lvl="1"/>
            <a:r>
              <a:rPr lang="en-US" dirty="0"/>
              <a:t>Pointers are a particular implementation of the concept of a reference, and the term tends to be used only for languages that give you direct access to the memory address. Let’s discuss some key ideas about pointers and references in context of C/C++ and Java:</a:t>
            </a:r>
          </a:p>
          <a:p>
            <a:r>
              <a:rPr lang="en-US" dirty="0"/>
              <a:t>C/C++ allows pointer arithmetic but Java references do not: </a:t>
            </a:r>
          </a:p>
          <a:p>
            <a:pPr lvl="1"/>
            <a:r>
              <a:rPr lang="en-US" dirty="0"/>
              <a:t>The term “pointer” is strongly associated with the C/C++ concept of pointers, which are variables which store memory addresses and can be modified arithmetically to point to arbitrary addresses. </a:t>
            </a:r>
          </a:p>
          <a:p>
            <a:pPr lvl="1"/>
            <a:r>
              <a:rPr lang="en-US" dirty="0"/>
              <a:t>In Java, pointers only exist as an implementation detail for References. </a:t>
            </a:r>
          </a:p>
          <a:p>
            <a:pPr lvl="1"/>
            <a:r>
              <a:rPr lang="en-US" dirty="0"/>
              <a:t>A copy of the reference is copied to the stack of a called function, pointing to the same object as the calling function and allowing you to manipulate that object. However, you cannot change the object the calling function refers to.</a:t>
            </a:r>
          </a:p>
          <a:p>
            <a:r>
              <a:rPr lang="en-US" dirty="0"/>
              <a:t>Java doesn’t support pointers explicitly, but rather uses pointers implicitly: </a:t>
            </a:r>
          </a:p>
          <a:p>
            <a:pPr lvl="1"/>
            <a:r>
              <a:rPr lang="en-US" dirty="0"/>
              <a:t>Java use pointers for manipulations of references but these pointers are not available for use by the programmer. </a:t>
            </a:r>
          </a:p>
          <a:p>
            <a:pPr lvl="1"/>
            <a:r>
              <a:rPr lang="en-US" dirty="0"/>
              <a:t>Any operations implicitly done by the language are NOT visible.</a:t>
            </a:r>
          </a:p>
        </p:txBody>
      </p:sp>
      <p:sp>
        <p:nvSpPr>
          <p:cNvPr id="4" name="Slide Number Placeholder 3">
            <a:extLst>
              <a:ext uri="{FF2B5EF4-FFF2-40B4-BE49-F238E27FC236}">
                <a16:creationId xmlns:a16="http://schemas.microsoft.com/office/drawing/2014/main" id="{C940E5A0-CEC3-F5C4-35B4-ACC49611367D}"/>
              </a:ext>
            </a:extLst>
          </p:cNvPr>
          <p:cNvSpPr>
            <a:spLocks noGrp="1"/>
          </p:cNvSpPr>
          <p:nvPr>
            <p:ph type="sldNum" sz="quarter" idx="12"/>
          </p:nvPr>
        </p:nvSpPr>
        <p:spPr/>
        <p:txBody>
          <a:bodyPr/>
          <a:lstStyle/>
          <a:p>
            <a:fld id="{13977939-A071-43C1-9268-F54CC2756BB5}" type="slidenum">
              <a:rPr lang="en-US" smtClean="0"/>
              <a:pPr/>
              <a:t>44</a:t>
            </a:fld>
            <a:endParaRPr lang="en-US" dirty="0"/>
          </a:p>
        </p:txBody>
      </p:sp>
    </p:spTree>
    <p:extLst>
      <p:ext uri="{BB962C8B-B14F-4D97-AF65-F5344CB8AC3E}">
        <p14:creationId xmlns:p14="http://schemas.microsoft.com/office/powerpoint/2010/main" val="27363410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1C45D-50CD-0207-BFFC-F4EAF49FA9FF}"/>
              </a:ext>
            </a:extLst>
          </p:cNvPr>
          <p:cNvSpPr>
            <a:spLocks noGrp="1"/>
          </p:cNvSpPr>
          <p:nvPr>
            <p:ph type="title"/>
          </p:nvPr>
        </p:nvSpPr>
        <p:spPr/>
        <p:txBody>
          <a:bodyPr>
            <a:noAutofit/>
          </a:bodyPr>
          <a:lstStyle/>
          <a:p>
            <a:r>
              <a:rPr lang="en-US" dirty="0"/>
              <a:t>References vs. Pointers In Java (2)</a:t>
            </a:r>
          </a:p>
        </p:txBody>
      </p:sp>
      <p:sp>
        <p:nvSpPr>
          <p:cNvPr id="3" name="Content Placeholder 2">
            <a:extLst>
              <a:ext uri="{FF2B5EF4-FFF2-40B4-BE49-F238E27FC236}">
                <a16:creationId xmlns:a16="http://schemas.microsoft.com/office/drawing/2014/main" id="{DA917146-CC79-F759-7B56-B93CDDD5DD84}"/>
              </a:ext>
            </a:extLst>
          </p:cNvPr>
          <p:cNvSpPr>
            <a:spLocks noGrp="1"/>
          </p:cNvSpPr>
          <p:nvPr>
            <p:ph idx="1"/>
          </p:nvPr>
        </p:nvSpPr>
        <p:spPr>
          <a:xfrm>
            <a:off x="457200" y="1066800"/>
            <a:ext cx="8229600" cy="5791199"/>
          </a:xfrm>
        </p:spPr>
        <p:txBody>
          <a:bodyPr>
            <a:normAutofit fontScale="70000" lnSpcReduction="20000"/>
          </a:bodyPr>
          <a:lstStyle/>
          <a:p>
            <a:r>
              <a:rPr lang="en-US" dirty="0"/>
              <a:t>Pointers can do arithmetic, References can’t</a:t>
            </a:r>
          </a:p>
          <a:p>
            <a:pPr lvl="1"/>
            <a:r>
              <a:rPr lang="en-US" dirty="0"/>
              <a:t>Memory access via pointer arithmetic is fundamentally unsafe. </a:t>
            </a:r>
          </a:p>
          <a:p>
            <a:pPr lvl="1"/>
            <a:r>
              <a:rPr lang="en-US" dirty="0"/>
              <a:t>Java has a robust security model and disallows pointer arithmetic for this reason. Users cannot manipulate pointers no matter what may ever is the case.</a:t>
            </a:r>
          </a:p>
          <a:p>
            <a:r>
              <a:rPr lang="en-US" dirty="0"/>
              <a:t>Pointing objects: </a:t>
            </a:r>
          </a:p>
          <a:p>
            <a:pPr lvl="1"/>
            <a:r>
              <a:rPr lang="en-US" dirty="0"/>
              <a:t>In C, we can add or subtract address of a pointer to point to things. </a:t>
            </a:r>
          </a:p>
          <a:p>
            <a:pPr lvl="1"/>
            <a:r>
              <a:rPr lang="en-US" dirty="0"/>
              <a:t>In Java, a reference points to one thing only. You can make a variable hold a different reference, but such C/C++ manipulations of pointers are not possible.</a:t>
            </a:r>
          </a:p>
          <a:p>
            <a:r>
              <a:rPr lang="en-US" dirty="0"/>
              <a:t>References are strongly typed in Java</a:t>
            </a:r>
          </a:p>
          <a:p>
            <a:pPr lvl="1"/>
            <a:r>
              <a:rPr lang="en-US" dirty="0"/>
              <a:t>Type of a reference is much more strictly controlled in Java than the type of a pointer is in C. </a:t>
            </a:r>
          </a:p>
          <a:p>
            <a:pPr lvl="1"/>
            <a:r>
              <a:rPr lang="en-US" dirty="0"/>
              <a:t>In C you can have an int* and cast it to a char* and just re-interpret the memory at that location. </a:t>
            </a:r>
          </a:p>
          <a:p>
            <a:pPr lvl="1"/>
            <a:r>
              <a:rPr lang="en-US" dirty="0"/>
              <a:t>That re-interpretation doesn’t work in Java: you can only interpret the object at the other end of the reference as something that it already is </a:t>
            </a:r>
          </a:p>
          <a:p>
            <a:pPr lvl="2"/>
            <a:r>
              <a:rPr lang="en-US" dirty="0"/>
              <a:t>For instance, you can cast an Object reference to String reference only if the object pointed to is actually a String.</a:t>
            </a:r>
          </a:p>
          <a:p>
            <a:r>
              <a:rPr lang="en-US" dirty="0"/>
              <a:t>Manipulation of pointers can be dangerous:  </a:t>
            </a:r>
          </a:p>
          <a:p>
            <a:pPr lvl="1"/>
            <a:r>
              <a:rPr lang="en-US" dirty="0"/>
              <a:t>On one hand, it provides flexibility to give a programmer control over pointers,  but it may also prove to be dangerous. </a:t>
            </a:r>
          </a:p>
          <a:p>
            <a:pPr lvl="1"/>
            <a:r>
              <a:rPr lang="en-US" dirty="0"/>
              <a:t>If used incorrectly manipulated pointers can easily break assumptions that your code is built around. </a:t>
            </a:r>
          </a:p>
          <a:p>
            <a:pPr lvl="1"/>
            <a:r>
              <a:rPr lang="en-US" dirty="0"/>
              <a:t>Many times can lead to out of bounds errors</a:t>
            </a:r>
          </a:p>
        </p:txBody>
      </p:sp>
      <p:sp>
        <p:nvSpPr>
          <p:cNvPr id="4" name="Slide Number Placeholder 3">
            <a:extLst>
              <a:ext uri="{FF2B5EF4-FFF2-40B4-BE49-F238E27FC236}">
                <a16:creationId xmlns:a16="http://schemas.microsoft.com/office/drawing/2014/main" id="{C940E5A0-CEC3-F5C4-35B4-ACC49611367D}"/>
              </a:ext>
            </a:extLst>
          </p:cNvPr>
          <p:cNvSpPr>
            <a:spLocks noGrp="1"/>
          </p:cNvSpPr>
          <p:nvPr>
            <p:ph type="sldNum" sz="quarter" idx="12"/>
          </p:nvPr>
        </p:nvSpPr>
        <p:spPr/>
        <p:txBody>
          <a:bodyPr/>
          <a:lstStyle/>
          <a:p>
            <a:fld id="{13977939-A071-43C1-9268-F54CC2756BB5}" type="slidenum">
              <a:rPr lang="en-US" smtClean="0"/>
              <a:pPr/>
              <a:t>45</a:t>
            </a:fld>
            <a:endParaRPr lang="en-US" dirty="0"/>
          </a:p>
        </p:txBody>
      </p:sp>
    </p:spTree>
    <p:extLst>
      <p:ext uri="{BB962C8B-B14F-4D97-AF65-F5344CB8AC3E}">
        <p14:creationId xmlns:p14="http://schemas.microsoft.com/office/powerpoint/2010/main" val="417332230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F6B1C-5946-654A-A11C-E3B0F1B7AFE2}"/>
              </a:ext>
            </a:extLst>
          </p:cNvPr>
          <p:cNvSpPr>
            <a:spLocks noGrp="1"/>
          </p:cNvSpPr>
          <p:nvPr>
            <p:ph type="title"/>
          </p:nvPr>
        </p:nvSpPr>
        <p:spPr/>
        <p:txBody>
          <a:bodyPr>
            <a:noAutofit/>
          </a:bodyPr>
          <a:lstStyle/>
          <a:p>
            <a:r>
              <a:rPr lang="en-US" dirty="0"/>
              <a:t>Default Instance Variables Values</a:t>
            </a:r>
          </a:p>
        </p:txBody>
      </p:sp>
      <p:sp>
        <p:nvSpPr>
          <p:cNvPr id="3" name="Content Placeholder 2">
            <a:extLst>
              <a:ext uri="{FF2B5EF4-FFF2-40B4-BE49-F238E27FC236}">
                <a16:creationId xmlns:a16="http://schemas.microsoft.com/office/drawing/2014/main" id="{0AD58CFA-0355-CF45-B2A1-E9666638F4A1}"/>
              </a:ext>
            </a:extLst>
          </p:cNvPr>
          <p:cNvSpPr>
            <a:spLocks noGrp="1"/>
          </p:cNvSpPr>
          <p:nvPr>
            <p:ph idx="1"/>
          </p:nvPr>
        </p:nvSpPr>
        <p:spPr>
          <a:xfrm>
            <a:off x="457200" y="1066800"/>
            <a:ext cx="8229600" cy="2057400"/>
          </a:xfrm>
        </p:spPr>
        <p:txBody>
          <a:bodyPr>
            <a:normAutofit/>
          </a:bodyPr>
          <a:lstStyle/>
          <a:p>
            <a:r>
              <a:rPr lang="en-US" altLang="en-US" sz="2400" dirty="0"/>
              <a:t>If the constructor does not assign a value to any instance variable either directly or via a method call, it receives a default value depending on the instance variable’s data type. (just like arrays)</a:t>
            </a:r>
          </a:p>
          <a:p>
            <a:endParaRPr lang="en-US" altLang="en-US" sz="2400" dirty="0"/>
          </a:p>
          <a:p>
            <a:pPr marL="0" indent="0">
              <a:buNone/>
            </a:pPr>
            <a:endParaRPr lang="en-US" dirty="0"/>
          </a:p>
        </p:txBody>
      </p:sp>
      <p:sp>
        <p:nvSpPr>
          <p:cNvPr id="4" name="Slide Number Placeholder 3">
            <a:extLst>
              <a:ext uri="{FF2B5EF4-FFF2-40B4-BE49-F238E27FC236}">
                <a16:creationId xmlns:a16="http://schemas.microsoft.com/office/drawing/2014/main" id="{AD1610FF-E621-4445-A47A-9A083F58703F}"/>
              </a:ext>
            </a:extLst>
          </p:cNvPr>
          <p:cNvSpPr>
            <a:spLocks noGrp="1"/>
          </p:cNvSpPr>
          <p:nvPr>
            <p:ph type="sldNum" sz="quarter" idx="12"/>
          </p:nvPr>
        </p:nvSpPr>
        <p:spPr/>
        <p:txBody>
          <a:bodyPr/>
          <a:lstStyle/>
          <a:p>
            <a:fld id="{13977939-A071-43C1-9268-F54CC2756BB5}" type="slidenum">
              <a:rPr lang="en-US" smtClean="0"/>
              <a:pPr/>
              <a:t>46</a:t>
            </a:fld>
            <a:endParaRPr lang="en-US" dirty="0"/>
          </a:p>
        </p:txBody>
      </p:sp>
      <p:pic>
        <p:nvPicPr>
          <p:cNvPr id="5" name="Picture 4" descr="Table of initial values">
            <a:extLst>
              <a:ext uri="{FF2B5EF4-FFF2-40B4-BE49-F238E27FC236}">
                <a16:creationId xmlns:a16="http://schemas.microsoft.com/office/drawing/2014/main" id="{C871523F-F03A-3443-AC8D-C8641275055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450366" y="3200400"/>
            <a:ext cx="6243267" cy="3324667"/>
          </a:xfrm>
          <a:prstGeom prst="rect">
            <a:avLst/>
          </a:prstGeom>
        </p:spPr>
      </p:pic>
    </p:spTree>
    <p:extLst>
      <p:ext uri="{BB962C8B-B14F-4D97-AF65-F5344CB8AC3E}">
        <p14:creationId xmlns:p14="http://schemas.microsoft.com/office/powerpoint/2010/main" val="408045961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03964-973D-E149-BF28-F36E552B837C}"/>
              </a:ext>
            </a:extLst>
          </p:cNvPr>
          <p:cNvSpPr>
            <a:spLocks noGrp="1"/>
          </p:cNvSpPr>
          <p:nvPr>
            <p:ph type="title"/>
          </p:nvPr>
        </p:nvSpPr>
        <p:spPr/>
        <p:txBody>
          <a:bodyPr>
            <a:noAutofit/>
          </a:bodyPr>
          <a:lstStyle/>
          <a:p>
            <a:r>
              <a:rPr lang="en-US" dirty="0"/>
              <a:t>Methods In Classes</a:t>
            </a:r>
          </a:p>
        </p:txBody>
      </p:sp>
      <p:sp>
        <p:nvSpPr>
          <p:cNvPr id="3" name="Content Placeholder 2">
            <a:extLst>
              <a:ext uri="{FF2B5EF4-FFF2-40B4-BE49-F238E27FC236}">
                <a16:creationId xmlns:a16="http://schemas.microsoft.com/office/drawing/2014/main" id="{8429F690-9DCA-254F-A09F-360DC655C3BA}"/>
              </a:ext>
            </a:extLst>
          </p:cNvPr>
          <p:cNvSpPr>
            <a:spLocks noGrp="1"/>
          </p:cNvSpPr>
          <p:nvPr>
            <p:ph idx="1"/>
          </p:nvPr>
        </p:nvSpPr>
        <p:spPr>
          <a:xfrm>
            <a:off x="457200" y="932688"/>
            <a:ext cx="8229600" cy="5925312"/>
          </a:xfrm>
        </p:spPr>
        <p:txBody>
          <a:bodyPr>
            <a:normAutofit fontScale="77500" lnSpcReduction="20000"/>
          </a:bodyPr>
          <a:lstStyle/>
          <a:p>
            <a:r>
              <a:rPr lang="en-US" dirty="0"/>
              <a:t>When you write methods for any class follow all the same rules that are normally the case, including those related to overloading.</a:t>
            </a:r>
          </a:p>
          <a:p>
            <a:r>
              <a:rPr lang="en-US" dirty="0"/>
              <a:t>If the method is going to be accessed from another class </a:t>
            </a:r>
            <a:r>
              <a:rPr lang="en-US" dirty="0">
                <a:solidFill>
                  <a:srgbClr val="FF0000"/>
                </a:solidFill>
              </a:rPr>
              <a:t>don’t</a:t>
            </a:r>
            <a:r>
              <a:rPr lang="en-US" dirty="0"/>
              <a:t> use private - the method should be public (or protected)</a:t>
            </a:r>
          </a:p>
          <a:p>
            <a:r>
              <a:rPr lang="en-US" dirty="0"/>
              <a:t>Special rules relating to using static (see the next section for a detailed discussion of static, including static variables))</a:t>
            </a:r>
          </a:p>
          <a:p>
            <a:pPr lvl="1"/>
            <a:r>
              <a:rPr lang="en-US" dirty="0"/>
              <a:t>Static methods are convenient for many tasks because they can be called directly from the class, as needed, without instantiating an instance of the class. </a:t>
            </a:r>
          </a:p>
          <a:p>
            <a:pPr lvl="1"/>
            <a:r>
              <a:rPr lang="en-US" dirty="0"/>
              <a:t>A static method is created by placing the key word static after the access specifier in the method header. </a:t>
            </a:r>
          </a:p>
          <a:p>
            <a:pPr lvl="1"/>
            <a:r>
              <a:rPr lang="en-US" dirty="0"/>
              <a:t>When a class contains a static method, it isn’t necessary for an instance of the class to be created in order to execute the method. </a:t>
            </a:r>
          </a:p>
          <a:p>
            <a:pPr lvl="1"/>
            <a:r>
              <a:rPr lang="en-US" dirty="0"/>
              <a:t>The only limitation that a static method has is that it </a:t>
            </a:r>
            <a:r>
              <a:rPr lang="en-US" dirty="0">
                <a:solidFill>
                  <a:srgbClr val="FF0000"/>
                </a:solidFill>
              </a:rPr>
              <a:t>cannot</a:t>
            </a:r>
            <a:r>
              <a:rPr lang="en-US" dirty="0"/>
              <a:t> refer to non-static members </a:t>
            </a:r>
            <a:r>
              <a:rPr lang="en-US" dirty="0">
                <a:solidFill>
                  <a:srgbClr val="FF0000"/>
                </a:solidFill>
              </a:rPr>
              <a:t>of the class in which it is found</a:t>
            </a:r>
            <a:r>
              <a:rPr lang="en-US" dirty="0"/>
              <a:t>. </a:t>
            </a:r>
          </a:p>
          <a:p>
            <a:pPr lvl="2"/>
            <a:r>
              <a:rPr lang="en-US" dirty="0"/>
              <a:t>This means that any method within a class called from a static method must also be static. </a:t>
            </a:r>
          </a:p>
          <a:p>
            <a:pPr lvl="2"/>
            <a:r>
              <a:rPr lang="en-US" dirty="0"/>
              <a:t>It also means that if the method uses any of the class’s fields, they must be static as well. </a:t>
            </a:r>
          </a:p>
          <a:p>
            <a:r>
              <a:rPr lang="en-US" dirty="0"/>
              <a:t>Static methods are accessed from other classes via the </a:t>
            </a:r>
            <a:r>
              <a:rPr lang="en-US" i="1" dirty="0"/>
              <a:t>ClassName.methodName()</a:t>
            </a:r>
          </a:p>
          <a:p>
            <a:pPr lvl="1"/>
            <a:r>
              <a:rPr lang="en-US" dirty="0"/>
              <a:t>You are familiar with static methods – i.e. Math.sqrt(x)</a:t>
            </a:r>
          </a:p>
          <a:p>
            <a:pPr lvl="1"/>
            <a:endParaRPr lang="en-US" dirty="0"/>
          </a:p>
          <a:p>
            <a:pPr lvl="1"/>
            <a:endParaRPr lang="en-US" dirty="0"/>
          </a:p>
        </p:txBody>
      </p:sp>
      <p:sp>
        <p:nvSpPr>
          <p:cNvPr id="4" name="Slide Number Placeholder 3">
            <a:extLst>
              <a:ext uri="{FF2B5EF4-FFF2-40B4-BE49-F238E27FC236}">
                <a16:creationId xmlns:a16="http://schemas.microsoft.com/office/drawing/2014/main" id="{E8955696-5F60-A148-9C44-107B0C569CB7}"/>
              </a:ext>
            </a:extLst>
          </p:cNvPr>
          <p:cNvSpPr>
            <a:spLocks noGrp="1"/>
          </p:cNvSpPr>
          <p:nvPr>
            <p:ph type="sldNum" sz="quarter" idx="12"/>
          </p:nvPr>
        </p:nvSpPr>
        <p:spPr/>
        <p:txBody>
          <a:bodyPr/>
          <a:lstStyle/>
          <a:p>
            <a:fld id="{13977939-A071-43C1-9268-F54CC2756BB5}" type="slidenum">
              <a:rPr lang="en-US" smtClean="0"/>
              <a:pPr/>
              <a:t>47</a:t>
            </a:fld>
            <a:endParaRPr lang="en-US" dirty="0"/>
          </a:p>
        </p:txBody>
      </p:sp>
    </p:spTree>
    <p:extLst>
      <p:ext uri="{BB962C8B-B14F-4D97-AF65-F5344CB8AC3E}">
        <p14:creationId xmlns:p14="http://schemas.microsoft.com/office/powerpoint/2010/main" val="158354857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73E89-ECBC-8A46-871B-58E648FE9C51}"/>
              </a:ext>
            </a:extLst>
          </p:cNvPr>
          <p:cNvSpPr>
            <a:spLocks noGrp="1"/>
          </p:cNvSpPr>
          <p:nvPr>
            <p:ph type="title"/>
          </p:nvPr>
        </p:nvSpPr>
        <p:spPr/>
        <p:txBody>
          <a:bodyPr>
            <a:noAutofit/>
          </a:bodyPr>
          <a:lstStyle/>
          <a:p>
            <a:r>
              <a:rPr lang="en-US" dirty="0"/>
              <a:t>A Note About Scope</a:t>
            </a:r>
          </a:p>
        </p:txBody>
      </p:sp>
      <p:sp>
        <p:nvSpPr>
          <p:cNvPr id="3" name="Content Placeholder 2">
            <a:extLst>
              <a:ext uri="{FF2B5EF4-FFF2-40B4-BE49-F238E27FC236}">
                <a16:creationId xmlns:a16="http://schemas.microsoft.com/office/drawing/2014/main" id="{CDE69D22-597D-8844-9DEA-64E3547E1D26}"/>
              </a:ext>
            </a:extLst>
          </p:cNvPr>
          <p:cNvSpPr>
            <a:spLocks noGrp="1"/>
          </p:cNvSpPr>
          <p:nvPr>
            <p:ph idx="1"/>
          </p:nvPr>
        </p:nvSpPr>
        <p:spPr>
          <a:xfrm>
            <a:off x="457200" y="1249679"/>
            <a:ext cx="8229600" cy="5471795"/>
          </a:xfrm>
        </p:spPr>
        <p:txBody>
          <a:bodyPr>
            <a:normAutofit fontScale="92500" lnSpcReduction="10000"/>
          </a:bodyPr>
          <a:lstStyle/>
          <a:p>
            <a:r>
              <a:rPr lang="en-US" altLang="en-US" dirty="0"/>
              <a:t>Instance variables have </a:t>
            </a:r>
            <a:r>
              <a:rPr lang="en-US" altLang="en-US" dirty="0">
                <a:solidFill>
                  <a:srgbClr val="FF0000"/>
                </a:solidFill>
              </a:rPr>
              <a:t>class scope</a:t>
            </a:r>
          </a:p>
          <a:p>
            <a:pPr lvl="1"/>
            <a:r>
              <a:rPr lang="en-US" altLang="en-US" dirty="0"/>
              <a:t>A constructor or method of a class can directly refer to its instance variables.</a:t>
            </a:r>
          </a:p>
          <a:p>
            <a:pPr lvl="1"/>
            <a:r>
              <a:rPr lang="en-US" altLang="en-US" dirty="0"/>
              <a:t>We will review the use of the keyword </a:t>
            </a:r>
            <a:r>
              <a:rPr lang="en-US" altLang="en-US" dirty="0">
                <a:solidFill>
                  <a:srgbClr val="FF0000"/>
                </a:solidFill>
              </a:rPr>
              <a:t>this</a:t>
            </a:r>
            <a:r>
              <a:rPr lang="en-US" altLang="en-US" dirty="0"/>
              <a:t> in a few slides</a:t>
            </a:r>
          </a:p>
          <a:p>
            <a:r>
              <a:rPr lang="en-US" altLang="en-US" dirty="0"/>
              <a:t>Methods also have </a:t>
            </a:r>
            <a:r>
              <a:rPr lang="en-US" altLang="en-US" dirty="0">
                <a:solidFill>
                  <a:srgbClr val="FF0000"/>
                </a:solidFill>
              </a:rPr>
              <a:t>class scope</a:t>
            </a:r>
          </a:p>
          <a:p>
            <a:pPr lvl="1"/>
            <a:r>
              <a:rPr lang="en-US" altLang="en-US" dirty="0"/>
              <a:t>A constructor or non-static method of a class can call other methods of a class (without using an object reference).</a:t>
            </a:r>
          </a:p>
          <a:p>
            <a:pPr lvl="1"/>
            <a:r>
              <a:rPr lang="en-US" altLang="en-US" dirty="0"/>
              <a:t>This is just what we have done up to now with methods</a:t>
            </a:r>
          </a:p>
          <a:p>
            <a:r>
              <a:rPr lang="en-US" altLang="en-US" dirty="0"/>
              <a:t> A method's parameters have </a:t>
            </a:r>
            <a:r>
              <a:rPr lang="en-US" altLang="en-US" dirty="0">
                <a:solidFill>
                  <a:srgbClr val="FF0000"/>
                </a:solidFill>
              </a:rPr>
              <a:t>local scope</a:t>
            </a:r>
            <a:endParaRPr lang="en-US" altLang="en-US" dirty="0"/>
          </a:p>
          <a:p>
            <a:pPr lvl="1"/>
            <a:r>
              <a:rPr lang="en-US" altLang="en-US" dirty="0"/>
              <a:t>A method can directly access its parameters, - but one method's parameters cannot be accessed by other methods.</a:t>
            </a:r>
          </a:p>
          <a:p>
            <a:r>
              <a:rPr lang="en-US" altLang="en-US" dirty="0"/>
              <a:t>A method can define variables which also have local scope</a:t>
            </a:r>
          </a:p>
          <a:p>
            <a:pPr lvl="1"/>
            <a:r>
              <a:rPr lang="en-US" altLang="en-US" dirty="0"/>
              <a:t>A method can access its local variables, - </a:t>
            </a:r>
            <a:r>
              <a:rPr lang="en-US" altLang="en-US" dirty="0">
                <a:cs typeface="Times New Roman" panose="02020603050405020304" pitchFamily="18" charset="0"/>
              </a:rPr>
              <a:t>but one method's local variables cannot be accessed by other methods</a:t>
            </a:r>
            <a:r>
              <a:rPr lang="en-US" altLang="en-US" dirty="0"/>
              <a:t>.</a:t>
            </a:r>
          </a:p>
          <a:p>
            <a:pPr lvl="1"/>
            <a:endParaRPr lang="en-US" altLang="en-US" dirty="0"/>
          </a:p>
          <a:p>
            <a:endParaRPr lang="en-US" dirty="0"/>
          </a:p>
        </p:txBody>
      </p:sp>
      <p:sp>
        <p:nvSpPr>
          <p:cNvPr id="4" name="Slide Number Placeholder 3">
            <a:extLst>
              <a:ext uri="{FF2B5EF4-FFF2-40B4-BE49-F238E27FC236}">
                <a16:creationId xmlns:a16="http://schemas.microsoft.com/office/drawing/2014/main" id="{931589C1-6298-2545-85EF-8B4123F438B8}"/>
              </a:ext>
            </a:extLst>
          </p:cNvPr>
          <p:cNvSpPr>
            <a:spLocks noGrp="1"/>
          </p:cNvSpPr>
          <p:nvPr>
            <p:ph type="sldNum" sz="quarter" idx="12"/>
          </p:nvPr>
        </p:nvSpPr>
        <p:spPr/>
        <p:txBody>
          <a:bodyPr/>
          <a:lstStyle/>
          <a:p>
            <a:fld id="{13977939-A071-43C1-9268-F54CC2756BB5}" type="slidenum">
              <a:rPr lang="en-US" smtClean="0"/>
              <a:pPr/>
              <a:t>48</a:t>
            </a:fld>
            <a:endParaRPr lang="en-US" dirty="0"/>
          </a:p>
        </p:txBody>
      </p:sp>
    </p:spTree>
    <p:extLst>
      <p:ext uri="{BB962C8B-B14F-4D97-AF65-F5344CB8AC3E}">
        <p14:creationId xmlns:p14="http://schemas.microsoft.com/office/powerpoint/2010/main" val="129015999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2670E-9633-E744-A813-F689ADA50BFC}"/>
              </a:ext>
            </a:extLst>
          </p:cNvPr>
          <p:cNvSpPr>
            <a:spLocks noGrp="1"/>
          </p:cNvSpPr>
          <p:nvPr>
            <p:ph type="title"/>
          </p:nvPr>
        </p:nvSpPr>
        <p:spPr/>
        <p:txBody>
          <a:bodyPr>
            <a:noAutofit/>
          </a:bodyPr>
          <a:lstStyle/>
          <a:p>
            <a:r>
              <a:rPr lang="en-US" dirty="0"/>
              <a:t>Accessor Methods</a:t>
            </a:r>
          </a:p>
        </p:txBody>
      </p:sp>
      <p:sp>
        <p:nvSpPr>
          <p:cNvPr id="3" name="Content Placeholder 2">
            <a:extLst>
              <a:ext uri="{FF2B5EF4-FFF2-40B4-BE49-F238E27FC236}">
                <a16:creationId xmlns:a16="http://schemas.microsoft.com/office/drawing/2014/main" id="{BF15A50E-6041-4042-B447-DE178D785579}"/>
              </a:ext>
            </a:extLst>
          </p:cNvPr>
          <p:cNvSpPr>
            <a:spLocks noGrp="1"/>
          </p:cNvSpPr>
          <p:nvPr>
            <p:ph idx="1"/>
          </p:nvPr>
        </p:nvSpPr>
        <p:spPr>
          <a:xfrm>
            <a:off x="457200" y="1066800"/>
            <a:ext cx="8229600" cy="5486400"/>
          </a:xfrm>
        </p:spPr>
        <p:txBody>
          <a:bodyPr>
            <a:normAutofit fontScale="77500" lnSpcReduction="20000"/>
          </a:bodyPr>
          <a:lstStyle/>
          <a:p>
            <a:pPr marL="458788" indent="-458788">
              <a:tabLst>
                <a:tab pos="52388" algn="l"/>
              </a:tabLst>
            </a:pPr>
            <a:r>
              <a:rPr lang="en-US" altLang="en-US" dirty="0"/>
              <a:t>Clients cannot directly access private instance variables, so classes provide public </a:t>
            </a:r>
            <a:r>
              <a:rPr lang="en-US" altLang="en-US" dirty="0">
                <a:solidFill>
                  <a:srgbClr val="FF0000"/>
                </a:solidFill>
              </a:rPr>
              <a:t>accessor methods </a:t>
            </a:r>
            <a:r>
              <a:rPr lang="en-US" altLang="en-US" dirty="0"/>
              <a:t>with this standard form:</a:t>
            </a:r>
            <a:endParaRPr lang="en-US" altLang="en-US" sz="2000" dirty="0"/>
          </a:p>
          <a:p>
            <a:pPr>
              <a:buNone/>
            </a:pPr>
            <a:r>
              <a:rPr lang="en-US" altLang="en-US" sz="2000" dirty="0"/>
              <a:t>  </a:t>
            </a:r>
            <a:r>
              <a:rPr lang="en-US" altLang="en-US" sz="2000" dirty="0">
                <a:latin typeface="Courier New" panose="02070309020205020404" pitchFamily="49" charset="0"/>
              </a:rPr>
              <a:t> </a:t>
            </a:r>
            <a:r>
              <a:rPr lang="en-US" altLang="en-US" sz="1800" dirty="0"/>
              <a:t>public returnType </a:t>
            </a:r>
            <a:r>
              <a:rPr lang="en-US" altLang="en-US" sz="1800" dirty="0">
                <a:solidFill>
                  <a:srgbClr val="FF0000"/>
                </a:solidFill>
              </a:rPr>
              <a:t>getInstanceVariable(</a:t>
            </a:r>
            <a:r>
              <a:rPr lang="en-US" altLang="en-US" sz="1800" dirty="0"/>
              <a:t>  )</a:t>
            </a:r>
          </a:p>
          <a:p>
            <a:pPr>
              <a:buNone/>
            </a:pPr>
            <a:r>
              <a:rPr lang="en-US" altLang="en-US" sz="1800" dirty="0"/>
              <a:t>    {</a:t>
            </a:r>
          </a:p>
          <a:p>
            <a:pPr>
              <a:buNone/>
            </a:pPr>
            <a:r>
              <a:rPr lang="en-US" altLang="en-US" sz="1800" dirty="0"/>
              <a:t>         return instanceVariable; </a:t>
            </a:r>
          </a:p>
          <a:p>
            <a:pPr>
              <a:buNone/>
            </a:pPr>
            <a:r>
              <a:rPr lang="en-US" altLang="en-US" sz="1800" dirty="0"/>
              <a:t>    }</a:t>
            </a:r>
          </a:p>
          <a:p>
            <a:pPr marL="458788" indent="-449263"/>
            <a:r>
              <a:rPr lang="en-US" altLang="en-US" sz="2800" dirty="0"/>
              <a:t>Where (</a:t>
            </a:r>
            <a:r>
              <a:rPr lang="en-US" altLang="en-US" sz="2800" i="1" dirty="0"/>
              <a:t>returnType </a:t>
            </a:r>
            <a:r>
              <a:rPr lang="en-US" altLang="en-US" dirty="0"/>
              <a:t>is the same data type as the instance variable.)</a:t>
            </a:r>
          </a:p>
          <a:p>
            <a:pPr marL="458788" indent="-449263"/>
            <a:endParaRPr lang="en-US" altLang="en-US" dirty="0"/>
          </a:p>
          <a:p>
            <a:pPr marL="458788" indent="-449263"/>
            <a:r>
              <a:rPr lang="en-US" altLang="en-US" dirty="0"/>
              <a:t>A simple example looks like this </a:t>
            </a:r>
          </a:p>
          <a:p>
            <a:pPr>
              <a:buNone/>
            </a:pPr>
            <a:r>
              <a:rPr lang="en-US" altLang="en-US" sz="2800" dirty="0">
                <a:latin typeface="Courier New" panose="02070309020205020404" pitchFamily="49" charset="0"/>
              </a:rPr>
              <a:t> </a:t>
            </a:r>
          </a:p>
          <a:p>
            <a:pPr>
              <a:buNone/>
            </a:pPr>
            <a:r>
              <a:rPr lang="en-US" altLang="en-US" sz="2800" dirty="0"/>
              <a:t>public int getCounter( )</a:t>
            </a:r>
          </a:p>
          <a:p>
            <a:pPr>
              <a:buNone/>
            </a:pPr>
            <a:r>
              <a:rPr lang="en-US" altLang="en-US" sz="2800" dirty="0"/>
              <a:t>  {</a:t>
            </a:r>
          </a:p>
          <a:p>
            <a:pPr>
              <a:buNone/>
            </a:pPr>
            <a:r>
              <a:rPr lang="en-US" altLang="en-US" dirty="0"/>
              <a:t>    </a:t>
            </a:r>
            <a:r>
              <a:rPr lang="en-US" altLang="en-US" sz="2800" dirty="0"/>
              <a:t>   return counter;</a:t>
            </a:r>
          </a:p>
          <a:p>
            <a:pPr>
              <a:buNone/>
            </a:pPr>
            <a:r>
              <a:rPr lang="en-US" altLang="en-US" sz="2800" dirty="0"/>
              <a:t>  }</a:t>
            </a:r>
            <a:endParaRPr lang="en-US" altLang="en-US" dirty="0"/>
          </a:p>
          <a:p>
            <a:r>
              <a:rPr lang="en-US" altLang="en-US" sz="2400" dirty="0">
                <a:cs typeface="Times New Roman" panose="02020603050405020304" pitchFamily="18" charset="0"/>
              </a:rPr>
              <a:t>See </a:t>
            </a:r>
            <a:r>
              <a:rPr lang="en-US" altLang="en-US" sz="2400" dirty="0">
                <a:solidFill>
                  <a:srgbClr val="FF0000"/>
                </a:solidFill>
                <a:cs typeface="Times New Roman" panose="02020603050405020304" pitchFamily="18" charset="0"/>
              </a:rPr>
              <a:t>AutoClientV2.java</a:t>
            </a:r>
            <a:r>
              <a:rPr lang="en-US" altLang="en-US" sz="2400" dirty="0">
                <a:cs typeface="Times New Roman" panose="02020603050405020304" pitchFamily="18" charset="0"/>
              </a:rPr>
              <a:t>, </a:t>
            </a:r>
            <a:r>
              <a:rPr lang="en-US" altLang="en-US" sz="2400" dirty="0">
                <a:solidFill>
                  <a:srgbClr val="FF0000"/>
                </a:solidFill>
                <a:cs typeface="Times New Roman" panose="02020603050405020304" pitchFamily="18" charset="0"/>
              </a:rPr>
              <a:t>AutoV2.java</a:t>
            </a:r>
          </a:p>
          <a:p>
            <a:pPr lvl="1"/>
            <a:r>
              <a:rPr lang="en-US" altLang="en-US" sz="2200" dirty="0">
                <a:cs typeface="Times New Roman" panose="02020603050405020304" pitchFamily="18" charset="0"/>
              </a:rPr>
              <a:t>Note the last line of output.  We will fix this shortly</a:t>
            </a:r>
          </a:p>
        </p:txBody>
      </p:sp>
      <p:sp>
        <p:nvSpPr>
          <p:cNvPr id="4" name="Slide Number Placeholder 3">
            <a:extLst>
              <a:ext uri="{FF2B5EF4-FFF2-40B4-BE49-F238E27FC236}">
                <a16:creationId xmlns:a16="http://schemas.microsoft.com/office/drawing/2014/main" id="{3A76A90B-D290-4A49-9B32-0944204C486C}"/>
              </a:ext>
            </a:extLst>
          </p:cNvPr>
          <p:cNvSpPr>
            <a:spLocks noGrp="1"/>
          </p:cNvSpPr>
          <p:nvPr>
            <p:ph type="sldNum" sz="quarter" idx="12"/>
          </p:nvPr>
        </p:nvSpPr>
        <p:spPr/>
        <p:txBody>
          <a:bodyPr/>
          <a:lstStyle/>
          <a:p>
            <a:fld id="{13977939-A071-43C1-9268-F54CC2756BB5}" type="slidenum">
              <a:rPr lang="en-US" smtClean="0"/>
              <a:pPr/>
              <a:t>49</a:t>
            </a:fld>
            <a:endParaRPr lang="en-US" dirty="0"/>
          </a:p>
        </p:txBody>
      </p:sp>
    </p:spTree>
    <p:extLst>
      <p:ext uri="{BB962C8B-B14F-4D97-AF65-F5344CB8AC3E}">
        <p14:creationId xmlns:p14="http://schemas.microsoft.com/office/powerpoint/2010/main" val="270700132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B76B5-DC25-EC4E-89C4-34D2E6D1B747}"/>
              </a:ext>
            </a:extLst>
          </p:cNvPr>
          <p:cNvSpPr>
            <a:spLocks noGrp="1"/>
          </p:cNvSpPr>
          <p:nvPr>
            <p:ph type="title"/>
          </p:nvPr>
        </p:nvSpPr>
        <p:spPr>
          <a:xfrm>
            <a:off x="457200" y="76200"/>
            <a:ext cx="8229600" cy="475488"/>
          </a:xfrm>
        </p:spPr>
        <p:txBody>
          <a:bodyPr>
            <a:noAutofit/>
          </a:bodyPr>
          <a:lstStyle/>
          <a:p>
            <a:r>
              <a:rPr lang="en-US" dirty="0"/>
              <a:t>Mutator Methods </a:t>
            </a:r>
          </a:p>
        </p:txBody>
      </p:sp>
      <p:sp>
        <p:nvSpPr>
          <p:cNvPr id="3" name="Content Placeholder 2">
            <a:extLst>
              <a:ext uri="{FF2B5EF4-FFF2-40B4-BE49-F238E27FC236}">
                <a16:creationId xmlns:a16="http://schemas.microsoft.com/office/drawing/2014/main" id="{1A5234C0-C1FB-AD47-912C-F115CD1A682E}"/>
              </a:ext>
            </a:extLst>
          </p:cNvPr>
          <p:cNvSpPr>
            <a:spLocks noGrp="1"/>
          </p:cNvSpPr>
          <p:nvPr>
            <p:ph idx="1"/>
          </p:nvPr>
        </p:nvSpPr>
        <p:spPr>
          <a:xfrm>
            <a:off x="152400" y="551688"/>
            <a:ext cx="8763000" cy="6230112"/>
          </a:xfrm>
        </p:spPr>
        <p:txBody>
          <a:bodyPr>
            <a:normAutofit fontScale="55000" lnSpcReduction="20000"/>
          </a:bodyPr>
          <a:lstStyle/>
          <a:p>
            <a:r>
              <a:rPr lang="en-US" altLang="en-US" sz="3200" dirty="0">
                <a:solidFill>
                  <a:srgbClr val="FF0000"/>
                </a:solidFill>
              </a:rPr>
              <a:t>Mutator methods </a:t>
            </a:r>
            <a:r>
              <a:rPr lang="en-US" altLang="en-US" sz="3200" dirty="0"/>
              <a:t>allow the client to change the values of instance variables.  </a:t>
            </a:r>
          </a:p>
          <a:p>
            <a:pPr lvl="1"/>
            <a:r>
              <a:rPr lang="en-US" altLang="en-US" sz="3000" dirty="0"/>
              <a:t>With mutator logic for a variable in a single method all the rules for mutating are controlled and implemented in one place.</a:t>
            </a:r>
          </a:p>
          <a:p>
            <a:pPr lvl="1"/>
            <a:r>
              <a:rPr lang="en-US" altLang="en-US" sz="3000" dirty="0"/>
              <a:t>Occasionally mutators have additional side effects (i.e. set/modify an additional variable), although they may call another mutator method to do this</a:t>
            </a:r>
          </a:p>
          <a:p>
            <a:pPr lvl="1"/>
            <a:r>
              <a:rPr lang="en-US" altLang="en-US" sz="3000" dirty="0"/>
              <a:t>In general it is better to a call a mutator method than to mutate directly inside a constructor</a:t>
            </a:r>
          </a:p>
          <a:p>
            <a:r>
              <a:rPr lang="en-US" altLang="en-US" sz="3200" dirty="0"/>
              <a:t>They have this general form when primary purpose is the mutate a specific variable:</a:t>
            </a:r>
            <a:endParaRPr lang="en-US" altLang="en-US" sz="2400" dirty="0"/>
          </a:p>
          <a:p>
            <a:pPr>
              <a:buNone/>
            </a:pPr>
            <a:r>
              <a:rPr lang="en-US" altLang="en-US" sz="2900" dirty="0"/>
              <a:t>public void </a:t>
            </a:r>
            <a:r>
              <a:rPr lang="en-US" altLang="en-US" sz="2900" dirty="0">
                <a:solidFill>
                  <a:srgbClr val="FF0000"/>
                </a:solidFill>
              </a:rPr>
              <a:t>setInstanceVariable</a:t>
            </a:r>
            <a:r>
              <a:rPr lang="en-US" altLang="en-US" sz="2900" dirty="0"/>
              <a:t>( dataType newValue )</a:t>
            </a:r>
          </a:p>
          <a:p>
            <a:pPr>
              <a:buNone/>
            </a:pPr>
            <a:r>
              <a:rPr lang="en-US" altLang="en-US" sz="2900" dirty="0"/>
              <a:t>{</a:t>
            </a:r>
          </a:p>
          <a:p>
            <a:pPr>
              <a:buNone/>
            </a:pPr>
            <a:r>
              <a:rPr lang="en-US" altLang="en-US" sz="2900" dirty="0"/>
              <a:t>   // if newValue is valid assign newValue to the instance variable</a:t>
            </a:r>
          </a:p>
          <a:p>
            <a:pPr>
              <a:buNone/>
            </a:pPr>
            <a:r>
              <a:rPr lang="en-US" altLang="en-US" sz="2900" dirty="0"/>
              <a:t>}</a:t>
            </a:r>
          </a:p>
          <a:p>
            <a:r>
              <a:rPr lang="en-US" sz="2900" dirty="0"/>
              <a:t>A simple example:</a:t>
            </a:r>
          </a:p>
          <a:p>
            <a:pPr>
              <a:buNone/>
            </a:pPr>
            <a:r>
              <a:rPr lang="en-US" altLang="en-US" sz="2900" dirty="0"/>
              <a:t>public void setMilesDriven( int newMilesDriven )</a:t>
            </a:r>
          </a:p>
          <a:p>
            <a:pPr>
              <a:buNone/>
            </a:pPr>
            <a:r>
              <a:rPr lang="en-US" altLang="en-US" sz="2900" dirty="0"/>
              <a:t>{</a:t>
            </a:r>
          </a:p>
          <a:p>
            <a:pPr>
              <a:buNone/>
            </a:pPr>
            <a:r>
              <a:rPr lang="en-US" altLang="en-US" sz="2900" dirty="0"/>
              <a:t>  if ( newMilesDriven &gt;= 0 )</a:t>
            </a:r>
          </a:p>
          <a:p>
            <a:pPr>
              <a:buNone/>
            </a:pPr>
            <a:r>
              <a:rPr lang="en-US" altLang="en-US" sz="2900" dirty="0"/>
              <a:t>    milesDriven = newMilesDriven;</a:t>
            </a:r>
          </a:p>
          <a:p>
            <a:pPr>
              <a:buNone/>
            </a:pPr>
            <a:r>
              <a:rPr lang="en-US" altLang="en-US" sz="2900" dirty="0"/>
              <a:t>  else</a:t>
            </a:r>
          </a:p>
          <a:p>
            <a:pPr>
              <a:buNone/>
            </a:pPr>
            <a:r>
              <a:rPr lang="en-US" altLang="en-US" sz="2900" dirty="0"/>
              <a:t>  {</a:t>
            </a:r>
          </a:p>
          <a:p>
            <a:pPr>
              <a:buNone/>
            </a:pPr>
            <a:r>
              <a:rPr lang="en-US" altLang="en-US" sz="2900" dirty="0"/>
              <a:t>    System.out.printf( "Miles driven cannot be negative.\n" );</a:t>
            </a:r>
          </a:p>
          <a:p>
            <a:pPr>
              <a:buNone/>
            </a:pPr>
            <a:r>
              <a:rPr lang="en-US" altLang="en-US" sz="2900" dirty="0"/>
              <a:t>    System.out.printf( "Value not changed.\n" );</a:t>
            </a:r>
          </a:p>
          <a:p>
            <a:pPr>
              <a:buNone/>
            </a:pPr>
            <a:r>
              <a:rPr lang="en-US" altLang="en-US" sz="2900" dirty="0"/>
              <a:t>  }</a:t>
            </a:r>
          </a:p>
          <a:p>
            <a:pPr>
              <a:buNone/>
            </a:pPr>
            <a:r>
              <a:rPr lang="en-US" altLang="en-US" sz="2900" dirty="0"/>
              <a:t>}</a:t>
            </a:r>
          </a:p>
          <a:p>
            <a:pPr>
              <a:buNone/>
            </a:pPr>
            <a:r>
              <a:rPr lang="en-US" altLang="en-US" sz="2500" dirty="0">
                <a:cs typeface="Times New Roman" panose="02020603050405020304" pitchFamily="18" charset="0"/>
              </a:rPr>
              <a:t>See </a:t>
            </a:r>
            <a:r>
              <a:rPr lang="en-US" altLang="en-US" sz="2500" dirty="0">
                <a:solidFill>
                  <a:srgbClr val="FF0000"/>
                </a:solidFill>
                <a:cs typeface="Times New Roman" panose="02020603050405020304" pitchFamily="18" charset="0"/>
              </a:rPr>
              <a:t>AutoClientV3.java</a:t>
            </a:r>
            <a:r>
              <a:rPr lang="en-US" altLang="en-US" sz="2500" dirty="0">
                <a:cs typeface="Times New Roman" panose="02020603050405020304" pitchFamily="18" charset="0"/>
              </a:rPr>
              <a:t>, </a:t>
            </a:r>
            <a:r>
              <a:rPr lang="en-US" altLang="en-US" sz="2500" dirty="0">
                <a:solidFill>
                  <a:srgbClr val="FF0000"/>
                </a:solidFill>
                <a:cs typeface="Times New Roman" panose="02020603050405020304" pitchFamily="18" charset="0"/>
              </a:rPr>
              <a:t>AutoV3.java</a:t>
            </a:r>
            <a:r>
              <a:rPr lang="en-US" altLang="en-US" sz="2500" dirty="0">
                <a:cs typeface="Times New Roman" panose="02020603050405020304" pitchFamily="18" charset="0"/>
              </a:rPr>
              <a:t> and </a:t>
            </a:r>
            <a:r>
              <a:rPr lang="en-US" altLang="en-US" sz="2500" dirty="0">
                <a:solidFill>
                  <a:srgbClr val="FF0000"/>
                </a:solidFill>
                <a:cs typeface="Times New Roman" panose="02020603050405020304" pitchFamily="18" charset="0"/>
              </a:rPr>
              <a:t>AutoClientV4.java</a:t>
            </a:r>
            <a:r>
              <a:rPr lang="en-US" altLang="en-US" sz="2500" dirty="0">
                <a:cs typeface="Times New Roman" panose="02020603050405020304" pitchFamily="18" charset="0"/>
              </a:rPr>
              <a:t>, </a:t>
            </a:r>
            <a:r>
              <a:rPr lang="en-US" altLang="en-US" sz="2500" dirty="0">
                <a:solidFill>
                  <a:srgbClr val="FF0000"/>
                </a:solidFill>
                <a:cs typeface="Times New Roman" panose="02020603050405020304" pitchFamily="18" charset="0"/>
              </a:rPr>
              <a:t>AutoV4.java </a:t>
            </a:r>
            <a:r>
              <a:rPr lang="en-US" altLang="en-US" sz="2500" dirty="0">
                <a:cs typeface="Times New Roman" panose="02020603050405020304" pitchFamily="18" charset="0"/>
              </a:rPr>
              <a:t>(adding some useful methods)</a:t>
            </a:r>
          </a:p>
        </p:txBody>
      </p:sp>
      <p:sp>
        <p:nvSpPr>
          <p:cNvPr id="4" name="Slide Number Placeholder 3">
            <a:extLst>
              <a:ext uri="{FF2B5EF4-FFF2-40B4-BE49-F238E27FC236}">
                <a16:creationId xmlns:a16="http://schemas.microsoft.com/office/drawing/2014/main" id="{849FAD43-7ECF-2A4B-8335-2287523E845C}"/>
              </a:ext>
            </a:extLst>
          </p:cNvPr>
          <p:cNvSpPr>
            <a:spLocks noGrp="1"/>
          </p:cNvSpPr>
          <p:nvPr>
            <p:ph type="sldNum" sz="quarter" idx="12"/>
          </p:nvPr>
        </p:nvSpPr>
        <p:spPr/>
        <p:txBody>
          <a:bodyPr/>
          <a:lstStyle/>
          <a:p>
            <a:fld id="{13977939-A071-43C1-9268-F54CC2756BB5}" type="slidenum">
              <a:rPr lang="en-US" smtClean="0"/>
              <a:pPr/>
              <a:t>50</a:t>
            </a:fld>
            <a:endParaRPr lang="en-US" dirty="0"/>
          </a:p>
        </p:txBody>
      </p:sp>
    </p:spTree>
    <p:extLst>
      <p:ext uri="{BB962C8B-B14F-4D97-AF65-F5344CB8AC3E}">
        <p14:creationId xmlns:p14="http://schemas.microsoft.com/office/powerpoint/2010/main" val="205012857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C4EA6-C0B2-264F-96A0-8876C5C88DAA}"/>
              </a:ext>
            </a:extLst>
          </p:cNvPr>
          <p:cNvSpPr>
            <a:spLocks noGrp="1"/>
          </p:cNvSpPr>
          <p:nvPr>
            <p:ph type="title"/>
          </p:nvPr>
        </p:nvSpPr>
        <p:spPr>
          <a:xfrm>
            <a:off x="457200" y="76200"/>
            <a:ext cx="8229600" cy="475488"/>
          </a:xfrm>
        </p:spPr>
        <p:txBody>
          <a:bodyPr>
            <a:noAutofit/>
          </a:bodyPr>
          <a:lstStyle/>
          <a:p>
            <a:r>
              <a:rPr lang="en-US" dirty="0"/>
              <a:t>The Object Reference this</a:t>
            </a:r>
          </a:p>
        </p:txBody>
      </p:sp>
      <p:sp>
        <p:nvSpPr>
          <p:cNvPr id="3" name="Content Placeholder 2">
            <a:extLst>
              <a:ext uri="{FF2B5EF4-FFF2-40B4-BE49-F238E27FC236}">
                <a16:creationId xmlns:a16="http://schemas.microsoft.com/office/drawing/2014/main" id="{B43372A2-03A9-4344-9E6C-AE4099CEB350}"/>
              </a:ext>
            </a:extLst>
          </p:cNvPr>
          <p:cNvSpPr>
            <a:spLocks noGrp="1"/>
          </p:cNvSpPr>
          <p:nvPr>
            <p:ph idx="1"/>
          </p:nvPr>
        </p:nvSpPr>
        <p:spPr>
          <a:xfrm>
            <a:off x="152400" y="551688"/>
            <a:ext cx="8763000" cy="6306312"/>
          </a:xfrm>
        </p:spPr>
        <p:txBody>
          <a:bodyPr>
            <a:normAutofit fontScale="77500" lnSpcReduction="20000"/>
          </a:bodyPr>
          <a:lstStyle/>
          <a:p>
            <a:r>
              <a:rPr lang="en-US" altLang="en-US" dirty="0"/>
              <a:t>How does a method know which object's data to use? </a:t>
            </a:r>
          </a:p>
          <a:p>
            <a:r>
              <a:rPr lang="en-US" altLang="en-US" i="1" dirty="0"/>
              <a:t> </a:t>
            </a:r>
            <a:r>
              <a:rPr lang="en-US" altLang="en-US" dirty="0"/>
              <a:t>The reference </a:t>
            </a:r>
            <a:r>
              <a:rPr lang="en-US" altLang="en-US" i="1" dirty="0">
                <a:solidFill>
                  <a:srgbClr val="FF0000"/>
                </a:solidFill>
              </a:rPr>
              <a:t>this</a:t>
            </a:r>
            <a:r>
              <a:rPr lang="en-US" altLang="en-US" i="1" dirty="0"/>
              <a:t> </a:t>
            </a:r>
            <a:r>
              <a:rPr lang="en-US" altLang="en-US" dirty="0"/>
              <a:t>refers to the current instance of a class, the object currently being used</a:t>
            </a:r>
            <a:r>
              <a:rPr lang="en-US" altLang="en-US" i="1" dirty="0"/>
              <a:t>.</a:t>
            </a:r>
          </a:p>
          <a:p>
            <a:pPr lvl="1"/>
            <a:r>
              <a:rPr lang="en-US" altLang="en-US" i="1" dirty="0">
                <a:solidFill>
                  <a:srgbClr val="FF0000"/>
                </a:solidFill>
              </a:rPr>
              <a:t>this</a:t>
            </a:r>
            <a:r>
              <a:rPr lang="en-US" altLang="en-US" dirty="0"/>
              <a:t> is an </a:t>
            </a:r>
            <a:r>
              <a:rPr lang="en-US" altLang="en-US" dirty="0">
                <a:solidFill>
                  <a:srgbClr val="FF0000"/>
                </a:solidFill>
              </a:rPr>
              <a:t>implicit parameter </a:t>
            </a:r>
            <a:r>
              <a:rPr lang="en-US" altLang="en-US" dirty="0"/>
              <a:t>sent to methods. </a:t>
            </a:r>
          </a:p>
          <a:p>
            <a:pPr lvl="1"/>
            <a:r>
              <a:rPr lang="en-US" altLang="en-US" i="1" dirty="0">
                <a:solidFill>
                  <a:srgbClr val="FF0000"/>
                </a:solidFill>
              </a:rPr>
              <a:t>this</a:t>
            </a:r>
            <a:r>
              <a:rPr lang="en-US" altLang="en-US" dirty="0"/>
              <a:t> is an object reference to the object for which the method was called.</a:t>
            </a:r>
          </a:p>
          <a:p>
            <a:r>
              <a:rPr lang="en-US" altLang="en-US" dirty="0"/>
              <a:t>When a method refers to an instance variable name within an object, </a:t>
            </a:r>
            <a:r>
              <a:rPr lang="en-US" altLang="en-US" i="1" dirty="0">
                <a:solidFill>
                  <a:srgbClr val="FF0000"/>
                </a:solidFill>
              </a:rPr>
              <a:t>this</a:t>
            </a:r>
            <a:r>
              <a:rPr lang="en-US" altLang="en-US" dirty="0"/>
              <a:t> is implied, unless the same variable name is used within the method. Thus,</a:t>
            </a:r>
          </a:p>
          <a:p>
            <a:pPr>
              <a:buNone/>
            </a:pPr>
            <a:r>
              <a:rPr lang="en-US" altLang="en-US" i="1" dirty="0"/>
              <a:t>    </a:t>
            </a:r>
            <a:r>
              <a:rPr lang="en-US" altLang="en-US" sz="2000" i="1" dirty="0"/>
              <a:t>variableName </a:t>
            </a:r>
            <a:r>
              <a:rPr lang="en-US" altLang="en-US" sz="2000" dirty="0"/>
              <a:t>is understood to be </a:t>
            </a:r>
            <a:r>
              <a:rPr lang="en-US" altLang="en-US" sz="2000" i="1" dirty="0"/>
              <a:t>this.variableName</a:t>
            </a:r>
            <a:r>
              <a:rPr lang="en-US" altLang="en-US" i="1" dirty="0"/>
              <a:t> </a:t>
            </a:r>
          </a:p>
          <a:p>
            <a:pPr marL="690562" indent="-457200"/>
            <a:r>
              <a:rPr lang="en-US" altLang="en-US" dirty="0">
                <a:solidFill>
                  <a:srgbClr val="FF0000"/>
                </a:solidFill>
              </a:rPr>
              <a:t>this</a:t>
            </a:r>
            <a:r>
              <a:rPr lang="en-US" altLang="en-US" dirty="0"/>
              <a:t> can be used in any method of the class, including any constructor.</a:t>
            </a:r>
            <a:endParaRPr lang="en-US" altLang="en-US" i="1" dirty="0"/>
          </a:p>
          <a:p>
            <a:pPr marL="276225" indent="-42863">
              <a:buNone/>
            </a:pPr>
            <a:r>
              <a:rPr lang="en-US" altLang="en-US" dirty="0"/>
              <a:t>Example:</a:t>
            </a:r>
          </a:p>
          <a:p>
            <a:pPr>
              <a:buNone/>
            </a:pPr>
            <a:r>
              <a:rPr lang="en-US" altLang="en-US" sz="2800" dirty="0"/>
              <a:t>public void setInstanceVariableName(dataType instanceVariableName)</a:t>
            </a:r>
          </a:p>
          <a:p>
            <a:pPr>
              <a:buNone/>
            </a:pPr>
            <a:r>
              <a:rPr lang="en-US" altLang="en-US" sz="2800" dirty="0"/>
              <a:t>{</a:t>
            </a:r>
          </a:p>
          <a:p>
            <a:pPr>
              <a:buNone/>
            </a:pPr>
            <a:r>
              <a:rPr lang="en-US" altLang="en-US" sz="2800" dirty="0"/>
              <a:t>  this.instanceVariableName = instanceVariableName;</a:t>
            </a:r>
          </a:p>
          <a:p>
            <a:pPr>
              <a:buNone/>
            </a:pPr>
            <a:r>
              <a:rPr lang="en-US" altLang="en-US" sz="2800" dirty="0"/>
              <a:t>}</a:t>
            </a:r>
          </a:p>
          <a:p>
            <a:r>
              <a:rPr lang="en-US" altLang="en-US" sz="2800" dirty="0"/>
              <a:t>In the case above the true instance variable gets the value of the parameter</a:t>
            </a:r>
          </a:p>
          <a:p>
            <a:r>
              <a:rPr lang="en-US" altLang="en-US" sz="2800" dirty="0"/>
              <a:t>Note: It is much better to use a mutator than using this.  The mutator will include any added logic, validity checks, or conditions associated with setting the value.</a:t>
            </a:r>
          </a:p>
          <a:p>
            <a:pPr lvl="1"/>
            <a:r>
              <a:rPr lang="en-US" altLang="en-US" sz="2600" b="1" dirty="0">
                <a:solidFill>
                  <a:srgbClr val="FF0000"/>
                </a:solidFill>
              </a:rPr>
              <a:t>Note</a:t>
            </a:r>
            <a:r>
              <a:rPr lang="en-US" altLang="en-US" sz="2600" b="1" dirty="0"/>
              <a:t>:</a:t>
            </a:r>
            <a:r>
              <a:rPr lang="en-US" altLang="en-US" sz="2600" dirty="0"/>
              <a:t> The parameter name must differ from the variable name if you don’t use this</a:t>
            </a:r>
          </a:p>
        </p:txBody>
      </p:sp>
      <p:sp>
        <p:nvSpPr>
          <p:cNvPr id="4" name="Slide Number Placeholder 3">
            <a:extLst>
              <a:ext uri="{FF2B5EF4-FFF2-40B4-BE49-F238E27FC236}">
                <a16:creationId xmlns:a16="http://schemas.microsoft.com/office/drawing/2014/main" id="{6C776CDA-D325-B543-BE34-6377A22BF6B9}"/>
              </a:ext>
            </a:extLst>
          </p:cNvPr>
          <p:cNvSpPr>
            <a:spLocks noGrp="1"/>
          </p:cNvSpPr>
          <p:nvPr>
            <p:ph type="sldNum" sz="quarter" idx="12"/>
          </p:nvPr>
        </p:nvSpPr>
        <p:spPr/>
        <p:txBody>
          <a:bodyPr/>
          <a:lstStyle/>
          <a:p>
            <a:fld id="{13977939-A071-43C1-9268-F54CC2756BB5}" type="slidenum">
              <a:rPr lang="en-US" smtClean="0"/>
              <a:pPr/>
              <a:t>51</a:t>
            </a:fld>
            <a:endParaRPr lang="en-US" dirty="0"/>
          </a:p>
        </p:txBody>
      </p:sp>
    </p:spTree>
    <p:extLst>
      <p:ext uri="{BB962C8B-B14F-4D97-AF65-F5344CB8AC3E}">
        <p14:creationId xmlns:p14="http://schemas.microsoft.com/office/powerpoint/2010/main" val="146283244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D7B3B-038E-7947-B490-E7EE89D17E87}"/>
              </a:ext>
            </a:extLst>
          </p:cNvPr>
          <p:cNvSpPr>
            <a:spLocks noGrp="1"/>
          </p:cNvSpPr>
          <p:nvPr>
            <p:ph type="title"/>
          </p:nvPr>
        </p:nvSpPr>
        <p:spPr/>
        <p:txBody>
          <a:bodyPr>
            <a:noAutofit/>
          </a:bodyPr>
          <a:lstStyle/>
          <a:p>
            <a:r>
              <a:rPr lang="en-US" dirty="0"/>
              <a:t>Using this (1)</a:t>
            </a:r>
          </a:p>
        </p:txBody>
      </p:sp>
      <p:sp>
        <p:nvSpPr>
          <p:cNvPr id="3" name="Content Placeholder 2">
            <a:extLst>
              <a:ext uri="{FF2B5EF4-FFF2-40B4-BE49-F238E27FC236}">
                <a16:creationId xmlns:a16="http://schemas.microsoft.com/office/drawing/2014/main" id="{E7F6E707-DC68-2744-94C0-2D16DA6F3C81}"/>
              </a:ext>
            </a:extLst>
          </p:cNvPr>
          <p:cNvSpPr>
            <a:spLocks noGrp="1"/>
          </p:cNvSpPr>
          <p:nvPr>
            <p:ph idx="1"/>
          </p:nvPr>
        </p:nvSpPr>
        <p:spPr/>
        <p:txBody>
          <a:bodyPr>
            <a:normAutofit fontScale="85000" lnSpcReduction="20000"/>
          </a:bodyPr>
          <a:lstStyle/>
          <a:p>
            <a:pPr>
              <a:buNone/>
            </a:pPr>
            <a:endParaRPr lang="en-US" altLang="en-US" sz="2000" dirty="0"/>
          </a:p>
          <a:p>
            <a:pPr>
              <a:buNone/>
            </a:pPr>
            <a:r>
              <a:rPr lang="en-US" altLang="en-US" sz="2000" dirty="0"/>
              <a:t>public void setInstanceVariableName(dataType instanceVariableName )</a:t>
            </a:r>
          </a:p>
          <a:p>
            <a:pPr>
              <a:buNone/>
            </a:pPr>
            <a:r>
              <a:rPr lang="en-US" altLang="en-US" sz="2000" dirty="0"/>
              <a:t>{</a:t>
            </a:r>
          </a:p>
          <a:p>
            <a:pPr>
              <a:buNone/>
            </a:pPr>
            <a:r>
              <a:rPr lang="en-US" altLang="en-US" sz="2000" dirty="0"/>
              <a:t>  this.instanceVariableName = instanceVariableName;</a:t>
            </a:r>
          </a:p>
          <a:p>
            <a:pPr>
              <a:buNone/>
            </a:pPr>
            <a:r>
              <a:rPr lang="en-US" altLang="en-US" sz="2000" dirty="0"/>
              <a:t>}</a:t>
            </a:r>
          </a:p>
          <a:p>
            <a:pPr>
              <a:buNone/>
            </a:pPr>
            <a:endParaRPr lang="en-US" altLang="en-US" sz="2000" dirty="0"/>
          </a:p>
          <a:p>
            <a:pPr>
              <a:buNone/>
            </a:pPr>
            <a:r>
              <a:rPr lang="en-US" altLang="en-US" sz="2000" dirty="0"/>
              <a:t>Or  in a constructor</a:t>
            </a:r>
          </a:p>
          <a:p>
            <a:pPr>
              <a:buNone/>
            </a:pPr>
            <a:endParaRPr lang="en-US" altLang="en-US" sz="2000" dirty="0"/>
          </a:p>
          <a:p>
            <a:pPr>
              <a:buNone/>
            </a:pPr>
            <a:r>
              <a:rPr lang="en-US" altLang="en-US" sz="2000" dirty="0"/>
              <a:t>public newObject (dataType1 IVN1, dataType2 IVN2)</a:t>
            </a:r>
          </a:p>
          <a:p>
            <a:pPr>
              <a:buNone/>
            </a:pPr>
            <a:r>
              <a:rPr lang="en-US" altLang="en-US" sz="2000" dirty="0"/>
              <a:t>{</a:t>
            </a:r>
          </a:p>
          <a:p>
            <a:pPr>
              <a:buNone/>
            </a:pPr>
            <a:r>
              <a:rPr lang="en-US" altLang="en-US" sz="2000" dirty="0"/>
              <a:t>  this.IVN1 = IVN1;</a:t>
            </a:r>
          </a:p>
          <a:p>
            <a:pPr>
              <a:buNone/>
            </a:pPr>
            <a:r>
              <a:rPr lang="en-US" altLang="en-US" sz="2000" dirty="0"/>
              <a:t>  this.IVN2 = IVN2;</a:t>
            </a:r>
          </a:p>
          <a:p>
            <a:pPr>
              <a:buNone/>
            </a:pPr>
            <a:r>
              <a:rPr lang="en-US" altLang="en-US" sz="2000" dirty="0"/>
              <a:t>}</a:t>
            </a:r>
          </a:p>
          <a:p>
            <a:pPr>
              <a:buNone/>
            </a:pPr>
            <a:endParaRPr lang="en-US" altLang="en-US" sz="2000" dirty="0"/>
          </a:p>
          <a:p>
            <a:pPr>
              <a:buNone/>
            </a:pPr>
            <a:r>
              <a:rPr lang="en-US" altLang="en-US" sz="2800" dirty="0">
                <a:cs typeface="Times New Roman" panose="02020603050405020304" pitchFamily="18" charset="0"/>
              </a:rPr>
              <a:t>See </a:t>
            </a:r>
            <a:r>
              <a:rPr lang="en-US" altLang="en-US" sz="2800" dirty="0">
                <a:solidFill>
                  <a:srgbClr val="FF0000"/>
                </a:solidFill>
                <a:cs typeface="Times New Roman" panose="02020603050405020304" pitchFamily="18" charset="0"/>
              </a:rPr>
              <a:t>AutoClientV5.java</a:t>
            </a:r>
            <a:r>
              <a:rPr lang="en-US" altLang="en-US" sz="2800" dirty="0">
                <a:cs typeface="Times New Roman" panose="02020603050405020304" pitchFamily="18" charset="0"/>
              </a:rPr>
              <a:t>, </a:t>
            </a:r>
            <a:r>
              <a:rPr lang="en-US" altLang="en-US" sz="2800" dirty="0">
                <a:solidFill>
                  <a:srgbClr val="FF0000"/>
                </a:solidFill>
                <a:cs typeface="Times New Roman" panose="02020603050405020304" pitchFamily="18" charset="0"/>
              </a:rPr>
              <a:t>AutoV5.java</a:t>
            </a:r>
            <a:endParaRPr lang="en-US" dirty="0">
              <a:solidFill>
                <a:srgbClr val="FF0000"/>
              </a:solidFill>
            </a:endParaRPr>
          </a:p>
        </p:txBody>
      </p:sp>
      <p:sp>
        <p:nvSpPr>
          <p:cNvPr id="4" name="Slide Number Placeholder 3">
            <a:extLst>
              <a:ext uri="{FF2B5EF4-FFF2-40B4-BE49-F238E27FC236}">
                <a16:creationId xmlns:a16="http://schemas.microsoft.com/office/drawing/2014/main" id="{86230DB9-9CF5-364A-BBAB-A8C10725F516}"/>
              </a:ext>
            </a:extLst>
          </p:cNvPr>
          <p:cNvSpPr>
            <a:spLocks noGrp="1"/>
          </p:cNvSpPr>
          <p:nvPr>
            <p:ph type="sldNum" sz="quarter" idx="12"/>
          </p:nvPr>
        </p:nvSpPr>
        <p:spPr/>
        <p:txBody>
          <a:bodyPr/>
          <a:lstStyle/>
          <a:p>
            <a:fld id="{13977939-A071-43C1-9268-F54CC2756BB5}" type="slidenum">
              <a:rPr lang="en-US" smtClean="0"/>
              <a:pPr/>
              <a:t>52</a:t>
            </a:fld>
            <a:endParaRPr lang="en-US" dirty="0"/>
          </a:p>
        </p:txBody>
      </p:sp>
    </p:spTree>
    <p:extLst>
      <p:ext uri="{BB962C8B-B14F-4D97-AF65-F5344CB8AC3E}">
        <p14:creationId xmlns:p14="http://schemas.microsoft.com/office/powerpoint/2010/main" val="225674260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A156D-FBAF-8749-BF7B-A84E5BA4BE44}"/>
              </a:ext>
            </a:extLst>
          </p:cNvPr>
          <p:cNvSpPr>
            <a:spLocks noGrp="1"/>
          </p:cNvSpPr>
          <p:nvPr>
            <p:ph type="title"/>
          </p:nvPr>
        </p:nvSpPr>
        <p:spPr/>
        <p:txBody>
          <a:bodyPr>
            <a:noAutofit/>
          </a:bodyPr>
          <a:lstStyle/>
          <a:p>
            <a:r>
              <a:rPr lang="en-US" dirty="0"/>
              <a:t>Using this (2)</a:t>
            </a:r>
          </a:p>
        </p:txBody>
      </p:sp>
      <p:sp>
        <p:nvSpPr>
          <p:cNvPr id="3" name="Content Placeholder 2">
            <a:extLst>
              <a:ext uri="{FF2B5EF4-FFF2-40B4-BE49-F238E27FC236}">
                <a16:creationId xmlns:a16="http://schemas.microsoft.com/office/drawing/2014/main" id="{DDDFA8A5-A7AB-6449-B568-48790C595FEF}"/>
              </a:ext>
            </a:extLst>
          </p:cNvPr>
          <p:cNvSpPr>
            <a:spLocks noGrp="1"/>
          </p:cNvSpPr>
          <p:nvPr>
            <p:ph idx="1"/>
          </p:nvPr>
        </p:nvSpPr>
        <p:spPr>
          <a:xfrm>
            <a:off x="457200" y="1249680"/>
            <a:ext cx="8229600" cy="5151120"/>
          </a:xfrm>
        </p:spPr>
        <p:txBody>
          <a:bodyPr>
            <a:normAutofit fontScale="70000" lnSpcReduction="20000"/>
          </a:bodyPr>
          <a:lstStyle/>
          <a:p>
            <a:pPr>
              <a:buNone/>
            </a:pPr>
            <a:r>
              <a:rPr lang="en-US" altLang="en-US" sz="2900" dirty="0"/>
              <a:t>Some programmers like to use this pattern:</a:t>
            </a:r>
          </a:p>
          <a:p>
            <a:pPr>
              <a:buNone/>
            </a:pPr>
            <a:endParaRPr lang="en-US" altLang="en-US" sz="2800" dirty="0"/>
          </a:p>
          <a:p>
            <a:pPr>
              <a:buNone/>
            </a:pPr>
            <a:r>
              <a:rPr lang="en-US" altLang="en-US" sz="2800" dirty="0"/>
              <a:t>public </a:t>
            </a:r>
            <a:r>
              <a:rPr lang="en-US" altLang="en-US" sz="2800" i="1" dirty="0"/>
              <a:t>ClassName </a:t>
            </a:r>
            <a:r>
              <a:rPr lang="en-US" altLang="en-US" sz="2800" dirty="0"/>
              <a:t>setInstanceVariable( </a:t>
            </a:r>
          </a:p>
          <a:p>
            <a:pPr>
              <a:buNone/>
            </a:pPr>
            <a:r>
              <a:rPr lang="en-US" altLang="en-US" sz="2800" dirty="0"/>
              <a:t>                 dataType instanceVariableName )</a:t>
            </a:r>
          </a:p>
          <a:p>
            <a:pPr>
              <a:buNone/>
            </a:pPr>
            <a:r>
              <a:rPr lang="en-US" altLang="en-US" sz="2800" dirty="0"/>
              <a:t>{</a:t>
            </a:r>
          </a:p>
          <a:p>
            <a:pPr>
              <a:buNone/>
            </a:pPr>
            <a:r>
              <a:rPr lang="en-US" altLang="en-US" sz="2800" dirty="0"/>
              <a:t>  this.instanceVariableName = instanceVariableName;</a:t>
            </a:r>
          </a:p>
          <a:p>
            <a:pPr>
              <a:buNone/>
            </a:pPr>
            <a:r>
              <a:rPr lang="en-US" altLang="en-US" sz="2800" dirty="0"/>
              <a:t>  return this;</a:t>
            </a:r>
          </a:p>
          <a:p>
            <a:pPr>
              <a:buNone/>
            </a:pPr>
            <a:r>
              <a:rPr lang="en-US" altLang="en-US" sz="2800" dirty="0"/>
              <a:t>}</a:t>
            </a:r>
          </a:p>
          <a:p>
            <a:pPr>
              <a:buNone/>
            </a:pPr>
            <a:r>
              <a:rPr lang="en-US" altLang="en-US" dirty="0"/>
              <a:t>Example:</a:t>
            </a:r>
          </a:p>
          <a:p>
            <a:pPr>
              <a:buNone/>
            </a:pPr>
            <a:r>
              <a:rPr lang="en-US" altLang="en-US" sz="2800" dirty="0"/>
              <a:t>public Auto setModel( String model )</a:t>
            </a:r>
          </a:p>
          <a:p>
            <a:pPr>
              <a:buNone/>
            </a:pPr>
            <a:r>
              <a:rPr lang="en-US" altLang="en-US" sz="2800" dirty="0"/>
              <a:t>{</a:t>
            </a:r>
          </a:p>
          <a:p>
            <a:pPr>
              <a:buNone/>
            </a:pPr>
            <a:r>
              <a:rPr lang="en-US" altLang="en-US" sz="2800" dirty="0"/>
              <a:t>     this.model = model;</a:t>
            </a:r>
          </a:p>
          <a:p>
            <a:pPr>
              <a:buNone/>
            </a:pPr>
            <a:r>
              <a:rPr lang="en-US" altLang="en-US" sz="2800" dirty="0"/>
              <a:t>	   return this;</a:t>
            </a:r>
          </a:p>
          <a:p>
            <a:pPr>
              <a:buNone/>
            </a:pPr>
            <a:r>
              <a:rPr lang="en-US" altLang="en-US" sz="2800" dirty="0"/>
              <a:t>}</a:t>
            </a:r>
          </a:p>
          <a:p>
            <a:r>
              <a:rPr lang="en-US" dirty="0"/>
              <a:t>In this pattern you return a reference to the entire object</a:t>
            </a:r>
          </a:p>
          <a:p>
            <a:pPr marL="0" indent="0">
              <a:buNone/>
            </a:pPr>
            <a:r>
              <a:rPr lang="en-US" altLang="en-US" dirty="0">
                <a:cs typeface="Times New Roman" panose="02020603050405020304" pitchFamily="18" charset="0"/>
              </a:rPr>
              <a:t>See </a:t>
            </a:r>
            <a:r>
              <a:rPr lang="en-US" altLang="en-US" dirty="0">
                <a:solidFill>
                  <a:srgbClr val="FF0000"/>
                </a:solidFill>
                <a:cs typeface="Times New Roman" panose="02020603050405020304" pitchFamily="18" charset="0"/>
              </a:rPr>
              <a:t>AutoClientV5a.java</a:t>
            </a:r>
            <a:r>
              <a:rPr lang="en-US" altLang="en-US" dirty="0">
                <a:cs typeface="Times New Roman" panose="02020603050405020304" pitchFamily="18" charset="0"/>
              </a:rPr>
              <a:t>, </a:t>
            </a:r>
            <a:r>
              <a:rPr lang="en-US" altLang="en-US" dirty="0">
                <a:solidFill>
                  <a:srgbClr val="FF0000"/>
                </a:solidFill>
                <a:cs typeface="Times New Roman" panose="02020603050405020304" pitchFamily="18" charset="0"/>
              </a:rPr>
              <a:t>AutoV5a.java</a:t>
            </a:r>
            <a:r>
              <a:rPr lang="en-US" altLang="en-US" sz="2800" dirty="0">
                <a:solidFill>
                  <a:srgbClr val="FF0000"/>
                </a:solidFill>
                <a:cs typeface="Times New Roman" panose="02020603050405020304" pitchFamily="18" charset="0"/>
              </a:rPr>
              <a:t> </a:t>
            </a:r>
            <a:endParaRPr lang="en-US" dirty="0">
              <a:solidFill>
                <a:srgbClr val="FF0000"/>
              </a:solidFill>
            </a:endParaRPr>
          </a:p>
          <a:p>
            <a:endParaRPr lang="en-US" dirty="0"/>
          </a:p>
        </p:txBody>
      </p:sp>
      <p:sp>
        <p:nvSpPr>
          <p:cNvPr id="4" name="Slide Number Placeholder 3">
            <a:extLst>
              <a:ext uri="{FF2B5EF4-FFF2-40B4-BE49-F238E27FC236}">
                <a16:creationId xmlns:a16="http://schemas.microsoft.com/office/drawing/2014/main" id="{C0CF5BEB-3E6D-2F4F-85F6-BB16C88A0DA4}"/>
              </a:ext>
            </a:extLst>
          </p:cNvPr>
          <p:cNvSpPr>
            <a:spLocks noGrp="1"/>
          </p:cNvSpPr>
          <p:nvPr>
            <p:ph type="sldNum" sz="quarter" idx="12"/>
          </p:nvPr>
        </p:nvSpPr>
        <p:spPr/>
        <p:txBody>
          <a:bodyPr/>
          <a:lstStyle/>
          <a:p>
            <a:fld id="{13977939-A071-43C1-9268-F54CC2756BB5}" type="slidenum">
              <a:rPr lang="en-US" smtClean="0"/>
              <a:pPr/>
              <a:t>53</a:t>
            </a:fld>
            <a:endParaRPr lang="en-US" dirty="0"/>
          </a:p>
        </p:txBody>
      </p:sp>
    </p:spTree>
    <p:extLst>
      <p:ext uri="{BB962C8B-B14F-4D97-AF65-F5344CB8AC3E}">
        <p14:creationId xmlns:p14="http://schemas.microsoft.com/office/powerpoint/2010/main" val="298625627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B9602-4031-D540-BF93-880EBA92BD58}"/>
              </a:ext>
            </a:extLst>
          </p:cNvPr>
          <p:cNvSpPr>
            <a:spLocks noGrp="1"/>
          </p:cNvSpPr>
          <p:nvPr>
            <p:ph type="title"/>
          </p:nvPr>
        </p:nvSpPr>
        <p:spPr>
          <a:xfrm>
            <a:off x="457200" y="152400"/>
            <a:ext cx="8229600" cy="475488"/>
          </a:xfrm>
        </p:spPr>
        <p:txBody>
          <a:bodyPr>
            <a:noAutofit/>
          </a:bodyPr>
          <a:lstStyle/>
          <a:p>
            <a:r>
              <a:rPr lang="en-US" dirty="0"/>
              <a:t>Access Modifiers – A Special Case</a:t>
            </a:r>
          </a:p>
        </p:txBody>
      </p:sp>
      <p:sp>
        <p:nvSpPr>
          <p:cNvPr id="3" name="Content Placeholder 2">
            <a:extLst>
              <a:ext uri="{FF2B5EF4-FFF2-40B4-BE49-F238E27FC236}">
                <a16:creationId xmlns:a16="http://schemas.microsoft.com/office/drawing/2014/main" id="{1B20C6ED-DD4B-C247-B479-92C47ABC9FD7}"/>
              </a:ext>
            </a:extLst>
          </p:cNvPr>
          <p:cNvSpPr>
            <a:spLocks noGrp="1"/>
          </p:cNvSpPr>
          <p:nvPr>
            <p:ph idx="1"/>
          </p:nvPr>
        </p:nvSpPr>
        <p:spPr>
          <a:xfrm>
            <a:off x="228600" y="704088"/>
            <a:ext cx="8686800" cy="6153912"/>
          </a:xfrm>
        </p:spPr>
        <p:txBody>
          <a:bodyPr>
            <a:normAutofit fontScale="70000" lnSpcReduction="20000"/>
          </a:bodyPr>
          <a:lstStyle/>
          <a:p>
            <a:r>
              <a:rPr lang="en-US" dirty="0"/>
              <a:t>There is a special case that might not seem immediately obvious</a:t>
            </a:r>
          </a:p>
          <a:p>
            <a:r>
              <a:rPr lang="en-US" dirty="0"/>
              <a:t>One Alpha object </a:t>
            </a:r>
            <a:r>
              <a:rPr lang="en-US" dirty="0">
                <a:solidFill>
                  <a:srgbClr val="FF0000"/>
                </a:solidFill>
              </a:rPr>
              <a:t>can</a:t>
            </a:r>
            <a:r>
              <a:rPr lang="en-US" dirty="0"/>
              <a:t> access the private variables of another Alpha object. </a:t>
            </a:r>
          </a:p>
          <a:p>
            <a:pPr lvl="1"/>
            <a:r>
              <a:rPr lang="en-US" dirty="0"/>
              <a:t>This can be illustrated by the following example. </a:t>
            </a:r>
          </a:p>
          <a:p>
            <a:pPr lvl="1"/>
            <a:r>
              <a:rPr lang="en-US" dirty="0"/>
              <a:t>Suppose the Alpha class contained an instance method that compared the current Alpha object (this) to another object based on their  iAmPrivate variables:</a:t>
            </a:r>
          </a:p>
          <a:p>
            <a:pPr marL="27432" indent="0">
              <a:buNone/>
            </a:pPr>
            <a:r>
              <a:rPr lang="en-US" sz="2000" dirty="0"/>
              <a:t>class Alpha </a:t>
            </a:r>
          </a:p>
          <a:p>
            <a:pPr marL="27432" indent="0">
              <a:buNone/>
            </a:pPr>
            <a:r>
              <a:rPr lang="en-US" sz="2000" dirty="0"/>
              <a:t>{ </a:t>
            </a:r>
          </a:p>
          <a:p>
            <a:pPr marL="27432" indent="0">
              <a:buNone/>
            </a:pPr>
            <a:r>
              <a:rPr lang="en-US" sz="2000" dirty="0"/>
              <a:t>   private int iAmPrivate; </a:t>
            </a:r>
          </a:p>
          <a:p>
            <a:pPr marL="27432" indent="0">
              <a:buNone/>
            </a:pPr>
            <a:r>
              <a:rPr lang="en-US" sz="2000" dirty="0"/>
              <a:t>   public boolean isEqualTo(Alpha anotherAlpha) </a:t>
            </a:r>
          </a:p>
          <a:p>
            <a:pPr marL="27432" indent="0">
              <a:buNone/>
            </a:pPr>
            <a:r>
              <a:rPr lang="en-US" sz="2000" dirty="0"/>
              <a:t>   { </a:t>
            </a:r>
          </a:p>
          <a:p>
            <a:pPr marL="27432" indent="0">
              <a:buNone/>
            </a:pPr>
            <a:r>
              <a:rPr lang="en-US" sz="2000" dirty="0"/>
              <a:t>      if (this.iAmPrivate == anotherAlpha.iAmPrivate) //same as (iAmPrivate == anotherAlpha.getIAmPrivate()</a:t>
            </a:r>
          </a:p>
          <a:p>
            <a:pPr marL="27432" indent="0">
              <a:buNone/>
            </a:pPr>
            <a:r>
              <a:rPr lang="en-US" sz="2000" dirty="0"/>
              <a:t>          return true; </a:t>
            </a:r>
          </a:p>
          <a:p>
            <a:pPr marL="27432" indent="0">
              <a:buNone/>
            </a:pPr>
            <a:r>
              <a:rPr lang="en-US" sz="2000" dirty="0"/>
              <a:t>     else </a:t>
            </a:r>
          </a:p>
          <a:p>
            <a:pPr marL="27432" indent="0">
              <a:buNone/>
            </a:pPr>
            <a:r>
              <a:rPr lang="en-US" sz="2000" dirty="0"/>
              <a:t>         return false; </a:t>
            </a:r>
          </a:p>
          <a:p>
            <a:pPr marL="27432" indent="0">
              <a:buNone/>
            </a:pPr>
            <a:r>
              <a:rPr lang="en-US" sz="2000" dirty="0"/>
              <a:t>   } </a:t>
            </a:r>
          </a:p>
          <a:p>
            <a:pPr marL="27432" indent="0">
              <a:buNone/>
            </a:pPr>
            <a:r>
              <a:rPr lang="en-US" sz="2000" dirty="0"/>
              <a:t>} </a:t>
            </a:r>
          </a:p>
          <a:p>
            <a:r>
              <a:rPr lang="en-US" dirty="0"/>
              <a:t>This is perfectly legal. </a:t>
            </a:r>
          </a:p>
          <a:p>
            <a:pPr lvl="1"/>
            <a:r>
              <a:rPr lang="en-US" dirty="0"/>
              <a:t>Objects of the same type have access to one another's private variables without the use of an accessor (to be explained) </a:t>
            </a:r>
          </a:p>
          <a:p>
            <a:pPr lvl="1"/>
            <a:r>
              <a:rPr lang="en-US" dirty="0"/>
              <a:t>This is because access restrictions apply at the class or type level (all instances of a class) rather than at the object level (this particular instance of a class).</a:t>
            </a:r>
          </a:p>
          <a:p>
            <a:r>
              <a:rPr lang="en-US" altLang="en-US" dirty="0"/>
              <a:t>Note: Above is not an overload of equals</a:t>
            </a:r>
          </a:p>
          <a:p>
            <a:pPr lvl="1"/>
            <a:r>
              <a:rPr lang="en-US" altLang="en-US" dirty="0"/>
              <a:t>I actually prefer just using an accessor method for the variable</a:t>
            </a:r>
          </a:p>
        </p:txBody>
      </p:sp>
      <p:sp>
        <p:nvSpPr>
          <p:cNvPr id="4" name="Slide Number Placeholder 3">
            <a:extLst>
              <a:ext uri="{FF2B5EF4-FFF2-40B4-BE49-F238E27FC236}">
                <a16:creationId xmlns:a16="http://schemas.microsoft.com/office/drawing/2014/main" id="{3F625206-43BD-084A-8CDB-EBDCD79D703C}"/>
              </a:ext>
            </a:extLst>
          </p:cNvPr>
          <p:cNvSpPr>
            <a:spLocks noGrp="1"/>
          </p:cNvSpPr>
          <p:nvPr>
            <p:ph type="sldNum" sz="quarter" idx="12"/>
          </p:nvPr>
        </p:nvSpPr>
        <p:spPr/>
        <p:txBody>
          <a:bodyPr/>
          <a:lstStyle/>
          <a:p>
            <a:fld id="{13977939-A071-43C1-9268-F54CC2756BB5}" type="slidenum">
              <a:rPr lang="en-US" smtClean="0"/>
              <a:pPr/>
              <a:t>54</a:t>
            </a:fld>
            <a:endParaRPr lang="en-US" dirty="0"/>
          </a:p>
        </p:txBody>
      </p:sp>
    </p:spTree>
    <p:extLst>
      <p:ext uri="{BB962C8B-B14F-4D97-AF65-F5344CB8AC3E}">
        <p14:creationId xmlns:p14="http://schemas.microsoft.com/office/powerpoint/2010/main" val="247466118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57E6B3-5256-9749-96CA-E462735430CD}"/>
              </a:ext>
            </a:extLst>
          </p:cNvPr>
          <p:cNvSpPr>
            <a:spLocks noGrp="1"/>
          </p:cNvSpPr>
          <p:nvPr>
            <p:ph type="title"/>
          </p:nvPr>
        </p:nvSpPr>
        <p:spPr/>
        <p:txBody>
          <a:bodyPr>
            <a:noAutofit/>
          </a:bodyPr>
          <a:lstStyle/>
          <a:p>
            <a:r>
              <a:rPr lang="en-US" dirty="0"/>
              <a:t>Calling A Constructor From A Constructor (1)</a:t>
            </a:r>
          </a:p>
        </p:txBody>
      </p:sp>
      <p:sp>
        <p:nvSpPr>
          <p:cNvPr id="3" name="Content Placeholder 2">
            <a:extLst>
              <a:ext uri="{FF2B5EF4-FFF2-40B4-BE49-F238E27FC236}">
                <a16:creationId xmlns:a16="http://schemas.microsoft.com/office/drawing/2014/main" id="{D686321A-EBD5-1D4D-9FBF-B9E77A96C50D}"/>
              </a:ext>
            </a:extLst>
          </p:cNvPr>
          <p:cNvSpPr>
            <a:spLocks noGrp="1"/>
          </p:cNvSpPr>
          <p:nvPr>
            <p:ph idx="1"/>
          </p:nvPr>
        </p:nvSpPr>
        <p:spPr>
          <a:xfrm>
            <a:off x="457200" y="990600"/>
            <a:ext cx="8229600" cy="5730875"/>
          </a:xfrm>
        </p:spPr>
        <p:txBody>
          <a:bodyPr>
            <a:normAutofit fontScale="62500" lnSpcReduction="20000"/>
          </a:bodyPr>
          <a:lstStyle/>
          <a:p>
            <a:r>
              <a:rPr lang="en-US" dirty="0">
                <a:solidFill>
                  <a:srgbClr val="FF0000"/>
                </a:solidFill>
              </a:rPr>
              <a:t>If one constructor calls another constructor, no other statements can precede that call.</a:t>
            </a:r>
          </a:p>
          <a:p>
            <a:r>
              <a:rPr lang="en-US" dirty="0"/>
              <a:t>So look at the following class:</a:t>
            </a:r>
          </a:p>
          <a:p>
            <a:pPr marL="0" indent="0">
              <a:buNone/>
            </a:pPr>
            <a:r>
              <a:rPr lang="en-US" dirty="0"/>
              <a:t>public class Room</a:t>
            </a:r>
          </a:p>
          <a:p>
            <a:pPr marL="0" indent="0">
              <a:buNone/>
            </a:pPr>
            <a:r>
              <a:rPr lang="en-US" dirty="0"/>
              <a:t>{ </a:t>
            </a:r>
          </a:p>
          <a:p>
            <a:pPr marL="365760" lvl="1" indent="0">
              <a:buNone/>
            </a:pPr>
            <a:r>
              <a:rPr lang="en-US" dirty="0"/>
              <a:t>private int length;</a:t>
            </a:r>
            <a:br>
              <a:rPr lang="en-US" dirty="0"/>
            </a:br>
            <a:r>
              <a:rPr lang="en-US" dirty="0"/>
              <a:t>private int width;</a:t>
            </a:r>
            <a:br>
              <a:rPr lang="en-US" dirty="0"/>
            </a:br>
            <a:r>
              <a:rPr lang="en-US" dirty="0"/>
              <a:t>private int height;</a:t>
            </a:r>
            <a:br>
              <a:rPr lang="en-US" dirty="0"/>
            </a:br>
            <a:r>
              <a:rPr lang="en-US" dirty="0"/>
              <a:t>private double gallonsOfPaint; </a:t>
            </a:r>
          </a:p>
          <a:p>
            <a:pPr marL="365760" lvl="1" indent="0">
              <a:buNone/>
            </a:pPr>
            <a:r>
              <a:rPr lang="en-US" dirty="0"/>
              <a:t>public Room() </a:t>
            </a:r>
          </a:p>
          <a:p>
            <a:pPr marL="365760" lvl="1" indent="0">
              <a:buNone/>
            </a:pPr>
            <a:r>
              <a:rPr lang="en-US" dirty="0"/>
              <a:t>{</a:t>
            </a:r>
            <a:br>
              <a:rPr lang="en-US" dirty="0"/>
            </a:br>
            <a:r>
              <a:rPr lang="en-US" dirty="0"/>
              <a:t>	length = 9; </a:t>
            </a:r>
          </a:p>
          <a:p>
            <a:pPr marL="365760" lvl="1" indent="0">
              <a:buNone/>
            </a:pPr>
            <a:r>
              <a:rPr lang="en-US" dirty="0"/>
              <a:t>	width =12; </a:t>
            </a:r>
          </a:p>
          <a:p>
            <a:pPr marL="365760" lvl="1" indent="0">
              <a:buNone/>
            </a:pPr>
            <a:r>
              <a:rPr lang="en-US" dirty="0"/>
              <a:t>	height = 8;</a:t>
            </a:r>
          </a:p>
          <a:p>
            <a:pPr marL="0" indent="0">
              <a:buNone/>
            </a:pPr>
            <a:r>
              <a:rPr lang="en-US" dirty="0"/>
              <a:t>       }</a:t>
            </a:r>
            <a:br>
              <a:rPr lang="en-US" dirty="0"/>
            </a:br>
            <a:r>
              <a:rPr lang="en-US" dirty="0"/>
              <a:t>       </a:t>
            </a:r>
            <a:r>
              <a:rPr lang="en-US" sz="2800" dirty="0"/>
              <a:t>public Room(int length, int width, int height) // three-argument constructor </a:t>
            </a:r>
          </a:p>
          <a:p>
            <a:pPr marL="0" indent="0">
              <a:buNone/>
            </a:pPr>
            <a:r>
              <a:rPr lang="en-US" sz="2800" dirty="0"/>
              <a:t>      { </a:t>
            </a:r>
            <a:endParaRPr lang="en-US" dirty="0"/>
          </a:p>
          <a:p>
            <a:pPr marL="640080" lvl="2" indent="0">
              <a:buNone/>
            </a:pPr>
            <a:r>
              <a:rPr lang="en-US" sz="2300" dirty="0"/>
              <a:t>this.length = length;</a:t>
            </a:r>
            <a:br>
              <a:rPr lang="en-US" sz="2300" dirty="0"/>
            </a:br>
            <a:r>
              <a:rPr lang="en-US" sz="2300" dirty="0"/>
              <a:t>this.width = width;</a:t>
            </a:r>
            <a:br>
              <a:rPr lang="en-US" sz="2300" dirty="0"/>
            </a:br>
            <a:r>
              <a:rPr lang="en-US" sz="2300" dirty="0"/>
              <a:t>this.height = height; </a:t>
            </a:r>
            <a:endParaRPr lang="en-US" dirty="0"/>
          </a:p>
          <a:p>
            <a:pPr marL="365760" lvl="1" indent="0">
              <a:buNone/>
            </a:pPr>
            <a:r>
              <a:rPr lang="en-US" dirty="0"/>
              <a:t>}</a:t>
            </a:r>
          </a:p>
          <a:p>
            <a:pPr marL="0" indent="0">
              <a:buNone/>
            </a:pPr>
            <a:r>
              <a:rPr lang="en-US" dirty="0"/>
              <a:t>}</a:t>
            </a:r>
          </a:p>
          <a:p>
            <a:pPr marL="0" indent="0">
              <a:buNone/>
            </a:pPr>
            <a:endParaRPr lang="en-US" dirty="0"/>
          </a:p>
          <a:p>
            <a:r>
              <a:rPr lang="en-US" dirty="0"/>
              <a:t>You can write it alternatively as shown on the next slide</a:t>
            </a:r>
          </a:p>
        </p:txBody>
      </p:sp>
      <p:sp>
        <p:nvSpPr>
          <p:cNvPr id="4" name="Slide Number Placeholder 3">
            <a:extLst>
              <a:ext uri="{FF2B5EF4-FFF2-40B4-BE49-F238E27FC236}">
                <a16:creationId xmlns:a16="http://schemas.microsoft.com/office/drawing/2014/main" id="{4BB68242-DF31-7D40-B2D5-B21F9CF0BF28}"/>
              </a:ext>
            </a:extLst>
          </p:cNvPr>
          <p:cNvSpPr>
            <a:spLocks noGrp="1"/>
          </p:cNvSpPr>
          <p:nvPr>
            <p:ph type="sldNum" sz="quarter" idx="12"/>
          </p:nvPr>
        </p:nvSpPr>
        <p:spPr/>
        <p:txBody>
          <a:bodyPr/>
          <a:lstStyle/>
          <a:p>
            <a:fld id="{13977939-A071-43C1-9268-F54CC2756BB5}" type="slidenum">
              <a:rPr lang="en-US" smtClean="0"/>
              <a:pPr/>
              <a:t>55</a:t>
            </a:fld>
            <a:endParaRPr lang="en-US" dirty="0"/>
          </a:p>
        </p:txBody>
      </p:sp>
    </p:spTree>
    <p:extLst>
      <p:ext uri="{BB962C8B-B14F-4D97-AF65-F5344CB8AC3E}">
        <p14:creationId xmlns:p14="http://schemas.microsoft.com/office/powerpoint/2010/main" val="277103344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57E6B3-5256-9749-96CA-E462735430CD}"/>
              </a:ext>
            </a:extLst>
          </p:cNvPr>
          <p:cNvSpPr>
            <a:spLocks noGrp="1"/>
          </p:cNvSpPr>
          <p:nvPr>
            <p:ph type="title"/>
          </p:nvPr>
        </p:nvSpPr>
        <p:spPr/>
        <p:txBody>
          <a:bodyPr>
            <a:noAutofit/>
          </a:bodyPr>
          <a:lstStyle/>
          <a:p>
            <a:r>
              <a:rPr lang="en-US" dirty="0"/>
              <a:t>Calling A Constructor From A Constructor (2)</a:t>
            </a:r>
          </a:p>
        </p:txBody>
      </p:sp>
      <p:sp>
        <p:nvSpPr>
          <p:cNvPr id="3" name="Content Placeholder 2">
            <a:extLst>
              <a:ext uri="{FF2B5EF4-FFF2-40B4-BE49-F238E27FC236}">
                <a16:creationId xmlns:a16="http://schemas.microsoft.com/office/drawing/2014/main" id="{D686321A-EBD5-1D4D-9FBF-B9E77A96C50D}"/>
              </a:ext>
            </a:extLst>
          </p:cNvPr>
          <p:cNvSpPr>
            <a:spLocks noGrp="1"/>
          </p:cNvSpPr>
          <p:nvPr>
            <p:ph idx="1"/>
          </p:nvPr>
        </p:nvSpPr>
        <p:spPr>
          <a:xfrm>
            <a:off x="457200" y="1249680"/>
            <a:ext cx="8229600" cy="5106670"/>
          </a:xfrm>
        </p:spPr>
        <p:txBody>
          <a:bodyPr>
            <a:normAutofit fontScale="70000" lnSpcReduction="20000"/>
          </a:bodyPr>
          <a:lstStyle/>
          <a:p>
            <a:r>
              <a:rPr lang="en-US" dirty="0"/>
              <a:t>So look at the following rewritten class:</a:t>
            </a:r>
          </a:p>
          <a:p>
            <a:pPr marL="0" indent="0">
              <a:buNone/>
            </a:pPr>
            <a:r>
              <a:rPr lang="en-US" dirty="0"/>
              <a:t>public class Room </a:t>
            </a:r>
          </a:p>
          <a:p>
            <a:pPr marL="0" indent="0">
              <a:buNone/>
            </a:pPr>
            <a:r>
              <a:rPr lang="en-US" dirty="0"/>
              <a:t>{ </a:t>
            </a:r>
          </a:p>
          <a:p>
            <a:pPr marL="365760" lvl="1" indent="0">
              <a:buNone/>
            </a:pPr>
            <a:r>
              <a:rPr lang="en-US" dirty="0"/>
              <a:t>private int length;</a:t>
            </a:r>
            <a:br>
              <a:rPr lang="en-US" dirty="0"/>
            </a:br>
            <a:r>
              <a:rPr lang="en-US" dirty="0"/>
              <a:t>private int width;</a:t>
            </a:r>
            <a:br>
              <a:rPr lang="en-US" dirty="0"/>
            </a:br>
            <a:r>
              <a:rPr lang="en-US" dirty="0"/>
              <a:t>private int height;</a:t>
            </a:r>
            <a:br>
              <a:rPr lang="en-US" dirty="0"/>
            </a:br>
            <a:r>
              <a:rPr lang="en-US" dirty="0"/>
              <a:t>private double gallonsOfPaint; </a:t>
            </a:r>
          </a:p>
          <a:p>
            <a:pPr marL="365760" lvl="1" indent="0">
              <a:buNone/>
            </a:pPr>
            <a:r>
              <a:rPr lang="en-US" dirty="0"/>
              <a:t>public Room() </a:t>
            </a:r>
          </a:p>
          <a:p>
            <a:pPr marL="365760" lvl="1" indent="0">
              <a:buNone/>
            </a:pPr>
            <a:r>
              <a:rPr lang="en-US" dirty="0"/>
              <a:t>{</a:t>
            </a:r>
            <a:br>
              <a:rPr lang="en-US" dirty="0"/>
            </a:br>
            <a:r>
              <a:rPr lang="en-US" dirty="0"/>
              <a:t>	</a:t>
            </a:r>
            <a:r>
              <a:rPr lang="en-US" dirty="0">
                <a:solidFill>
                  <a:srgbClr val="FF0000"/>
                </a:solidFill>
              </a:rPr>
              <a:t>this(9, 12, 8);//does the same thing, calling the 3-parameter constructor</a:t>
            </a:r>
          </a:p>
          <a:p>
            <a:pPr marL="0" indent="0">
              <a:buNone/>
            </a:pPr>
            <a:r>
              <a:rPr lang="en-US" dirty="0"/>
              <a:t>       }</a:t>
            </a:r>
            <a:br>
              <a:rPr lang="en-US" dirty="0"/>
            </a:br>
            <a:r>
              <a:rPr lang="en-US" dirty="0"/>
              <a:t>       </a:t>
            </a:r>
            <a:r>
              <a:rPr lang="en-US" sz="2800" dirty="0"/>
              <a:t>public Room(int length, int width, int height) // three-argument constructor </a:t>
            </a:r>
          </a:p>
          <a:p>
            <a:pPr marL="0" indent="0">
              <a:buNone/>
            </a:pPr>
            <a:r>
              <a:rPr lang="en-US" sz="2800" dirty="0"/>
              <a:t>      { </a:t>
            </a:r>
            <a:endParaRPr lang="en-US" dirty="0"/>
          </a:p>
          <a:p>
            <a:pPr marL="640080" lvl="2" indent="0">
              <a:buNone/>
            </a:pPr>
            <a:r>
              <a:rPr lang="en-US" sz="2300" dirty="0"/>
              <a:t>this.length = length;</a:t>
            </a:r>
            <a:br>
              <a:rPr lang="en-US" sz="2300" dirty="0"/>
            </a:br>
            <a:r>
              <a:rPr lang="en-US" sz="2300" dirty="0"/>
              <a:t>this.width = width;</a:t>
            </a:r>
            <a:br>
              <a:rPr lang="en-US" sz="2300" dirty="0"/>
            </a:br>
            <a:r>
              <a:rPr lang="en-US" sz="2300" dirty="0"/>
              <a:t>this.height = height; </a:t>
            </a:r>
            <a:endParaRPr lang="en-US" dirty="0"/>
          </a:p>
          <a:p>
            <a:pPr marL="365760" lvl="1" indent="0">
              <a:buNone/>
            </a:pPr>
            <a:r>
              <a:rPr lang="en-US" dirty="0"/>
              <a:t>}</a:t>
            </a:r>
          </a:p>
          <a:p>
            <a:pPr marL="0" indent="0">
              <a:buNone/>
            </a:pPr>
            <a:r>
              <a:rPr lang="en-US" dirty="0"/>
              <a:t>}</a:t>
            </a:r>
          </a:p>
          <a:p>
            <a:pPr marL="0" indent="0">
              <a:buNone/>
            </a:pPr>
            <a:endParaRPr lang="en-US" dirty="0"/>
          </a:p>
        </p:txBody>
      </p:sp>
      <p:sp>
        <p:nvSpPr>
          <p:cNvPr id="4" name="Slide Number Placeholder 3">
            <a:extLst>
              <a:ext uri="{FF2B5EF4-FFF2-40B4-BE49-F238E27FC236}">
                <a16:creationId xmlns:a16="http://schemas.microsoft.com/office/drawing/2014/main" id="{4BB68242-DF31-7D40-B2D5-B21F9CF0BF28}"/>
              </a:ext>
            </a:extLst>
          </p:cNvPr>
          <p:cNvSpPr>
            <a:spLocks noGrp="1"/>
          </p:cNvSpPr>
          <p:nvPr>
            <p:ph type="sldNum" sz="quarter" idx="12"/>
          </p:nvPr>
        </p:nvSpPr>
        <p:spPr/>
        <p:txBody>
          <a:bodyPr/>
          <a:lstStyle/>
          <a:p>
            <a:fld id="{13977939-A071-43C1-9268-F54CC2756BB5}" type="slidenum">
              <a:rPr lang="en-US" smtClean="0"/>
              <a:pPr/>
              <a:t>56</a:t>
            </a:fld>
            <a:endParaRPr lang="en-US" dirty="0"/>
          </a:p>
        </p:txBody>
      </p:sp>
    </p:spTree>
    <p:extLst>
      <p:ext uri="{BB962C8B-B14F-4D97-AF65-F5344CB8AC3E}">
        <p14:creationId xmlns:p14="http://schemas.microsoft.com/office/powerpoint/2010/main" val="50240799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9DFA8-A508-2F40-A5B1-8485CD5D5CC1}"/>
              </a:ext>
            </a:extLst>
          </p:cNvPr>
          <p:cNvSpPr>
            <a:spLocks noGrp="1"/>
          </p:cNvSpPr>
          <p:nvPr>
            <p:ph type="title"/>
          </p:nvPr>
        </p:nvSpPr>
        <p:spPr>
          <a:xfrm>
            <a:off x="457200" y="57912"/>
            <a:ext cx="8229600" cy="475488"/>
          </a:xfrm>
        </p:spPr>
        <p:txBody>
          <a:bodyPr>
            <a:noAutofit/>
          </a:bodyPr>
          <a:lstStyle/>
          <a:p>
            <a:r>
              <a:rPr lang="en-US" dirty="0"/>
              <a:t>A Constructor Checklist (1)</a:t>
            </a:r>
          </a:p>
        </p:txBody>
      </p:sp>
      <p:sp>
        <p:nvSpPr>
          <p:cNvPr id="3" name="Content Placeholder 2">
            <a:extLst>
              <a:ext uri="{FF2B5EF4-FFF2-40B4-BE49-F238E27FC236}">
                <a16:creationId xmlns:a16="http://schemas.microsoft.com/office/drawing/2014/main" id="{3EE81953-564A-BD4B-A6FE-6A045D581CA4}"/>
              </a:ext>
            </a:extLst>
          </p:cNvPr>
          <p:cNvSpPr>
            <a:spLocks noGrp="1"/>
          </p:cNvSpPr>
          <p:nvPr>
            <p:ph idx="1"/>
          </p:nvPr>
        </p:nvSpPr>
        <p:spPr>
          <a:xfrm>
            <a:off x="76200" y="533400"/>
            <a:ext cx="8991600" cy="6324600"/>
          </a:xfrm>
        </p:spPr>
        <p:txBody>
          <a:bodyPr>
            <a:normAutofit lnSpcReduction="10000"/>
          </a:bodyPr>
          <a:lstStyle/>
          <a:p>
            <a:r>
              <a:rPr lang="en-US" dirty="0"/>
              <a:t>A constructor runs when we code with the new keyword followed by a class name with a parameter list of 0 or more parameters, dependent on the constructor being called.</a:t>
            </a:r>
          </a:p>
          <a:p>
            <a:r>
              <a:rPr lang="en-US" dirty="0"/>
              <a:t>Constructors must have the same name as the class and no return type.</a:t>
            </a:r>
          </a:p>
          <a:p>
            <a:r>
              <a:rPr lang="en-US" dirty="0"/>
              <a:t>Constructors are used to initialize the instance variables (object state) of the object instance being constructed, usually via calls to mutator methods.</a:t>
            </a:r>
          </a:p>
          <a:p>
            <a:r>
              <a:rPr lang="en-US" dirty="0"/>
              <a:t>If you don't code a constructor in your class the compiler will put in a </a:t>
            </a:r>
            <a:r>
              <a:rPr lang="en-US" dirty="0">
                <a:solidFill>
                  <a:srgbClr val="FF0000"/>
                </a:solidFill>
              </a:rPr>
              <a:t>default</a:t>
            </a:r>
            <a:r>
              <a:rPr lang="en-US" dirty="0"/>
              <a:t> no arguments constructor – it will have a body, but there won’t be any code in it aside from a </a:t>
            </a:r>
            <a:r>
              <a:rPr lang="en-US" dirty="0">
                <a:solidFill>
                  <a:srgbClr val="FF0000"/>
                </a:solidFill>
              </a:rPr>
              <a:t>super(); </a:t>
            </a:r>
            <a:r>
              <a:rPr lang="en-US" dirty="0"/>
              <a:t>call (described when we get to inheritance)</a:t>
            </a:r>
          </a:p>
          <a:p>
            <a:r>
              <a:rPr lang="en-US" dirty="0"/>
              <a:t>If you do code a constructor in your class, the compiler will </a:t>
            </a:r>
            <a:r>
              <a:rPr lang="en-US" dirty="0">
                <a:solidFill>
                  <a:srgbClr val="FF0000"/>
                </a:solidFill>
              </a:rPr>
              <a:t>NOT</a:t>
            </a:r>
            <a:r>
              <a:rPr lang="en-US" dirty="0"/>
              <a:t> put in a default no arguments constructor -if needed you will have to code it yourself.</a:t>
            </a:r>
          </a:p>
        </p:txBody>
      </p:sp>
      <p:sp>
        <p:nvSpPr>
          <p:cNvPr id="4" name="Slide Number Placeholder 3">
            <a:extLst>
              <a:ext uri="{FF2B5EF4-FFF2-40B4-BE49-F238E27FC236}">
                <a16:creationId xmlns:a16="http://schemas.microsoft.com/office/drawing/2014/main" id="{092B47A1-A57C-1F44-9A71-E13363BDCE8E}"/>
              </a:ext>
            </a:extLst>
          </p:cNvPr>
          <p:cNvSpPr>
            <a:spLocks noGrp="1"/>
          </p:cNvSpPr>
          <p:nvPr>
            <p:ph type="sldNum" sz="quarter" idx="12"/>
          </p:nvPr>
        </p:nvSpPr>
        <p:spPr/>
        <p:txBody>
          <a:bodyPr/>
          <a:lstStyle/>
          <a:p>
            <a:fld id="{13977939-A071-43C1-9268-F54CC2756BB5}" type="slidenum">
              <a:rPr lang="en-US" smtClean="0"/>
              <a:pPr/>
              <a:t>57</a:t>
            </a:fld>
            <a:endParaRPr lang="en-US" dirty="0"/>
          </a:p>
        </p:txBody>
      </p:sp>
    </p:spTree>
    <p:extLst>
      <p:ext uri="{BB962C8B-B14F-4D97-AF65-F5344CB8AC3E}">
        <p14:creationId xmlns:p14="http://schemas.microsoft.com/office/powerpoint/2010/main" val="144130280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77E8C-DD58-BB42-D9C4-1CE2075FCE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7708D3-DF97-D640-503C-BDA5597172A0}"/>
              </a:ext>
            </a:extLst>
          </p:cNvPr>
          <p:cNvSpPr>
            <a:spLocks noGrp="1"/>
          </p:cNvSpPr>
          <p:nvPr>
            <p:ph type="title"/>
          </p:nvPr>
        </p:nvSpPr>
        <p:spPr>
          <a:xfrm>
            <a:off x="457200" y="57912"/>
            <a:ext cx="8229600" cy="475488"/>
          </a:xfrm>
        </p:spPr>
        <p:txBody>
          <a:bodyPr>
            <a:noAutofit/>
          </a:bodyPr>
          <a:lstStyle/>
          <a:p>
            <a:r>
              <a:rPr lang="en-US" dirty="0"/>
              <a:t>A Constructor Checklist (2)</a:t>
            </a:r>
          </a:p>
        </p:txBody>
      </p:sp>
      <p:sp>
        <p:nvSpPr>
          <p:cNvPr id="3" name="Content Placeholder 2">
            <a:extLst>
              <a:ext uri="{FF2B5EF4-FFF2-40B4-BE49-F238E27FC236}">
                <a16:creationId xmlns:a16="http://schemas.microsoft.com/office/drawing/2014/main" id="{BCCC03F3-016F-F6D9-9DB4-35DF065AEC8D}"/>
              </a:ext>
            </a:extLst>
          </p:cNvPr>
          <p:cNvSpPr>
            <a:spLocks noGrp="1"/>
          </p:cNvSpPr>
          <p:nvPr>
            <p:ph idx="1"/>
          </p:nvPr>
        </p:nvSpPr>
        <p:spPr>
          <a:xfrm>
            <a:off x="76200" y="533400"/>
            <a:ext cx="8991600" cy="6324600"/>
          </a:xfrm>
        </p:spPr>
        <p:txBody>
          <a:bodyPr>
            <a:normAutofit fontScale="92500"/>
          </a:bodyPr>
          <a:lstStyle/>
          <a:p>
            <a:r>
              <a:rPr lang="en-US" dirty="0"/>
              <a:t>We can have more than one constructor in a class - they may be overloaded.</a:t>
            </a:r>
          </a:p>
          <a:p>
            <a:pPr lvl="1"/>
            <a:r>
              <a:rPr lang="en-US" dirty="0"/>
              <a:t>When using overloaded constructors in a class, each one must have different argument list so the compiler knows which constructor to use to construct our objects. Having the same argument types is fine as long as the order differs.</a:t>
            </a:r>
          </a:p>
          <a:p>
            <a:r>
              <a:rPr lang="en-US" dirty="0"/>
              <a:t>You can refer to any member of the current object from within a non-static method or constructor by using the </a:t>
            </a:r>
            <a:r>
              <a:rPr lang="en-US" dirty="0">
                <a:solidFill>
                  <a:srgbClr val="FF0000"/>
                </a:solidFill>
              </a:rPr>
              <a:t>this</a:t>
            </a:r>
            <a:r>
              <a:rPr lang="en-US" dirty="0"/>
              <a:t> keyword.</a:t>
            </a:r>
          </a:p>
          <a:p>
            <a:pPr lvl="1"/>
            <a:r>
              <a:rPr lang="en-US" dirty="0"/>
              <a:t>You can invoke one constructor from another constructor within the same class by calling this(</a:t>
            </a:r>
            <a:r>
              <a:rPr lang="en-US" i="1" dirty="0"/>
              <a:t>parameter list</a:t>
            </a:r>
            <a:r>
              <a:rPr lang="en-US" dirty="0"/>
              <a:t>) and doing so is known as explicit constructor invocation.</a:t>
            </a:r>
          </a:p>
          <a:p>
            <a:pPr lvl="1"/>
            <a:r>
              <a:rPr lang="en-US" dirty="0"/>
              <a:t>If we decide to use this(</a:t>
            </a:r>
            <a:r>
              <a:rPr lang="en-US" i="1" dirty="0"/>
              <a:t>paramlist</a:t>
            </a:r>
            <a:r>
              <a:rPr lang="en-US" dirty="0"/>
              <a:t>) </a:t>
            </a:r>
            <a:r>
              <a:rPr lang="en-US" dirty="0">
                <a:solidFill>
                  <a:srgbClr val="FF0000"/>
                </a:solidFill>
              </a:rPr>
              <a:t>it must be the first statement within the constructor </a:t>
            </a:r>
            <a:r>
              <a:rPr lang="en-US" dirty="0"/>
              <a:t>or we get a compiler error. Therefore, we can't use this(</a:t>
            </a:r>
            <a:r>
              <a:rPr lang="en-US" i="1" dirty="0"/>
              <a:t>paramlist</a:t>
            </a:r>
            <a:r>
              <a:rPr lang="en-US" dirty="0"/>
              <a:t>) and super(</a:t>
            </a:r>
            <a:r>
              <a:rPr lang="en-US" i="1" dirty="0"/>
              <a:t>paramlist</a:t>
            </a:r>
            <a:r>
              <a:rPr lang="en-US" dirty="0"/>
              <a:t>) together.</a:t>
            </a:r>
          </a:p>
          <a:p>
            <a:pPr lvl="1"/>
            <a:r>
              <a:rPr lang="en-US" dirty="0"/>
              <a:t>Note: There is another rule about Constructors and super, which we will discuss as a part of inheritance</a:t>
            </a:r>
          </a:p>
        </p:txBody>
      </p:sp>
      <p:sp>
        <p:nvSpPr>
          <p:cNvPr id="4" name="Slide Number Placeholder 3">
            <a:extLst>
              <a:ext uri="{FF2B5EF4-FFF2-40B4-BE49-F238E27FC236}">
                <a16:creationId xmlns:a16="http://schemas.microsoft.com/office/drawing/2014/main" id="{E1146A71-0A13-4DEA-680D-577EBBA7DDC6}"/>
              </a:ext>
            </a:extLst>
          </p:cNvPr>
          <p:cNvSpPr>
            <a:spLocks noGrp="1"/>
          </p:cNvSpPr>
          <p:nvPr>
            <p:ph type="sldNum" sz="quarter" idx="12"/>
          </p:nvPr>
        </p:nvSpPr>
        <p:spPr/>
        <p:txBody>
          <a:bodyPr/>
          <a:lstStyle/>
          <a:p>
            <a:fld id="{13977939-A071-43C1-9268-F54CC2756BB5}" type="slidenum">
              <a:rPr lang="en-US" smtClean="0"/>
              <a:pPr/>
              <a:t>58</a:t>
            </a:fld>
            <a:endParaRPr lang="en-US" dirty="0"/>
          </a:p>
        </p:txBody>
      </p:sp>
    </p:spTree>
    <p:extLst>
      <p:ext uri="{BB962C8B-B14F-4D97-AF65-F5344CB8AC3E}">
        <p14:creationId xmlns:p14="http://schemas.microsoft.com/office/powerpoint/2010/main" val="84219628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840895-D8DC-AF77-8279-C73DB26C4886}"/>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6B8F77C2-492A-E157-8600-777D787632DF}"/>
              </a:ext>
            </a:extLst>
          </p:cNvPr>
          <p:cNvSpPr>
            <a:spLocks noGrp="1"/>
          </p:cNvSpPr>
          <p:nvPr>
            <p:ph type="title" idx="4294967295"/>
          </p:nvPr>
        </p:nvSpPr>
        <p:spPr>
          <a:xfrm>
            <a:off x="530225" y="2705100"/>
            <a:ext cx="7772400" cy="1509713"/>
          </a:xfrm>
          <a:prstGeom prst="rect">
            <a:avLst/>
          </a:prstGeom>
          <a:noFill/>
          <a:ln>
            <a:noFill/>
            <a:prstDash/>
          </a:ln>
          <a:effectLst/>
        </p:spPr>
        <p:txBody>
          <a:bodyPr rot="0" spcFirstLastPara="0" vertOverflow="overflow" horzOverflow="overflow" vert="horz" wrap="square" lIns="45720" tIns="45720" rIns="45720" bIns="45720" numCol="1" spcCol="0" rtlCol="0" fromWordArt="0" anchor="t" anchorCtr="0" forceAA="0" compatLnSpc="1">
            <a:prstTxWarp prst="textNoShape">
              <a:avLst/>
            </a:prstTxWarp>
            <a:normAutofit/>
          </a:bodyPr>
          <a:lstStyle/>
          <a:p>
            <a:pPr marL="0" marR="0" lvl="0" indent="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200" b="0" i="0" u="none" strike="noStrike" kern="1200" cap="none" spc="0" normalizeH="0" baseline="0" noProof="0" dirty="0">
                <a:ln>
                  <a:noFill/>
                </a:ln>
                <a:solidFill>
                  <a:schemeClr val="tx1"/>
                </a:solidFill>
                <a:effectLst/>
                <a:uLnTx/>
                <a:uFillTx/>
                <a:latin typeface="+mn-lt"/>
                <a:ea typeface="+mn-ea"/>
                <a:cs typeface="+mn-cs"/>
              </a:rPr>
              <a:t>What Does static  Mean In Java?</a:t>
            </a:r>
          </a:p>
        </p:txBody>
      </p:sp>
      <p:sp>
        <p:nvSpPr>
          <p:cNvPr id="4" name="Slide Number Placeholder 3">
            <a:extLst>
              <a:ext uri="{FF2B5EF4-FFF2-40B4-BE49-F238E27FC236}">
                <a16:creationId xmlns:a16="http://schemas.microsoft.com/office/drawing/2014/main" id="{1DDE96F0-63C5-046D-DDD7-0B4C072DFD93}"/>
              </a:ext>
            </a:extLst>
          </p:cNvPr>
          <p:cNvSpPr>
            <a:spLocks noGrp="1"/>
          </p:cNvSpPr>
          <p:nvPr>
            <p:ph type="sldNum" sz="quarter" idx="12"/>
          </p:nvPr>
        </p:nvSpPr>
        <p:spPr/>
        <p:txBody>
          <a:bodyPr/>
          <a:lstStyle/>
          <a:p>
            <a:fld id="{13977939-A071-43C1-9268-F54CC2756BB5}" type="slidenum">
              <a:rPr lang="en-US" smtClean="0"/>
              <a:pPr/>
              <a:t>59</a:t>
            </a:fld>
            <a:endParaRPr lang="en-US" dirty="0"/>
          </a:p>
        </p:txBody>
      </p:sp>
    </p:spTree>
    <p:extLst>
      <p:ext uri="{BB962C8B-B14F-4D97-AF65-F5344CB8AC3E}">
        <p14:creationId xmlns:p14="http://schemas.microsoft.com/office/powerpoint/2010/main" val="121618021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FB536-002D-F343-8C03-9B2B8AFC0DEA}"/>
              </a:ext>
            </a:extLst>
          </p:cNvPr>
          <p:cNvSpPr>
            <a:spLocks noGrp="1"/>
          </p:cNvSpPr>
          <p:nvPr>
            <p:ph type="title"/>
          </p:nvPr>
        </p:nvSpPr>
        <p:spPr>
          <a:xfrm>
            <a:off x="457200" y="304800"/>
            <a:ext cx="8229600" cy="475488"/>
          </a:xfrm>
        </p:spPr>
        <p:txBody>
          <a:bodyPr>
            <a:noAutofit/>
          </a:bodyPr>
          <a:lstStyle/>
          <a:p>
            <a:r>
              <a:rPr lang="en-US" dirty="0"/>
              <a:t>static Variables</a:t>
            </a:r>
          </a:p>
        </p:txBody>
      </p:sp>
      <p:sp>
        <p:nvSpPr>
          <p:cNvPr id="3" name="Content Placeholder 2">
            <a:extLst>
              <a:ext uri="{FF2B5EF4-FFF2-40B4-BE49-F238E27FC236}">
                <a16:creationId xmlns:a16="http://schemas.microsoft.com/office/drawing/2014/main" id="{716D789C-D0A0-6D42-803E-CCA80F703113}"/>
              </a:ext>
            </a:extLst>
          </p:cNvPr>
          <p:cNvSpPr>
            <a:spLocks noGrp="1"/>
          </p:cNvSpPr>
          <p:nvPr>
            <p:ph idx="1"/>
          </p:nvPr>
        </p:nvSpPr>
        <p:spPr>
          <a:xfrm>
            <a:off x="457200" y="838200"/>
            <a:ext cx="8229600" cy="6019800"/>
          </a:xfrm>
        </p:spPr>
        <p:txBody>
          <a:bodyPr>
            <a:normAutofit fontScale="85000" lnSpcReduction="20000"/>
          </a:bodyPr>
          <a:lstStyle/>
          <a:p>
            <a:r>
              <a:rPr lang="en-US" altLang="en-US" dirty="0"/>
              <a:t>static variables are also known as </a:t>
            </a:r>
            <a:r>
              <a:rPr lang="en-US" altLang="en-US" dirty="0">
                <a:solidFill>
                  <a:srgbClr val="FF0000"/>
                </a:solidFill>
              </a:rPr>
              <a:t>class</a:t>
            </a:r>
            <a:r>
              <a:rPr lang="en-US" altLang="en-US" dirty="0"/>
              <a:t> variables.</a:t>
            </a:r>
          </a:p>
          <a:p>
            <a:pPr lvl="1"/>
            <a:r>
              <a:rPr lang="en-US" altLang="en-US" dirty="0"/>
              <a:t>A static variable belongs to the class and is not associated with any particular object; a class or static variable is shared by all objects of the class.</a:t>
            </a:r>
          </a:p>
          <a:p>
            <a:r>
              <a:rPr lang="en-US" altLang="en-US" dirty="0"/>
              <a:t>One copy of a static variable is created per class.</a:t>
            </a:r>
          </a:p>
          <a:p>
            <a:r>
              <a:rPr lang="en-US" altLang="en-US" dirty="0"/>
              <a:t>static constants are often declared as public so that they can be accessed directly from other classes – this is especially true for accessing constants.</a:t>
            </a:r>
          </a:p>
          <a:p>
            <a:pPr lvl="1"/>
            <a:r>
              <a:rPr lang="en-US" altLang="en-US" dirty="0"/>
              <a:t>When they are public they are accessed as ClassName.variableName i.e. Math.PI (note this is also final)</a:t>
            </a:r>
          </a:p>
          <a:p>
            <a:r>
              <a:rPr lang="en-US" altLang="en-US" dirty="0"/>
              <a:t>Private static variables are related to the class as a whole and can be accessed by any instance of the class</a:t>
            </a:r>
          </a:p>
          <a:p>
            <a:pPr lvl="1"/>
            <a:r>
              <a:rPr lang="en-US" altLang="en-US" dirty="0"/>
              <a:t>They are often used to keep track of some aspect of the class (i.e. the number of instances of that class that have been created).</a:t>
            </a:r>
          </a:p>
          <a:p>
            <a:r>
              <a:rPr lang="en-US" altLang="en-US" dirty="0"/>
              <a:t>To define a static variable, include the keyword static in its definition:</a:t>
            </a:r>
          </a:p>
          <a:p>
            <a:pPr>
              <a:buNone/>
            </a:pPr>
            <a:r>
              <a:rPr lang="en-US" altLang="en-US" sz="2000" dirty="0"/>
              <a:t>Syntax: </a:t>
            </a:r>
          </a:p>
          <a:p>
            <a:pPr>
              <a:buNone/>
            </a:pPr>
            <a:r>
              <a:rPr lang="en-US" altLang="en-US" dirty="0"/>
              <a:t>   </a:t>
            </a:r>
            <a:r>
              <a:rPr lang="en-US" altLang="en-US" sz="1800" dirty="0"/>
              <a:t>accessSpecifier </a:t>
            </a:r>
            <a:r>
              <a:rPr lang="en-US" altLang="en-US" sz="1800" dirty="0">
                <a:solidFill>
                  <a:srgbClr val="FF0000"/>
                </a:solidFill>
              </a:rPr>
              <a:t>static</a:t>
            </a:r>
            <a:r>
              <a:rPr lang="en-US" altLang="en-US" sz="1800" dirty="0"/>
              <a:t> dataType variableName…;</a:t>
            </a:r>
          </a:p>
          <a:p>
            <a:pPr>
              <a:buNone/>
            </a:pPr>
            <a:r>
              <a:rPr lang="en-US" altLang="en-US" sz="2000" dirty="0"/>
              <a:t>Example</a:t>
            </a:r>
            <a:r>
              <a:rPr lang="en-US" altLang="en-US" dirty="0"/>
              <a:t>:</a:t>
            </a:r>
          </a:p>
          <a:p>
            <a:pPr>
              <a:buNone/>
            </a:pPr>
            <a:r>
              <a:rPr lang="en-US" altLang="en-US" sz="1800" dirty="0"/>
              <a:t>  private </a:t>
            </a:r>
            <a:r>
              <a:rPr lang="en-US" altLang="en-US" sz="1800" dirty="0">
                <a:solidFill>
                  <a:srgbClr val="FF0000"/>
                </a:solidFill>
              </a:rPr>
              <a:t>static</a:t>
            </a:r>
            <a:r>
              <a:rPr lang="en-US" altLang="en-US" sz="1800" dirty="0"/>
              <a:t> int countAutos = 0;</a:t>
            </a:r>
          </a:p>
          <a:p>
            <a:pPr>
              <a:buNone/>
            </a:pPr>
            <a:endParaRPr lang="en-US" altLang="en-US" sz="1800" dirty="0"/>
          </a:p>
          <a:p>
            <a:pPr>
              <a:buNone/>
            </a:pPr>
            <a:endParaRPr lang="en-US" altLang="en-US" dirty="0"/>
          </a:p>
          <a:p>
            <a:endParaRPr lang="en-US" dirty="0"/>
          </a:p>
        </p:txBody>
      </p:sp>
      <p:sp>
        <p:nvSpPr>
          <p:cNvPr id="4" name="Slide Number Placeholder 3">
            <a:extLst>
              <a:ext uri="{FF2B5EF4-FFF2-40B4-BE49-F238E27FC236}">
                <a16:creationId xmlns:a16="http://schemas.microsoft.com/office/drawing/2014/main" id="{B9935122-4739-0C4F-8053-BDFB411366D1}"/>
              </a:ext>
            </a:extLst>
          </p:cNvPr>
          <p:cNvSpPr>
            <a:spLocks noGrp="1"/>
          </p:cNvSpPr>
          <p:nvPr>
            <p:ph type="sldNum" sz="quarter" idx="12"/>
          </p:nvPr>
        </p:nvSpPr>
        <p:spPr/>
        <p:txBody>
          <a:bodyPr/>
          <a:lstStyle/>
          <a:p>
            <a:fld id="{13977939-A071-43C1-9268-F54CC2756BB5}" type="slidenum">
              <a:rPr lang="en-US" smtClean="0"/>
              <a:pPr/>
              <a:t>60</a:t>
            </a:fld>
            <a:endParaRPr lang="en-US" dirty="0"/>
          </a:p>
        </p:txBody>
      </p:sp>
    </p:spTree>
    <p:extLst>
      <p:ext uri="{BB962C8B-B14F-4D97-AF65-F5344CB8AC3E}">
        <p14:creationId xmlns:p14="http://schemas.microsoft.com/office/powerpoint/2010/main" val="405960959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86949-9EB9-754F-9E95-38B1209F8F1C}"/>
              </a:ext>
            </a:extLst>
          </p:cNvPr>
          <p:cNvSpPr>
            <a:spLocks noGrp="1"/>
          </p:cNvSpPr>
          <p:nvPr>
            <p:ph type="title"/>
          </p:nvPr>
        </p:nvSpPr>
        <p:spPr/>
        <p:txBody>
          <a:bodyPr>
            <a:noAutofit/>
          </a:bodyPr>
          <a:lstStyle/>
          <a:p>
            <a:r>
              <a:rPr lang="en-US" dirty="0"/>
              <a:t>Some Uses of static Variables</a:t>
            </a:r>
          </a:p>
        </p:txBody>
      </p:sp>
      <p:sp>
        <p:nvSpPr>
          <p:cNvPr id="3" name="Content Placeholder 2">
            <a:extLst>
              <a:ext uri="{FF2B5EF4-FFF2-40B4-BE49-F238E27FC236}">
                <a16:creationId xmlns:a16="http://schemas.microsoft.com/office/drawing/2014/main" id="{6DEA326E-5B97-5D49-A328-507671802201}"/>
              </a:ext>
            </a:extLst>
          </p:cNvPr>
          <p:cNvSpPr>
            <a:spLocks noGrp="1"/>
          </p:cNvSpPr>
          <p:nvPr>
            <p:ph idx="1"/>
          </p:nvPr>
        </p:nvSpPr>
        <p:spPr/>
        <p:txBody>
          <a:bodyPr/>
          <a:lstStyle/>
          <a:p>
            <a:r>
              <a:rPr lang="en-US" dirty="0"/>
              <a:t>If the class is Employee, keep track of the total number of employees and total payroll with static variables</a:t>
            </a:r>
          </a:p>
          <a:p>
            <a:r>
              <a:rPr lang="en-US" dirty="0"/>
              <a:t>If the class is Car, use a static variable to keep track of the total number of cars sold</a:t>
            </a:r>
          </a:p>
          <a:p>
            <a:r>
              <a:rPr lang="en-US" dirty="0"/>
              <a:t>Keep track of the total number of letters created and mailed via a post office with a static variable</a:t>
            </a:r>
          </a:p>
        </p:txBody>
      </p:sp>
      <p:sp>
        <p:nvSpPr>
          <p:cNvPr id="4" name="Slide Number Placeholder 3">
            <a:extLst>
              <a:ext uri="{FF2B5EF4-FFF2-40B4-BE49-F238E27FC236}">
                <a16:creationId xmlns:a16="http://schemas.microsoft.com/office/drawing/2014/main" id="{CEA6C2BF-731D-1D4C-92E1-F55B3FB29704}"/>
              </a:ext>
            </a:extLst>
          </p:cNvPr>
          <p:cNvSpPr>
            <a:spLocks noGrp="1"/>
          </p:cNvSpPr>
          <p:nvPr>
            <p:ph type="sldNum" sz="quarter" idx="12"/>
          </p:nvPr>
        </p:nvSpPr>
        <p:spPr/>
        <p:txBody>
          <a:bodyPr/>
          <a:lstStyle/>
          <a:p>
            <a:fld id="{13977939-A071-43C1-9268-F54CC2756BB5}" type="slidenum">
              <a:rPr lang="en-US" smtClean="0"/>
              <a:pPr/>
              <a:t>61</a:t>
            </a:fld>
            <a:endParaRPr lang="en-US" dirty="0"/>
          </a:p>
        </p:txBody>
      </p:sp>
    </p:spTree>
    <p:extLst>
      <p:ext uri="{BB962C8B-B14F-4D97-AF65-F5344CB8AC3E}">
        <p14:creationId xmlns:p14="http://schemas.microsoft.com/office/powerpoint/2010/main" val="362244887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B2F8B-4B79-E44E-BFF8-6ED2FFA25FF3}"/>
              </a:ext>
            </a:extLst>
          </p:cNvPr>
          <p:cNvSpPr>
            <a:spLocks noGrp="1"/>
          </p:cNvSpPr>
          <p:nvPr>
            <p:ph type="title"/>
          </p:nvPr>
        </p:nvSpPr>
        <p:spPr/>
        <p:txBody>
          <a:bodyPr>
            <a:noAutofit/>
          </a:bodyPr>
          <a:lstStyle/>
          <a:p>
            <a:r>
              <a:rPr lang="en-US" dirty="0"/>
              <a:t>static Methods</a:t>
            </a:r>
          </a:p>
        </p:txBody>
      </p:sp>
      <p:sp>
        <p:nvSpPr>
          <p:cNvPr id="3" name="Content Placeholder 2">
            <a:extLst>
              <a:ext uri="{FF2B5EF4-FFF2-40B4-BE49-F238E27FC236}">
                <a16:creationId xmlns:a16="http://schemas.microsoft.com/office/drawing/2014/main" id="{611092D1-2D1A-7644-9D49-C53C46CB020E}"/>
              </a:ext>
            </a:extLst>
          </p:cNvPr>
          <p:cNvSpPr>
            <a:spLocks noGrp="1"/>
          </p:cNvSpPr>
          <p:nvPr>
            <p:ph idx="1"/>
          </p:nvPr>
        </p:nvSpPr>
        <p:spPr>
          <a:xfrm>
            <a:off x="457200" y="1066801"/>
            <a:ext cx="8229600" cy="5654674"/>
          </a:xfrm>
        </p:spPr>
        <p:txBody>
          <a:bodyPr>
            <a:normAutofit fontScale="70000" lnSpcReduction="20000"/>
          </a:bodyPr>
          <a:lstStyle/>
          <a:p>
            <a:r>
              <a:rPr lang="en-US" altLang="en-US" dirty="0"/>
              <a:t>static methods are also called class methods</a:t>
            </a:r>
          </a:p>
          <a:p>
            <a:r>
              <a:rPr lang="en-US" altLang="en-US" dirty="0"/>
              <a:t>Often defined to access and change static variables</a:t>
            </a:r>
          </a:p>
          <a:p>
            <a:r>
              <a:rPr lang="en-US" altLang="en-US" dirty="0"/>
              <a:t>static methods </a:t>
            </a:r>
            <a:r>
              <a:rPr lang="en-US" altLang="en-US" dirty="0">
                <a:solidFill>
                  <a:srgbClr val="FF0000"/>
                </a:solidFill>
              </a:rPr>
              <a:t>cannot</a:t>
            </a:r>
            <a:r>
              <a:rPr lang="en-US" altLang="en-US" dirty="0"/>
              <a:t> access instance variables of the class it resides in:</a:t>
            </a:r>
          </a:p>
          <a:p>
            <a:pPr lvl="1"/>
            <a:r>
              <a:rPr lang="en-US" altLang="en-US" dirty="0"/>
              <a:t>static methods are associated with the class, not with any object.</a:t>
            </a:r>
          </a:p>
          <a:p>
            <a:pPr lvl="1"/>
            <a:r>
              <a:rPr lang="en-US" altLang="en-US" dirty="0"/>
              <a:t>static methods do not have access to the implicit parameter </a:t>
            </a:r>
            <a:r>
              <a:rPr lang="en-US" altLang="en-US" dirty="0">
                <a:solidFill>
                  <a:srgbClr val="FF0000"/>
                </a:solidFill>
              </a:rPr>
              <a:t>this</a:t>
            </a:r>
            <a:r>
              <a:rPr lang="en-US" altLang="en-US" dirty="0"/>
              <a:t> – remember </a:t>
            </a:r>
            <a:r>
              <a:rPr lang="en-US" altLang="en-US" dirty="0">
                <a:solidFill>
                  <a:srgbClr val="FF0000"/>
                </a:solidFill>
              </a:rPr>
              <a:t>this</a:t>
            </a:r>
            <a:r>
              <a:rPr lang="en-US" altLang="en-US" dirty="0"/>
              <a:t> is a reference to the object.</a:t>
            </a:r>
          </a:p>
          <a:p>
            <a:pPr lvl="1"/>
            <a:r>
              <a:rPr lang="en-US" altLang="en-US" dirty="0"/>
              <a:t>static methods cannot access non-static methods</a:t>
            </a:r>
          </a:p>
          <a:p>
            <a:pPr lvl="1"/>
            <a:r>
              <a:rPr lang="en-US" altLang="en-US" dirty="0"/>
              <a:t>static methods can access static (class) variables</a:t>
            </a:r>
          </a:p>
          <a:p>
            <a:pPr lvl="1"/>
            <a:r>
              <a:rPr lang="en-US" altLang="en-US" dirty="0"/>
              <a:t>To be accessed outside the class the method must be public</a:t>
            </a:r>
          </a:p>
          <a:p>
            <a:pPr lvl="1"/>
            <a:r>
              <a:rPr lang="en-US" altLang="en-US" dirty="0"/>
              <a:t>Remember that main was static, so other methods within the class containing main were always all static</a:t>
            </a:r>
          </a:p>
          <a:p>
            <a:r>
              <a:rPr lang="en-US" altLang="en-US" dirty="0"/>
              <a:t>You access a class method as follows</a:t>
            </a:r>
          </a:p>
          <a:p>
            <a:pPr marL="0" indent="0">
              <a:buNone/>
            </a:pPr>
            <a:r>
              <a:rPr lang="en-US" altLang="en-US" dirty="0"/>
              <a:t>    ClassName.method(parameter list) </a:t>
            </a:r>
          </a:p>
          <a:p>
            <a:pPr lvl="1"/>
            <a:r>
              <a:rPr lang="en-US" altLang="en-US" dirty="0"/>
              <a:t>className is not needed within the class, only for external access</a:t>
            </a:r>
          </a:p>
          <a:p>
            <a:pPr lvl="1"/>
            <a:r>
              <a:rPr lang="en-US" altLang="en-US" dirty="0"/>
              <a:t>Example: Math.sqrt(value)</a:t>
            </a:r>
          </a:p>
          <a:p>
            <a:r>
              <a:rPr lang="en-US" altLang="en-US" dirty="0"/>
              <a:t>Note: Non-static methods can access the static variables and methods of a class</a:t>
            </a:r>
          </a:p>
          <a:p>
            <a:pPr marL="0" indent="0">
              <a:buNone/>
            </a:pPr>
            <a:endParaRPr lang="en-US" altLang="en-US" dirty="0"/>
          </a:p>
          <a:p>
            <a:pPr marL="0" indent="0">
              <a:buNone/>
            </a:pPr>
            <a:r>
              <a:rPr lang="en-US" altLang="en-US" sz="2400" dirty="0">
                <a:cs typeface="Times New Roman" panose="02020603050405020304" pitchFamily="18" charset="0"/>
              </a:rPr>
              <a:t>See </a:t>
            </a:r>
            <a:r>
              <a:rPr lang="en-US" altLang="en-US" sz="2400" dirty="0">
                <a:solidFill>
                  <a:srgbClr val="FF0000"/>
                </a:solidFill>
                <a:cs typeface="Times New Roman" panose="02020603050405020304" pitchFamily="18" charset="0"/>
              </a:rPr>
              <a:t>BasicPerson.java</a:t>
            </a:r>
            <a:r>
              <a:rPr lang="en-US" altLang="en-US" sz="2400" dirty="0">
                <a:cs typeface="Times New Roman" panose="02020603050405020304" pitchFamily="18" charset="0"/>
              </a:rPr>
              <a:t>, </a:t>
            </a:r>
            <a:r>
              <a:rPr lang="en-US" altLang="en-US" sz="2400" dirty="0">
                <a:solidFill>
                  <a:srgbClr val="FF0000"/>
                </a:solidFill>
                <a:cs typeface="Times New Roman" panose="02020603050405020304" pitchFamily="18" charset="0"/>
              </a:rPr>
              <a:t>BasicPersonDriver.java</a:t>
            </a:r>
            <a:endParaRPr lang="en-US" dirty="0">
              <a:solidFill>
                <a:srgbClr val="FF0000"/>
              </a:solidFill>
            </a:endParaRPr>
          </a:p>
          <a:p>
            <a:pPr marL="0" indent="0">
              <a:buNone/>
            </a:pPr>
            <a:endParaRPr lang="en-US" altLang="en-US" dirty="0"/>
          </a:p>
          <a:p>
            <a:endParaRPr lang="en-US" altLang="en-US" dirty="0"/>
          </a:p>
          <a:p>
            <a:pPr marL="0" indent="0">
              <a:buNone/>
            </a:pPr>
            <a:endParaRPr lang="en-US" altLang="en-US" dirty="0"/>
          </a:p>
          <a:p>
            <a:endParaRPr lang="en-US" dirty="0"/>
          </a:p>
        </p:txBody>
      </p:sp>
      <p:sp>
        <p:nvSpPr>
          <p:cNvPr id="4" name="Slide Number Placeholder 3">
            <a:extLst>
              <a:ext uri="{FF2B5EF4-FFF2-40B4-BE49-F238E27FC236}">
                <a16:creationId xmlns:a16="http://schemas.microsoft.com/office/drawing/2014/main" id="{3E1EF74D-E543-9F46-A7EC-9ABFCA944E3E}"/>
              </a:ext>
            </a:extLst>
          </p:cNvPr>
          <p:cNvSpPr>
            <a:spLocks noGrp="1"/>
          </p:cNvSpPr>
          <p:nvPr>
            <p:ph type="sldNum" sz="quarter" idx="12"/>
          </p:nvPr>
        </p:nvSpPr>
        <p:spPr/>
        <p:txBody>
          <a:bodyPr/>
          <a:lstStyle/>
          <a:p>
            <a:fld id="{13977939-A071-43C1-9268-F54CC2756BB5}" type="slidenum">
              <a:rPr lang="en-US" smtClean="0"/>
              <a:pPr/>
              <a:t>62</a:t>
            </a:fld>
            <a:endParaRPr lang="en-US" dirty="0"/>
          </a:p>
        </p:txBody>
      </p:sp>
    </p:spTree>
    <p:extLst>
      <p:ext uri="{BB962C8B-B14F-4D97-AF65-F5344CB8AC3E}">
        <p14:creationId xmlns:p14="http://schemas.microsoft.com/office/powerpoint/2010/main" val="412649848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8BC82-0EF7-AC43-8C38-671895FDCA6E}"/>
              </a:ext>
            </a:extLst>
          </p:cNvPr>
          <p:cNvSpPr>
            <a:spLocks noGrp="1"/>
          </p:cNvSpPr>
          <p:nvPr>
            <p:ph type="title"/>
          </p:nvPr>
        </p:nvSpPr>
        <p:spPr>
          <a:xfrm>
            <a:off x="653092" y="381000"/>
            <a:ext cx="7837816" cy="627888"/>
          </a:xfrm>
        </p:spPr>
        <p:txBody>
          <a:bodyPr>
            <a:noAutofit/>
          </a:bodyPr>
          <a:lstStyle/>
          <a:p>
            <a:r>
              <a:rPr lang="en-US" altLang="en-US" dirty="0"/>
              <a:t>Access Restrictions For static Methods</a:t>
            </a:r>
            <a:endParaRPr lang="en-US" dirty="0"/>
          </a:p>
        </p:txBody>
      </p:sp>
      <p:sp>
        <p:nvSpPr>
          <p:cNvPr id="3" name="Slide Number Placeholder 2">
            <a:extLst>
              <a:ext uri="{FF2B5EF4-FFF2-40B4-BE49-F238E27FC236}">
                <a16:creationId xmlns:a16="http://schemas.microsoft.com/office/drawing/2014/main" id="{B5266001-6354-404A-B774-2FDD438FEDF4}"/>
              </a:ext>
            </a:extLst>
          </p:cNvPr>
          <p:cNvSpPr>
            <a:spLocks noGrp="1"/>
          </p:cNvSpPr>
          <p:nvPr>
            <p:ph type="sldNum" sz="quarter" idx="12"/>
          </p:nvPr>
        </p:nvSpPr>
        <p:spPr/>
        <p:txBody>
          <a:bodyPr/>
          <a:lstStyle/>
          <a:p>
            <a:fld id="{13977939-A071-43C1-9268-F54CC2756BB5}" type="slidenum">
              <a:rPr lang="en-US" smtClean="0"/>
              <a:pPr/>
              <a:t>63</a:t>
            </a:fld>
            <a:endParaRPr lang="en-US" dirty="0"/>
          </a:p>
        </p:txBody>
      </p:sp>
      <p:pic>
        <p:nvPicPr>
          <p:cNvPr id="4" name="Picture 3" descr="Comparitive table static vs. non-static">
            <a:extLst>
              <a:ext uri="{FF2B5EF4-FFF2-40B4-BE49-F238E27FC236}">
                <a16:creationId xmlns:a16="http://schemas.microsoft.com/office/drawing/2014/main" id="{93A3175A-6033-2B40-9C5A-08D4DEF1FD9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53092" y="1144728"/>
            <a:ext cx="7837816" cy="2511144"/>
          </a:xfrm>
          <a:prstGeom prst="rect">
            <a:avLst/>
          </a:prstGeom>
        </p:spPr>
      </p:pic>
      <p:sp>
        <p:nvSpPr>
          <p:cNvPr id="5" name="TextBox 4">
            <a:extLst>
              <a:ext uri="{FF2B5EF4-FFF2-40B4-BE49-F238E27FC236}">
                <a16:creationId xmlns:a16="http://schemas.microsoft.com/office/drawing/2014/main" id="{3F075A8A-01D7-7444-BD4E-5B6295F74ADA}"/>
              </a:ext>
            </a:extLst>
          </p:cNvPr>
          <p:cNvSpPr txBox="1"/>
          <p:nvPr/>
        </p:nvSpPr>
        <p:spPr>
          <a:xfrm>
            <a:off x="776344" y="3810000"/>
            <a:ext cx="7162800" cy="2585323"/>
          </a:xfrm>
          <a:prstGeom prst="rect">
            <a:avLst/>
          </a:prstGeom>
          <a:noFill/>
        </p:spPr>
        <p:txBody>
          <a:bodyPr wrap="square" rtlCol="0">
            <a:spAutoFit/>
          </a:bodyPr>
          <a:lstStyle/>
          <a:p>
            <a:r>
              <a:rPr lang="en-US" dirty="0"/>
              <a:t>Exception:   A static method may be called whether or not an object of the class exists, but a static method cannot invoke an instance method except via an object.  For example, main is static, but it can invoke non-static method of a class via the object reference.</a:t>
            </a:r>
          </a:p>
          <a:p>
            <a:endParaRPr lang="en-US" dirty="0"/>
          </a:p>
          <a:p>
            <a:r>
              <a:rPr lang="en-US" dirty="0"/>
              <a:t>Notes:</a:t>
            </a:r>
          </a:p>
          <a:p>
            <a:pPr marL="742950" lvl="1" indent="-285750">
              <a:buFont typeface="Wingdings" pitchFamily="2" charset="2"/>
              <a:buChar char="Ø"/>
            </a:pPr>
            <a:r>
              <a:rPr lang="en-US" dirty="0"/>
              <a:t>static methods and variables are shown as underlined in UML</a:t>
            </a:r>
          </a:p>
          <a:p>
            <a:pPr marL="742950" lvl="1" indent="-285750">
              <a:buFont typeface="Wingdings" pitchFamily="2" charset="2"/>
              <a:buChar char="Ø"/>
            </a:pPr>
            <a:r>
              <a:rPr lang="en-US" dirty="0"/>
              <a:t>static methods are almost always public</a:t>
            </a:r>
          </a:p>
          <a:p>
            <a:pPr marL="742950" lvl="1" indent="-285750">
              <a:buFont typeface="Wingdings" pitchFamily="2" charset="2"/>
              <a:buChar char="Ø"/>
            </a:pPr>
            <a:r>
              <a:rPr lang="en-US" dirty="0"/>
              <a:t>Static variables are often public, especially constants – Math.PI</a:t>
            </a:r>
          </a:p>
        </p:txBody>
      </p:sp>
    </p:spTree>
    <p:extLst>
      <p:ext uri="{BB962C8B-B14F-4D97-AF65-F5344CB8AC3E}">
        <p14:creationId xmlns:p14="http://schemas.microsoft.com/office/powerpoint/2010/main" val="346804715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BFCA62-F138-9957-CE9D-97EFEEEAA31F}"/>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9788B246-5EB1-02C3-A290-C2845F84F64B}"/>
              </a:ext>
            </a:extLst>
          </p:cNvPr>
          <p:cNvSpPr>
            <a:spLocks noGrp="1"/>
          </p:cNvSpPr>
          <p:nvPr>
            <p:ph type="title" idx="4294967295"/>
          </p:nvPr>
        </p:nvSpPr>
        <p:spPr>
          <a:xfrm>
            <a:off x="530225" y="2705100"/>
            <a:ext cx="7772400" cy="1509713"/>
          </a:xfrm>
          <a:prstGeom prst="rect">
            <a:avLst/>
          </a:prstGeom>
          <a:noFill/>
          <a:ln>
            <a:noFill/>
            <a:prstDash/>
          </a:ln>
          <a:effectLst/>
        </p:spPr>
        <p:txBody>
          <a:bodyPr rot="0" spcFirstLastPara="0" vertOverflow="overflow" horzOverflow="overflow" vert="horz" wrap="square" lIns="45720" tIns="45720" rIns="45720" bIns="45720" numCol="1" spcCol="0" rtlCol="0" fromWordArt="0" anchor="t" anchorCtr="0" forceAA="0" compatLnSpc="1">
            <a:prstTxWarp prst="textNoShape">
              <a:avLst/>
            </a:prstTxWarp>
            <a:normAutofit/>
          </a:bodyPr>
          <a:lstStyle/>
          <a:p>
            <a:pPr marL="0" marR="0" lvl="0" indent="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200" b="0" i="0" u="none" strike="noStrike" kern="1200" cap="none" spc="0" normalizeH="0" baseline="0" noProof="0" dirty="0">
                <a:ln>
                  <a:noFill/>
                </a:ln>
                <a:solidFill>
                  <a:schemeClr val="tx1"/>
                </a:solidFill>
                <a:effectLst/>
                <a:uLnTx/>
                <a:uFillTx/>
                <a:latin typeface="+mn-lt"/>
                <a:ea typeface="+mn-ea"/>
                <a:cs typeface="+mn-cs"/>
              </a:rPr>
              <a:t>Some Special Methods</a:t>
            </a:r>
          </a:p>
        </p:txBody>
      </p:sp>
      <p:sp>
        <p:nvSpPr>
          <p:cNvPr id="4" name="Slide Number Placeholder 3">
            <a:extLst>
              <a:ext uri="{FF2B5EF4-FFF2-40B4-BE49-F238E27FC236}">
                <a16:creationId xmlns:a16="http://schemas.microsoft.com/office/drawing/2014/main" id="{065AA977-962F-458C-0982-49BBFA23E166}"/>
              </a:ext>
            </a:extLst>
          </p:cNvPr>
          <p:cNvSpPr>
            <a:spLocks noGrp="1"/>
          </p:cNvSpPr>
          <p:nvPr>
            <p:ph type="sldNum" sz="quarter" idx="12"/>
          </p:nvPr>
        </p:nvSpPr>
        <p:spPr/>
        <p:txBody>
          <a:bodyPr/>
          <a:lstStyle/>
          <a:p>
            <a:fld id="{13977939-A071-43C1-9268-F54CC2756BB5}" type="slidenum">
              <a:rPr lang="en-US" smtClean="0"/>
              <a:pPr/>
              <a:t>64</a:t>
            </a:fld>
            <a:endParaRPr lang="en-US" dirty="0"/>
          </a:p>
        </p:txBody>
      </p:sp>
    </p:spTree>
    <p:extLst>
      <p:ext uri="{BB962C8B-B14F-4D97-AF65-F5344CB8AC3E}">
        <p14:creationId xmlns:p14="http://schemas.microsoft.com/office/powerpoint/2010/main" val="411263164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62E39-0A2E-7B41-B281-DFFDC8D3C02C}"/>
              </a:ext>
            </a:extLst>
          </p:cNvPr>
          <p:cNvSpPr>
            <a:spLocks noGrp="1"/>
          </p:cNvSpPr>
          <p:nvPr>
            <p:ph type="title"/>
          </p:nvPr>
        </p:nvSpPr>
        <p:spPr/>
        <p:txBody>
          <a:bodyPr>
            <a:noAutofit/>
          </a:bodyPr>
          <a:lstStyle/>
          <a:p>
            <a:r>
              <a:rPr lang="en-US" dirty="0"/>
              <a:t>toString (1)</a:t>
            </a:r>
          </a:p>
        </p:txBody>
      </p:sp>
      <p:sp>
        <p:nvSpPr>
          <p:cNvPr id="3" name="Content Placeholder 2">
            <a:extLst>
              <a:ext uri="{FF2B5EF4-FFF2-40B4-BE49-F238E27FC236}">
                <a16:creationId xmlns:a16="http://schemas.microsoft.com/office/drawing/2014/main" id="{7F894C9D-4E13-6A47-87CE-628F2B63FE96}"/>
              </a:ext>
            </a:extLst>
          </p:cNvPr>
          <p:cNvSpPr>
            <a:spLocks noGrp="1"/>
          </p:cNvSpPr>
          <p:nvPr>
            <p:ph idx="1"/>
          </p:nvPr>
        </p:nvSpPr>
        <p:spPr>
          <a:xfrm>
            <a:off x="457200" y="1249680"/>
            <a:ext cx="8229600" cy="5303520"/>
          </a:xfrm>
        </p:spPr>
        <p:txBody>
          <a:bodyPr>
            <a:normAutofit fontScale="92500" lnSpcReduction="10000"/>
          </a:bodyPr>
          <a:lstStyle/>
          <a:p>
            <a:r>
              <a:rPr lang="en-US" altLang="en-US" dirty="0"/>
              <a:t>The toString() method returns a </a:t>
            </a:r>
            <a:r>
              <a:rPr lang="en-US" altLang="en-US" i="1" dirty="0"/>
              <a:t>String</a:t>
            </a:r>
            <a:r>
              <a:rPr lang="en-US" altLang="en-US" dirty="0"/>
              <a:t> representing the data of an object</a:t>
            </a:r>
          </a:p>
          <a:p>
            <a:pPr lvl="1"/>
            <a:r>
              <a:rPr lang="en-US" altLang="en-US" dirty="0"/>
              <a:t>In general each class you write should have a toString() method (this overrides the default toString()</a:t>
            </a:r>
          </a:p>
          <a:p>
            <a:r>
              <a:rPr lang="en-US" altLang="en-US" dirty="0"/>
              <a:t>Clients can call </a:t>
            </a:r>
            <a:r>
              <a:rPr lang="en-US" altLang="en-US" i="1" dirty="0"/>
              <a:t>toString()</a:t>
            </a:r>
            <a:r>
              <a:rPr lang="en-US" altLang="en-US" dirty="0"/>
              <a:t> </a:t>
            </a:r>
            <a:r>
              <a:rPr lang="en-US" altLang="en-US" dirty="0">
                <a:solidFill>
                  <a:srgbClr val="FF0000"/>
                </a:solidFill>
              </a:rPr>
              <a:t>explicitly</a:t>
            </a:r>
            <a:r>
              <a:rPr lang="en-US" altLang="en-US" dirty="0"/>
              <a:t> by coding the method call.</a:t>
            </a:r>
          </a:p>
          <a:p>
            <a:r>
              <a:rPr lang="en-US" altLang="en-US" dirty="0"/>
              <a:t>Clients can call </a:t>
            </a:r>
            <a:r>
              <a:rPr lang="en-US" altLang="en-US" i="1" dirty="0"/>
              <a:t>toString() </a:t>
            </a:r>
            <a:r>
              <a:rPr lang="en-US" altLang="en-US" dirty="0">
                <a:solidFill>
                  <a:srgbClr val="FF0000"/>
                </a:solidFill>
              </a:rPr>
              <a:t>implicitly</a:t>
            </a:r>
            <a:r>
              <a:rPr lang="en-US" altLang="en-US" dirty="0"/>
              <a:t> by using an object reference where a </a:t>
            </a:r>
            <a:r>
              <a:rPr lang="en-US" altLang="en-US" i="1" dirty="0"/>
              <a:t>String </a:t>
            </a:r>
            <a:r>
              <a:rPr lang="en-US" altLang="en-US" dirty="0"/>
              <a:t>is expected.</a:t>
            </a:r>
          </a:p>
          <a:p>
            <a:r>
              <a:rPr lang="en-US" altLang="en-US" dirty="0"/>
              <a:t>Example client code: </a:t>
            </a:r>
          </a:p>
          <a:p>
            <a:pPr>
              <a:buNone/>
            </a:pPr>
            <a:r>
              <a:rPr lang="en-US" altLang="en-US" sz="1800" dirty="0">
                <a:latin typeface="Courier New" panose="02070309020205020404" pitchFamily="49" charset="0"/>
              </a:rPr>
              <a:t>  </a:t>
            </a:r>
            <a:r>
              <a:rPr lang="en-US" altLang="en-US" sz="1800" dirty="0"/>
              <a:t>Auto compact = new Auto( ); // instantiate an object</a:t>
            </a:r>
          </a:p>
          <a:p>
            <a:pPr>
              <a:buNone/>
            </a:pPr>
            <a:r>
              <a:rPr lang="en-US" altLang="en-US" sz="1800" dirty="0"/>
              <a:t>   // explicit toString call</a:t>
            </a:r>
          </a:p>
          <a:p>
            <a:pPr>
              <a:buNone/>
            </a:pPr>
            <a:r>
              <a:rPr lang="en-US" altLang="en-US" sz="1800" dirty="0"/>
              <a:t>   System.out.printf( ”%s\n”, compact.toString( ) );</a:t>
            </a:r>
          </a:p>
          <a:p>
            <a:pPr>
              <a:buNone/>
            </a:pPr>
            <a:r>
              <a:rPr lang="en-US" altLang="en-US" sz="1800" dirty="0"/>
              <a:t>   // implicit toString call</a:t>
            </a:r>
          </a:p>
          <a:p>
            <a:pPr>
              <a:buNone/>
            </a:pPr>
            <a:r>
              <a:rPr lang="en-US" altLang="en-US" sz="1800" dirty="0"/>
              <a:t>   System.out.printf(”%s\n”, compact );</a:t>
            </a:r>
          </a:p>
          <a:p>
            <a:r>
              <a:rPr lang="en-US" altLang="en-US" sz="1800" dirty="0"/>
              <a:t>Both printf statements produce the same output</a:t>
            </a:r>
            <a:endParaRPr lang="en-US" altLang="en-US" dirty="0"/>
          </a:p>
          <a:p>
            <a:endParaRPr lang="en-US" dirty="0"/>
          </a:p>
        </p:txBody>
      </p:sp>
      <p:sp>
        <p:nvSpPr>
          <p:cNvPr id="4" name="Slide Number Placeholder 3">
            <a:extLst>
              <a:ext uri="{FF2B5EF4-FFF2-40B4-BE49-F238E27FC236}">
                <a16:creationId xmlns:a16="http://schemas.microsoft.com/office/drawing/2014/main" id="{04CC66EC-E507-8A49-883B-7E4E68C1983F}"/>
              </a:ext>
            </a:extLst>
          </p:cNvPr>
          <p:cNvSpPr>
            <a:spLocks noGrp="1"/>
          </p:cNvSpPr>
          <p:nvPr>
            <p:ph type="sldNum" sz="quarter" idx="12"/>
          </p:nvPr>
        </p:nvSpPr>
        <p:spPr/>
        <p:txBody>
          <a:bodyPr/>
          <a:lstStyle/>
          <a:p>
            <a:fld id="{13977939-A071-43C1-9268-F54CC2756BB5}" type="slidenum">
              <a:rPr lang="en-US" smtClean="0"/>
              <a:pPr/>
              <a:t>65</a:t>
            </a:fld>
            <a:endParaRPr lang="en-US" dirty="0"/>
          </a:p>
        </p:txBody>
      </p:sp>
    </p:spTree>
    <p:extLst>
      <p:ext uri="{BB962C8B-B14F-4D97-AF65-F5344CB8AC3E}">
        <p14:creationId xmlns:p14="http://schemas.microsoft.com/office/powerpoint/2010/main" val="351344496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86CA4C-7C0F-4249-95EA-F8FF03C4C3AB}"/>
              </a:ext>
            </a:extLst>
          </p:cNvPr>
          <p:cNvSpPr>
            <a:spLocks noGrp="1"/>
          </p:cNvSpPr>
          <p:nvPr>
            <p:ph type="title"/>
          </p:nvPr>
        </p:nvSpPr>
        <p:spPr/>
        <p:txBody>
          <a:bodyPr>
            <a:noAutofit/>
          </a:bodyPr>
          <a:lstStyle/>
          <a:p>
            <a:r>
              <a:rPr lang="en-US" dirty="0"/>
              <a:t>toString (2)</a:t>
            </a:r>
          </a:p>
        </p:txBody>
      </p:sp>
      <p:sp>
        <p:nvSpPr>
          <p:cNvPr id="3" name="Content Placeholder 2">
            <a:extLst>
              <a:ext uri="{FF2B5EF4-FFF2-40B4-BE49-F238E27FC236}">
                <a16:creationId xmlns:a16="http://schemas.microsoft.com/office/drawing/2014/main" id="{D961627E-DE1D-7046-9547-D814814B84AB}"/>
              </a:ext>
            </a:extLst>
          </p:cNvPr>
          <p:cNvSpPr>
            <a:spLocks noGrp="1"/>
          </p:cNvSpPr>
          <p:nvPr>
            <p:ph idx="1"/>
          </p:nvPr>
        </p:nvSpPr>
        <p:spPr>
          <a:xfrm>
            <a:off x="457200" y="932689"/>
            <a:ext cx="8229600" cy="5788786"/>
          </a:xfrm>
        </p:spPr>
        <p:txBody>
          <a:bodyPr>
            <a:normAutofit fontScale="62500" lnSpcReduction="20000"/>
          </a:bodyPr>
          <a:lstStyle/>
          <a:p>
            <a:r>
              <a:rPr lang="en-US" dirty="0"/>
              <a:t>Most classes can benefit from having a method named toString, which is implicitly called under certain circumstances. </a:t>
            </a:r>
          </a:p>
          <a:p>
            <a:pPr lvl="1"/>
            <a:r>
              <a:rPr lang="en-US" dirty="0"/>
              <a:t>Typically, the method returns a String that represents the state of an object.</a:t>
            </a:r>
          </a:p>
          <a:p>
            <a:pPr marL="484632" indent="-457200"/>
            <a:r>
              <a:rPr lang="en-US" dirty="0"/>
              <a:t>Every class has a default toString() if one isn’t provided</a:t>
            </a:r>
          </a:p>
          <a:p>
            <a:pPr marL="850392" lvl="1" indent="-457200"/>
            <a:r>
              <a:rPr lang="en-US" dirty="0"/>
              <a:t>In general the default is not all that useful, as it defaults to the Object class toString method, so we write what is called an overriding method</a:t>
            </a:r>
          </a:p>
          <a:p>
            <a:pPr marL="1124712" lvl="2" indent="-457200"/>
            <a:r>
              <a:rPr lang="en-US" dirty="0"/>
              <a:t>If you don’t override toString() will simply cascade up to Object, which prints out a memory address</a:t>
            </a:r>
          </a:p>
          <a:p>
            <a:pPr marL="850392" lvl="1" indent="-457200"/>
            <a:r>
              <a:rPr lang="en-US" dirty="0"/>
              <a:t>When we look at inheritance we will understand what is inherited and what is new in toString()</a:t>
            </a:r>
          </a:p>
          <a:p>
            <a:pPr marL="484632" indent="-457200"/>
            <a:r>
              <a:rPr lang="en-US" dirty="0"/>
              <a:t>If you use String.format method within toString() you just use exactly the same formatters as are used with printf method – this is what you should do</a:t>
            </a:r>
          </a:p>
          <a:p>
            <a:pPr marL="850392" lvl="1" indent="-457200"/>
            <a:r>
              <a:rPr lang="en-US" dirty="0"/>
              <a:t>format is a static method of String that returns the formatted String</a:t>
            </a:r>
          </a:p>
          <a:p>
            <a:pPr marL="484632" indent="-457200"/>
            <a:endParaRPr lang="en-US" dirty="0"/>
          </a:p>
          <a:p>
            <a:pPr marL="27432" indent="0">
              <a:buNone/>
            </a:pPr>
            <a:r>
              <a:rPr lang="en-US" sz="2800" dirty="0">
                <a:latin typeface="Times New Roman"/>
                <a:cs typeface="Times New Roman"/>
              </a:rPr>
              <a:t>return String.format(“ characters </a:t>
            </a:r>
            <a:r>
              <a:rPr lang="en-US" sz="2800" dirty="0">
                <a:solidFill>
                  <a:srgbClr val="FF0000"/>
                </a:solidFill>
                <a:latin typeface="Times New Roman"/>
                <a:cs typeface="Times New Roman"/>
              </a:rPr>
              <a:t>%format1 </a:t>
            </a:r>
            <a:r>
              <a:rPr lang="en-US" sz="2800" dirty="0">
                <a:latin typeface="Times New Roman"/>
                <a:cs typeface="Times New Roman"/>
              </a:rPr>
              <a:t>characters</a:t>
            </a:r>
            <a:r>
              <a:rPr lang="en-US" sz="2800" dirty="0">
                <a:solidFill>
                  <a:srgbClr val="FF0000"/>
                </a:solidFill>
                <a:latin typeface="Times New Roman"/>
                <a:cs typeface="Times New Roman"/>
              </a:rPr>
              <a:t> </a:t>
            </a:r>
            <a:r>
              <a:rPr lang="en-US" sz="2800" dirty="0">
                <a:solidFill>
                  <a:schemeClr val="accent5">
                    <a:lumMod val="75000"/>
                  </a:schemeClr>
                </a:solidFill>
                <a:latin typeface="Times New Roman"/>
                <a:cs typeface="Times New Roman"/>
              </a:rPr>
              <a:t>%format2 </a:t>
            </a:r>
            <a:r>
              <a:rPr lang="en-US" sz="2800" dirty="0">
                <a:latin typeface="Times New Roman"/>
                <a:cs typeface="Times New Roman"/>
              </a:rPr>
              <a:t>characters </a:t>
            </a:r>
            <a:r>
              <a:rPr lang="en-US" sz="2800" dirty="0">
                <a:solidFill>
                  <a:srgbClr val="FF6600"/>
                </a:solidFill>
                <a:latin typeface="Times New Roman"/>
                <a:cs typeface="Times New Roman"/>
              </a:rPr>
              <a:t>%format3</a:t>
            </a:r>
            <a:r>
              <a:rPr lang="en-US" sz="2800" dirty="0">
                <a:latin typeface="Times New Roman"/>
                <a:cs typeface="Times New Roman"/>
              </a:rPr>
              <a:t>”, </a:t>
            </a:r>
            <a:r>
              <a:rPr lang="en-US" sz="2800" dirty="0">
                <a:solidFill>
                  <a:srgbClr val="FF0000"/>
                </a:solidFill>
                <a:latin typeface="Times New Roman"/>
                <a:cs typeface="Times New Roman"/>
              </a:rPr>
              <a:t>varorconst1</a:t>
            </a:r>
            <a:r>
              <a:rPr lang="en-US" sz="2800" dirty="0">
                <a:latin typeface="Times New Roman"/>
                <a:cs typeface="Times New Roman"/>
              </a:rPr>
              <a:t>, </a:t>
            </a:r>
            <a:r>
              <a:rPr lang="en-US" sz="2800" dirty="0">
                <a:solidFill>
                  <a:srgbClr val="55A839"/>
                </a:solidFill>
                <a:latin typeface="Times New Roman"/>
                <a:cs typeface="Times New Roman"/>
              </a:rPr>
              <a:t>varorconst2</a:t>
            </a:r>
            <a:r>
              <a:rPr lang="en-US" sz="2800" dirty="0">
                <a:latin typeface="Times New Roman"/>
                <a:cs typeface="Times New Roman"/>
              </a:rPr>
              <a:t>, </a:t>
            </a:r>
            <a:r>
              <a:rPr lang="en-US" sz="2800" dirty="0">
                <a:solidFill>
                  <a:srgbClr val="FF6600"/>
                </a:solidFill>
                <a:latin typeface="Times New Roman"/>
                <a:cs typeface="Times New Roman"/>
              </a:rPr>
              <a:t>varorconst3</a:t>
            </a:r>
            <a:r>
              <a:rPr lang="en-US" sz="2800" dirty="0">
                <a:latin typeface="Times New Roman"/>
                <a:cs typeface="Times New Roman"/>
              </a:rPr>
              <a:t>); </a:t>
            </a:r>
          </a:p>
          <a:p>
            <a:pPr marL="27432" indent="0">
              <a:buNone/>
            </a:pPr>
            <a:endParaRPr lang="en-US" dirty="0"/>
          </a:p>
          <a:p>
            <a:pPr marL="27432" indent="0">
              <a:buNone/>
            </a:pPr>
            <a:r>
              <a:rPr lang="en-US" altLang="en-US" sz="2800" dirty="0">
                <a:cs typeface="Times New Roman" panose="02020603050405020304" pitchFamily="18" charset="0"/>
              </a:rPr>
              <a:t>See </a:t>
            </a:r>
            <a:r>
              <a:rPr lang="en-US" altLang="en-US" sz="2800" dirty="0">
                <a:solidFill>
                  <a:srgbClr val="FF0000"/>
                </a:solidFill>
                <a:cs typeface="Times New Roman" panose="02020603050405020304" pitchFamily="18" charset="0"/>
              </a:rPr>
              <a:t>AutoClientV6.java</a:t>
            </a:r>
            <a:r>
              <a:rPr lang="en-US" altLang="en-US" sz="2800" dirty="0">
                <a:cs typeface="Times New Roman" panose="02020603050405020304" pitchFamily="18" charset="0"/>
              </a:rPr>
              <a:t>, </a:t>
            </a:r>
            <a:r>
              <a:rPr lang="en-US" altLang="en-US" sz="2800" dirty="0">
                <a:solidFill>
                  <a:srgbClr val="FF0000"/>
                </a:solidFill>
                <a:cs typeface="Times New Roman" panose="02020603050405020304" pitchFamily="18" charset="0"/>
              </a:rPr>
              <a:t>AutoV6.java</a:t>
            </a:r>
            <a:endParaRPr lang="en-US" dirty="0">
              <a:solidFill>
                <a:srgbClr val="FF0000"/>
              </a:solidFill>
            </a:endParaRPr>
          </a:p>
          <a:p>
            <a:pPr marL="27432" indent="0">
              <a:buNone/>
            </a:pPr>
            <a:endParaRPr lang="en-US" dirty="0"/>
          </a:p>
          <a:p>
            <a:pPr marL="27432" indent="0">
              <a:buNone/>
            </a:pPr>
            <a:r>
              <a:rPr lang="en-US" dirty="0"/>
              <a:t>You can do this in multiple steps”</a:t>
            </a:r>
          </a:p>
          <a:p>
            <a:pPr marL="393192" lvl="1" indent="0">
              <a:buNone/>
            </a:pPr>
            <a:r>
              <a:rPr lang="en-US" dirty="0"/>
              <a:t>String str = String.format(….);</a:t>
            </a:r>
          </a:p>
          <a:p>
            <a:pPr marL="393192" lvl="1" indent="0">
              <a:buNone/>
            </a:pPr>
            <a:r>
              <a:rPr lang="en-US" dirty="0"/>
              <a:t>str = str + String.format(….);</a:t>
            </a:r>
          </a:p>
          <a:p>
            <a:pPr marL="393192" lvl="1" indent="0">
              <a:buNone/>
            </a:pPr>
            <a:r>
              <a:rPr lang="en-US" dirty="0"/>
              <a:t>str = str + String.format(….);</a:t>
            </a:r>
          </a:p>
          <a:p>
            <a:pPr marL="393192" lvl="1" indent="0">
              <a:buNone/>
            </a:pPr>
            <a:r>
              <a:rPr lang="en-US" dirty="0"/>
              <a:t>return str;</a:t>
            </a:r>
          </a:p>
        </p:txBody>
      </p:sp>
      <p:sp>
        <p:nvSpPr>
          <p:cNvPr id="4" name="Slide Number Placeholder 3">
            <a:extLst>
              <a:ext uri="{FF2B5EF4-FFF2-40B4-BE49-F238E27FC236}">
                <a16:creationId xmlns:a16="http://schemas.microsoft.com/office/drawing/2014/main" id="{01F27E3F-F949-064F-B4C2-8112E5514C70}"/>
              </a:ext>
            </a:extLst>
          </p:cNvPr>
          <p:cNvSpPr>
            <a:spLocks noGrp="1"/>
          </p:cNvSpPr>
          <p:nvPr>
            <p:ph type="sldNum" sz="quarter" idx="12"/>
          </p:nvPr>
        </p:nvSpPr>
        <p:spPr/>
        <p:txBody>
          <a:bodyPr/>
          <a:lstStyle/>
          <a:p>
            <a:fld id="{13977939-A071-43C1-9268-F54CC2756BB5}" type="slidenum">
              <a:rPr lang="en-US" smtClean="0"/>
              <a:pPr/>
              <a:t>66</a:t>
            </a:fld>
            <a:endParaRPr lang="en-US" dirty="0"/>
          </a:p>
        </p:txBody>
      </p:sp>
    </p:spTree>
    <p:extLst>
      <p:ext uri="{BB962C8B-B14F-4D97-AF65-F5344CB8AC3E}">
        <p14:creationId xmlns:p14="http://schemas.microsoft.com/office/powerpoint/2010/main" val="287746601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5D154-645E-4942-89F1-DB7DA7454520}"/>
              </a:ext>
            </a:extLst>
          </p:cNvPr>
          <p:cNvSpPr>
            <a:spLocks noGrp="1"/>
          </p:cNvSpPr>
          <p:nvPr>
            <p:ph type="title"/>
          </p:nvPr>
        </p:nvSpPr>
        <p:spPr/>
        <p:txBody>
          <a:bodyPr>
            <a:noAutofit/>
          </a:bodyPr>
          <a:lstStyle/>
          <a:p>
            <a:r>
              <a:rPr lang="en-US" dirty="0"/>
              <a:t>Using equals(Object obj) In Classes</a:t>
            </a:r>
          </a:p>
        </p:txBody>
      </p:sp>
      <p:sp>
        <p:nvSpPr>
          <p:cNvPr id="3" name="Content Placeholder 2">
            <a:extLst>
              <a:ext uri="{FF2B5EF4-FFF2-40B4-BE49-F238E27FC236}">
                <a16:creationId xmlns:a16="http://schemas.microsoft.com/office/drawing/2014/main" id="{F14E9FB8-CE76-DA4C-8D5B-AA00BDC3A12A}"/>
              </a:ext>
            </a:extLst>
          </p:cNvPr>
          <p:cNvSpPr>
            <a:spLocks noGrp="1"/>
          </p:cNvSpPr>
          <p:nvPr>
            <p:ph idx="1"/>
          </p:nvPr>
        </p:nvSpPr>
        <p:spPr>
          <a:xfrm>
            <a:off x="457200" y="1066800"/>
            <a:ext cx="8229600" cy="5791200"/>
          </a:xfrm>
        </p:spPr>
        <p:txBody>
          <a:bodyPr>
            <a:normAutofit fontScale="85000" lnSpcReduction="20000"/>
          </a:bodyPr>
          <a:lstStyle/>
          <a:p>
            <a:r>
              <a:rPr lang="en-US" dirty="0"/>
              <a:t>The purpose of equals(Object obj) is to d</a:t>
            </a:r>
            <a:r>
              <a:rPr lang="en-US" altLang="en-US" dirty="0"/>
              <a:t>etermine if the data in another object is equal to the data in this object.</a:t>
            </a:r>
          </a:p>
          <a:p>
            <a:pPr lvl="1"/>
            <a:r>
              <a:rPr lang="en-US" dirty="0"/>
              <a:t>You cannot determine whether two objects contain the same data by comparing them with the == operator, which tells you if the two references are the same. </a:t>
            </a:r>
          </a:p>
          <a:p>
            <a:pPr lvl="1"/>
            <a:r>
              <a:rPr lang="en-US" dirty="0"/>
              <a:t>Instead, the class must have a method such as equals for comparing the contents of objects.</a:t>
            </a:r>
          </a:p>
          <a:p>
            <a:pPr lvl="2"/>
            <a:r>
              <a:rPr lang="en-US" dirty="0">
                <a:solidFill>
                  <a:srgbClr val="FF0000"/>
                </a:solidFill>
              </a:rPr>
              <a:t>You get to decide what equals means</a:t>
            </a:r>
          </a:p>
          <a:p>
            <a:pPr lvl="2"/>
            <a:r>
              <a:rPr lang="en-US" dirty="0"/>
              <a:t>Later we will also discuss the compareTo method</a:t>
            </a:r>
          </a:p>
          <a:p>
            <a:r>
              <a:rPr lang="en-US" dirty="0"/>
              <a:t>Like toString(), equals(Object obj) is inherited by every class from the Object class.  </a:t>
            </a:r>
          </a:p>
          <a:p>
            <a:pPr lvl="1"/>
            <a:r>
              <a:rPr lang="en-US" dirty="0"/>
              <a:t>However, you almost always want to write an </a:t>
            </a:r>
            <a:r>
              <a:rPr lang="en-US" dirty="0">
                <a:solidFill>
                  <a:srgbClr val="FF0000"/>
                </a:solidFill>
              </a:rPr>
              <a:t>overriding</a:t>
            </a:r>
            <a:r>
              <a:rPr lang="en-US" dirty="0"/>
              <a:t> method for your class, based on your definition of equality</a:t>
            </a:r>
          </a:p>
          <a:p>
            <a:pPr lvl="1"/>
            <a:r>
              <a:rPr lang="en-US" dirty="0"/>
              <a:t>Otherwise it will compare two objects to see if they are the same object (i.e. reference variables refer to same object)</a:t>
            </a:r>
          </a:p>
          <a:p>
            <a:r>
              <a:rPr lang="en-US" dirty="0"/>
              <a:t>Note: later we will discuss the Comparable and Comparator interfaces</a:t>
            </a:r>
          </a:p>
          <a:p>
            <a:r>
              <a:rPr lang="en-US" dirty="0"/>
              <a:t>See </a:t>
            </a:r>
            <a:r>
              <a:rPr lang="en-US" dirty="0">
                <a:solidFill>
                  <a:srgbClr val="FF0000"/>
                </a:solidFill>
              </a:rPr>
              <a:t>https://docs.oracle.com/en/java/javase/21/docs/api/java.base/java/lang/Object.html</a:t>
            </a:r>
          </a:p>
        </p:txBody>
      </p:sp>
      <p:sp>
        <p:nvSpPr>
          <p:cNvPr id="4" name="Slide Number Placeholder 3">
            <a:extLst>
              <a:ext uri="{FF2B5EF4-FFF2-40B4-BE49-F238E27FC236}">
                <a16:creationId xmlns:a16="http://schemas.microsoft.com/office/drawing/2014/main" id="{797504A2-1330-474F-A265-BDDAD2426DA2}"/>
              </a:ext>
            </a:extLst>
          </p:cNvPr>
          <p:cNvSpPr>
            <a:spLocks noGrp="1"/>
          </p:cNvSpPr>
          <p:nvPr>
            <p:ph type="sldNum" sz="quarter" idx="12"/>
          </p:nvPr>
        </p:nvSpPr>
        <p:spPr/>
        <p:txBody>
          <a:bodyPr/>
          <a:lstStyle/>
          <a:p>
            <a:fld id="{13977939-A071-43C1-9268-F54CC2756BB5}" type="slidenum">
              <a:rPr lang="en-US" smtClean="0"/>
              <a:pPr/>
              <a:t>67</a:t>
            </a:fld>
            <a:endParaRPr lang="en-US" dirty="0"/>
          </a:p>
        </p:txBody>
      </p:sp>
    </p:spTree>
    <p:extLst>
      <p:ext uri="{BB962C8B-B14F-4D97-AF65-F5344CB8AC3E}">
        <p14:creationId xmlns:p14="http://schemas.microsoft.com/office/powerpoint/2010/main" val="267986660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241ED-75C4-8B45-8476-020BE3B738E3}"/>
              </a:ext>
            </a:extLst>
          </p:cNvPr>
          <p:cNvSpPr>
            <a:spLocks noGrp="1"/>
          </p:cNvSpPr>
          <p:nvPr>
            <p:ph type="title"/>
          </p:nvPr>
        </p:nvSpPr>
        <p:spPr>
          <a:xfrm>
            <a:off x="457200" y="152400"/>
            <a:ext cx="8229600" cy="475488"/>
          </a:xfrm>
        </p:spPr>
        <p:txBody>
          <a:bodyPr>
            <a:noAutofit/>
          </a:bodyPr>
          <a:lstStyle/>
          <a:p>
            <a:r>
              <a:rPr lang="en-US" dirty="0"/>
              <a:t>instanceof Is A Special Binary Operator</a:t>
            </a:r>
          </a:p>
        </p:txBody>
      </p:sp>
      <p:sp>
        <p:nvSpPr>
          <p:cNvPr id="3" name="Content Placeholder 2">
            <a:extLst>
              <a:ext uri="{FF2B5EF4-FFF2-40B4-BE49-F238E27FC236}">
                <a16:creationId xmlns:a16="http://schemas.microsoft.com/office/drawing/2014/main" id="{ED8EDAC4-917E-644A-9543-6FA7B3536FD8}"/>
              </a:ext>
            </a:extLst>
          </p:cNvPr>
          <p:cNvSpPr>
            <a:spLocks noGrp="1"/>
          </p:cNvSpPr>
          <p:nvPr>
            <p:ph idx="1"/>
          </p:nvPr>
        </p:nvSpPr>
        <p:spPr>
          <a:xfrm>
            <a:off x="457200" y="762000"/>
            <a:ext cx="8229600" cy="5791200"/>
          </a:xfrm>
        </p:spPr>
        <p:txBody>
          <a:bodyPr>
            <a:normAutofit fontScale="77500" lnSpcReduction="20000"/>
          </a:bodyPr>
          <a:lstStyle/>
          <a:p>
            <a:pPr>
              <a:lnSpc>
                <a:spcPct val="110000"/>
              </a:lnSpc>
              <a:spcBef>
                <a:spcPts val="0"/>
              </a:spcBef>
            </a:pPr>
            <a:r>
              <a:rPr lang="en-US" altLang="en-US" dirty="0"/>
              <a:t>We can use the instanceof operator to determine if an object reference refers to an object of a particular class or subclass of that class, or implements an interface of that type.</a:t>
            </a:r>
          </a:p>
          <a:p>
            <a:pPr lvl="1">
              <a:lnSpc>
                <a:spcPct val="110000"/>
              </a:lnSpc>
              <a:spcBef>
                <a:spcPts val="0"/>
              </a:spcBef>
            </a:pPr>
            <a:r>
              <a:rPr lang="en-US" altLang="en-US" dirty="0">
                <a:solidFill>
                  <a:srgbClr val="FF0000"/>
                </a:solidFill>
              </a:rPr>
              <a:t>instanceof is not really a method, rather it is a special binary operator</a:t>
            </a:r>
          </a:p>
          <a:p>
            <a:pPr>
              <a:lnSpc>
                <a:spcPct val="110000"/>
              </a:lnSpc>
              <a:spcBef>
                <a:spcPts val="0"/>
              </a:spcBef>
              <a:buNone/>
            </a:pPr>
            <a:r>
              <a:rPr lang="en-US" altLang="en-US" dirty="0"/>
              <a:t>Syntax:</a:t>
            </a:r>
          </a:p>
          <a:p>
            <a:pPr>
              <a:lnSpc>
                <a:spcPct val="110000"/>
              </a:lnSpc>
              <a:spcBef>
                <a:spcPts val="0"/>
              </a:spcBef>
              <a:buNone/>
            </a:pPr>
            <a:r>
              <a:rPr lang="en-US" altLang="en-US" dirty="0"/>
              <a:t>   </a:t>
            </a:r>
            <a:r>
              <a:rPr lang="en-US" altLang="en-US" sz="2000" dirty="0"/>
              <a:t>objectReference instanceof ClassName</a:t>
            </a:r>
          </a:p>
          <a:p>
            <a:pPr>
              <a:lnSpc>
                <a:spcPct val="110000"/>
              </a:lnSpc>
              <a:spcBef>
                <a:spcPts val="0"/>
              </a:spcBef>
              <a:buNone/>
            </a:pPr>
            <a:r>
              <a:rPr lang="en-US" altLang="en-US" dirty="0"/>
              <a:t>       evaluates to </a:t>
            </a:r>
            <a:r>
              <a:rPr lang="en-US" altLang="en-US" i="1" dirty="0"/>
              <a:t>true </a:t>
            </a:r>
            <a:r>
              <a:rPr lang="en-US" altLang="en-US" dirty="0"/>
              <a:t>if </a:t>
            </a:r>
            <a:r>
              <a:rPr lang="en-US" altLang="en-US" i="1" dirty="0"/>
              <a:t>objectReference </a:t>
            </a:r>
            <a:r>
              <a:rPr lang="en-US" altLang="en-US" dirty="0"/>
              <a:t>is of</a:t>
            </a:r>
          </a:p>
          <a:p>
            <a:pPr>
              <a:lnSpc>
                <a:spcPct val="110000"/>
              </a:lnSpc>
              <a:spcBef>
                <a:spcPts val="0"/>
              </a:spcBef>
              <a:buNone/>
            </a:pPr>
            <a:r>
              <a:rPr lang="en-US" altLang="en-US" i="1" dirty="0"/>
              <a:t>       ClassName </a:t>
            </a:r>
            <a:r>
              <a:rPr lang="en-US" altLang="en-US" dirty="0"/>
              <a:t>type; </a:t>
            </a:r>
            <a:r>
              <a:rPr lang="en-US" altLang="en-US" i="1" dirty="0"/>
              <a:t>false </a:t>
            </a:r>
            <a:r>
              <a:rPr lang="en-US" altLang="en-US" dirty="0"/>
              <a:t>otherwise.</a:t>
            </a:r>
          </a:p>
          <a:p>
            <a:pPr>
              <a:lnSpc>
                <a:spcPct val="110000"/>
              </a:lnSpc>
              <a:spcBef>
                <a:spcPts val="0"/>
              </a:spcBef>
              <a:buNone/>
            </a:pPr>
            <a:endParaRPr lang="en-US" altLang="en-US" dirty="0"/>
          </a:p>
          <a:p>
            <a:pPr marL="0" indent="0">
              <a:lnSpc>
                <a:spcPct val="110000"/>
              </a:lnSpc>
              <a:spcBef>
                <a:spcPts val="0"/>
              </a:spcBef>
              <a:buNone/>
            </a:pPr>
            <a:r>
              <a:rPr lang="en-US" dirty="0"/>
              <a:t>if ( ! ( obj instanceof AutoV6 ) )</a:t>
            </a:r>
          </a:p>
          <a:p>
            <a:pPr marL="0" indent="0">
              <a:lnSpc>
                <a:spcPct val="110000"/>
              </a:lnSpc>
              <a:spcBef>
                <a:spcPts val="0"/>
              </a:spcBef>
              <a:buNone/>
            </a:pPr>
            <a:r>
              <a:rPr lang="en-US" dirty="0"/>
              <a:t> 	return false;</a:t>
            </a:r>
          </a:p>
          <a:p>
            <a:pPr marL="0" indent="0">
              <a:lnSpc>
                <a:spcPct val="110000"/>
              </a:lnSpc>
              <a:spcBef>
                <a:spcPts val="0"/>
              </a:spcBef>
              <a:buNone/>
            </a:pPr>
            <a:r>
              <a:rPr lang="en-US" dirty="0"/>
              <a:t>else</a:t>
            </a:r>
          </a:p>
          <a:p>
            <a:pPr marL="0" indent="0">
              <a:lnSpc>
                <a:spcPct val="110000"/>
              </a:lnSpc>
              <a:spcBef>
                <a:spcPts val="0"/>
              </a:spcBef>
              <a:buNone/>
            </a:pPr>
            <a:r>
              <a:rPr lang="en-US" dirty="0"/>
              <a:t>          	o</a:t>
            </a:r>
          </a:p>
          <a:p>
            <a:pPr marL="0" indent="0">
              <a:lnSpc>
                <a:spcPct val="110000"/>
              </a:lnSpc>
              <a:spcBef>
                <a:spcPts val="0"/>
              </a:spcBef>
              <a:buNone/>
            </a:pPr>
            <a:r>
              <a:rPr lang="en-US" dirty="0"/>
              <a:t>          	o</a:t>
            </a:r>
          </a:p>
          <a:p>
            <a:pPr marL="0" indent="0">
              <a:lnSpc>
                <a:spcPct val="110000"/>
              </a:lnSpc>
              <a:spcBef>
                <a:spcPts val="0"/>
              </a:spcBef>
              <a:buNone/>
            </a:pPr>
            <a:r>
              <a:rPr lang="en-US" dirty="0"/>
              <a:t>          	0</a:t>
            </a:r>
          </a:p>
          <a:p>
            <a:pPr marL="0" indent="0">
              <a:lnSpc>
                <a:spcPct val="110000"/>
              </a:lnSpc>
              <a:spcBef>
                <a:spcPts val="0"/>
              </a:spcBef>
              <a:buNone/>
            </a:pPr>
            <a:r>
              <a:rPr lang="en-US" altLang="en-US" sz="2800" dirty="0">
                <a:cs typeface="Times New Roman" panose="02020603050405020304" pitchFamily="18" charset="0"/>
              </a:rPr>
              <a:t>See </a:t>
            </a:r>
            <a:r>
              <a:rPr lang="en-US" altLang="en-US" sz="2800" dirty="0">
                <a:solidFill>
                  <a:srgbClr val="FF0000"/>
                </a:solidFill>
                <a:cs typeface="Times New Roman" panose="02020603050405020304" pitchFamily="18" charset="0"/>
              </a:rPr>
              <a:t>AutoClientV6.java</a:t>
            </a:r>
            <a:r>
              <a:rPr lang="en-US" altLang="en-US" sz="2800" dirty="0">
                <a:cs typeface="Times New Roman" panose="02020603050405020304" pitchFamily="18" charset="0"/>
              </a:rPr>
              <a:t>, </a:t>
            </a:r>
            <a:r>
              <a:rPr lang="en-US" altLang="en-US" sz="2800" dirty="0">
                <a:solidFill>
                  <a:srgbClr val="FF0000"/>
                </a:solidFill>
                <a:cs typeface="Times New Roman" panose="02020603050405020304" pitchFamily="18" charset="0"/>
              </a:rPr>
              <a:t>AutoV6.java</a:t>
            </a:r>
          </a:p>
          <a:p>
            <a:pPr marL="0" indent="0">
              <a:lnSpc>
                <a:spcPct val="110000"/>
              </a:lnSpc>
              <a:spcBef>
                <a:spcPts val="0"/>
              </a:spcBef>
              <a:buNone/>
            </a:pPr>
            <a:r>
              <a:rPr lang="en-US" sz="2800" dirty="0">
                <a:cs typeface="Times New Roman" panose="02020603050405020304" pitchFamily="18" charset="0"/>
              </a:rPr>
              <a:t>Use my format for best results in overriding equals.</a:t>
            </a:r>
          </a:p>
          <a:p>
            <a:pPr marL="0" indent="0">
              <a:lnSpc>
                <a:spcPct val="110000"/>
              </a:lnSpc>
              <a:spcBef>
                <a:spcPts val="0"/>
              </a:spcBef>
              <a:buNone/>
            </a:pPr>
            <a:r>
              <a:rPr lang="en-US" altLang="en-US" sz="2800" dirty="0">
                <a:cs typeface="Times New Roman" panose="02020603050405020304" pitchFamily="18" charset="0"/>
              </a:rPr>
              <a:t>See </a:t>
            </a:r>
            <a:r>
              <a:rPr lang="en-US" altLang="en-US" sz="2800" dirty="0">
                <a:solidFill>
                  <a:srgbClr val="FF0000"/>
                </a:solidFill>
                <a:cs typeface="Times New Roman" panose="02020603050405020304" pitchFamily="18" charset="0"/>
              </a:rPr>
              <a:t>AutoClientV7.java</a:t>
            </a:r>
            <a:r>
              <a:rPr lang="en-US" altLang="en-US" sz="2800" dirty="0">
                <a:cs typeface="Times New Roman" panose="02020603050405020304" pitchFamily="18" charset="0"/>
              </a:rPr>
              <a:t>, </a:t>
            </a:r>
            <a:r>
              <a:rPr lang="en-US" altLang="en-US" sz="2800" dirty="0">
                <a:solidFill>
                  <a:srgbClr val="FF0000"/>
                </a:solidFill>
                <a:cs typeface="Times New Roman" panose="02020603050405020304" pitchFamily="18" charset="0"/>
              </a:rPr>
              <a:t>AutoV7.java. - puts it all together</a:t>
            </a:r>
            <a:endParaRPr lang="en-US" dirty="0"/>
          </a:p>
          <a:p>
            <a:pPr marL="0" indent="0">
              <a:lnSpc>
                <a:spcPct val="110000"/>
              </a:lnSpc>
              <a:spcBef>
                <a:spcPts val="0"/>
              </a:spcBef>
              <a:buNone/>
            </a:pPr>
            <a:endParaRPr lang="en-US" dirty="0"/>
          </a:p>
        </p:txBody>
      </p:sp>
      <p:sp>
        <p:nvSpPr>
          <p:cNvPr id="4" name="Slide Number Placeholder 3">
            <a:extLst>
              <a:ext uri="{FF2B5EF4-FFF2-40B4-BE49-F238E27FC236}">
                <a16:creationId xmlns:a16="http://schemas.microsoft.com/office/drawing/2014/main" id="{3114F844-AAB4-C54D-B29C-16E6C2FFD48D}"/>
              </a:ext>
            </a:extLst>
          </p:cNvPr>
          <p:cNvSpPr>
            <a:spLocks noGrp="1"/>
          </p:cNvSpPr>
          <p:nvPr>
            <p:ph type="sldNum" sz="quarter" idx="12"/>
          </p:nvPr>
        </p:nvSpPr>
        <p:spPr/>
        <p:txBody>
          <a:bodyPr/>
          <a:lstStyle/>
          <a:p>
            <a:fld id="{13977939-A071-43C1-9268-F54CC2756BB5}" type="slidenum">
              <a:rPr lang="en-US" smtClean="0"/>
              <a:pPr/>
              <a:t>68</a:t>
            </a:fld>
            <a:endParaRPr lang="en-US" dirty="0"/>
          </a:p>
        </p:txBody>
      </p:sp>
    </p:spTree>
    <p:extLst>
      <p:ext uri="{BB962C8B-B14F-4D97-AF65-F5344CB8AC3E}">
        <p14:creationId xmlns:p14="http://schemas.microsoft.com/office/powerpoint/2010/main" val="332935191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4FD9A-701F-464A-ACA1-096A9060FF4E}"/>
              </a:ext>
            </a:extLst>
          </p:cNvPr>
          <p:cNvSpPr>
            <a:spLocks noGrp="1"/>
          </p:cNvSpPr>
          <p:nvPr>
            <p:ph type="title"/>
          </p:nvPr>
        </p:nvSpPr>
        <p:spPr/>
        <p:txBody>
          <a:bodyPr>
            <a:noAutofit/>
          </a:bodyPr>
          <a:lstStyle/>
          <a:p>
            <a:r>
              <a:rPr lang="en-US" dirty="0"/>
              <a:t>Some Notes On Garbage Collection (1)</a:t>
            </a:r>
          </a:p>
        </p:txBody>
      </p:sp>
      <p:sp>
        <p:nvSpPr>
          <p:cNvPr id="3" name="Content Placeholder 2">
            <a:extLst>
              <a:ext uri="{FF2B5EF4-FFF2-40B4-BE49-F238E27FC236}">
                <a16:creationId xmlns:a16="http://schemas.microsoft.com/office/drawing/2014/main" id="{C964282B-281C-6B44-968D-B6158A798E4A}"/>
              </a:ext>
            </a:extLst>
          </p:cNvPr>
          <p:cNvSpPr>
            <a:spLocks noGrp="1"/>
          </p:cNvSpPr>
          <p:nvPr>
            <p:ph idx="1"/>
          </p:nvPr>
        </p:nvSpPr>
        <p:spPr>
          <a:xfrm>
            <a:off x="457200" y="1066801"/>
            <a:ext cx="8229600" cy="5654674"/>
          </a:xfrm>
        </p:spPr>
        <p:txBody>
          <a:bodyPr>
            <a:normAutofit fontScale="92500" lnSpcReduction="10000"/>
          </a:bodyPr>
          <a:lstStyle/>
          <a:p>
            <a:r>
              <a:rPr lang="en-US" dirty="0"/>
              <a:t>The Problem</a:t>
            </a:r>
          </a:p>
          <a:p>
            <a:pPr lvl="1"/>
            <a:r>
              <a:rPr lang="en-US" dirty="0"/>
              <a:t>If unreferenced objects accumulate, a gargantuan program with thousands of objects could run out of memory. </a:t>
            </a:r>
          </a:p>
          <a:p>
            <a:pPr lvl="1"/>
            <a:r>
              <a:rPr lang="en-US" dirty="0"/>
              <a:t>Even if a program does not run out of memory, if too much memory is allocated, program performance can deteriorate.</a:t>
            </a:r>
          </a:p>
          <a:p>
            <a:pPr lvl="1"/>
            <a:r>
              <a:rPr lang="en-US" dirty="0"/>
              <a:t>We have seen how immutable objects, such as String objects, can quickly create large numbers of unreferenced objects.</a:t>
            </a:r>
          </a:p>
          <a:p>
            <a:r>
              <a:rPr lang="en-US" dirty="0"/>
              <a:t>Fortunately, Java manages memory automatically, and this helps alleviate any potential disaster.</a:t>
            </a:r>
          </a:p>
          <a:p>
            <a:pPr lvl="1"/>
            <a:r>
              <a:rPr lang="en-US" dirty="0"/>
              <a:t>The Java Virtual Machine automatically reclaims all memory allocated to unreferenced objects for future use. </a:t>
            </a:r>
          </a:p>
          <a:p>
            <a:pPr lvl="1"/>
            <a:r>
              <a:rPr lang="en-US" dirty="0"/>
              <a:t>In other words, if an object is no longer referenced and accessible, the memory allocated to that object is freed and made available for the creation of other objects. </a:t>
            </a:r>
          </a:p>
          <a:p>
            <a:pPr lvl="1"/>
            <a:r>
              <a:rPr lang="en-US" dirty="0"/>
              <a:t>This clean-up process is called </a:t>
            </a:r>
            <a:r>
              <a:rPr lang="en-US" dirty="0">
                <a:solidFill>
                  <a:srgbClr val="FF0000"/>
                </a:solidFill>
              </a:rPr>
              <a:t>garbage collection</a:t>
            </a:r>
            <a:r>
              <a:rPr lang="en-US" dirty="0"/>
              <a:t>.</a:t>
            </a:r>
          </a:p>
        </p:txBody>
      </p:sp>
      <p:sp>
        <p:nvSpPr>
          <p:cNvPr id="4" name="Slide Number Placeholder 3">
            <a:extLst>
              <a:ext uri="{FF2B5EF4-FFF2-40B4-BE49-F238E27FC236}">
                <a16:creationId xmlns:a16="http://schemas.microsoft.com/office/drawing/2014/main" id="{558C73F3-540E-9748-9CD8-D5B47F2E0311}"/>
              </a:ext>
            </a:extLst>
          </p:cNvPr>
          <p:cNvSpPr>
            <a:spLocks noGrp="1"/>
          </p:cNvSpPr>
          <p:nvPr>
            <p:ph type="sldNum" sz="quarter" idx="12"/>
          </p:nvPr>
        </p:nvSpPr>
        <p:spPr/>
        <p:txBody>
          <a:bodyPr/>
          <a:lstStyle/>
          <a:p>
            <a:fld id="{13977939-A071-43C1-9268-F54CC2756BB5}" type="slidenum">
              <a:rPr lang="en-US" smtClean="0"/>
              <a:pPr/>
              <a:t>69</a:t>
            </a:fld>
            <a:endParaRPr lang="en-US" dirty="0"/>
          </a:p>
        </p:txBody>
      </p:sp>
    </p:spTree>
    <p:extLst>
      <p:ext uri="{BB962C8B-B14F-4D97-AF65-F5344CB8AC3E}">
        <p14:creationId xmlns:p14="http://schemas.microsoft.com/office/powerpoint/2010/main" val="86288092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4FD9A-701F-464A-ACA1-096A9060FF4E}"/>
              </a:ext>
            </a:extLst>
          </p:cNvPr>
          <p:cNvSpPr>
            <a:spLocks noGrp="1"/>
          </p:cNvSpPr>
          <p:nvPr>
            <p:ph type="title"/>
          </p:nvPr>
        </p:nvSpPr>
        <p:spPr/>
        <p:txBody>
          <a:bodyPr>
            <a:noAutofit/>
          </a:bodyPr>
          <a:lstStyle/>
          <a:p>
            <a:r>
              <a:rPr lang="en-US" dirty="0"/>
              <a:t>Some Notes On Garbage Collection (2)</a:t>
            </a:r>
          </a:p>
        </p:txBody>
      </p:sp>
      <p:sp>
        <p:nvSpPr>
          <p:cNvPr id="3" name="Content Placeholder 2">
            <a:extLst>
              <a:ext uri="{FF2B5EF4-FFF2-40B4-BE49-F238E27FC236}">
                <a16:creationId xmlns:a16="http://schemas.microsoft.com/office/drawing/2014/main" id="{C964282B-281C-6B44-968D-B6158A798E4A}"/>
              </a:ext>
            </a:extLst>
          </p:cNvPr>
          <p:cNvSpPr>
            <a:spLocks noGrp="1"/>
          </p:cNvSpPr>
          <p:nvPr>
            <p:ph idx="1"/>
          </p:nvPr>
        </p:nvSpPr>
        <p:spPr>
          <a:xfrm>
            <a:off x="457200" y="1249680"/>
            <a:ext cx="8229600" cy="5151120"/>
          </a:xfrm>
        </p:spPr>
        <p:txBody>
          <a:bodyPr>
            <a:normAutofit fontScale="92500" lnSpcReduction="10000"/>
          </a:bodyPr>
          <a:lstStyle/>
          <a:p>
            <a:r>
              <a:rPr lang="en-US" dirty="0"/>
              <a:t>Sometimes we create an object for short term use </a:t>
            </a:r>
          </a:p>
          <a:p>
            <a:r>
              <a:rPr lang="en-US" dirty="0"/>
              <a:t>A </a:t>
            </a:r>
            <a:r>
              <a:rPr lang="en-US" dirty="0">
                <a:solidFill>
                  <a:srgbClr val="FF0000"/>
                </a:solidFill>
              </a:rPr>
              <a:t>memory leak </a:t>
            </a:r>
            <a:r>
              <a:rPr lang="en-US" dirty="0"/>
              <a:t>occurs when an application maintains references to obsolete objects</a:t>
            </a:r>
          </a:p>
          <a:p>
            <a:r>
              <a:rPr lang="en-US" dirty="0"/>
              <a:t>To avoid a memory leak, set any reference to an object equal to null when that object is no longer going to be used.</a:t>
            </a:r>
          </a:p>
          <a:p>
            <a:pPr lvl="1"/>
            <a:r>
              <a:rPr lang="en-US" dirty="0"/>
              <a:t>A reference with value null refers to no object and holds no address; it is called a </a:t>
            </a:r>
            <a:r>
              <a:rPr lang="en-US" dirty="0">
                <a:solidFill>
                  <a:srgbClr val="FF0000"/>
                </a:solidFill>
              </a:rPr>
              <a:t>void reference</a:t>
            </a:r>
            <a:r>
              <a:rPr lang="en-US" dirty="0"/>
              <a:t>.</a:t>
            </a:r>
          </a:p>
          <a:p>
            <a:r>
              <a:rPr lang="en-US" dirty="0"/>
              <a:t>Once the object has no reference to it the JVM automatically frees up the space</a:t>
            </a:r>
          </a:p>
          <a:p>
            <a:r>
              <a:rPr lang="en-US" dirty="0"/>
              <a:t>Remember: Managing memory use is an important part of a programmer’s job. The programmer must work in tandem with Java’s automatic garbage collection as described above  to ensure that there are no memory leaks.</a:t>
            </a:r>
          </a:p>
        </p:txBody>
      </p:sp>
      <p:sp>
        <p:nvSpPr>
          <p:cNvPr id="4" name="Slide Number Placeholder 3">
            <a:extLst>
              <a:ext uri="{FF2B5EF4-FFF2-40B4-BE49-F238E27FC236}">
                <a16:creationId xmlns:a16="http://schemas.microsoft.com/office/drawing/2014/main" id="{558C73F3-540E-9748-9CD8-D5B47F2E0311}"/>
              </a:ext>
            </a:extLst>
          </p:cNvPr>
          <p:cNvSpPr>
            <a:spLocks noGrp="1"/>
          </p:cNvSpPr>
          <p:nvPr>
            <p:ph type="sldNum" sz="quarter" idx="12"/>
          </p:nvPr>
        </p:nvSpPr>
        <p:spPr/>
        <p:txBody>
          <a:bodyPr/>
          <a:lstStyle/>
          <a:p>
            <a:fld id="{13977939-A071-43C1-9268-F54CC2756BB5}" type="slidenum">
              <a:rPr lang="en-US" smtClean="0"/>
              <a:pPr/>
              <a:t>70</a:t>
            </a:fld>
            <a:endParaRPr lang="en-US" dirty="0"/>
          </a:p>
        </p:txBody>
      </p:sp>
    </p:spTree>
    <p:extLst>
      <p:ext uri="{BB962C8B-B14F-4D97-AF65-F5344CB8AC3E}">
        <p14:creationId xmlns:p14="http://schemas.microsoft.com/office/powerpoint/2010/main" val="377969925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3FC00-3545-8929-8249-D7C7A4547C11}"/>
              </a:ext>
            </a:extLst>
          </p:cNvPr>
          <p:cNvSpPr>
            <a:spLocks noGrp="1"/>
          </p:cNvSpPr>
          <p:nvPr>
            <p:ph type="title"/>
          </p:nvPr>
        </p:nvSpPr>
        <p:spPr>
          <a:xfrm>
            <a:off x="457200" y="76200"/>
            <a:ext cx="8382000" cy="475488"/>
          </a:xfrm>
        </p:spPr>
        <p:txBody>
          <a:bodyPr>
            <a:noAutofit/>
          </a:bodyPr>
          <a:lstStyle/>
          <a:p>
            <a:r>
              <a:rPr lang="en-US" dirty="0"/>
              <a:t>Hospital - A Real World Problem Walkthrough (1)</a:t>
            </a:r>
          </a:p>
        </p:txBody>
      </p:sp>
      <p:sp>
        <p:nvSpPr>
          <p:cNvPr id="3" name="Content Placeholder 2">
            <a:extLst>
              <a:ext uri="{FF2B5EF4-FFF2-40B4-BE49-F238E27FC236}">
                <a16:creationId xmlns:a16="http://schemas.microsoft.com/office/drawing/2014/main" id="{4D27727F-01C4-827A-D2F2-81455FD0CC6B}"/>
              </a:ext>
            </a:extLst>
          </p:cNvPr>
          <p:cNvSpPr>
            <a:spLocks noGrp="1"/>
          </p:cNvSpPr>
          <p:nvPr>
            <p:ph idx="1"/>
          </p:nvPr>
        </p:nvSpPr>
        <p:spPr>
          <a:xfrm>
            <a:off x="457200" y="551688"/>
            <a:ext cx="8229600" cy="6306311"/>
          </a:xfrm>
        </p:spPr>
        <p:txBody>
          <a:bodyPr>
            <a:normAutofit fontScale="55000" lnSpcReduction="20000"/>
          </a:bodyPr>
          <a:lstStyle/>
          <a:p>
            <a:pPr marL="0" indent="0">
              <a:lnSpc>
                <a:spcPct val="120000"/>
              </a:lnSpc>
              <a:spcBef>
                <a:spcPts val="0"/>
              </a:spcBef>
              <a:buNone/>
            </a:pPr>
            <a:r>
              <a:rPr lang="en-US" dirty="0"/>
              <a:t>This problem starts with a general description of the program. After that each of the individual classes you need to create is described in detail. This program is a discrete event simulation. This means that we step through time in increments (in this problem minute intervals) rather than continuously.</a:t>
            </a:r>
          </a:p>
          <a:p>
            <a:pPr marL="0" indent="0">
              <a:lnSpc>
                <a:spcPct val="120000"/>
              </a:lnSpc>
              <a:spcBef>
                <a:spcPts val="0"/>
              </a:spcBef>
              <a:buNone/>
            </a:pPr>
            <a:r>
              <a:rPr lang="en-US" dirty="0"/>
              <a:t>In this problem we create a simplified model of a hospital.  Patients arrive and are placed into a queue to wait for a doctor. </a:t>
            </a:r>
          </a:p>
          <a:p>
            <a:pPr marL="0" indent="0">
              <a:lnSpc>
                <a:spcPct val="120000"/>
              </a:lnSpc>
              <a:spcBef>
                <a:spcPts val="0"/>
              </a:spcBef>
              <a:buNone/>
            </a:pPr>
            <a:endParaRPr lang="en-US" dirty="0"/>
          </a:p>
          <a:p>
            <a:pPr marL="0" indent="0">
              <a:lnSpc>
                <a:spcPct val="120000"/>
              </a:lnSpc>
              <a:spcBef>
                <a:spcPts val="0"/>
              </a:spcBef>
              <a:buNone/>
            </a:pPr>
            <a:r>
              <a:rPr lang="en-US" dirty="0"/>
              <a:t>They are then moved to meet with a Doctor. Once the meeting is finished the patient is moved to another queue/list of patients who have been see. Certain data is collected along the way, and aggregate data is printed at the end. </a:t>
            </a:r>
          </a:p>
          <a:p>
            <a:pPr marL="0" indent="0">
              <a:lnSpc>
                <a:spcPct val="120000"/>
              </a:lnSpc>
              <a:spcBef>
                <a:spcPts val="0"/>
              </a:spcBef>
              <a:buNone/>
            </a:pPr>
            <a:endParaRPr lang="en-US" dirty="0"/>
          </a:p>
          <a:p>
            <a:pPr marL="0" indent="0">
              <a:lnSpc>
                <a:spcPct val="120000"/>
              </a:lnSpc>
              <a:spcBef>
                <a:spcPts val="0"/>
              </a:spcBef>
              <a:buNone/>
            </a:pPr>
            <a:r>
              <a:rPr lang="en-US" dirty="0"/>
              <a:t>There are four classes required. TestHospital, Hospital, Doctor and Patient. These are described below. You are responsible for importing the classes that are needed to make the program work.</a:t>
            </a:r>
          </a:p>
          <a:p>
            <a:pPr marL="0" indent="0">
              <a:lnSpc>
                <a:spcPct val="120000"/>
              </a:lnSpc>
              <a:spcBef>
                <a:spcPts val="0"/>
              </a:spcBef>
              <a:buNone/>
            </a:pPr>
            <a:endParaRPr lang="en-US" b="1" dirty="0"/>
          </a:p>
          <a:p>
            <a:pPr marL="0" indent="0">
              <a:lnSpc>
                <a:spcPct val="120000"/>
              </a:lnSpc>
              <a:spcBef>
                <a:spcPts val="0"/>
              </a:spcBef>
              <a:buNone/>
            </a:pPr>
            <a:r>
              <a:rPr lang="en-US" b="1" dirty="0"/>
              <a:t>TestHospital class </a:t>
            </a:r>
          </a:p>
          <a:p>
            <a:pPr marL="0" indent="0">
              <a:lnSpc>
                <a:spcPct val="120000"/>
              </a:lnSpc>
              <a:spcBef>
                <a:spcPts val="0"/>
              </a:spcBef>
              <a:buNone/>
            </a:pPr>
            <a:r>
              <a:rPr lang="en-US" dirty="0"/>
              <a:t>TestHospital contains the main method which does the following:</a:t>
            </a:r>
          </a:p>
          <a:p>
            <a:pPr marL="0" indent="0">
              <a:lnSpc>
                <a:spcPct val="120000"/>
              </a:lnSpc>
              <a:spcBef>
                <a:spcPts val="0"/>
              </a:spcBef>
              <a:buNone/>
            </a:pPr>
            <a:r>
              <a:rPr lang="en-US" dirty="0"/>
              <a:t>Read in the name and city of the Hospital, and the number of Doctors</a:t>
            </a:r>
          </a:p>
          <a:p>
            <a:pPr marL="0" indent="0">
              <a:lnSpc>
                <a:spcPct val="120000"/>
              </a:lnSpc>
              <a:spcBef>
                <a:spcPts val="0"/>
              </a:spcBef>
              <a:buNone/>
            </a:pPr>
            <a:r>
              <a:rPr lang="en-US" dirty="0"/>
              <a:t>Call a constructor to create a Hospital with the appropriate inputs as described in Hospital description.</a:t>
            </a:r>
          </a:p>
          <a:p>
            <a:pPr marL="0" indent="0">
              <a:lnSpc>
                <a:spcPct val="120000"/>
              </a:lnSpc>
              <a:spcBef>
                <a:spcPts val="0"/>
              </a:spcBef>
              <a:buNone/>
            </a:pPr>
            <a:r>
              <a:rPr lang="en-US" dirty="0"/>
              <a:t>Call </a:t>
            </a:r>
            <a:r>
              <a:rPr lang="en-US" dirty="0" err="1"/>
              <a:t>intitializeHosptial</a:t>
            </a:r>
            <a:r>
              <a:rPr lang="en-US" dirty="0"/>
              <a:t>()</a:t>
            </a:r>
          </a:p>
          <a:p>
            <a:pPr marL="0" indent="0">
              <a:lnSpc>
                <a:spcPct val="120000"/>
              </a:lnSpc>
              <a:spcBef>
                <a:spcPts val="0"/>
              </a:spcBef>
              <a:buNone/>
            </a:pPr>
            <a:r>
              <a:rPr lang="en-US" dirty="0"/>
              <a:t>Read in the length of the simulation (the number of minutes it runs)</a:t>
            </a:r>
          </a:p>
          <a:p>
            <a:pPr marL="0" indent="0">
              <a:lnSpc>
                <a:spcPct val="120000"/>
              </a:lnSpc>
              <a:spcBef>
                <a:spcPts val="0"/>
              </a:spcBef>
              <a:buNone/>
            </a:pPr>
            <a:r>
              <a:rPr lang="en-US" dirty="0"/>
              <a:t>Call the updateHospital method to process patients as described in the Hospital section below with the simulation length</a:t>
            </a:r>
          </a:p>
          <a:p>
            <a:pPr marL="0" indent="0">
              <a:lnSpc>
                <a:spcPct val="120000"/>
              </a:lnSpc>
              <a:spcBef>
                <a:spcPts val="0"/>
              </a:spcBef>
              <a:buNone/>
            </a:pPr>
            <a:r>
              <a:rPr lang="en-US" dirty="0"/>
              <a:t>At the end of this program, after the simulation  loop has completed,  call a method in the Hospital called </a:t>
            </a:r>
            <a:r>
              <a:rPr lang="en-US" dirty="0" err="1"/>
              <a:t>printHospitalStatistics</a:t>
            </a:r>
            <a:r>
              <a:rPr lang="en-US" dirty="0"/>
              <a:t>() created to print out a set of statistics</a:t>
            </a:r>
          </a:p>
        </p:txBody>
      </p:sp>
      <p:sp>
        <p:nvSpPr>
          <p:cNvPr id="4" name="Slide Number Placeholder 3">
            <a:extLst>
              <a:ext uri="{FF2B5EF4-FFF2-40B4-BE49-F238E27FC236}">
                <a16:creationId xmlns:a16="http://schemas.microsoft.com/office/drawing/2014/main" id="{0DF6CA75-551E-C003-0876-6A111073D654}"/>
              </a:ext>
            </a:extLst>
          </p:cNvPr>
          <p:cNvSpPr>
            <a:spLocks noGrp="1"/>
          </p:cNvSpPr>
          <p:nvPr>
            <p:ph type="sldNum" sz="quarter" idx="12"/>
          </p:nvPr>
        </p:nvSpPr>
        <p:spPr/>
        <p:txBody>
          <a:bodyPr/>
          <a:lstStyle/>
          <a:p>
            <a:fld id="{13977939-A071-43C1-9268-F54CC2756BB5}" type="slidenum">
              <a:rPr lang="en-US" smtClean="0"/>
              <a:pPr/>
              <a:t>71</a:t>
            </a:fld>
            <a:endParaRPr lang="en-US" dirty="0"/>
          </a:p>
        </p:txBody>
      </p:sp>
    </p:spTree>
    <p:extLst>
      <p:ext uri="{BB962C8B-B14F-4D97-AF65-F5344CB8AC3E}">
        <p14:creationId xmlns:p14="http://schemas.microsoft.com/office/powerpoint/2010/main" val="20345782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46847-0ACA-B323-B63C-F01A1D958A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4A6C78-7FAE-80DF-85D9-F6F762BA0922}"/>
              </a:ext>
            </a:extLst>
          </p:cNvPr>
          <p:cNvSpPr>
            <a:spLocks noGrp="1"/>
          </p:cNvSpPr>
          <p:nvPr>
            <p:ph type="title"/>
          </p:nvPr>
        </p:nvSpPr>
        <p:spPr>
          <a:xfrm>
            <a:off x="457200" y="136525"/>
            <a:ext cx="8305800" cy="475488"/>
          </a:xfrm>
        </p:spPr>
        <p:txBody>
          <a:bodyPr>
            <a:noAutofit/>
          </a:bodyPr>
          <a:lstStyle/>
          <a:p>
            <a:r>
              <a:rPr lang="en-US" dirty="0"/>
              <a:t>Hospital - A Real World Problem Walkthrough (2)</a:t>
            </a:r>
          </a:p>
        </p:txBody>
      </p:sp>
      <p:sp>
        <p:nvSpPr>
          <p:cNvPr id="3" name="Content Placeholder 2">
            <a:extLst>
              <a:ext uri="{FF2B5EF4-FFF2-40B4-BE49-F238E27FC236}">
                <a16:creationId xmlns:a16="http://schemas.microsoft.com/office/drawing/2014/main" id="{31A326AA-386E-5E9D-C83B-7C2F369C402A}"/>
              </a:ext>
            </a:extLst>
          </p:cNvPr>
          <p:cNvSpPr>
            <a:spLocks noGrp="1"/>
          </p:cNvSpPr>
          <p:nvPr>
            <p:ph idx="1"/>
          </p:nvPr>
        </p:nvSpPr>
        <p:spPr>
          <a:xfrm>
            <a:off x="436756" y="533400"/>
            <a:ext cx="8478644" cy="6324600"/>
          </a:xfrm>
        </p:spPr>
        <p:txBody>
          <a:bodyPr>
            <a:noAutofit/>
          </a:bodyPr>
          <a:lstStyle/>
          <a:p>
            <a:pPr marL="0" indent="0">
              <a:lnSpc>
                <a:spcPct val="120000"/>
              </a:lnSpc>
              <a:spcBef>
                <a:spcPts val="0"/>
              </a:spcBef>
              <a:buNone/>
            </a:pPr>
            <a:r>
              <a:rPr lang="en-US" sz="1100" b="1" dirty="0"/>
              <a:t>Doctor class </a:t>
            </a:r>
            <a:endParaRPr lang="en-US" sz="1100" dirty="0"/>
          </a:p>
          <a:p>
            <a:pPr marL="0" indent="0">
              <a:lnSpc>
                <a:spcPct val="120000"/>
              </a:lnSpc>
              <a:spcBef>
                <a:spcPts val="0"/>
              </a:spcBef>
              <a:buNone/>
            </a:pPr>
            <a:r>
              <a:rPr lang="en-US" sz="1100" dirty="0"/>
              <a:t>Each patient has the following instance and static (class) variables</a:t>
            </a:r>
          </a:p>
          <a:p>
            <a:pPr marL="0" indent="0">
              <a:lnSpc>
                <a:spcPct val="120000"/>
              </a:lnSpc>
              <a:spcBef>
                <a:spcPts val="0"/>
              </a:spcBef>
              <a:buNone/>
            </a:pPr>
            <a:r>
              <a:rPr lang="en-US" sz="1100" dirty="0"/>
              <a:t>A static int </a:t>
            </a:r>
            <a:r>
              <a:rPr lang="en-US" sz="1100" dirty="0" err="1"/>
              <a:t>doctorIDCounter</a:t>
            </a:r>
            <a:r>
              <a:rPr lang="en-US" sz="1100" dirty="0"/>
              <a:t> of type int which is used to issue IDs initially set to 0 </a:t>
            </a:r>
          </a:p>
          <a:p>
            <a:pPr marL="0" indent="0">
              <a:lnSpc>
                <a:spcPct val="120000"/>
              </a:lnSpc>
              <a:spcBef>
                <a:spcPts val="0"/>
              </a:spcBef>
              <a:buNone/>
            </a:pPr>
            <a:r>
              <a:rPr lang="en-US" sz="1100" dirty="0"/>
              <a:t>A unique Patient </a:t>
            </a:r>
            <a:r>
              <a:rPr lang="en-US" sz="1100" dirty="0" err="1"/>
              <a:t>patientWithDoctor</a:t>
            </a:r>
            <a:r>
              <a:rPr lang="en-US" sz="1100" dirty="0"/>
              <a:t> that is either null or a reference to the Patient currently being see by the Doctor </a:t>
            </a:r>
          </a:p>
          <a:p>
            <a:pPr marL="0" indent="0">
              <a:lnSpc>
                <a:spcPct val="120000"/>
              </a:lnSpc>
              <a:spcBef>
                <a:spcPts val="0"/>
              </a:spcBef>
              <a:buNone/>
            </a:pPr>
            <a:r>
              <a:rPr lang="en-US" sz="1100" dirty="0"/>
              <a:t>An int </a:t>
            </a:r>
            <a:r>
              <a:rPr lang="en-US" sz="1100" dirty="0" err="1"/>
              <a:t>patientsFinshedByTheDoctor</a:t>
            </a:r>
            <a:endParaRPr lang="en-US" sz="1100" dirty="0"/>
          </a:p>
          <a:p>
            <a:pPr marL="0" indent="0">
              <a:lnSpc>
                <a:spcPct val="120000"/>
              </a:lnSpc>
              <a:spcBef>
                <a:spcPts val="0"/>
              </a:spcBef>
              <a:buNone/>
            </a:pPr>
            <a:r>
              <a:rPr lang="en-US" sz="1100" b="1" dirty="0"/>
              <a:t>Patient Constructor</a:t>
            </a:r>
          </a:p>
          <a:p>
            <a:pPr marL="0" indent="0">
              <a:lnSpc>
                <a:spcPct val="120000"/>
              </a:lnSpc>
              <a:spcBef>
                <a:spcPts val="0"/>
              </a:spcBef>
              <a:buNone/>
            </a:pPr>
            <a:r>
              <a:rPr lang="en-US" sz="1100" dirty="0"/>
              <a:t>The Doctor constructor has no parameters.</a:t>
            </a:r>
          </a:p>
          <a:p>
            <a:pPr marL="0" indent="0">
              <a:lnSpc>
                <a:spcPct val="120000"/>
              </a:lnSpc>
              <a:spcBef>
                <a:spcPts val="0"/>
              </a:spcBef>
              <a:buNone/>
            </a:pPr>
            <a:r>
              <a:rPr lang="en-US" sz="1100" dirty="0"/>
              <a:t>Calls </a:t>
            </a:r>
            <a:r>
              <a:rPr lang="en-US" sz="1100" dirty="0" err="1"/>
              <a:t>setDoctorID</a:t>
            </a:r>
            <a:r>
              <a:rPr lang="en-US" sz="1100" dirty="0"/>
              <a:t> with no parameters</a:t>
            </a:r>
          </a:p>
          <a:p>
            <a:pPr marL="0" indent="0">
              <a:lnSpc>
                <a:spcPct val="120000"/>
              </a:lnSpc>
              <a:spcBef>
                <a:spcPts val="0"/>
              </a:spcBef>
              <a:buNone/>
            </a:pPr>
            <a:endParaRPr lang="en-US" sz="1100" dirty="0"/>
          </a:p>
          <a:p>
            <a:pPr marL="0" indent="0">
              <a:lnSpc>
                <a:spcPct val="120000"/>
              </a:lnSpc>
              <a:spcBef>
                <a:spcPts val="0"/>
              </a:spcBef>
              <a:buNone/>
            </a:pPr>
            <a:r>
              <a:rPr lang="en-US" sz="1100" b="1" dirty="0"/>
              <a:t>Doctor Accessor Methods</a:t>
            </a:r>
          </a:p>
          <a:p>
            <a:pPr marL="0" indent="0">
              <a:lnSpc>
                <a:spcPct val="120000"/>
              </a:lnSpc>
              <a:spcBef>
                <a:spcPts val="0"/>
              </a:spcBef>
              <a:buNone/>
            </a:pPr>
            <a:r>
              <a:rPr lang="en-US" sz="1100" dirty="0"/>
              <a:t>You will need accessor methods for the </a:t>
            </a:r>
            <a:r>
              <a:rPr lang="en-US" sz="1100" dirty="0" err="1"/>
              <a:t>doctorID</a:t>
            </a:r>
            <a:r>
              <a:rPr lang="en-US" sz="1100" dirty="0"/>
              <a:t>, </a:t>
            </a:r>
            <a:r>
              <a:rPr lang="en-US" sz="1100" dirty="0" err="1"/>
              <a:t>patientWithDoctor</a:t>
            </a:r>
            <a:r>
              <a:rPr lang="en-US" sz="1100" dirty="0"/>
              <a:t> (returns a Patient reference or null)  and </a:t>
            </a:r>
            <a:r>
              <a:rPr lang="en-US" sz="1100" dirty="0" err="1"/>
              <a:t>patientsFinshedByTheDoctor</a:t>
            </a:r>
            <a:endParaRPr lang="en-US" sz="1100" dirty="0"/>
          </a:p>
          <a:p>
            <a:pPr marL="0" indent="0">
              <a:lnSpc>
                <a:spcPct val="120000"/>
              </a:lnSpc>
              <a:spcBef>
                <a:spcPts val="0"/>
              </a:spcBef>
              <a:buNone/>
            </a:pPr>
            <a:r>
              <a:rPr lang="en-US" sz="1100" b="1" dirty="0"/>
              <a:t>Doctor Mutator methods </a:t>
            </a:r>
          </a:p>
          <a:p>
            <a:pPr marL="0" indent="0">
              <a:lnSpc>
                <a:spcPct val="120000"/>
              </a:lnSpc>
              <a:spcBef>
                <a:spcPts val="0"/>
              </a:spcBef>
              <a:buNone/>
            </a:pPr>
            <a:r>
              <a:rPr lang="en-US" sz="1100" b="1" dirty="0" err="1"/>
              <a:t>setDoctorID</a:t>
            </a:r>
            <a:r>
              <a:rPr lang="en-US" sz="1100" b="1" dirty="0"/>
              <a:t>()</a:t>
            </a:r>
          </a:p>
          <a:p>
            <a:pPr marL="0" indent="0">
              <a:lnSpc>
                <a:spcPct val="120000"/>
              </a:lnSpc>
              <a:spcBef>
                <a:spcPts val="0"/>
              </a:spcBef>
              <a:buNone/>
            </a:pPr>
            <a:r>
              <a:rPr lang="en-US" sz="1100" dirty="0"/>
              <a:t>Increments the </a:t>
            </a:r>
            <a:r>
              <a:rPr lang="en-US" sz="1100" dirty="0" err="1"/>
              <a:t>doctorIDCounter</a:t>
            </a:r>
            <a:r>
              <a:rPr lang="en-US" sz="1100" dirty="0"/>
              <a:t> by 1</a:t>
            </a:r>
          </a:p>
          <a:p>
            <a:pPr marL="0" indent="0">
              <a:lnSpc>
                <a:spcPct val="120000"/>
              </a:lnSpc>
              <a:spcBef>
                <a:spcPts val="0"/>
              </a:spcBef>
              <a:buNone/>
            </a:pPr>
            <a:r>
              <a:rPr lang="en-US" sz="1100" dirty="0"/>
              <a:t>It then sets the </a:t>
            </a:r>
            <a:r>
              <a:rPr lang="en-US" sz="1100" dirty="0" err="1"/>
              <a:t>doctorID</a:t>
            </a:r>
            <a:r>
              <a:rPr lang="en-US" sz="1100" dirty="0"/>
              <a:t> to the concatenation of ”Doctor” and the </a:t>
            </a:r>
            <a:r>
              <a:rPr lang="en-US" sz="1100" dirty="0" err="1"/>
              <a:t>doctorIDCounter</a:t>
            </a:r>
            <a:endParaRPr lang="en-US" sz="1100" dirty="0"/>
          </a:p>
          <a:p>
            <a:pPr marL="0" indent="0">
              <a:lnSpc>
                <a:spcPct val="120000"/>
              </a:lnSpc>
              <a:spcBef>
                <a:spcPts val="0"/>
              </a:spcBef>
              <a:buNone/>
            </a:pPr>
            <a:endParaRPr lang="en-US" sz="1100" dirty="0"/>
          </a:p>
          <a:p>
            <a:pPr marL="0" indent="0">
              <a:lnSpc>
                <a:spcPct val="120000"/>
              </a:lnSpc>
              <a:spcBef>
                <a:spcPts val="0"/>
              </a:spcBef>
              <a:buNone/>
            </a:pPr>
            <a:r>
              <a:rPr lang="en-US" sz="1100" b="1" dirty="0" err="1"/>
              <a:t>setPatientWithDoctor</a:t>
            </a:r>
            <a:r>
              <a:rPr lang="en-US" sz="1100" b="1" dirty="0"/>
              <a:t>(Patient pat)</a:t>
            </a:r>
          </a:p>
          <a:p>
            <a:pPr marL="0" indent="0">
              <a:lnSpc>
                <a:spcPct val="120000"/>
              </a:lnSpc>
              <a:spcBef>
                <a:spcPts val="0"/>
              </a:spcBef>
              <a:buNone/>
            </a:pPr>
            <a:r>
              <a:rPr lang="en-US" sz="1100" dirty="0"/>
              <a:t>Set to a Patient reference or null</a:t>
            </a:r>
          </a:p>
          <a:p>
            <a:pPr marL="0" indent="0">
              <a:lnSpc>
                <a:spcPct val="120000"/>
              </a:lnSpc>
              <a:spcBef>
                <a:spcPts val="0"/>
              </a:spcBef>
              <a:buNone/>
            </a:pPr>
            <a:endParaRPr lang="en-US" sz="1100" dirty="0"/>
          </a:p>
          <a:p>
            <a:pPr marL="0" indent="0">
              <a:lnSpc>
                <a:spcPct val="120000"/>
              </a:lnSpc>
              <a:spcBef>
                <a:spcPts val="0"/>
              </a:spcBef>
              <a:buNone/>
            </a:pPr>
            <a:r>
              <a:rPr lang="en-US" sz="1100" b="1" dirty="0" err="1"/>
              <a:t>incrementPatientsFinishedByDoctor</a:t>
            </a:r>
            <a:r>
              <a:rPr lang="en-US" sz="1100" b="1" dirty="0"/>
              <a:t>() </a:t>
            </a:r>
            <a:endParaRPr lang="en-US" sz="1100" dirty="0"/>
          </a:p>
          <a:p>
            <a:pPr marL="0" indent="0">
              <a:lnSpc>
                <a:spcPct val="120000"/>
              </a:lnSpc>
              <a:spcBef>
                <a:spcPts val="0"/>
              </a:spcBef>
              <a:buNone/>
            </a:pPr>
            <a:r>
              <a:rPr lang="en-US" sz="1100" dirty="0"/>
              <a:t>increments </a:t>
            </a:r>
            <a:r>
              <a:rPr lang="en-US" sz="1100" dirty="0" err="1"/>
              <a:t>patientsFinshedByTheDoctor</a:t>
            </a:r>
            <a:r>
              <a:rPr lang="en-US" sz="1100" dirty="0"/>
              <a:t> by 1</a:t>
            </a:r>
          </a:p>
          <a:p>
            <a:pPr marL="0" indent="0">
              <a:lnSpc>
                <a:spcPct val="120000"/>
              </a:lnSpc>
              <a:spcBef>
                <a:spcPts val="0"/>
              </a:spcBef>
              <a:buNone/>
            </a:pPr>
            <a:endParaRPr lang="en-US" sz="1100" dirty="0"/>
          </a:p>
          <a:p>
            <a:pPr marL="0" indent="0">
              <a:lnSpc>
                <a:spcPct val="120000"/>
              </a:lnSpc>
              <a:spcBef>
                <a:spcPts val="0"/>
              </a:spcBef>
              <a:buNone/>
            </a:pPr>
            <a:r>
              <a:rPr lang="en-US" sz="1100" dirty="0"/>
              <a:t>A </a:t>
            </a:r>
            <a:r>
              <a:rPr lang="en-US" sz="1100" dirty="0" err="1"/>
              <a:t>toString</a:t>
            </a:r>
            <a:r>
              <a:rPr lang="en-US" sz="1100" dirty="0"/>
              <a:t> method that prints out the </a:t>
            </a:r>
            <a:r>
              <a:rPr lang="en-US" sz="1100" dirty="0" err="1"/>
              <a:t>doctorID</a:t>
            </a:r>
            <a:endParaRPr lang="en-US" sz="1100" dirty="0"/>
          </a:p>
        </p:txBody>
      </p:sp>
      <p:sp>
        <p:nvSpPr>
          <p:cNvPr id="4" name="Slide Number Placeholder 3">
            <a:extLst>
              <a:ext uri="{FF2B5EF4-FFF2-40B4-BE49-F238E27FC236}">
                <a16:creationId xmlns:a16="http://schemas.microsoft.com/office/drawing/2014/main" id="{9B372D5C-4414-DD1E-BC45-F6321A85065D}"/>
              </a:ext>
            </a:extLst>
          </p:cNvPr>
          <p:cNvSpPr>
            <a:spLocks noGrp="1"/>
          </p:cNvSpPr>
          <p:nvPr>
            <p:ph type="sldNum" sz="quarter" idx="12"/>
          </p:nvPr>
        </p:nvSpPr>
        <p:spPr/>
        <p:txBody>
          <a:bodyPr/>
          <a:lstStyle/>
          <a:p>
            <a:fld id="{13977939-A071-43C1-9268-F54CC2756BB5}" type="slidenum">
              <a:rPr lang="en-US" smtClean="0"/>
              <a:pPr/>
              <a:t>72</a:t>
            </a:fld>
            <a:endParaRPr lang="en-US" dirty="0"/>
          </a:p>
        </p:txBody>
      </p:sp>
    </p:spTree>
    <p:extLst>
      <p:ext uri="{BB962C8B-B14F-4D97-AF65-F5344CB8AC3E}">
        <p14:creationId xmlns:p14="http://schemas.microsoft.com/office/powerpoint/2010/main" val="354494320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F08EC-9AE4-B36B-05F2-7E0620890E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67F818-4F1B-F5FD-F41E-2C6B32F56684}"/>
              </a:ext>
            </a:extLst>
          </p:cNvPr>
          <p:cNvSpPr>
            <a:spLocks noGrp="1"/>
          </p:cNvSpPr>
          <p:nvPr>
            <p:ph type="title"/>
          </p:nvPr>
        </p:nvSpPr>
        <p:spPr>
          <a:xfrm>
            <a:off x="457200" y="136525"/>
            <a:ext cx="8305800" cy="475488"/>
          </a:xfrm>
        </p:spPr>
        <p:txBody>
          <a:bodyPr>
            <a:noAutofit/>
          </a:bodyPr>
          <a:lstStyle/>
          <a:p>
            <a:r>
              <a:rPr lang="en-US" dirty="0"/>
              <a:t>Hospital - A Real World Problem Walkthrough (3)</a:t>
            </a:r>
          </a:p>
        </p:txBody>
      </p:sp>
      <p:sp>
        <p:nvSpPr>
          <p:cNvPr id="3" name="Content Placeholder 2">
            <a:extLst>
              <a:ext uri="{FF2B5EF4-FFF2-40B4-BE49-F238E27FC236}">
                <a16:creationId xmlns:a16="http://schemas.microsoft.com/office/drawing/2014/main" id="{8C23F365-DB7D-2EEB-7682-8C75FC492782}"/>
              </a:ext>
            </a:extLst>
          </p:cNvPr>
          <p:cNvSpPr>
            <a:spLocks noGrp="1"/>
          </p:cNvSpPr>
          <p:nvPr>
            <p:ph idx="1"/>
          </p:nvPr>
        </p:nvSpPr>
        <p:spPr>
          <a:xfrm>
            <a:off x="436756" y="533400"/>
            <a:ext cx="8478644" cy="6324600"/>
          </a:xfrm>
        </p:spPr>
        <p:txBody>
          <a:bodyPr>
            <a:noAutofit/>
          </a:bodyPr>
          <a:lstStyle/>
          <a:p>
            <a:pPr marL="0" indent="0">
              <a:lnSpc>
                <a:spcPct val="120000"/>
              </a:lnSpc>
              <a:spcBef>
                <a:spcPts val="0"/>
              </a:spcBef>
              <a:buNone/>
            </a:pPr>
            <a:r>
              <a:rPr lang="en-US" sz="1100" b="1" dirty="0"/>
              <a:t>Patient class </a:t>
            </a:r>
            <a:endParaRPr lang="en-US" sz="1100" dirty="0"/>
          </a:p>
          <a:p>
            <a:pPr marL="0" indent="0">
              <a:lnSpc>
                <a:spcPct val="120000"/>
              </a:lnSpc>
              <a:spcBef>
                <a:spcPts val="0"/>
              </a:spcBef>
              <a:buNone/>
            </a:pPr>
            <a:r>
              <a:rPr lang="en-US" sz="1100" dirty="0"/>
              <a:t>Each patient has the following instance and static (class) variables</a:t>
            </a:r>
          </a:p>
          <a:p>
            <a:pPr marL="0" indent="0">
              <a:lnSpc>
                <a:spcPct val="120000"/>
              </a:lnSpc>
              <a:spcBef>
                <a:spcPts val="0"/>
              </a:spcBef>
              <a:buNone/>
            </a:pPr>
            <a:r>
              <a:rPr lang="en-US" sz="1100" dirty="0"/>
              <a:t>A static int patientIDCounter of type int which is used to issue IDs initially set to 0 </a:t>
            </a:r>
          </a:p>
          <a:p>
            <a:pPr marL="0" indent="0">
              <a:lnSpc>
                <a:spcPct val="120000"/>
              </a:lnSpc>
              <a:spcBef>
                <a:spcPts val="0"/>
              </a:spcBef>
              <a:buNone/>
            </a:pPr>
            <a:r>
              <a:rPr lang="en-US" sz="1100" dirty="0"/>
              <a:t>A static variable randy2 of type Random that starts with a seed of 5</a:t>
            </a:r>
          </a:p>
          <a:p>
            <a:pPr marL="0" indent="0">
              <a:lnSpc>
                <a:spcPct val="120000"/>
              </a:lnSpc>
              <a:spcBef>
                <a:spcPts val="0"/>
              </a:spcBef>
              <a:buNone/>
            </a:pPr>
            <a:r>
              <a:rPr lang="en-US" sz="1100" dirty="0"/>
              <a:t>A unique patientID starting from 1 for the first patient.</a:t>
            </a:r>
          </a:p>
          <a:p>
            <a:pPr marL="0" indent="0">
              <a:lnSpc>
                <a:spcPct val="120000"/>
              </a:lnSpc>
              <a:spcBef>
                <a:spcPts val="0"/>
              </a:spcBef>
              <a:buNone/>
            </a:pPr>
            <a:r>
              <a:rPr lang="en-US" sz="1100" dirty="0"/>
              <a:t>An int timeArrivedAtHospital</a:t>
            </a:r>
          </a:p>
          <a:p>
            <a:pPr marL="0" indent="0">
              <a:lnSpc>
                <a:spcPct val="120000"/>
              </a:lnSpc>
              <a:spcBef>
                <a:spcPts val="0"/>
              </a:spcBef>
              <a:buNone/>
            </a:pPr>
            <a:r>
              <a:rPr lang="en-US" sz="1100" dirty="0"/>
              <a:t>An int waitTimeInQueue before seeing the doctor (You will need to calculate when the patient leaves the queue)</a:t>
            </a:r>
          </a:p>
          <a:p>
            <a:pPr marL="0" indent="0">
              <a:lnSpc>
                <a:spcPct val="120000"/>
              </a:lnSpc>
              <a:spcBef>
                <a:spcPts val="0"/>
              </a:spcBef>
              <a:buNone/>
            </a:pPr>
            <a:r>
              <a:rPr lang="en-US" sz="1100" dirty="0"/>
              <a:t>An int startTimeWithDoctor</a:t>
            </a:r>
          </a:p>
          <a:p>
            <a:pPr marL="0" indent="0">
              <a:lnSpc>
                <a:spcPct val="120000"/>
              </a:lnSpc>
              <a:spcBef>
                <a:spcPts val="0"/>
              </a:spcBef>
              <a:buNone/>
            </a:pPr>
            <a:r>
              <a:rPr lang="en-US" sz="1100" dirty="0"/>
              <a:t>An int examTime</a:t>
            </a:r>
          </a:p>
          <a:p>
            <a:pPr marL="0" indent="0">
              <a:lnSpc>
                <a:spcPct val="120000"/>
              </a:lnSpc>
              <a:spcBef>
                <a:spcPts val="0"/>
              </a:spcBef>
              <a:buNone/>
            </a:pPr>
            <a:r>
              <a:rPr lang="en-US" sz="1100" b="1" dirty="0"/>
              <a:t>Patient Constructor</a:t>
            </a:r>
          </a:p>
          <a:p>
            <a:pPr marL="0" indent="0">
              <a:lnSpc>
                <a:spcPct val="120000"/>
              </a:lnSpc>
              <a:spcBef>
                <a:spcPts val="0"/>
              </a:spcBef>
              <a:buNone/>
            </a:pPr>
            <a:r>
              <a:rPr lang="en-US" sz="1100" dirty="0"/>
              <a:t>The Patient constructor has no parameters.</a:t>
            </a:r>
          </a:p>
          <a:p>
            <a:pPr marL="0" indent="0">
              <a:lnSpc>
                <a:spcPct val="120000"/>
              </a:lnSpc>
              <a:spcBef>
                <a:spcPts val="0"/>
              </a:spcBef>
              <a:buNone/>
            </a:pPr>
            <a:r>
              <a:rPr lang="en-US" sz="1100" dirty="0"/>
              <a:t>Calls setPatientID with no parameters</a:t>
            </a:r>
          </a:p>
          <a:p>
            <a:pPr marL="0" indent="0">
              <a:lnSpc>
                <a:spcPct val="120000"/>
              </a:lnSpc>
              <a:spcBef>
                <a:spcPts val="0"/>
              </a:spcBef>
              <a:buNone/>
            </a:pPr>
            <a:r>
              <a:rPr lang="en-US" sz="1100" dirty="0"/>
              <a:t>Calls setExamTime with no parameters</a:t>
            </a:r>
          </a:p>
          <a:p>
            <a:pPr marL="0" indent="0">
              <a:lnSpc>
                <a:spcPct val="120000"/>
              </a:lnSpc>
              <a:spcBef>
                <a:spcPts val="0"/>
              </a:spcBef>
              <a:buNone/>
            </a:pPr>
            <a:endParaRPr lang="en-US" sz="1100" dirty="0"/>
          </a:p>
          <a:p>
            <a:pPr marL="0" indent="0">
              <a:lnSpc>
                <a:spcPct val="120000"/>
              </a:lnSpc>
              <a:spcBef>
                <a:spcPts val="0"/>
              </a:spcBef>
              <a:buNone/>
            </a:pPr>
            <a:r>
              <a:rPr lang="en-US" sz="1100" b="1" dirty="0"/>
              <a:t>Patient Accessor Methods</a:t>
            </a:r>
          </a:p>
          <a:p>
            <a:pPr marL="0" indent="0">
              <a:lnSpc>
                <a:spcPct val="120000"/>
              </a:lnSpc>
              <a:spcBef>
                <a:spcPts val="0"/>
              </a:spcBef>
              <a:buNone/>
            </a:pPr>
            <a:r>
              <a:rPr lang="en-US" sz="1100" dirty="0"/>
              <a:t>You will need accessor methods for the </a:t>
            </a:r>
            <a:r>
              <a:rPr lang="en-US" sz="1100" dirty="0" err="1"/>
              <a:t>patientID</a:t>
            </a:r>
            <a:r>
              <a:rPr lang="en-US" sz="1100" dirty="0"/>
              <a:t>, </a:t>
            </a:r>
            <a:r>
              <a:rPr lang="en-US" sz="1100" dirty="0" err="1"/>
              <a:t>startTime</a:t>
            </a:r>
            <a:r>
              <a:rPr lang="en-US" sz="1100" dirty="0"/>
              <a:t> with doctor, </a:t>
            </a:r>
            <a:r>
              <a:rPr lang="en-US" sz="1100" dirty="0" err="1"/>
              <a:t>examTime</a:t>
            </a:r>
            <a:r>
              <a:rPr lang="en-US" sz="1100" dirty="0"/>
              <a:t>, and </a:t>
            </a:r>
            <a:r>
              <a:rPr lang="en-US" sz="1100" dirty="0" err="1"/>
              <a:t>waitTimeInQueue</a:t>
            </a:r>
            <a:r>
              <a:rPr lang="en-US" sz="1100" dirty="0"/>
              <a:t> .  Each of these returns a type int value.</a:t>
            </a:r>
          </a:p>
          <a:p>
            <a:pPr marL="0" indent="0">
              <a:lnSpc>
                <a:spcPct val="120000"/>
              </a:lnSpc>
              <a:spcBef>
                <a:spcPts val="0"/>
              </a:spcBef>
              <a:buNone/>
            </a:pPr>
            <a:r>
              <a:rPr lang="en-US" sz="1100" b="1" dirty="0"/>
              <a:t>Patient Mutator methods (with void return unless otherwise indicated)</a:t>
            </a:r>
          </a:p>
          <a:p>
            <a:pPr marL="0" indent="0">
              <a:lnSpc>
                <a:spcPct val="120000"/>
              </a:lnSpc>
              <a:spcBef>
                <a:spcPts val="0"/>
              </a:spcBef>
              <a:buNone/>
            </a:pPr>
            <a:r>
              <a:rPr lang="en-US" sz="1100" b="1" dirty="0"/>
              <a:t>setPatientID</a:t>
            </a:r>
          </a:p>
          <a:p>
            <a:pPr marL="0" indent="0">
              <a:lnSpc>
                <a:spcPct val="120000"/>
              </a:lnSpc>
              <a:spcBef>
                <a:spcPts val="0"/>
              </a:spcBef>
              <a:buNone/>
            </a:pPr>
            <a:r>
              <a:rPr lang="en-US" sz="1100" dirty="0"/>
              <a:t>Increments the </a:t>
            </a:r>
            <a:r>
              <a:rPr lang="en-US" sz="1100" dirty="0" err="1"/>
              <a:t>patientIDCounter</a:t>
            </a:r>
            <a:r>
              <a:rPr lang="en-US" sz="1100" dirty="0"/>
              <a:t> by 1</a:t>
            </a:r>
          </a:p>
          <a:p>
            <a:pPr marL="0" indent="0">
              <a:lnSpc>
                <a:spcPct val="120000"/>
              </a:lnSpc>
              <a:spcBef>
                <a:spcPts val="0"/>
              </a:spcBef>
              <a:buNone/>
            </a:pPr>
            <a:r>
              <a:rPr lang="en-US" sz="1100" dirty="0"/>
              <a:t>It then sets the patientID to the patientIDCounter</a:t>
            </a:r>
          </a:p>
          <a:p>
            <a:pPr marL="0" indent="0">
              <a:lnSpc>
                <a:spcPct val="120000"/>
              </a:lnSpc>
              <a:spcBef>
                <a:spcPts val="0"/>
              </a:spcBef>
              <a:buNone/>
            </a:pPr>
            <a:r>
              <a:rPr lang="en-US" sz="1100" b="1" dirty="0"/>
              <a:t>setExamTime</a:t>
            </a:r>
          </a:p>
          <a:p>
            <a:pPr marL="0" indent="0">
              <a:lnSpc>
                <a:spcPct val="120000"/>
              </a:lnSpc>
              <a:spcBef>
                <a:spcPts val="0"/>
              </a:spcBef>
              <a:buNone/>
            </a:pPr>
            <a:r>
              <a:rPr lang="en-US" sz="1100" dirty="0"/>
              <a:t>It generates a random time of from 1-15 minutes as an exam time using randy2 and sets examTime to that value</a:t>
            </a:r>
          </a:p>
          <a:p>
            <a:pPr marL="0" indent="0">
              <a:lnSpc>
                <a:spcPct val="120000"/>
              </a:lnSpc>
              <a:spcBef>
                <a:spcPts val="0"/>
              </a:spcBef>
              <a:buNone/>
            </a:pPr>
            <a:endParaRPr lang="en-US" sz="1100" dirty="0"/>
          </a:p>
          <a:p>
            <a:pPr marL="0" indent="0">
              <a:lnSpc>
                <a:spcPct val="120000"/>
              </a:lnSpc>
              <a:spcBef>
                <a:spcPts val="0"/>
              </a:spcBef>
              <a:buNone/>
            </a:pPr>
            <a:r>
              <a:rPr lang="en-US" sz="1100" dirty="0"/>
              <a:t>A method </a:t>
            </a:r>
            <a:r>
              <a:rPr lang="en-US" sz="1100" b="1" dirty="0"/>
              <a:t>setTimeArrivedAtHospital</a:t>
            </a:r>
            <a:r>
              <a:rPr lang="en-US" sz="1100" dirty="0"/>
              <a:t> equal to the input parameter value</a:t>
            </a:r>
          </a:p>
          <a:p>
            <a:pPr marL="0" indent="0">
              <a:lnSpc>
                <a:spcPct val="120000"/>
              </a:lnSpc>
              <a:spcBef>
                <a:spcPts val="0"/>
              </a:spcBef>
              <a:buNone/>
            </a:pPr>
            <a:r>
              <a:rPr lang="en-US" sz="1100" dirty="0"/>
              <a:t>A method setWaitTimeInQueue.  The input parameter has as an in value the time when the patient is removed from the wait queue and meets the doctor. You can quickly calculate the time in the waitTimeInQueue using the arrival time and the input parameter value.</a:t>
            </a:r>
          </a:p>
          <a:p>
            <a:pPr marL="0" indent="0">
              <a:lnSpc>
                <a:spcPct val="120000"/>
              </a:lnSpc>
              <a:spcBef>
                <a:spcPts val="0"/>
              </a:spcBef>
              <a:buNone/>
            </a:pPr>
            <a:r>
              <a:rPr lang="en-US" sz="1100" dirty="0"/>
              <a:t>A method </a:t>
            </a:r>
            <a:r>
              <a:rPr lang="en-US" sz="1100" b="1" dirty="0"/>
              <a:t>setStartTimeWithDoctor</a:t>
            </a:r>
            <a:r>
              <a:rPr lang="en-US" sz="1100" dirty="0"/>
              <a:t> to set the time that you start to see the doctor which is sent to you directly.</a:t>
            </a:r>
          </a:p>
          <a:p>
            <a:pPr marL="0" indent="0">
              <a:lnSpc>
                <a:spcPct val="120000"/>
              </a:lnSpc>
              <a:spcBef>
                <a:spcPts val="0"/>
              </a:spcBef>
              <a:buNone/>
            </a:pPr>
            <a:endParaRPr lang="en-US" sz="1100" dirty="0"/>
          </a:p>
          <a:p>
            <a:pPr marL="0" indent="0">
              <a:lnSpc>
                <a:spcPct val="120000"/>
              </a:lnSpc>
              <a:spcBef>
                <a:spcPts val="0"/>
              </a:spcBef>
              <a:buNone/>
            </a:pPr>
            <a:r>
              <a:rPr lang="en-US" sz="1100" dirty="0"/>
              <a:t>Note: the exam time that is generated is the same as the amount of time you spend with the doctor.</a:t>
            </a:r>
          </a:p>
        </p:txBody>
      </p:sp>
      <p:sp>
        <p:nvSpPr>
          <p:cNvPr id="4" name="Slide Number Placeholder 3">
            <a:extLst>
              <a:ext uri="{FF2B5EF4-FFF2-40B4-BE49-F238E27FC236}">
                <a16:creationId xmlns:a16="http://schemas.microsoft.com/office/drawing/2014/main" id="{AB50D36F-140E-106D-C396-4E7D349D855B}"/>
              </a:ext>
            </a:extLst>
          </p:cNvPr>
          <p:cNvSpPr>
            <a:spLocks noGrp="1"/>
          </p:cNvSpPr>
          <p:nvPr>
            <p:ph type="sldNum" sz="quarter" idx="12"/>
          </p:nvPr>
        </p:nvSpPr>
        <p:spPr/>
        <p:txBody>
          <a:bodyPr/>
          <a:lstStyle/>
          <a:p>
            <a:fld id="{13977939-A071-43C1-9268-F54CC2756BB5}" type="slidenum">
              <a:rPr lang="en-US" smtClean="0"/>
              <a:pPr/>
              <a:t>73</a:t>
            </a:fld>
            <a:endParaRPr lang="en-US" dirty="0"/>
          </a:p>
        </p:txBody>
      </p:sp>
    </p:spTree>
    <p:extLst>
      <p:ext uri="{BB962C8B-B14F-4D97-AF65-F5344CB8AC3E}">
        <p14:creationId xmlns:p14="http://schemas.microsoft.com/office/powerpoint/2010/main" val="229836926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D7AC25-A1A1-ABDE-5A88-32D02DD356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89A611-B804-BEC0-4EFE-8F754D919623}"/>
              </a:ext>
            </a:extLst>
          </p:cNvPr>
          <p:cNvSpPr>
            <a:spLocks noGrp="1"/>
          </p:cNvSpPr>
          <p:nvPr>
            <p:ph type="title"/>
          </p:nvPr>
        </p:nvSpPr>
        <p:spPr>
          <a:xfrm>
            <a:off x="457200" y="76200"/>
            <a:ext cx="8610600" cy="475488"/>
          </a:xfrm>
        </p:spPr>
        <p:txBody>
          <a:bodyPr>
            <a:noAutofit/>
          </a:bodyPr>
          <a:lstStyle/>
          <a:p>
            <a:r>
              <a:rPr lang="en-US" dirty="0"/>
              <a:t>Hospital - A Real World Problem Walkthrough (4)</a:t>
            </a:r>
          </a:p>
        </p:txBody>
      </p:sp>
      <p:sp>
        <p:nvSpPr>
          <p:cNvPr id="3" name="Content Placeholder 2">
            <a:extLst>
              <a:ext uri="{FF2B5EF4-FFF2-40B4-BE49-F238E27FC236}">
                <a16:creationId xmlns:a16="http://schemas.microsoft.com/office/drawing/2014/main" id="{B69BECB3-E334-B6DC-4C93-A0EDA9E05DBB}"/>
              </a:ext>
            </a:extLst>
          </p:cNvPr>
          <p:cNvSpPr>
            <a:spLocks noGrp="1"/>
          </p:cNvSpPr>
          <p:nvPr>
            <p:ph idx="1"/>
          </p:nvPr>
        </p:nvSpPr>
        <p:spPr>
          <a:xfrm>
            <a:off x="304800" y="457200"/>
            <a:ext cx="8610600" cy="6477000"/>
          </a:xfrm>
        </p:spPr>
        <p:txBody>
          <a:bodyPr>
            <a:normAutofit fontScale="47500" lnSpcReduction="20000"/>
          </a:bodyPr>
          <a:lstStyle/>
          <a:p>
            <a:pPr marL="0" indent="0">
              <a:buNone/>
            </a:pPr>
            <a:r>
              <a:rPr lang="en-US" sz="2800" b="1" dirty="0"/>
              <a:t>Hospital class </a:t>
            </a:r>
          </a:p>
          <a:p>
            <a:pPr marL="0" indent="0">
              <a:buNone/>
            </a:pPr>
            <a:r>
              <a:rPr lang="en-US" sz="2800" dirty="0"/>
              <a:t>The Hospital class has the following instance variables:</a:t>
            </a:r>
          </a:p>
          <a:p>
            <a:pPr marL="0" indent="0">
              <a:buNone/>
            </a:pPr>
            <a:r>
              <a:rPr lang="en-US" sz="2800" dirty="0"/>
              <a:t>Create a variable randy of type Random with a seed of 9</a:t>
            </a:r>
          </a:p>
          <a:p>
            <a:pPr marL="0" indent="0">
              <a:buNone/>
            </a:pPr>
            <a:r>
              <a:rPr lang="en-US" sz="2800" dirty="0"/>
              <a:t>It’s name and city as String variables.</a:t>
            </a:r>
          </a:p>
          <a:p>
            <a:pPr marL="0" indent="0">
              <a:buNone/>
            </a:pPr>
            <a:r>
              <a:rPr lang="en-US" sz="2800" dirty="0"/>
              <a:t>An int timeOfDay initially 0.</a:t>
            </a:r>
          </a:p>
          <a:p>
            <a:pPr marL="0" indent="0">
              <a:buNone/>
            </a:pPr>
            <a:r>
              <a:rPr lang="en-US" sz="2800" dirty="0"/>
              <a:t>A list of patients in the ArrayList called queueWaitingPatients of type Patient.</a:t>
            </a:r>
          </a:p>
          <a:p>
            <a:pPr marL="0" indent="0">
              <a:buNone/>
            </a:pPr>
            <a:r>
              <a:rPr lang="en-US" sz="2800" dirty="0"/>
              <a:t>A second list of patients that have completed their exam called completedVisitPatientList implemented with an ArrayList of type Patient.</a:t>
            </a:r>
          </a:p>
          <a:p>
            <a:pPr marL="0" indent="0">
              <a:buNone/>
            </a:pPr>
            <a:r>
              <a:rPr lang="en-US" sz="2800" dirty="0"/>
              <a:t>An ArrayList of type Doctor called doctors</a:t>
            </a:r>
          </a:p>
          <a:p>
            <a:pPr marL="0" indent="0">
              <a:buNone/>
            </a:pPr>
            <a:r>
              <a:rPr lang="en-US" sz="2800" dirty="0"/>
              <a:t>For convenience create </a:t>
            </a:r>
            <a:r>
              <a:rPr lang="en-US" sz="2800" dirty="0" err="1"/>
              <a:t>tempDoctor</a:t>
            </a:r>
            <a:r>
              <a:rPr lang="en-US" sz="2800" dirty="0"/>
              <a:t> and </a:t>
            </a:r>
            <a:r>
              <a:rPr lang="en-US" sz="2800" dirty="0" err="1"/>
              <a:t>tempPatient</a:t>
            </a:r>
            <a:r>
              <a:rPr lang="en-US" sz="2800" dirty="0"/>
              <a:t> variables</a:t>
            </a:r>
          </a:p>
          <a:p>
            <a:pPr marL="0" indent="0">
              <a:buNone/>
            </a:pPr>
            <a:endParaRPr lang="en-US" sz="2800" dirty="0"/>
          </a:p>
          <a:p>
            <a:pPr marL="0" indent="0">
              <a:buNone/>
            </a:pPr>
            <a:r>
              <a:rPr lang="en-US" sz="2800" dirty="0"/>
              <a:t>Create a default constructor (put it first) that set the name and city to “unknown”</a:t>
            </a:r>
          </a:p>
          <a:p>
            <a:pPr marL="0" indent="0">
              <a:buNone/>
            </a:pPr>
            <a:r>
              <a:rPr lang="en-US" sz="2800" dirty="0"/>
              <a:t>Create another Hospital Constructor</a:t>
            </a:r>
          </a:p>
          <a:p>
            <a:pPr marL="0" indent="0">
              <a:buNone/>
            </a:pPr>
            <a:r>
              <a:rPr lang="en-US" sz="2800" dirty="0"/>
              <a:t>The Hospital constructor accepts the name and city of the hospital as String variables and the number of doctors as as an int.</a:t>
            </a:r>
          </a:p>
          <a:p>
            <a:pPr marL="0" indent="0">
              <a:buNone/>
            </a:pPr>
            <a:r>
              <a:rPr lang="en-US" sz="2800" dirty="0"/>
              <a:t>It simply sets the name and city.</a:t>
            </a:r>
          </a:p>
          <a:p>
            <a:pPr marL="0" indent="0">
              <a:buNone/>
            </a:pPr>
            <a:r>
              <a:rPr lang="en-US" sz="2800" dirty="0"/>
              <a:t>Hospital Accessor Methods</a:t>
            </a:r>
          </a:p>
          <a:p>
            <a:pPr marL="0" indent="0">
              <a:buNone/>
            </a:pPr>
            <a:r>
              <a:rPr lang="en-US" sz="2800" dirty="0"/>
              <a:t>Create accessor methods for the name and city of the hospital. (These may or may not be used.)</a:t>
            </a:r>
          </a:p>
          <a:p>
            <a:pPr marL="0" indent="0">
              <a:buNone/>
            </a:pPr>
            <a:r>
              <a:rPr lang="en-US" sz="2800" dirty="0"/>
              <a:t>Call </a:t>
            </a:r>
            <a:r>
              <a:rPr lang="en-US" sz="2800" dirty="0" err="1"/>
              <a:t>createDoctors</a:t>
            </a:r>
            <a:r>
              <a:rPr lang="en-US" sz="2800" dirty="0"/>
              <a:t> with the number of doctors</a:t>
            </a:r>
          </a:p>
          <a:p>
            <a:pPr marL="0" indent="0">
              <a:buNone/>
            </a:pPr>
            <a:endParaRPr lang="en-US" sz="2800" dirty="0"/>
          </a:p>
          <a:p>
            <a:pPr marL="0" indent="0">
              <a:buNone/>
            </a:pPr>
            <a:r>
              <a:rPr lang="en-US" sz="2800" dirty="0"/>
              <a:t>Other methods</a:t>
            </a:r>
          </a:p>
          <a:p>
            <a:pPr marL="0" indent="0">
              <a:buNone/>
            </a:pPr>
            <a:r>
              <a:rPr lang="en-US" sz="2800" dirty="0"/>
              <a:t>A void method </a:t>
            </a:r>
            <a:r>
              <a:rPr lang="en-US" sz="2800" dirty="0" err="1"/>
              <a:t>createDoctors</a:t>
            </a:r>
            <a:r>
              <a:rPr lang="en-US" sz="2800" dirty="0"/>
              <a:t>(</a:t>
            </a:r>
            <a:r>
              <a:rPr lang="en-US" sz="2800" dirty="0" err="1"/>
              <a:t>numDoctors</a:t>
            </a:r>
            <a:r>
              <a:rPr lang="en-US" sz="2800" dirty="0"/>
              <a:t>)</a:t>
            </a:r>
          </a:p>
          <a:p>
            <a:pPr marL="0" indent="0">
              <a:buNone/>
            </a:pPr>
            <a:r>
              <a:rPr lang="en-US" sz="2800" dirty="0"/>
              <a:t>   Create </a:t>
            </a:r>
            <a:r>
              <a:rPr lang="en-US" sz="2800" dirty="0" err="1"/>
              <a:t>numDoctors</a:t>
            </a:r>
            <a:r>
              <a:rPr lang="en-US" sz="2800" dirty="0"/>
              <a:t> Doctors, placing each in the doctors ArrayList</a:t>
            </a:r>
          </a:p>
          <a:p>
            <a:pPr marL="0" indent="0">
              <a:buNone/>
            </a:pPr>
            <a:endParaRPr lang="en-US" sz="2800" dirty="0"/>
          </a:p>
          <a:p>
            <a:pPr marL="0" indent="0">
              <a:buNone/>
            </a:pPr>
            <a:r>
              <a:rPr lang="en-US" sz="2800" dirty="0"/>
              <a:t>A void method </a:t>
            </a:r>
            <a:r>
              <a:rPr lang="en-US" sz="2800" dirty="0" err="1"/>
              <a:t>intializeHospital</a:t>
            </a:r>
            <a:r>
              <a:rPr lang="en-US" sz="2800" dirty="0"/>
              <a:t>()</a:t>
            </a:r>
          </a:p>
          <a:p>
            <a:pPr marL="0" indent="0">
              <a:buNone/>
            </a:pPr>
            <a:r>
              <a:rPr lang="en-US" sz="2800" dirty="0"/>
              <a:t>   Create the first ten Patient objects (setting the initial time into queue as 0), and call the method   </a:t>
            </a:r>
          </a:p>
          <a:p>
            <a:pPr marL="0" indent="0">
              <a:buNone/>
            </a:pPr>
            <a:r>
              <a:rPr lang="en-US" sz="2800" dirty="0"/>
              <a:t>   </a:t>
            </a:r>
            <a:r>
              <a:rPr lang="en-US" sz="2800" dirty="0" err="1"/>
              <a:t>addToQueueWaitingPatients</a:t>
            </a:r>
            <a:r>
              <a:rPr lang="en-US" sz="2800" dirty="0"/>
              <a:t>(Patient pat) in Hospital to add each patient to queue of waiting patients as described in  </a:t>
            </a:r>
          </a:p>
          <a:p>
            <a:pPr marL="0" indent="0">
              <a:buNone/>
            </a:pPr>
            <a:r>
              <a:rPr lang="en-US" sz="2800" dirty="0"/>
              <a:t>   Hospital (You will send a reference to a patient)</a:t>
            </a:r>
          </a:p>
          <a:p>
            <a:pPr marL="0" indent="0">
              <a:buNone/>
            </a:pPr>
            <a:endParaRPr lang="en-US" sz="2800" dirty="0"/>
          </a:p>
          <a:p>
            <a:pPr marL="0" indent="0">
              <a:buNone/>
            </a:pPr>
            <a:r>
              <a:rPr lang="en-US" sz="2800" dirty="0"/>
              <a:t>A void method addToQueueWaitingPatients that accepts a reference to a Patient object and</a:t>
            </a:r>
          </a:p>
          <a:p>
            <a:pPr marL="0" indent="0">
              <a:buNone/>
            </a:pPr>
            <a:r>
              <a:rPr lang="en-US" sz="2800" dirty="0"/>
              <a:t>   Calls the method setTimeArrivedAtHospital for the referenced Patient with the timeOfDay as the parameter.</a:t>
            </a:r>
          </a:p>
          <a:p>
            <a:pPr marL="0" indent="0">
              <a:buNone/>
            </a:pPr>
            <a:r>
              <a:rPr lang="en-US" sz="2800" dirty="0"/>
              <a:t>   Adds a reference to the Patient to the end of the ArrayList </a:t>
            </a:r>
            <a:r>
              <a:rPr lang="en-US" sz="2800" dirty="0" err="1"/>
              <a:t>queueWaitingPatients</a:t>
            </a:r>
            <a:r>
              <a:rPr lang="en-US" sz="2800" dirty="0"/>
              <a:t>.</a:t>
            </a:r>
          </a:p>
        </p:txBody>
      </p:sp>
      <p:sp>
        <p:nvSpPr>
          <p:cNvPr id="4" name="Slide Number Placeholder 3">
            <a:extLst>
              <a:ext uri="{FF2B5EF4-FFF2-40B4-BE49-F238E27FC236}">
                <a16:creationId xmlns:a16="http://schemas.microsoft.com/office/drawing/2014/main" id="{5F42D247-8E66-787F-DA0E-1564FD5EBA29}"/>
              </a:ext>
            </a:extLst>
          </p:cNvPr>
          <p:cNvSpPr>
            <a:spLocks noGrp="1"/>
          </p:cNvSpPr>
          <p:nvPr>
            <p:ph type="sldNum" sz="quarter" idx="12"/>
          </p:nvPr>
        </p:nvSpPr>
        <p:spPr/>
        <p:txBody>
          <a:bodyPr/>
          <a:lstStyle/>
          <a:p>
            <a:fld id="{13977939-A071-43C1-9268-F54CC2756BB5}" type="slidenum">
              <a:rPr lang="en-US" smtClean="0"/>
              <a:pPr/>
              <a:t>74</a:t>
            </a:fld>
            <a:endParaRPr lang="en-US" dirty="0"/>
          </a:p>
        </p:txBody>
      </p:sp>
    </p:spTree>
    <p:extLst>
      <p:ext uri="{BB962C8B-B14F-4D97-AF65-F5344CB8AC3E}">
        <p14:creationId xmlns:p14="http://schemas.microsoft.com/office/powerpoint/2010/main" val="242260737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05D30-EF37-F9F4-B0DC-F23AD7EA0C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0653AA-5C9F-32C0-0E61-2932AFA4F17A}"/>
              </a:ext>
            </a:extLst>
          </p:cNvPr>
          <p:cNvSpPr>
            <a:spLocks noGrp="1"/>
          </p:cNvSpPr>
          <p:nvPr>
            <p:ph type="title"/>
          </p:nvPr>
        </p:nvSpPr>
        <p:spPr>
          <a:xfrm>
            <a:off x="457200" y="152400"/>
            <a:ext cx="8610600" cy="475488"/>
          </a:xfrm>
        </p:spPr>
        <p:txBody>
          <a:bodyPr>
            <a:noAutofit/>
          </a:bodyPr>
          <a:lstStyle/>
          <a:p>
            <a:r>
              <a:rPr lang="en-US" dirty="0"/>
              <a:t>Hospital - A Real World Problem Walkthrough (5)</a:t>
            </a:r>
          </a:p>
        </p:txBody>
      </p:sp>
      <p:sp>
        <p:nvSpPr>
          <p:cNvPr id="3" name="Content Placeholder 2">
            <a:extLst>
              <a:ext uri="{FF2B5EF4-FFF2-40B4-BE49-F238E27FC236}">
                <a16:creationId xmlns:a16="http://schemas.microsoft.com/office/drawing/2014/main" id="{DC2A93E2-26DA-4112-2E82-F700A4EAD309}"/>
              </a:ext>
            </a:extLst>
          </p:cNvPr>
          <p:cNvSpPr>
            <a:spLocks noGrp="1"/>
          </p:cNvSpPr>
          <p:nvPr>
            <p:ph idx="1"/>
          </p:nvPr>
        </p:nvSpPr>
        <p:spPr>
          <a:xfrm>
            <a:off x="304800" y="627888"/>
            <a:ext cx="8610600" cy="6230111"/>
          </a:xfrm>
        </p:spPr>
        <p:txBody>
          <a:bodyPr>
            <a:normAutofit fontScale="62500" lnSpcReduction="20000"/>
          </a:bodyPr>
          <a:lstStyle/>
          <a:p>
            <a:pPr marL="0" indent="0">
              <a:buNone/>
            </a:pPr>
            <a:r>
              <a:rPr lang="en-US" sz="2400" dirty="0"/>
              <a:t>A method </a:t>
            </a:r>
            <a:r>
              <a:rPr lang="en-US" sz="2400" b="1" dirty="0"/>
              <a:t>updateHospita</a:t>
            </a:r>
            <a:r>
              <a:rPr lang="en-US" sz="2400" dirty="0"/>
              <a:t>l </a:t>
            </a:r>
          </a:p>
          <a:p>
            <a:pPr marL="0" indent="0">
              <a:buNone/>
            </a:pPr>
            <a:r>
              <a:rPr lang="en-US" sz="2400" dirty="0"/>
              <a:t>   </a:t>
            </a:r>
            <a:endParaRPr lang="en-US" dirty="0"/>
          </a:p>
          <a:p>
            <a:pPr marL="0" indent="0">
              <a:lnSpc>
                <a:spcPct val="120000"/>
              </a:lnSpc>
              <a:spcBef>
                <a:spcPts val="0"/>
              </a:spcBef>
              <a:buNone/>
            </a:pPr>
            <a:r>
              <a:rPr lang="en-US" dirty="0"/>
              <a:t>For length of the simulation  in minutes (in increments of 1 minute) (starting from time 0)</a:t>
            </a:r>
          </a:p>
          <a:p>
            <a:pPr marL="365760" lvl="1" indent="0">
              <a:lnSpc>
                <a:spcPct val="120000"/>
              </a:lnSpc>
              <a:spcBef>
                <a:spcPts val="0"/>
              </a:spcBef>
              <a:buNone/>
            </a:pPr>
            <a:r>
              <a:rPr lang="en-US" dirty="0"/>
              <a:t>At each ten minutes (think of using modulo to figure this out)</a:t>
            </a:r>
          </a:p>
          <a:p>
            <a:pPr marL="365760" lvl="1" indent="0">
              <a:lnSpc>
                <a:spcPct val="120000"/>
              </a:lnSpc>
              <a:spcBef>
                <a:spcPts val="0"/>
              </a:spcBef>
              <a:buNone/>
            </a:pPr>
            <a:r>
              <a:rPr lang="en-US" dirty="0"/>
              <a:t>Add from 1-5 new patients to the end of the waiting queue using a Hospital method (setting the arrival time in the queue)</a:t>
            </a:r>
          </a:p>
          <a:p>
            <a:pPr marL="365760" lvl="1" indent="0">
              <a:lnSpc>
                <a:spcPct val="120000"/>
              </a:lnSpc>
              <a:spcBef>
                <a:spcPts val="0"/>
              </a:spcBef>
              <a:buNone/>
            </a:pPr>
            <a:r>
              <a:rPr lang="en-US" dirty="0"/>
              <a:t>Call the updateHospital method to process patients as described in the Hospital section  below (This statement happens each minute)</a:t>
            </a:r>
          </a:p>
          <a:p>
            <a:pPr marL="0" indent="0">
              <a:buNone/>
            </a:pPr>
            <a:endParaRPr lang="en-US" sz="2800" dirty="0"/>
          </a:p>
          <a:p>
            <a:pPr marL="0" indent="0">
              <a:buNone/>
            </a:pPr>
            <a:r>
              <a:rPr lang="en-US" sz="2800" dirty="0"/>
              <a:t>   Increments the time of day by one minute</a:t>
            </a:r>
          </a:p>
          <a:p>
            <a:pPr marL="0" indent="0">
              <a:buNone/>
            </a:pPr>
            <a:r>
              <a:rPr lang="en-US" sz="2800" dirty="0"/>
              <a:t>   Implements the following two different loops</a:t>
            </a:r>
          </a:p>
          <a:p>
            <a:pPr marL="0" indent="0">
              <a:lnSpc>
                <a:spcPct val="120000"/>
              </a:lnSpc>
              <a:spcBef>
                <a:spcPts val="0"/>
              </a:spcBef>
              <a:buNone/>
            </a:pPr>
            <a:endParaRPr lang="en-US" dirty="0"/>
          </a:p>
          <a:p>
            <a:pPr marL="0" indent="0">
              <a:lnSpc>
                <a:spcPct val="120000"/>
              </a:lnSpc>
              <a:spcBef>
                <a:spcPts val="0"/>
              </a:spcBef>
              <a:buNone/>
            </a:pPr>
            <a:r>
              <a:rPr lang="en-US" sz="2800" dirty="0"/>
              <a:t>     //This first loop checks each doctor to see if a Patient exam has</a:t>
            </a:r>
          </a:p>
          <a:p>
            <a:pPr marL="0" indent="0">
              <a:lnSpc>
                <a:spcPct val="120000"/>
              </a:lnSpc>
              <a:spcBef>
                <a:spcPts val="0"/>
              </a:spcBef>
              <a:buNone/>
            </a:pPr>
            <a:r>
              <a:rPr lang="en-US" sz="2800" dirty="0"/>
              <a:t>       finished and takes appropriate steps if necessary</a:t>
            </a:r>
          </a:p>
          <a:p>
            <a:pPr marL="0" indent="0">
              <a:buNone/>
            </a:pPr>
            <a:r>
              <a:rPr lang="en-US" sz="2800" b="1" dirty="0"/>
              <a:t>    For each doctor</a:t>
            </a:r>
          </a:p>
          <a:p>
            <a:pPr marL="0" indent="0">
              <a:buNone/>
            </a:pPr>
            <a:r>
              <a:rPr lang="en-US" sz="2800" dirty="0"/>
              <a:t>      If the doctor is currently with a Patient (</a:t>
            </a:r>
            <a:r>
              <a:rPr lang="en-US" sz="2800" dirty="0" err="1"/>
              <a:t>getPatientWithDoctor</a:t>
            </a:r>
            <a:r>
              <a:rPr lang="en-US" sz="2800" dirty="0"/>
              <a:t>() is not null</a:t>
            </a:r>
          </a:p>
          <a:p>
            <a:pPr marL="0" indent="0">
              <a:buNone/>
            </a:pPr>
            <a:r>
              <a:rPr lang="en-US" sz="2800" dirty="0"/>
              <a:t>      set </a:t>
            </a:r>
            <a:r>
              <a:rPr lang="en-US" sz="2800" dirty="0" err="1"/>
              <a:t>tempPatient</a:t>
            </a:r>
            <a:r>
              <a:rPr lang="en-US" sz="2800" dirty="0"/>
              <a:t> to the patient that is with the doctor</a:t>
            </a:r>
          </a:p>
          <a:p>
            <a:pPr marL="0" indent="0">
              <a:buNone/>
            </a:pPr>
            <a:r>
              <a:rPr lang="en-US" sz="2800" dirty="0"/>
              <a:t>       If the doctor has been with that Patient a time greater than or equal to</a:t>
            </a:r>
          </a:p>
          <a:p>
            <a:pPr marL="0" indent="0">
              <a:buNone/>
            </a:pPr>
            <a:r>
              <a:rPr lang="en-US" sz="2800" dirty="0"/>
              <a:t>       the examTime for the Patient</a:t>
            </a:r>
          </a:p>
          <a:p>
            <a:pPr marL="0" indent="0">
              <a:buNone/>
            </a:pPr>
            <a:r>
              <a:rPr lang="en-US" sz="2800" dirty="0"/>
              <a:t>           Add the Patient to completedVisitPatientList</a:t>
            </a:r>
          </a:p>
          <a:p>
            <a:pPr marL="0" indent="0">
              <a:buNone/>
            </a:pPr>
            <a:r>
              <a:rPr lang="en-US" sz="2800" dirty="0"/>
              <a:t>           Increment the </a:t>
            </a:r>
            <a:r>
              <a:rPr lang="en-US" sz="2800" dirty="0" err="1"/>
              <a:t>patientsFinishedByDoctor</a:t>
            </a:r>
            <a:r>
              <a:rPr lang="en-US" sz="2800" dirty="0"/>
              <a:t> doctor.</a:t>
            </a:r>
          </a:p>
          <a:p>
            <a:pPr marL="0" indent="0">
              <a:buNone/>
            </a:pPr>
            <a:r>
              <a:rPr lang="en-US" sz="2800" dirty="0"/>
              <a:t>           Set the </a:t>
            </a:r>
            <a:r>
              <a:rPr lang="en-US" sz="2800" dirty="0" err="1"/>
              <a:t>patientWithDoctor</a:t>
            </a:r>
            <a:r>
              <a:rPr lang="en-US" sz="2800" dirty="0"/>
              <a:t> or this doctor to null </a:t>
            </a:r>
          </a:p>
        </p:txBody>
      </p:sp>
      <p:sp>
        <p:nvSpPr>
          <p:cNvPr id="4" name="Slide Number Placeholder 3">
            <a:extLst>
              <a:ext uri="{FF2B5EF4-FFF2-40B4-BE49-F238E27FC236}">
                <a16:creationId xmlns:a16="http://schemas.microsoft.com/office/drawing/2014/main" id="{3A53E62E-881B-3E0B-E735-2D5E3347B75D}"/>
              </a:ext>
            </a:extLst>
          </p:cNvPr>
          <p:cNvSpPr>
            <a:spLocks noGrp="1"/>
          </p:cNvSpPr>
          <p:nvPr>
            <p:ph type="sldNum" sz="quarter" idx="12"/>
          </p:nvPr>
        </p:nvSpPr>
        <p:spPr/>
        <p:txBody>
          <a:bodyPr/>
          <a:lstStyle/>
          <a:p>
            <a:fld id="{13977939-A071-43C1-9268-F54CC2756BB5}" type="slidenum">
              <a:rPr lang="en-US" smtClean="0"/>
              <a:pPr/>
              <a:t>75</a:t>
            </a:fld>
            <a:endParaRPr lang="en-US" dirty="0"/>
          </a:p>
        </p:txBody>
      </p:sp>
    </p:spTree>
    <p:extLst>
      <p:ext uri="{BB962C8B-B14F-4D97-AF65-F5344CB8AC3E}">
        <p14:creationId xmlns:p14="http://schemas.microsoft.com/office/powerpoint/2010/main" val="231621497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0F51F4-D3BD-F65A-D0E8-CBE841909D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72D32D-0ADF-920A-7D75-6FF9549D165D}"/>
              </a:ext>
            </a:extLst>
          </p:cNvPr>
          <p:cNvSpPr>
            <a:spLocks noGrp="1"/>
          </p:cNvSpPr>
          <p:nvPr>
            <p:ph type="title"/>
          </p:nvPr>
        </p:nvSpPr>
        <p:spPr>
          <a:xfrm>
            <a:off x="457200" y="320676"/>
            <a:ext cx="8305800" cy="475488"/>
          </a:xfrm>
        </p:spPr>
        <p:txBody>
          <a:bodyPr>
            <a:noAutofit/>
          </a:bodyPr>
          <a:lstStyle/>
          <a:p>
            <a:r>
              <a:rPr lang="en-US" dirty="0"/>
              <a:t>Hospital - A Real World Problem Walkthrough (6)</a:t>
            </a:r>
          </a:p>
        </p:txBody>
      </p:sp>
      <p:sp>
        <p:nvSpPr>
          <p:cNvPr id="3" name="Content Placeholder 2">
            <a:extLst>
              <a:ext uri="{FF2B5EF4-FFF2-40B4-BE49-F238E27FC236}">
                <a16:creationId xmlns:a16="http://schemas.microsoft.com/office/drawing/2014/main" id="{43EB29FA-B759-540C-BA63-E672F588111B}"/>
              </a:ext>
            </a:extLst>
          </p:cNvPr>
          <p:cNvSpPr>
            <a:spLocks noGrp="1"/>
          </p:cNvSpPr>
          <p:nvPr>
            <p:ph idx="1"/>
          </p:nvPr>
        </p:nvSpPr>
        <p:spPr>
          <a:xfrm>
            <a:off x="457200" y="932688"/>
            <a:ext cx="8229600" cy="5925311"/>
          </a:xfrm>
        </p:spPr>
        <p:txBody>
          <a:bodyPr>
            <a:normAutofit fontScale="62500" lnSpcReduction="20000"/>
          </a:bodyPr>
          <a:lstStyle/>
          <a:p>
            <a:pPr marL="0" indent="0">
              <a:buNone/>
            </a:pPr>
            <a:r>
              <a:rPr lang="en-US" b="1" dirty="0"/>
              <a:t>This second loop checks each doctor to see if the doctor is idle and steps if necessary to start next Patient visit</a:t>
            </a:r>
            <a:endParaRPr lang="en-US" dirty="0"/>
          </a:p>
          <a:p>
            <a:pPr marL="0" indent="0">
              <a:buNone/>
            </a:pPr>
            <a:r>
              <a:rPr lang="en-US" dirty="0"/>
              <a:t>For each doctor </a:t>
            </a:r>
          </a:p>
          <a:p>
            <a:pPr marL="0" indent="0">
              <a:buNone/>
            </a:pPr>
            <a:r>
              <a:rPr lang="en-US" dirty="0"/>
              <a:t>   If there is a Patient waiting (i.e. if(queueWaitingPatients.size() &gt; 0))</a:t>
            </a:r>
          </a:p>
          <a:p>
            <a:pPr marL="0" indent="0">
              <a:buNone/>
            </a:pPr>
            <a:r>
              <a:rPr lang="en-US" dirty="0"/>
              <a:t>       If there is a doctor available (starting with the first Doctor in doctors) (i.e. if     </a:t>
            </a:r>
          </a:p>
          <a:p>
            <a:pPr marL="0" indent="0">
              <a:buNone/>
            </a:pPr>
            <a:r>
              <a:rPr lang="en-US" dirty="0"/>
              <a:t>        </a:t>
            </a:r>
            <a:r>
              <a:rPr lang="en-US" dirty="0" err="1"/>
              <a:t>getPatientWithDoctor</a:t>
            </a:r>
            <a:r>
              <a:rPr lang="en-US" dirty="0"/>
              <a:t> for this doctor is null)</a:t>
            </a:r>
          </a:p>
          <a:p>
            <a:pPr marL="0" indent="0">
              <a:buNone/>
            </a:pPr>
            <a:r>
              <a:rPr lang="en-US" dirty="0"/>
              <a:t>           Get the patient reference from the top of queueWaitingPatients (location 0) and call </a:t>
            </a:r>
          </a:p>
          <a:p>
            <a:pPr marL="0" indent="0">
              <a:buNone/>
            </a:pPr>
            <a:r>
              <a:rPr lang="en-US" dirty="0"/>
              <a:t>            </a:t>
            </a:r>
            <a:r>
              <a:rPr lang="en-US" dirty="0" err="1"/>
              <a:t>setPatientWithDoctor</a:t>
            </a:r>
            <a:r>
              <a:rPr lang="en-US" dirty="0"/>
              <a:t>(</a:t>
            </a:r>
            <a:r>
              <a:rPr lang="en-US" dirty="0" err="1"/>
              <a:t>tempPatient</a:t>
            </a:r>
            <a:r>
              <a:rPr lang="en-US" dirty="0"/>
              <a:t>) for this Doctor</a:t>
            </a:r>
          </a:p>
          <a:p>
            <a:pPr marL="0" indent="0">
              <a:buNone/>
            </a:pPr>
            <a:r>
              <a:rPr lang="en-US" dirty="0"/>
              <a:t>            Remove that patient from the queueWaitingPatients</a:t>
            </a:r>
          </a:p>
          <a:p>
            <a:pPr marL="0" indent="0">
              <a:buNone/>
            </a:pPr>
            <a:r>
              <a:rPr lang="en-US" dirty="0"/>
              <a:t>            Call setWaitTimeInQueue for the Patient to sets the waitTimeInQueue with the </a:t>
            </a:r>
          </a:p>
          <a:p>
            <a:pPr marL="0" indent="0">
              <a:buNone/>
            </a:pPr>
            <a:r>
              <a:rPr lang="en-US" dirty="0"/>
              <a:t>             current time of day as the parameter</a:t>
            </a:r>
          </a:p>
          <a:p>
            <a:pPr marL="0" indent="0">
              <a:buNone/>
            </a:pPr>
            <a:r>
              <a:rPr lang="en-US" dirty="0"/>
              <a:t>             Call setStartTimeWithDoctor for the Patient that sets the startTimewithDoctor with </a:t>
            </a:r>
          </a:p>
          <a:p>
            <a:pPr marL="0" indent="0">
              <a:buNone/>
            </a:pPr>
            <a:r>
              <a:rPr lang="en-US" dirty="0"/>
              <a:t>             the current time of day</a:t>
            </a:r>
          </a:p>
          <a:p>
            <a:pPr marL="0" indent="0">
              <a:buNone/>
            </a:pPr>
            <a:endParaRPr lang="en-US" dirty="0"/>
          </a:p>
          <a:p>
            <a:pPr marL="0" indent="0">
              <a:buNone/>
            </a:pPr>
            <a:r>
              <a:rPr lang="en-US" dirty="0"/>
              <a:t>A print Hospital statistics method that prints out the following ( sample output follows)</a:t>
            </a:r>
          </a:p>
          <a:p>
            <a:pPr marL="0" indent="0">
              <a:buNone/>
            </a:pPr>
            <a:endParaRPr lang="en-US" dirty="0"/>
          </a:p>
          <a:p>
            <a:pPr marL="0" indent="0">
              <a:buNone/>
            </a:pPr>
            <a:r>
              <a:rPr lang="en-US" dirty="0"/>
              <a:t>The name and city of the hospital</a:t>
            </a:r>
          </a:p>
          <a:p>
            <a:pPr marL="0" indent="0">
              <a:buNone/>
            </a:pPr>
            <a:r>
              <a:rPr lang="en-US" dirty="0"/>
              <a:t>The total number of Patient ‘sthat came to the hospital</a:t>
            </a:r>
          </a:p>
          <a:p>
            <a:pPr marL="0" indent="0">
              <a:buNone/>
            </a:pPr>
            <a:r>
              <a:rPr lang="en-US" dirty="0"/>
              <a:t>The number of Patient’s still in the queue waiting to be seen</a:t>
            </a:r>
          </a:p>
          <a:p>
            <a:pPr marL="0" indent="0">
              <a:buNone/>
            </a:pPr>
            <a:r>
              <a:rPr lang="en-US" dirty="0"/>
              <a:t>For each doctor, the number of Patient’s who finished seeing that doctor</a:t>
            </a:r>
          </a:p>
          <a:p>
            <a:pPr marL="0" indent="0">
              <a:buNone/>
            </a:pPr>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8B2D073C-5FF4-9124-0B5D-FD04121746EB}"/>
              </a:ext>
            </a:extLst>
          </p:cNvPr>
          <p:cNvSpPr>
            <a:spLocks noGrp="1"/>
          </p:cNvSpPr>
          <p:nvPr>
            <p:ph type="sldNum" sz="quarter" idx="12"/>
          </p:nvPr>
        </p:nvSpPr>
        <p:spPr/>
        <p:txBody>
          <a:bodyPr/>
          <a:lstStyle/>
          <a:p>
            <a:fld id="{13977939-A071-43C1-9268-F54CC2756BB5}" type="slidenum">
              <a:rPr lang="en-US" smtClean="0"/>
              <a:pPr/>
              <a:t>76</a:t>
            </a:fld>
            <a:endParaRPr lang="en-US" dirty="0"/>
          </a:p>
        </p:txBody>
      </p:sp>
    </p:spTree>
    <p:extLst>
      <p:ext uri="{BB962C8B-B14F-4D97-AF65-F5344CB8AC3E}">
        <p14:creationId xmlns:p14="http://schemas.microsoft.com/office/powerpoint/2010/main" val="122852861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256F19F-D593-CC4E-819E-88E56EBB5459}"/>
              </a:ext>
            </a:extLst>
          </p:cNvPr>
          <p:cNvSpPr>
            <a:spLocks noGrp="1"/>
          </p:cNvSpPr>
          <p:nvPr>
            <p:ph type="title" idx="4294967295"/>
          </p:nvPr>
        </p:nvSpPr>
        <p:spPr>
          <a:xfrm>
            <a:off x="530225" y="2705100"/>
            <a:ext cx="7772400" cy="1509713"/>
          </a:xfrm>
          <a:prstGeom prst="rect">
            <a:avLst/>
          </a:prstGeom>
          <a:noFill/>
          <a:ln>
            <a:noFill/>
            <a:prstDash/>
          </a:ln>
          <a:effectLst/>
        </p:spPr>
        <p:txBody>
          <a:bodyPr rot="0" spcFirstLastPara="0" vertOverflow="overflow" horzOverflow="overflow" vert="horz" wrap="square" lIns="45720" tIns="45720" rIns="45720" bIns="45720" numCol="1" spcCol="0" rtlCol="0" fromWordArt="0" anchor="t" anchorCtr="0" forceAA="0" compatLnSpc="1">
            <a:prstTxWarp prst="textNoShape">
              <a:avLst/>
            </a:prstTxWarp>
            <a:normAutofit/>
          </a:bodyPr>
          <a:lstStyle/>
          <a:p>
            <a:pPr marL="0" marR="0" lvl="0" indent="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200" b="0" i="0" u="none" strike="noStrike" kern="1200" cap="none" spc="0" normalizeH="0" baseline="0" noProof="0" dirty="0">
                <a:ln>
                  <a:noFill/>
                </a:ln>
                <a:solidFill>
                  <a:schemeClr val="tx1"/>
                </a:solidFill>
                <a:effectLst/>
                <a:uLnTx/>
                <a:uFillTx/>
                <a:latin typeface="+mn-lt"/>
                <a:ea typeface="+mn-ea"/>
                <a:cs typeface="+mn-cs"/>
              </a:rPr>
              <a:t>Using the Unified Modeling Language To Represent Classes</a:t>
            </a:r>
          </a:p>
        </p:txBody>
      </p:sp>
      <p:sp>
        <p:nvSpPr>
          <p:cNvPr id="4" name="Slide Number Placeholder 3">
            <a:extLst>
              <a:ext uri="{FF2B5EF4-FFF2-40B4-BE49-F238E27FC236}">
                <a16:creationId xmlns:a16="http://schemas.microsoft.com/office/drawing/2014/main" id="{D4720E97-9555-174A-95F7-D32F8395ADCC}"/>
              </a:ext>
            </a:extLst>
          </p:cNvPr>
          <p:cNvSpPr>
            <a:spLocks noGrp="1"/>
          </p:cNvSpPr>
          <p:nvPr>
            <p:ph type="sldNum" sz="quarter" idx="12"/>
          </p:nvPr>
        </p:nvSpPr>
        <p:spPr/>
        <p:txBody>
          <a:bodyPr/>
          <a:lstStyle/>
          <a:p>
            <a:fld id="{13977939-A071-43C1-9268-F54CC2756BB5}" type="slidenum">
              <a:rPr lang="en-US" smtClean="0"/>
              <a:pPr/>
              <a:t>77</a:t>
            </a:fld>
            <a:endParaRPr lang="en-US" dirty="0"/>
          </a:p>
        </p:txBody>
      </p:sp>
    </p:spTree>
    <p:extLst>
      <p:ext uri="{BB962C8B-B14F-4D97-AF65-F5344CB8AC3E}">
        <p14:creationId xmlns:p14="http://schemas.microsoft.com/office/powerpoint/2010/main" val="415280729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8CEEC-DE57-AF4D-82D9-C944591B5CAF}"/>
              </a:ext>
            </a:extLst>
          </p:cNvPr>
          <p:cNvSpPr>
            <a:spLocks noGrp="1"/>
          </p:cNvSpPr>
          <p:nvPr>
            <p:ph type="title"/>
          </p:nvPr>
        </p:nvSpPr>
        <p:spPr/>
        <p:txBody>
          <a:bodyPr>
            <a:noAutofit/>
          </a:bodyPr>
          <a:lstStyle/>
          <a:p>
            <a:r>
              <a:rPr lang="en-US" dirty="0"/>
              <a:t>What Is UML</a:t>
            </a:r>
          </a:p>
        </p:txBody>
      </p:sp>
      <p:sp>
        <p:nvSpPr>
          <p:cNvPr id="3" name="Content Placeholder 2">
            <a:extLst>
              <a:ext uri="{FF2B5EF4-FFF2-40B4-BE49-F238E27FC236}">
                <a16:creationId xmlns:a16="http://schemas.microsoft.com/office/drawing/2014/main" id="{95BBDFA0-20F3-AF4D-9335-825BC0E2A8DB}"/>
              </a:ext>
            </a:extLst>
          </p:cNvPr>
          <p:cNvSpPr>
            <a:spLocks noGrp="1"/>
          </p:cNvSpPr>
          <p:nvPr>
            <p:ph idx="1"/>
          </p:nvPr>
        </p:nvSpPr>
        <p:spPr>
          <a:xfrm>
            <a:off x="457200" y="932687"/>
            <a:ext cx="8229600" cy="5788787"/>
          </a:xfrm>
        </p:spPr>
        <p:txBody>
          <a:bodyPr>
            <a:normAutofit fontScale="85000" lnSpcReduction="20000"/>
          </a:bodyPr>
          <a:lstStyle/>
          <a:p>
            <a:r>
              <a:rPr lang="en-US" dirty="0"/>
              <a:t>UML, short for </a:t>
            </a:r>
            <a:r>
              <a:rPr lang="en-US" dirty="0">
                <a:solidFill>
                  <a:srgbClr val="FF0000"/>
                </a:solidFill>
              </a:rPr>
              <a:t>Unified Modeling Language</a:t>
            </a:r>
            <a:r>
              <a:rPr lang="en-US" dirty="0"/>
              <a:t>, is a standardized modeling language consisting of an integrated set of diagrams, developed to help system and software developers when specifying, visualizing, constructing, and documenting the artifacts of software systems, as well as for business modeling and other non-software systems. </a:t>
            </a:r>
          </a:p>
          <a:p>
            <a:pPr lvl="1"/>
            <a:r>
              <a:rPr lang="en-US" dirty="0"/>
              <a:t>The UML represents a collection of best engineering practices that have proven successful in the modeling of large and complex systems. </a:t>
            </a:r>
          </a:p>
          <a:p>
            <a:r>
              <a:rPr lang="en-US" dirty="0"/>
              <a:t>The UML is a very important part of developing object-oriented software and the software development process. </a:t>
            </a:r>
          </a:p>
          <a:p>
            <a:pPr lvl="1"/>
            <a:r>
              <a:rPr lang="en-US" dirty="0"/>
              <a:t>The UML uses mostly graphical notations to express the design of software projects. </a:t>
            </a:r>
          </a:p>
          <a:p>
            <a:pPr lvl="1"/>
            <a:r>
              <a:rPr lang="en-US" dirty="0"/>
              <a:t>Using the UML helps project teams communicate, explore potential designs, and validate the architectural design of the software.</a:t>
            </a:r>
          </a:p>
          <a:p>
            <a:r>
              <a:rPr lang="en-US" dirty="0"/>
              <a:t>If you become a software engineer you will be using UML throughout your career.</a:t>
            </a:r>
          </a:p>
          <a:p>
            <a:r>
              <a:rPr lang="en-US" dirty="0"/>
              <a:t>UML diagrams are language independent.</a:t>
            </a:r>
          </a:p>
          <a:p>
            <a:pPr lvl="1"/>
            <a:r>
              <a:rPr lang="en-US" dirty="0"/>
              <a:t>UML diagrams use an independent notation to show return types, access modifiers, etc.</a:t>
            </a:r>
          </a:p>
          <a:p>
            <a:endParaRPr lang="en-US" dirty="0"/>
          </a:p>
        </p:txBody>
      </p:sp>
      <p:sp>
        <p:nvSpPr>
          <p:cNvPr id="4" name="Slide Number Placeholder 3">
            <a:extLst>
              <a:ext uri="{FF2B5EF4-FFF2-40B4-BE49-F238E27FC236}">
                <a16:creationId xmlns:a16="http://schemas.microsoft.com/office/drawing/2014/main" id="{B9A1FE14-F152-4548-8801-8ED5EF108391}"/>
              </a:ext>
            </a:extLst>
          </p:cNvPr>
          <p:cNvSpPr>
            <a:spLocks noGrp="1"/>
          </p:cNvSpPr>
          <p:nvPr>
            <p:ph type="sldNum" sz="quarter" idx="12"/>
          </p:nvPr>
        </p:nvSpPr>
        <p:spPr/>
        <p:txBody>
          <a:bodyPr/>
          <a:lstStyle/>
          <a:p>
            <a:fld id="{13977939-A071-43C1-9268-F54CC2756BB5}" type="slidenum">
              <a:rPr lang="en-US" smtClean="0"/>
              <a:pPr/>
              <a:t>78</a:t>
            </a:fld>
            <a:endParaRPr lang="en-US" dirty="0"/>
          </a:p>
        </p:txBody>
      </p:sp>
    </p:spTree>
    <p:extLst>
      <p:ext uri="{BB962C8B-B14F-4D97-AF65-F5344CB8AC3E}">
        <p14:creationId xmlns:p14="http://schemas.microsoft.com/office/powerpoint/2010/main" val="399419972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54346-3C3F-8F43-AE12-1C5160592242}"/>
              </a:ext>
            </a:extLst>
          </p:cNvPr>
          <p:cNvSpPr>
            <a:spLocks noGrp="1"/>
          </p:cNvSpPr>
          <p:nvPr>
            <p:ph type="title"/>
          </p:nvPr>
        </p:nvSpPr>
        <p:spPr/>
        <p:txBody>
          <a:bodyPr/>
          <a:lstStyle/>
          <a:p>
            <a:r>
              <a:rPr lang="en-US" dirty="0"/>
              <a:t>Graphical Representation Of A Class Using UML</a:t>
            </a:r>
          </a:p>
        </p:txBody>
      </p:sp>
      <p:sp>
        <p:nvSpPr>
          <p:cNvPr id="3" name="Slide Number Placeholder 2">
            <a:extLst>
              <a:ext uri="{FF2B5EF4-FFF2-40B4-BE49-F238E27FC236}">
                <a16:creationId xmlns:a16="http://schemas.microsoft.com/office/drawing/2014/main" id="{01882385-B1C3-4942-A5BE-144CFBEE6D1D}"/>
              </a:ext>
            </a:extLst>
          </p:cNvPr>
          <p:cNvSpPr>
            <a:spLocks noGrp="1"/>
          </p:cNvSpPr>
          <p:nvPr>
            <p:ph type="sldNum" sz="quarter" idx="12"/>
          </p:nvPr>
        </p:nvSpPr>
        <p:spPr/>
        <p:txBody>
          <a:bodyPr/>
          <a:lstStyle/>
          <a:p>
            <a:fld id="{13977939-A071-43C1-9268-F54CC2756BB5}" type="slidenum">
              <a:rPr lang="en-US" smtClean="0"/>
              <a:pPr/>
              <a:t>79</a:t>
            </a:fld>
            <a:endParaRPr lang="en-US" dirty="0"/>
          </a:p>
        </p:txBody>
      </p:sp>
      <p:pic>
        <p:nvPicPr>
          <p:cNvPr id="4" name="Picture 3" descr="UNL High Level">
            <a:extLst>
              <a:ext uri="{FF2B5EF4-FFF2-40B4-BE49-F238E27FC236}">
                <a16:creationId xmlns:a16="http://schemas.microsoft.com/office/drawing/2014/main" id="{1110D274-7FD0-BE43-8163-BFD4770D542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071484" y="1666730"/>
            <a:ext cx="6086631" cy="4146518"/>
          </a:xfrm>
          <a:prstGeom prst="rect">
            <a:avLst/>
          </a:prstGeom>
        </p:spPr>
      </p:pic>
    </p:spTree>
    <p:extLst>
      <p:ext uri="{BB962C8B-B14F-4D97-AF65-F5344CB8AC3E}">
        <p14:creationId xmlns:p14="http://schemas.microsoft.com/office/powerpoint/2010/main" val="150286683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E41B2-C4BB-9D45-8E69-416DDFE7B146}"/>
              </a:ext>
            </a:extLst>
          </p:cNvPr>
          <p:cNvSpPr>
            <a:spLocks noGrp="1"/>
          </p:cNvSpPr>
          <p:nvPr>
            <p:ph type="title"/>
          </p:nvPr>
        </p:nvSpPr>
        <p:spPr/>
        <p:txBody>
          <a:bodyPr>
            <a:noAutofit/>
          </a:bodyPr>
          <a:lstStyle/>
          <a:p>
            <a:r>
              <a:rPr lang="en-US" dirty="0"/>
              <a:t>The UML Notation For a Class</a:t>
            </a:r>
          </a:p>
        </p:txBody>
      </p:sp>
      <p:sp>
        <p:nvSpPr>
          <p:cNvPr id="4" name="Slide Number Placeholder 3">
            <a:extLst>
              <a:ext uri="{FF2B5EF4-FFF2-40B4-BE49-F238E27FC236}">
                <a16:creationId xmlns:a16="http://schemas.microsoft.com/office/drawing/2014/main" id="{ACC37A59-26CB-9843-B148-1995EF89C1BE}"/>
              </a:ext>
            </a:extLst>
          </p:cNvPr>
          <p:cNvSpPr>
            <a:spLocks noGrp="1"/>
          </p:cNvSpPr>
          <p:nvPr>
            <p:ph type="sldNum" sz="quarter" idx="12"/>
          </p:nvPr>
        </p:nvSpPr>
        <p:spPr>
          <a:xfrm>
            <a:off x="7620000" y="6356350"/>
            <a:ext cx="762000" cy="365125"/>
          </a:xfrm>
        </p:spPr>
        <p:txBody>
          <a:bodyPr/>
          <a:lstStyle/>
          <a:p>
            <a:fld id="{13977939-A071-43C1-9268-F54CC2756BB5}" type="slidenum">
              <a:rPr lang="en-US" smtClean="0"/>
              <a:pPr/>
              <a:t>80</a:t>
            </a:fld>
            <a:endParaRPr lang="en-US" dirty="0"/>
          </a:p>
        </p:txBody>
      </p:sp>
      <p:grpSp>
        <p:nvGrpSpPr>
          <p:cNvPr id="5" name="Group 4" descr="UML Description of elements">
            <a:extLst>
              <a:ext uri="{FF2B5EF4-FFF2-40B4-BE49-F238E27FC236}">
                <a16:creationId xmlns:a16="http://schemas.microsoft.com/office/drawing/2014/main" id="{2AE35D27-11B1-3B4E-B27F-7B6E238217D6}"/>
              </a:ext>
            </a:extLst>
          </p:cNvPr>
          <p:cNvGrpSpPr>
            <a:grpSpLocks/>
          </p:cNvGrpSpPr>
          <p:nvPr/>
        </p:nvGrpSpPr>
        <p:grpSpPr bwMode="auto">
          <a:xfrm>
            <a:off x="345527" y="1600200"/>
            <a:ext cx="6055273" cy="2819400"/>
            <a:chOff x="610339" y="3419947"/>
            <a:chExt cx="6055273" cy="2819400"/>
          </a:xfrm>
        </p:grpSpPr>
        <p:grpSp>
          <p:nvGrpSpPr>
            <p:cNvPr id="6" name="Group 5">
              <a:extLst>
                <a:ext uri="{FF2B5EF4-FFF2-40B4-BE49-F238E27FC236}">
                  <a16:creationId xmlns:a16="http://schemas.microsoft.com/office/drawing/2014/main" id="{6D3BEEFD-911A-E145-9F4A-F42359ADE8B3}"/>
                </a:ext>
              </a:extLst>
            </p:cNvPr>
            <p:cNvGrpSpPr>
              <a:grpSpLocks/>
            </p:cNvGrpSpPr>
            <p:nvPr/>
          </p:nvGrpSpPr>
          <p:grpSpPr bwMode="auto">
            <a:xfrm>
              <a:off x="3312812" y="3419947"/>
              <a:ext cx="3352800" cy="2667000"/>
              <a:chOff x="1968" y="2208"/>
              <a:chExt cx="1872" cy="864"/>
            </a:xfrm>
            <a:solidFill>
              <a:srgbClr val="BBE0E3"/>
            </a:solidFill>
          </p:grpSpPr>
          <p:sp>
            <p:nvSpPr>
              <p:cNvPr id="10" name="Rectangle 9">
                <a:extLst>
                  <a:ext uri="{FF2B5EF4-FFF2-40B4-BE49-F238E27FC236}">
                    <a16:creationId xmlns:a16="http://schemas.microsoft.com/office/drawing/2014/main" id="{2EA14B93-4F6F-0D4C-BB11-363B6A4C5BE3}"/>
                  </a:ext>
                </a:extLst>
              </p:cNvPr>
              <p:cNvSpPr>
                <a:spLocks noChangeArrowheads="1"/>
              </p:cNvSpPr>
              <p:nvPr/>
            </p:nvSpPr>
            <p:spPr bwMode="auto">
              <a:xfrm>
                <a:off x="1968" y="2208"/>
                <a:ext cx="1872" cy="288"/>
              </a:xfrm>
              <a:prstGeom prst="rect">
                <a:avLst/>
              </a:prstGeom>
              <a:grpFill/>
              <a:ln w="9525">
                <a:solidFill>
                  <a:schemeClr val="tx1"/>
                </a:solidFill>
                <a:miter lim="800000"/>
                <a:headEnd/>
                <a:tailEnd/>
              </a:ln>
            </p:spPr>
            <p:txBody>
              <a:bodyPr wrap="none" anchor="ctr"/>
              <a:lstStyle>
                <a:defPPr>
                  <a:defRPr lang="en-US"/>
                </a:defPPr>
                <a:lvl1pPr algn="l" rtl="0" eaLnBrk="0" fontAlgn="base" hangingPunct="0">
                  <a:spcBef>
                    <a:spcPct val="0"/>
                  </a:spcBef>
                  <a:spcAft>
                    <a:spcPct val="0"/>
                  </a:spcAft>
                  <a:defRPr sz="2400" i="1" kern="1200">
                    <a:solidFill>
                      <a:schemeClr val="tx1"/>
                    </a:solidFill>
                    <a:latin typeface="Times New Roman" panose="02020603050405020304" pitchFamily="18" charset="0"/>
                    <a:ea typeface="+mn-ea"/>
                    <a:cs typeface="Arial" panose="020B0604020202020204" pitchFamily="34" charset="0"/>
                  </a:defRPr>
                </a:lvl1pPr>
                <a:lvl2pPr marL="457200" algn="l" rtl="0" eaLnBrk="0" fontAlgn="base" hangingPunct="0">
                  <a:spcBef>
                    <a:spcPct val="0"/>
                  </a:spcBef>
                  <a:spcAft>
                    <a:spcPct val="0"/>
                  </a:spcAft>
                  <a:defRPr sz="2400" i="1" kern="1200">
                    <a:solidFill>
                      <a:schemeClr val="tx1"/>
                    </a:solidFill>
                    <a:latin typeface="Times New Roman" panose="02020603050405020304" pitchFamily="18" charset="0"/>
                    <a:ea typeface="+mn-ea"/>
                    <a:cs typeface="Arial" panose="020B0604020202020204" pitchFamily="34" charset="0"/>
                  </a:defRPr>
                </a:lvl2pPr>
                <a:lvl3pPr marL="914400" algn="l" rtl="0" eaLnBrk="0" fontAlgn="base" hangingPunct="0">
                  <a:spcBef>
                    <a:spcPct val="0"/>
                  </a:spcBef>
                  <a:spcAft>
                    <a:spcPct val="0"/>
                  </a:spcAft>
                  <a:defRPr sz="2400" i="1" kern="1200">
                    <a:solidFill>
                      <a:schemeClr val="tx1"/>
                    </a:solidFill>
                    <a:latin typeface="Times New Roman" panose="02020603050405020304" pitchFamily="18" charset="0"/>
                    <a:ea typeface="+mn-ea"/>
                    <a:cs typeface="Arial" panose="020B0604020202020204" pitchFamily="34" charset="0"/>
                  </a:defRPr>
                </a:lvl3pPr>
                <a:lvl4pPr marL="1371600" algn="l" rtl="0" eaLnBrk="0" fontAlgn="base" hangingPunct="0">
                  <a:spcBef>
                    <a:spcPct val="0"/>
                  </a:spcBef>
                  <a:spcAft>
                    <a:spcPct val="0"/>
                  </a:spcAft>
                  <a:defRPr sz="2400" i="1" kern="1200">
                    <a:solidFill>
                      <a:schemeClr val="tx1"/>
                    </a:solidFill>
                    <a:latin typeface="Times New Roman" panose="02020603050405020304" pitchFamily="18" charset="0"/>
                    <a:ea typeface="+mn-ea"/>
                    <a:cs typeface="Arial" panose="020B0604020202020204" pitchFamily="34" charset="0"/>
                  </a:defRPr>
                </a:lvl4pPr>
                <a:lvl5pPr marL="1828800" algn="l" rtl="0" eaLnBrk="0" fontAlgn="base" hangingPunct="0">
                  <a:spcBef>
                    <a:spcPct val="0"/>
                  </a:spcBef>
                  <a:spcAft>
                    <a:spcPct val="0"/>
                  </a:spcAft>
                  <a:defRPr sz="2400" i="1" kern="1200">
                    <a:solidFill>
                      <a:schemeClr val="tx1"/>
                    </a:solidFill>
                    <a:latin typeface="Times New Roman" panose="02020603050405020304" pitchFamily="18" charset="0"/>
                    <a:ea typeface="+mn-ea"/>
                    <a:cs typeface="Arial" panose="020B0604020202020204" pitchFamily="34" charset="0"/>
                  </a:defRPr>
                </a:lvl5pPr>
                <a:lvl6pPr marL="2286000" algn="l" defTabSz="914400" rtl="0" eaLnBrk="1" latinLnBrk="0" hangingPunct="1">
                  <a:defRPr sz="2400" i="1" kern="1200">
                    <a:solidFill>
                      <a:schemeClr val="tx1"/>
                    </a:solidFill>
                    <a:latin typeface="Times New Roman" panose="02020603050405020304" pitchFamily="18" charset="0"/>
                    <a:ea typeface="+mn-ea"/>
                    <a:cs typeface="Arial" panose="020B0604020202020204" pitchFamily="34" charset="0"/>
                  </a:defRPr>
                </a:lvl6pPr>
                <a:lvl7pPr marL="2743200" algn="l" defTabSz="914400" rtl="0" eaLnBrk="1" latinLnBrk="0" hangingPunct="1">
                  <a:defRPr sz="2400" i="1" kern="1200">
                    <a:solidFill>
                      <a:schemeClr val="tx1"/>
                    </a:solidFill>
                    <a:latin typeface="Times New Roman" panose="02020603050405020304" pitchFamily="18" charset="0"/>
                    <a:ea typeface="+mn-ea"/>
                    <a:cs typeface="Arial" panose="020B0604020202020204" pitchFamily="34" charset="0"/>
                  </a:defRPr>
                </a:lvl7pPr>
                <a:lvl8pPr marL="3200400" algn="l" defTabSz="914400" rtl="0" eaLnBrk="1" latinLnBrk="0" hangingPunct="1">
                  <a:defRPr sz="2400" i="1" kern="1200">
                    <a:solidFill>
                      <a:schemeClr val="tx1"/>
                    </a:solidFill>
                    <a:latin typeface="Times New Roman" panose="02020603050405020304" pitchFamily="18" charset="0"/>
                    <a:ea typeface="+mn-ea"/>
                    <a:cs typeface="Arial" panose="020B0604020202020204" pitchFamily="34" charset="0"/>
                  </a:defRPr>
                </a:lvl8pPr>
                <a:lvl9pPr marL="3657600" algn="l" defTabSz="914400" rtl="0" eaLnBrk="1" latinLnBrk="0" hangingPunct="1">
                  <a:defRPr sz="2400" i="1" kern="1200">
                    <a:solidFill>
                      <a:schemeClr val="tx1"/>
                    </a:solidFill>
                    <a:latin typeface="Times New Roman" panose="02020603050405020304" pitchFamily="18" charset="0"/>
                    <a:ea typeface="+mn-ea"/>
                    <a:cs typeface="Arial" panose="020B0604020202020204" pitchFamily="34" charset="0"/>
                  </a:defRPr>
                </a:lvl9pPr>
              </a:lstStyle>
              <a:p>
                <a:pPr algn="ctr" eaLnBrk="1" hangingPunct="1">
                  <a:spcBef>
                    <a:spcPct val="0"/>
                  </a:spcBef>
                  <a:buClrTx/>
                  <a:buFontTx/>
                  <a:buNone/>
                  <a:defRPr/>
                </a:pPr>
                <a:r>
                  <a:rPr lang="en-US" altLang="en-US" sz="2000" i="0" dirty="0"/>
                  <a:t>Rectangle</a:t>
                </a:r>
              </a:p>
            </p:txBody>
          </p:sp>
          <p:sp>
            <p:nvSpPr>
              <p:cNvPr id="11" name="Rectangle 10">
                <a:extLst>
                  <a:ext uri="{FF2B5EF4-FFF2-40B4-BE49-F238E27FC236}">
                    <a16:creationId xmlns:a16="http://schemas.microsoft.com/office/drawing/2014/main" id="{B92ABEB3-46A4-564D-97BA-92FD112AD4E7}"/>
                  </a:ext>
                </a:extLst>
              </p:cNvPr>
              <p:cNvSpPr>
                <a:spLocks noChangeArrowheads="1"/>
              </p:cNvSpPr>
              <p:nvPr/>
            </p:nvSpPr>
            <p:spPr bwMode="auto">
              <a:xfrm>
                <a:off x="1968" y="2496"/>
                <a:ext cx="1872" cy="288"/>
              </a:xfrm>
              <a:prstGeom prst="rect">
                <a:avLst/>
              </a:prstGeom>
              <a:grpFill/>
              <a:ln w="9525">
                <a:solidFill>
                  <a:schemeClr val="tx1"/>
                </a:solidFill>
                <a:miter lim="800000"/>
                <a:headEnd/>
                <a:tailEnd/>
              </a:ln>
            </p:spPr>
            <p:txBody>
              <a:bodyPr wrap="none" anchor="ctr"/>
              <a:lstStyle>
                <a:defPPr>
                  <a:defRPr lang="en-US"/>
                </a:defPPr>
                <a:lvl1pPr algn="l" rtl="0" eaLnBrk="0" fontAlgn="base" hangingPunct="0">
                  <a:spcBef>
                    <a:spcPct val="0"/>
                  </a:spcBef>
                  <a:spcAft>
                    <a:spcPct val="0"/>
                  </a:spcAft>
                  <a:defRPr sz="2400" i="1" kern="1200">
                    <a:solidFill>
                      <a:schemeClr val="tx1"/>
                    </a:solidFill>
                    <a:latin typeface="Times New Roman" panose="02020603050405020304" pitchFamily="18" charset="0"/>
                    <a:ea typeface="+mn-ea"/>
                    <a:cs typeface="Arial" panose="020B0604020202020204" pitchFamily="34" charset="0"/>
                  </a:defRPr>
                </a:lvl1pPr>
                <a:lvl2pPr marL="457200" algn="l" rtl="0" eaLnBrk="0" fontAlgn="base" hangingPunct="0">
                  <a:spcBef>
                    <a:spcPct val="0"/>
                  </a:spcBef>
                  <a:spcAft>
                    <a:spcPct val="0"/>
                  </a:spcAft>
                  <a:defRPr sz="2400" i="1" kern="1200">
                    <a:solidFill>
                      <a:schemeClr val="tx1"/>
                    </a:solidFill>
                    <a:latin typeface="Times New Roman" panose="02020603050405020304" pitchFamily="18" charset="0"/>
                    <a:ea typeface="+mn-ea"/>
                    <a:cs typeface="Arial" panose="020B0604020202020204" pitchFamily="34" charset="0"/>
                  </a:defRPr>
                </a:lvl2pPr>
                <a:lvl3pPr marL="914400" algn="l" rtl="0" eaLnBrk="0" fontAlgn="base" hangingPunct="0">
                  <a:spcBef>
                    <a:spcPct val="0"/>
                  </a:spcBef>
                  <a:spcAft>
                    <a:spcPct val="0"/>
                  </a:spcAft>
                  <a:defRPr sz="2400" i="1" kern="1200">
                    <a:solidFill>
                      <a:schemeClr val="tx1"/>
                    </a:solidFill>
                    <a:latin typeface="Times New Roman" panose="02020603050405020304" pitchFamily="18" charset="0"/>
                    <a:ea typeface="+mn-ea"/>
                    <a:cs typeface="Arial" panose="020B0604020202020204" pitchFamily="34" charset="0"/>
                  </a:defRPr>
                </a:lvl3pPr>
                <a:lvl4pPr marL="1371600" algn="l" rtl="0" eaLnBrk="0" fontAlgn="base" hangingPunct="0">
                  <a:spcBef>
                    <a:spcPct val="0"/>
                  </a:spcBef>
                  <a:spcAft>
                    <a:spcPct val="0"/>
                  </a:spcAft>
                  <a:defRPr sz="2400" i="1" kern="1200">
                    <a:solidFill>
                      <a:schemeClr val="tx1"/>
                    </a:solidFill>
                    <a:latin typeface="Times New Roman" panose="02020603050405020304" pitchFamily="18" charset="0"/>
                    <a:ea typeface="+mn-ea"/>
                    <a:cs typeface="Arial" panose="020B0604020202020204" pitchFamily="34" charset="0"/>
                  </a:defRPr>
                </a:lvl4pPr>
                <a:lvl5pPr marL="1828800" algn="l" rtl="0" eaLnBrk="0" fontAlgn="base" hangingPunct="0">
                  <a:spcBef>
                    <a:spcPct val="0"/>
                  </a:spcBef>
                  <a:spcAft>
                    <a:spcPct val="0"/>
                  </a:spcAft>
                  <a:defRPr sz="2400" i="1" kern="1200">
                    <a:solidFill>
                      <a:schemeClr val="tx1"/>
                    </a:solidFill>
                    <a:latin typeface="Times New Roman" panose="02020603050405020304" pitchFamily="18" charset="0"/>
                    <a:ea typeface="+mn-ea"/>
                    <a:cs typeface="Arial" panose="020B0604020202020204" pitchFamily="34" charset="0"/>
                  </a:defRPr>
                </a:lvl5pPr>
                <a:lvl6pPr marL="2286000" algn="l" defTabSz="914400" rtl="0" eaLnBrk="1" latinLnBrk="0" hangingPunct="1">
                  <a:defRPr sz="2400" i="1" kern="1200">
                    <a:solidFill>
                      <a:schemeClr val="tx1"/>
                    </a:solidFill>
                    <a:latin typeface="Times New Roman" panose="02020603050405020304" pitchFamily="18" charset="0"/>
                    <a:ea typeface="+mn-ea"/>
                    <a:cs typeface="Arial" panose="020B0604020202020204" pitchFamily="34" charset="0"/>
                  </a:defRPr>
                </a:lvl6pPr>
                <a:lvl7pPr marL="2743200" algn="l" defTabSz="914400" rtl="0" eaLnBrk="1" latinLnBrk="0" hangingPunct="1">
                  <a:defRPr sz="2400" i="1" kern="1200">
                    <a:solidFill>
                      <a:schemeClr val="tx1"/>
                    </a:solidFill>
                    <a:latin typeface="Times New Roman" panose="02020603050405020304" pitchFamily="18" charset="0"/>
                    <a:ea typeface="+mn-ea"/>
                    <a:cs typeface="Arial" panose="020B0604020202020204" pitchFamily="34" charset="0"/>
                  </a:defRPr>
                </a:lvl7pPr>
                <a:lvl8pPr marL="3200400" algn="l" defTabSz="914400" rtl="0" eaLnBrk="1" latinLnBrk="0" hangingPunct="1">
                  <a:defRPr sz="2400" i="1" kern="1200">
                    <a:solidFill>
                      <a:schemeClr val="tx1"/>
                    </a:solidFill>
                    <a:latin typeface="Times New Roman" panose="02020603050405020304" pitchFamily="18" charset="0"/>
                    <a:ea typeface="+mn-ea"/>
                    <a:cs typeface="Arial" panose="020B0604020202020204" pitchFamily="34" charset="0"/>
                  </a:defRPr>
                </a:lvl8pPr>
                <a:lvl9pPr marL="3657600" algn="l" defTabSz="914400" rtl="0" eaLnBrk="1" latinLnBrk="0" hangingPunct="1">
                  <a:defRPr sz="2400" i="1" kern="1200">
                    <a:solidFill>
                      <a:schemeClr val="tx1"/>
                    </a:solidFill>
                    <a:latin typeface="Times New Roman" panose="02020603050405020304" pitchFamily="18" charset="0"/>
                    <a:ea typeface="+mn-ea"/>
                    <a:cs typeface="Arial" panose="020B0604020202020204" pitchFamily="34" charset="0"/>
                  </a:defRPr>
                </a:lvl9pPr>
              </a:lstStyle>
              <a:p>
                <a:pPr eaLnBrk="1" hangingPunct="1">
                  <a:spcBef>
                    <a:spcPct val="0"/>
                  </a:spcBef>
                  <a:buClrTx/>
                  <a:buFontTx/>
                  <a:buNone/>
                  <a:defRPr/>
                </a:pPr>
                <a:r>
                  <a:rPr lang="en-US" altLang="en-US" sz="2000" b="1" i="0" dirty="0">
                    <a:solidFill>
                      <a:srgbClr val="C00000"/>
                    </a:solidFill>
                  </a:rPr>
                  <a:t>-</a:t>
                </a:r>
                <a:r>
                  <a:rPr lang="en-US" altLang="en-US" sz="2000" i="0" dirty="0">
                    <a:solidFill>
                      <a:srgbClr val="FF3300"/>
                    </a:solidFill>
                  </a:rPr>
                  <a:t> </a:t>
                </a:r>
                <a:r>
                  <a:rPr lang="en-US" altLang="en-US" sz="2000" i="0" dirty="0"/>
                  <a:t>width : </a:t>
                </a:r>
                <a:r>
                  <a:rPr lang="en-US" altLang="en-US" sz="2000" i="0" dirty="0">
                    <a:solidFill>
                      <a:srgbClr val="0070C0"/>
                    </a:solidFill>
                  </a:rPr>
                  <a:t>double</a:t>
                </a:r>
              </a:p>
            </p:txBody>
          </p:sp>
          <p:sp>
            <p:nvSpPr>
              <p:cNvPr id="12" name="Rectangle 11">
                <a:extLst>
                  <a:ext uri="{FF2B5EF4-FFF2-40B4-BE49-F238E27FC236}">
                    <a16:creationId xmlns:a16="http://schemas.microsoft.com/office/drawing/2014/main" id="{B19947A1-4D51-ED41-85E7-2C52192002B2}"/>
                  </a:ext>
                </a:extLst>
              </p:cNvPr>
              <p:cNvSpPr>
                <a:spLocks noChangeArrowheads="1"/>
              </p:cNvSpPr>
              <p:nvPr/>
            </p:nvSpPr>
            <p:spPr bwMode="auto">
              <a:xfrm>
                <a:off x="1968" y="2784"/>
                <a:ext cx="1872" cy="288"/>
              </a:xfrm>
              <a:prstGeom prst="rect">
                <a:avLst/>
              </a:prstGeom>
              <a:grpFill/>
              <a:ln w="9525">
                <a:solidFill>
                  <a:schemeClr val="tx1"/>
                </a:solidFill>
                <a:miter lim="800000"/>
                <a:headEnd/>
                <a:tailEnd/>
              </a:ln>
            </p:spPr>
            <p:txBody>
              <a:bodyPr wrap="none" anchor="ctr"/>
              <a:lstStyle>
                <a:defPPr>
                  <a:defRPr lang="en-US"/>
                </a:defPPr>
                <a:lvl1pPr algn="l" rtl="0" eaLnBrk="0" fontAlgn="base" hangingPunct="0">
                  <a:spcBef>
                    <a:spcPct val="0"/>
                  </a:spcBef>
                  <a:spcAft>
                    <a:spcPct val="0"/>
                  </a:spcAft>
                  <a:defRPr sz="2400" i="1" kern="1200">
                    <a:solidFill>
                      <a:schemeClr val="tx1"/>
                    </a:solidFill>
                    <a:latin typeface="Times New Roman" panose="02020603050405020304" pitchFamily="18" charset="0"/>
                    <a:ea typeface="+mn-ea"/>
                    <a:cs typeface="Arial" panose="020B0604020202020204" pitchFamily="34" charset="0"/>
                  </a:defRPr>
                </a:lvl1pPr>
                <a:lvl2pPr marL="457200" algn="l" rtl="0" eaLnBrk="0" fontAlgn="base" hangingPunct="0">
                  <a:spcBef>
                    <a:spcPct val="0"/>
                  </a:spcBef>
                  <a:spcAft>
                    <a:spcPct val="0"/>
                  </a:spcAft>
                  <a:defRPr sz="2400" i="1" kern="1200">
                    <a:solidFill>
                      <a:schemeClr val="tx1"/>
                    </a:solidFill>
                    <a:latin typeface="Times New Roman" panose="02020603050405020304" pitchFamily="18" charset="0"/>
                    <a:ea typeface="+mn-ea"/>
                    <a:cs typeface="Arial" panose="020B0604020202020204" pitchFamily="34" charset="0"/>
                  </a:defRPr>
                </a:lvl2pPr>
                <a:lvl3pPr marL="914400" algn="l" rtl="0" eaLnBrk="0" fontAlgn="base" hangingPunct="0">
                  <a:spcBef>
                    <a:spcPct val="0"/>
                  </a:spcBef>
                  <a:spcAft>
                    <a:spcPct val="0"/>
                  </a:spcAft>
                  <a:defRPr sz="2400" i="1" kern="1200">
                    <a:solidFill>
                      <a:schemeClr val="tx1"/>
                    </a:solidFill>
                    <a:latin typeface="Times New Roman" panose="02020603050405020304" pitchFamily="18" charset="0"/>
                    <a:ea typeface="+mn-ea"/>
                    <a:cs typeface="Arial" panose="020B0604020202020204" pitchFamily="34" charset="0"/>
                  </a:defRPr>
                </a:lvl3pPr>
                <a:lvl4pPr marL="1371600" algn="l" rtl="0" eaLnBrk="0" fontAlgn="base" hangingPunct="0">
                  <a:spcBef>
                    <a:spcPct val="0"/>
                  </a:spcBef>
                  <a:spcAft>
                    <a:spcPct val="0"/>
                  </a:spcAft>
                  <a:defRPr sz="2400" i="1" kern="1200">
                    <a:solidFill>
                      <a:schemeClr val="tx1"/>
                    </a:solidFill>
                    <a:latin typeface="Times New Roman" panose="02020603050405020304" pitchFamily="18" charset="0"/>
                    <a:ea typeface="+mn-ea"/>
                    <a:cs typeface="Arial" panose="020B0604020202020204" pitchFamily="34" charset="0"/>
                  </a:defRPr>
                </a:lvl4pPr>
                <a:lvl5pPr marL="1828800" algn="l" rtl="0" eaLnBrk="0" fontAlgn="base" hangingPunct="0">
                  <a:spcBef>
                    <a:spcPct val="0"/>
                  </a:spcBef>
                  <a:spcAft>
                    <a:spcPct val="0"/>
                  </a:spcAft>
                  <a:defRPr sz="2400" i="1" kern="1200">
                    <a:solidFill>
                      <a:schemeClr val="tx1"/>
                    </a:solidFill>
                    <a:latin typeface="Times New Roman" panose="02020603050405020304" pitchFamily="18" charset="0"/>
                    <a:ea typeface="+mn-ea"/>
                    <a:cs typeface="Arial" panose="020B0604020202020204" pitchFamily="34" charset="0"/>
                  </a:defRPr>
                </a:lvl5pPr>
                <a:lvl6pPr marL="2286000" algn="l" defTabSz="914400" rtl="0" eaLnBrk="1" latinLnBrk="0" hangingPunct="1">
                  <a:defRPr sz="2400" i="1" kern="1200">
                    <a:solidFill>
                      <a:schemeClr val="tx1"/>
                    </a:solidFill>
                    <a:latin typeface="Times New Roman" panose="02020603050405020304" pitchFamily="18" charset="0"/>
                    <a:ea typeface="+mn-ea"/>
                    <a:cs typeface="Arial" panose="020B0604020202020204" pitchFamily="34" charset="0"/>
                  </a:defRPr>
                </a:lvl6pPr>
                <a:lvl7pPr marL="2743200" algn="l" defTabSz="914400" rtl="0" eaLnBrk="1" latinLnBrk="0" hangingPunct="1">
                  <a:defRPr sz="2400" i="1" kern="1200">
                    <a:solidFill>
                      <a:schemeClr val="tx1"/>
                    </a:solidFill>
                    <a:latin typeface="Times New Roman" panose="02020603050405020304" pitchFamily="18" charset="0"/>
                    <a:ea typeface="+mn-ea"/>
                    <a:cs typeface="Arial" panose="020B0604020202020204" pitchFamily="34" charset="0"/>
                  </a:defRPr>
                </a:lvl7pPr>
                <a:lvl8pPr marL="3200400" algn="l" defTabSz="914400" rtl="0" eaLnBrk="1" latinLnBrk="0" hangingPunct="1">
                  <a:defRPr sz="2400" i="1" kern="1200">
                    <a:solidFill>
                      <a:schemeClr val="tx1"/>
                    </a:solidFill>
                    <a:latin typeface="Times New Roman" panose="02020603050405020304" pitchFamily="18" charset="0"/>
                    <a:ea typeface="+mn-ea"/>
                    <a:cs typeface="Arial" panose="020B0604020202020204" pitchFamily="34" charset="0"/>
                  </a:defRPr>
                </a:lvl8pPr>
                <a:lvl9pPr marL="3657600" algn="l" defTabSz="914400" rtl="0" eaLnBrk="1" latinLnBrk="0" hangingPunct="1">
                  <a:defRPr sz="2400" i="1" kern="1200">
                    <a:solidFill>
                      <a:schemeClr val="tx1"/>
                    </a:solidFill>
                    <a:latin typeface="Times New Roman" panose="02020603050405020304" pitchFamily="18" charset="0"/>
                    <a:ea typeface="+mn-ea"/>
                    <a:cs typeface="Arial" panose="020B0604020202020204" pitchFamily="34" charset="0"/>
                  </a:defRPr>
                </a:lvl9pPr>
              </a:lstStyle>
              <a:p>
                <a:pPr eaLnBrk="1" hangingPunct="1">
                  <a:spcBef>
                    <a:spcPct val="0"/>
                  </a:spcBef>
                  <a:buClrTx/>
                  <a:buFontTx/>
                  <a:buNone/>
                  <a:defRPr/>
                </a:pPr>
                <a:r>
                  <a:rPr lang="en-US" altLang="en-US" sz="2000" b="1" i="0" dirty="0">
                    <a:solidFill>
                      <a:srgbClr val="C00000"/>
                    </a:solidFill>
                  </a:rPr>
                  <a:t>+</a:t>
                </a:r>
                <a:r>
                  <a:rPr lang="en-US" altLang="en-US" sz="2000" i="0" dirty="0"/>
                  <a:t> setWidth(</a:t>
                </a:r>
                <a:r>
                  <a:rPr lang="en-US" altLang="en-US" sz="2000" i="0" dirty="0">
                    <a:solidFill>
                      <a:srgbClr val="FFFF00"/>
                    </a:solidFill>
                  </a:rPr>
                  <a:t>w : double</a:t>
                </a:r>
                <a:r>
                  <a:rPr lang="en-US" altLang="en-US" sz="2000" i="0" dirty="0"/>
                  <a:t>) : </a:t>
                </a:r>
                <a:r>
                  <a:rPr lang="en-US" altLang="en-US" sz="2000" i="0" dirty="0">
                    <a:solidFill>
                      <a:srgbClr val="7030A0"/>
                    </a:solidFill>
                  </a:rPr>
                  <a:t>void</a:t>
                </a:r>
              </a:p>
            </p:txBody>
          </p:sp>
        </p:grpSp>
        <p:sp>
          <p:nvSpPr>
            <p:cNvPr id="7" name="Text Box 8">
              <a:extLst>
                <a:ext uri="{FF2B5EF4-FFF2-40B4-BE49-F238E27FC236}">
                  <a16:creationId xmlns:a16="http://schemas.microsoft.com/office/drawing/2014/main" id="{B87CA126-11B2-794E-AEBA-9BB09746B34A}"/>
                </a:ext>
              </a:extLst>
            </p:cNvPr>
            <p:cNvSpPr txBox="1">
              <a:spLocks noChangeArrowheads="1"/>
            </p:cNvSpPr>
            <p:nvPr/>
          </p:nvSpPr>
          <p:spPr bwMode="auto">
            <a:xfrm>
              <a:off x="610339" y="3931023"/>
              <a:ext cx="205740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sz="2400" i="1" kern="1200">
                  <a:solidFill>
                    <a:schemeClr val="tx1"/>
                  </a:solidFill>
                  <a:latin typeface="Times New Roman" panose="02020603050405020304" pitchFamily="18" charset="0"/>
                  <a:ea typeface="+mn-ea"/>
                  <a:cs typeface="Arial" panose="020B0604020202020204" pitchFamily="34" charset="0"/>
                </a:defRPr>
              </a:lvl1pPr>
              <a:lvl2pPr marL="457200" algn="l" rtl="0" eaLnBrk="0" fontAlgn="base" hangingPunct="0">
                <a:spcBef>
                  <a:spcPct val="0"/>
                </a:spcBef>
                <a:spcAft>
                  <a:spcPct val="0"/>
                </a:spcAft>
                <a:defRPr sz="2400" i="1" kern="1200">
                  <a:solidFill>
                    <a:schemeClr val="tx1"/>
                  </a:solidFill>
                  <a:latin typeface="Times New Roman" panose="02020603050405020304" pitchFamily="18" charset="0"/>
                  <a:ea typeface="+mn-ea"/>
                  <a:cs typeface="Arial" panose="020B0604020202020204" pitchFamily="34" charset="0"/>
                </a:defRPr>
              </a:lvl2pPr>
              <a:lvl3pPr marL="914400" algn="l" rtl="0" eaLnBrk="0" fontAlgn="base" hangingPunct="0">
                <a:spcBef>
                  <a:spcPct val="0"/>
                </a:spcBef>
                <a:spcAft>
                  <a:spcPct val="0"/>
                </a:spcAft>
                <a:defRPr sz="2400" i="1" kern="1200">
                  <a:solidFill>
                    <a:schemeClr val="tx1"/>
                  </a:solidFill>
                  <a:latin typeface="Times New Roman" panose="02020603050405020304" pitchFamily="18" charset="0"/>
                  <a:ea typeface="+mn-ea"/>
                  <a:cs typeface="Arial" panose="020B0604020202020204" pitchFamily="34" charset="0"/>
                </a:defRPr>
              </a:lvl3pPr>
              <a:lvl4pPr marL="1371600" algn="l" rtl="0" eaLnBrk="0" fontAlgn="base" hangingPunct="0">
                <a:spcBef>
                  <a:spcPct val="0"/>
                </a:spcBef>
                <a:spcAft>
                  <a:spcPct val="0"/>
                </a:spcAft>
                <a:defRPr sz="2400" i="1" kern="1200">
                  <a:solidFill>
                    <a:schemeClr val="tx1"/>
                  </a:solidFill>
                  <a:latin typeface="Times New Roman" panose="02020603050405020304" pitchFamily="18" charset="0"/>
                  <a:ea typeface="+mn-ea"/>
                  <a:cs typeface="Arial" panose="020B0604020202020204" pitchFamily="34" charset="0"/>
                </a:defRPr>
              </a:lvl4pPr>
              <a:lvl5pPr marL="1828800" algn="l" rtl="0" eaLnBrk="0" fontAlgn="base" hangingPunct="0">
                <a:spcBef>
                  <a:spcPct val="0"/>
                </a:spcBef>
                <a:spcAft>
                  <a:spcPct val="0"/>
                </a:spcAft>
                <a:defRPr sz="2400" i="1" kern="1200">
                  <a:solidFill>
                    <a:schemeClr val="tx1"/>
                  </a:solidFill>
                  <a:latin typeface="Times New Roman" panose="02020603050405020304" pitchFamily="18" charset="0"/>
                  <a:ea typeface="+mn-ea"/>
                  <a:cs typeface="Arial" panose="020B0604020202020204" pitchFamily="34" charset="0"/>
                </a:defRPr>
              </a:lvl5pPr>
              <a:lvl6pPr marL="2286000" algn="l" defTabSz="914400" rtl="0" eaLnBrk="1" latinLnBrk="0" hangingPunct="1">
                <a:defRPr sz="2400" i="1" kern="1200">
                  <a:solidFill>
                    <a:schemeClr val="tx1"/>
                  </a:solidFill>
                  <a:latin typeface="Times New Roman" panose="02020603050405020304" pitchFamily="18" charset="0"/>
                  <a:ea typeface="+mn-ea"/>
                  <a:cs typeface="Arial" panose="020B0604020202020204" pitchFamily="34" charset="0"/>
                </a:defRPr>
              </a:lvl6pPr>
              <a:lvl7pPr marL="2743200" algn="l" defTabSz="914400" rtl="0" eaLnBrk="1" latinLnBrk="0" hangingPunct="1">
                <a:defRPr sz="2400" i="1" kern="1200">
                  <a:solidFill>
                    <a:schemeClr val="tx1"/>
                  </a:solidFill>
                  <a:latin typeface="Times New Roman" panose="02020603050405020304" pitchFamily="18" charset="0"/>
                  <a:ea typeface="+mn-ea"/>
                  <a:cs typeface="Arial" panose="020B0604020202020204" pitchFamily="34" charset="0"/>
                </a:defRPr>
              </a:lvl7pPr>
              <a:lvl8pPr marL="3200400" algn="l" defTabSz="914400" rtl="0" eaLnBrk="1" latinLnBrk="0" hangingPunct="1">
                <a:defRPr sz="2400" i="1" kern="1200">
                  <a:solidFill>
                    <a:schemeClr val="tx1"/>
                  </a:solidFill>
                  <a:latin typeface="Times New Roman" panose="02020603050405020304" pitchFamily="18" charset="0"/>
                  <a:ea typeface="+mn-ea"/>
                  <a:cs typeface="Arial" panose="020B0604020202020204" pitchFamily="34" charset="0"/>
                </a:defRPr>
              </a:lvl8pPr>
              <a:lvl9pPr marL="3657600" algn="l" defTabSz="914400" rtl="0" eaLnBrk="1" latinLnBrk="0" hangingPunct="1">
                <a:defRPr sz="2400" i="1" kern="1200">
                  <a:solidFill>
                    <a:schemeClr val="tx1"/>
                  </a:solidFill>
                  <a:latin typeface="Times New Roman" panose="02020603050405020304" pitchFamily="18" charset="0"/>
                  <a:ea typeface="+mn-ea"/>
                  <a:cs typeface="Arial" panose="020B0604020202020204" pitchFamily="34" charset="0"/>
                </a:defRPr>
              </a:lvl9pPr>
            </a:lstStyle>
            <a:p>
              <a:pPr eaLnBrk="1" hangingPunct="1"/>
              <a:r>
                <a:rPr lang="en-US" altLang="en-US" sz="1800" i="0" dirty="0">
                  <a:solidFill>
                    <a:srgbClr val="FF0000"/>
                  </a:solidFill>
                </a:rPr>
                <a:t>Access modifiers are denoted as:</a:t>
              </a:r>
            </a:p>
            <a:p>
              <a:pPr eaLnBrk="1" hangingPunct="1"/>
              <a:r>
                <a:rPr lang="en-US" altLang="en-US" sz="1800" i="0" dirty="0">
                  <a:solidFill>
                    <a:srgbClr val="FF0000"/>
                  </a:solidFill>
                </a:rPr>
                <a:t>- private</a:t>
              </a:r>
            </a:p>
            <a:p>
              <a:pPr eaLnBrk="1" hangingPunct="1"/>
              <a:r>
                <a:rPr lang="en-US" altLang="en-US" sz="1800" i="0" dirty="0">
                  <a:solidFill>
                    <a:srgbClr val="FF0000"/>
                  </a:solidFill>
                </a:rPr>
                <a:t>+ public</a:t>
              </a:r>
            </a:p>
            <a:p>
              <a:r>
                <a:rPr lang="en-US" sz="1800" i="0" dirty="0">
                  <a:solidFill>
                    <a:srgbClr val="FF0000"/>
                  </a:solidFill>
                </a:rPr>
                <a:t>#  protected</a:t>
              </a:r>
            </a:p>
            <a:p>
              <a:r>
                <a:rPr lang="en-US" sz="1800" i="0" dirty="0">
                  <a:solidFill>
                    <a:srgbClr val="FF0000"/>
                  </a:solidFill>
                </a:rPr>
                <a:t>~  is for an internal variable</a:t>
              </a:r>
            </a:p>
            <a:p>
              <a:pPr marL="800100" lvl="1" indent="-342900" eaLnBrk="1" hangingPunct="1">
                <a:buFontTx/>
                <a:buChar char="-"/>
              </a:pPr>
              <a:endParaRPr lang="en-US" altLang="en-US" sz="1800" i="0" dirty="0">
                <a:solidFill>
                  <a:srgbClr val="FF0000"/>
                </a:solidFill>
              </a:endParaRPr>
            </a:p>
          </p:txBody>
        </p:sp>
        <p:cxnSp>
          <p:nvCxnSpPr>
            <p:cNvPr id="8" name="AutoShape 10">
              <a:extLst>
                <a:ext uri="{FF2B5EF4-FFF2-40B4-BE49-F238E27FC236}">
                  <a16:creationId xmlns:a16="http://schemas.microsoft.com/office/drawing/2014/main" id="{63A804EF-96E6-6B40-A274-B623751670E8}"/>
                </a:ext>
              </a:extLst>
            </p:cNvPr>
            <p:cNvCxnSpPr>
              <a:cxnSpLocks noChangeShapeType="1"/>
            </p:cNvCxnSpPr>
            <p:nvPr/>
          </p:nvCxnSpPr>
          <p:spPr bwMode="auto">
            <a:xfrm>
              <a:off x="1639040" y="4976459"/>
              <a:ext cx="1714499" cy="872268"/>
            </a:xfrm>
            <a:prstGeom prst="bentConnector3">
              <a:avLst>
                <a:gd name="adj1" fmla="val 57969"/>
              </a:avLst>
            </a:prstGeom>
            <a:noFill/>
            <a:ln w="25400">
              <a:solidFill>
                <a:srgbClr val="C00000"/>
              </a:solidFill>
              <a:miter lim="800000"/>
              <a:headEnd/>
              <a:tailEnd type="triangle" w="med" len="med"/>
            </a:ln>
            <a:extLst>
              <a:ext uri="{909E8E84-426E-40DD-AFC4-6F175D3DCCD1}">
                <a14:hiddenFill xmlns:a14="http://schemas.microsoft.com/office/drawing/2010/main">
                  <a:noFill/>
                </a14:hiddenFill>
              </a:ext>
            </a:extLst>
          </p:spPr>
        </p:cxnSp>
        <p:cxnSp>
          <p:nvCxnSpPr>
            <p:cNvPr id="9" name="AutoShape 12">
              <a:extLst>
                <a:ext uri="{FF2B5EF4-FFF2-40B4-BE49-F238E27FC236}">
                  <a16:creationId xmlns:a16="http://schemas.microsoft.com/office/drawing/2014/main" id="{4FFF27F8-02E2-F74F-B4C2-3DAE2BB0262E}"/>
                </a:ext>
              </a:extLst>
            </p:cNvPr>
            <p:cNvCxnSpPr>
              <a:cxnSpLocks noChangeShapeType="1"/>
            </p:cNvCxnSpPr>
            <p:nvPr/>
          </p:nvCxnSpPr>
          <p:spPr bwMode="auto">
            <a:xfrm>
              <a:off x="1639038" y="4670138"/>
              <a:ext cx="1600170" cy="150619"/>
            </a:xfrm>
            <a:prstGeom prst="bentConnector3">
              <a:avLst>
                <a:gd name="adj1" fmla="val 50000"/>
              </a:avLst>
            </a:prstGeom>
            <a:noFill/>
            <a:ln w="25400">
              <a:solidFill>
                <a:srgbClr val="FF0000"/>
              </a:solidFill>
              <a:miter lim="800000"/>
              <a:headEnd/>
              <a:tailEnd type="triangle" w="med" len="med"/>
            </a:ln>
            <a:extLst>
              <a:ext uri="{909E8E84-426E-40DD-AFC4-6F175D3DCCD1}">
                <a14:hiddenFill xmlns:a14="http://schemas.microsoft.com/office/drawing/2010/main">
                  <a:noFill/>
                </a14:hiddenFill>
              </a:ext>
            </a:extLst>
          </p:spPr>
        </p:cxnSp>
      </p:grpSp>
      <p:sp>
        <p:nvSpPr>
          <p:cNvPr id="13" name="Text Box 12">
            <a:extLst>
              <a:ext uri="{FF2B5EF4-FFF2-40B4-BE49-F238E27FC236}">
                <a16:creationId xmlns:a16="http://schemas.microsoft.com/office/drawing/2014/main" id="{A865D87E-1C9C-5D48-A98C-42681ED893E1}"/>
              </a:ext>
            </a:extLst>
          </p:cNvPr>
          <p:cNvSpPr txBox="1">
            <a:spLocks noChangeArrowheads="1"/>
          </p:cNvSpPr>
          <p:nvPr/>
        </p:nvSpPr>
        <p:spPr bwMode="auto">
          <a:xfrm>
            <a:off x="6400679" y="1447800"/>
            <a:ext cx="2286121" cy="1200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i="1">
                <a:solidFill>
                  <a:schemeClr val="tx1"/>
                </a:solidFill>
                <a:latin typeface="Times New Roman" panose="02020603050405020304" pitchFamily="18" charset="0"/>
                <a:cs typeface="Arial" panose="020B0604020202020204" pitchFamily="34" charset="0"/>
              </a:defRPr>
            </a:lvl1pPr>
            <a:lvl2pPr marL="742950" indent="-285750">
              <a:defRPr sz="2400" i="1">
                <a:solidFill>
                  <a:schemeClr val="tx1"/>
                </a:solidFill>
                <a:latin typeface="Times New Roman" panose="02020603050405020304" pitchFamily="18" charset="0"/>
                <a:cs typeface="Arial" panose="020B0604020202020204" pitchFamily="34" charset="0"/>
              </a:defRPr>
            </a:lvl2pPr>
            <a:lvl3pPr marL="1143000" indent="-228600">
              <a:defRPr sz="2400" i="1">
                <a:solidFill>
                  <a:schemeClr val="tx1"/>
                </a:solidFill>
                <a:latin typeface="Times New Roman" panose="02020603050405020304" pitchFamily="18" charset="0"/>
                <a:cs typeface="Arial" panose="020B0604020202020204" pitchFamily="34" charset="0"/>
              </a:defRPr>
            </a:lvl3pPr>
            <a:lvl4pPr marL="1600200" indent="-228600">
              <a:defRPr sz="2400" i="1">
                <a:solidFill>
                  <a:schemeClr val="tx1"/>
                </a:solidFill>
                <a:latin typeface="Times New Roman" panose="02020603050405020304" pitchFamily="18" charset="0"/>
                <a:cs typeface="Arial" panose="020B0604020202020204" pitchFamily="34" charset="0"/>
              </a:defRPr>
            </a:lvl4pPr>
            <a:lvl5pPr marL="2057400" indent="-228600">
              <a:defRPr sz="2400" i="1">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9pPr>
          </a:lstStyle>
          <a:p>
            <a:pPr eaLnBrk="1" hangingPunct="1"/>
            <a:r>
              <a:rPr lang="en-US" altLang="en-US" sz="1800" i="0" dirty="0">
                <a:solidFill>
                  <a:srgbClr val="FF3300"/>
                </a:solidFill>
              </a:rPr>
              <a:t>Variable types are placed after the variable name, separated by a colon.</a:t>
            </a:r>
          </a:p>
        </p:txBody>
      </p:sp>
      <p:cxnSp>
        <p:nvCxnSpPr>
          <p:cNvPr id="14" name="AutoShape 13">
            <a:extLst>
              <a:ext uri="{FF2B5EF4-FFF2-40B4-BE49-F238E27FC236}">
                <a16:creationId xmlns:a16="http://schemas.microsoft.com/office/drawing/2014/main" id="{F8F57BA0-E770-4E41-B908-17C1F9B20195}"/>
              </a:ext>
              <a:ext uri="{C183D7F6-B498-43B3-948B-1728B52AA6E4}">
                <adec:decorative xmlns:adec="http://schemas.microsoft.com/office/drawing/2017/decorative" val="1"/>
              </a:ext>
            </a:extLst>
          </p:cNvPr>
          <p:cNvCxnSpPr>
            <a:cxnSpLocks noChangeShapeType="1"/>
            <a:stCxn id="13" idx="2"/>
          </p:cNvCxnSpPr>
          <p:nvPr/>
        </p:nvCxnSpPr>
        <p:spPr bwMode="auto">
          <a:xfrm rot="5400000">
            <a:off x="6777772" y="2234626"/>
            <a:ext cx="352660" cy="1179274"/>
          </a:xfrm>
          <a:prstGeom prst="bentConnector2">
            <a:avLst/>
          </a:prstGeom>
          <a:noFill/>
          <a:ln w="25400">
            <a:solidFill>
              <a:srgbClr val="0070C0"/>
            </a:solidFill>
            <a:miter lim="800000"/>
            <a:headEnd/>
            <a:tailEnd type="triangle" w="med" len="med"/>
          </a:ln>
          <a:extLst>
            <a:ext uri="{909E8E84-426E-40DD-AFC4-6F175D3DCCD1}">
              <a14:hiddenFill xmlns:a14="http://schemas.microsoft.com/office/drawing/2010/main">
                <a:noFill/>
              </a14:hiddenFill>
            </a:ext>
          </a:extLst>
        </p:spPr>
      </p:cxnSp>
      <p:sp>
        <p:nvSpPr>
          <p:cNvPr id="17" name="Text Box 8">
            <a:extLst>
              <a:ext uri="{FF2B5EF4-FFF2-40B4-BE49-F238E27FC236}">
                <a16:creationId xmlns:a16="http://schemas.microsoft.com/office/drawing/2014/main" id="{D348749B-59B7-9543-9941-06CFA0FF51CE}"/>
              </a:ext>
            </a:extLst>
          </p:cNvPr>
          <p:cNvSpPr txBox="1">
            <a:spLocks noChangeArrowheads="1"/>
          </p:cNvSpPr>
          <p:nvPr/>
        </p:nvSpPr>
        <p:spPr bwMode="auto">
          <a:xfrm>
            <a:off x="3581400" y="4572000"/>
            <a:ext cx="2514600"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i="1">
                <a:solidFill>
                  <a:schemeClr val="tx1"/>
                </a:solidFill>
                <a:latin typeface="Times New Roman" panose="02020603050405020304" pitchFamily="18" charset="0"/>
                <a:cs typeface="Arial" panose="020B0604020202020204" pitchFamily="34" charset="0"/>
              </a:defRPr>
            </a:lvl1pPr>
            <a:lvl2pPr marL="742950" indent="-285750">
              <a:defRPr sz="2400" i="1">
                <a:solidFill>
                  <a:schemeClr val="tx1"/>
                </a:solidFill>
                <a:latin typeface="Times New Roman" panose="02020603050405020304" pitchFamily="18" charset="0"/>
                <a:cs typeface="Arial" panose="020B0604020202020204" pitchFamily="34" charset="0"/>
              </a:defRPr>
            </a:lvl2pPr>
            <a:lvl3pPr marL="1143000" indent="-228600">
              <a:defRPr sz="2400" i="1">
                <a:solidFill>
                  <a:schemeClr val="tx1"/>
                </a:solidFill>
                <a:latin typeface="Times New Roman" panose="02020603050405020304" pitchFamily="18" charset="0"/>
                <a:cs typeface="Arial" panose="020B0604020202020204" pitchFamily="34" charset="0"/>
              </a:defRPr>
            </a:lvl3pPr>
            <a:lvl4pPr marL="1600200" indent="-228600">
              <a:defRPr sz="2400" i="1">
                <a:solidFill>
                  <a:schemeClr val="tx1"/>
                </a:solidFill>
                <a:latin typeface="Times New Roman" panose="02020603050405020304" pitchFamily="18" charset="0"/>
                <a:cs typeface="Arial" panose="020B0604020202020204" pitchFamily="34" charset="0"/>
              </a:defRPr>
            </a:lvl4pPr>
            <a:lvl5pPr marL="2057400" indent="-228600">
              <a:defRPr sz="2400" i="1">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9pPr>
          </a:lstStyle>
          <a:p>
            <a:pPr eaLnBrk="1" hangingPunct="1"/>
            <a:r>
              <a:rPr lang="en-US" altLang="en-US" sz="2000" i="0" dirty="0">
                <a:solidFill>
                  <a:srgbClr val="FF3300"/>
                </a:solidFill>
              </a:rPr>
              <a:t>Method parameters are shown inside the parentheses using the same notation as variables.</a:t>
            </a:r>
          </a:p>
        </p:txBody>
      </p:sp>
      <p:cxnSp>
        <p:nvCxnSpPr>
          <p:cNvPr id="22" name="AutoShape 13">
            <a:extLst>
              <a:ext uri="{FF2B5EF4-FFF2-40B4-BE49-F238E27FC236}">
                <a16:creationId xmlns:a16="http://schemas.microsoft.com/office/drawing/2014/main" id="{B0801FAB-3C19-014B-99FB-0D68197F5BF5}"/>
              </a:ext>
              <a:ext uri="{C183D7F6-B498-43B3-948B-1728B52AA6E4}">
                <adec:decorative xmlns:adec="http://schemas.microsoft.com/office/drawing/2017/decorative" val="1"/>
              </a:ext>
            </a:extLst>
          </p:cNvPr>
          <p:cNvCxnSpPr>
            <a:cxnSpLocks noChangeShapeType="1"/>
          </p:cNvCxnSpPr>
          <p:nvPr/>
        </p:nvCxnSpPr>
        <p:spPr bwMode="auto">
          <a:xfrm rot="5400000" flipH="1" flipV="1">
            <a:off x="4337050" y="4324350"/>
            <a:ext cx="774700" cy="1"/>
          </a:xfrm>
          <a:prstGeom prst="bentConnector3">
            <a:avLst>
              <a:gd name="adj1" fmla="val 50000"/>
            </a:avLst>
          </a:prstGeom>
          <a:noFill/>
          <a:ln w="25400">
            <a:solidFill>
              <a:srgbClr val="FFFF00"/>
            </a:solidFill>
            <a:miter lim="800000"/>
            <a:headEnd/>
            <a:tailEnd type="triangle" w="med" len="med"/>
          </a:ln>
          <a:extLst>
            <a:ext uri="{909E8E84-426E-40DD-AFC4-6F175D3DCCD1}">
              <a14:hiddenFill xmlns:a14="http://schemas.microsoft.com/office/drawing/2010/main">
                <a:noFill/>
              </a14:hiddenFill>
            </a:ext>
          </a:extLst>
        </p:spPr>
      </p:cxnSp>
      <p:sp>
        <p:nvSpPr>
          <p:cNvPr id="26" name="Text Box 12">
            <a:extLst>
              <a:ext uri="{FF2B5EF4-FFF2-40B4-BE49-F238E27FC236}">
                <a16:creationId xmlns:a16="http://schemas.microsoft.com/office/drawing/2014/main" id="{994AA453-DB16-A14A-9B52-515016262D58}"/>
              </a:ext>
            </a:extLst>
          </p:cNvPr>
          <p:cNvSpPr txBox="1">
            <a:spLocks noChangeArrowheads="1"/>
          </p:cNvSpPr>
          <p:nvPr/>
        </p:nvSpPr>
        <p:spPr bwMode="auto">
          <a:xfrm>
            <a:off x="6629400" y="4161472"/>
            <a:ext cx="2286000"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i="1">
                <a:solidFill>
                  <a:schemeClr val="tx1"/>
                </a:solidFill>
                <a:latin typeface="Times New Roman" panose="02020603050405020304" pitchFamily="18" charset="0"/>
                <a:cs typeface="Arial" panose="020B0604020202020204" pitchFamily="34" charset="0"/>
              </a:defRPr>
            </a:lvl1pPr>
            <a:lvl2pPr marL="742950" indent="-285750">
              <a:defRPr sz="2400" i="1">
                <a:solidFill>
                  <a:schemeClr val="tx1"/>
                </a:solidFill>
                <a:latin typeface="Times New Roman" panose="02020603050405020304" pitchFamily="18" charset="0"/>
                <a:cs typeface="Arial" panose="020B0604020202020204" pitchFamily="34" charset="0"/>
              </a:defRPr>
            </a:lvl2pPr>
            <a:lvl3pPr marL="1143000" indent="-228600">
              <a:defRPr sz="2400" i="1">
                <a:solidFill>
                  <a:schemeClr val="tx1"/>
                </a:solidFill>
                <a:latin typeface="Times New Roman" panose="02020603050405020304" pitchFamily="18" charset="0"/>
                <a:cs typeface="Arial" panose="020B0604020202020204" pitchFamily="34" charset="0"/>
              </a:defRPr>
            </a:lvl3pPr>
            <a:lvl4pPr marL="1600200" indent="-228600">
              <a:defRPr sz="2400" i="1">
                <a:solidFill>
                  <a:schemeClr val="tx1"/>
                </a:solidFill>
                <a:latin typeface="Times New Roman" panose="02020603050405020304" pitchFamily="18" charset="0"/>
                <a:cs typeface="Arial" panose="020B0604020202020204" pitchFamily="34" charset="0"/>
              </a:defRPr>
            </a:lvl4pPr>
            <a:lvl5pPr marL="2057400" indent="-228600">
              <a:defRPr sz="2400" i="1">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i="1">
                <a:solidFill>
                  <a:schemeClr val="tx1"/>
                </a:solidFill>
                <a:latin typeface="Times New Roman" panose="02020603050405020304" pitchFamily="18" charset="0"/>
                <a:cs typeface="Arial" panose="020B0604020202020204" pitchFamily="34" charset="0"/>
              </a:defRPr>
            </a:lvl9pPr>
          </a:lstStyle>
          <a:p>
            <a:pPr eaLnBrk="1" hangingPunct="1"/>
            <a:r>
              <a:rPr lang="en-US" altLang="en-US" sz="1800" i="0" dirty="0">
                <a:solidFill>
                  <a:srgbClr val="FF3300"/>
                </a:solidFill>
              </a:rPr>
              <a:t>Method return types are placed after the method declaration name, separated by a colon.</a:t>
            </a:r>
          </a:p>
        </p:txBody>
      </p:sp>
      <p:cxnSp>
        <p:nvCxnSpPr>
          <p:cNvPr id="27" name="AutoShape 13">
            <a:extLst>
              <a:ext uri="{FF2B5EF4-FFF2-40B4-BE49-F238E27FC236}">
                <a16:creationId xmlns:a16="http://schemas.microsoft.com/office/drawing/2014/main" id="{4B9FB8DB-2054-5543-BA85-0AC724C438CC}"/>
              </a:ext>
              <a:ext uri="{C183D7F6-B498-43B3-948B-1728B52AA6E4}">
                <adec:decorative xmlns:adec="http://schemas.microsoft.com/office/drawing/2017/decorative" val="1"/>
              </a:ext>
            </a:extLst>
          </p:cNvPr>
          <p:cNvCxnSpPr>
            <a:cxnSpLocks noChangeShapeType="1"/>
          </p:cNvCxnSpPr>
          <p:nvPr/>
        </p:nvCxnSpPr>
        <p:spPr bwMode="auto">
          <a:xfrm rot="10800000">
            <a:off x="6437030" y="3831114"/>
            <a:ext cx="1034143" cy="359886"/>
          </a:xfrm>
          <a:prstGeom prst="bentConnector3">
            <a:avLst>
              <a:gd name="adj1" fmla="val -2632"/>
            </a:avLst>
          </a:prstGeom>
          <a:noFill/>
          <a:ln w="25400">
            <a:solidFill>
              <a:srgbClr val="7030A0"/>
            </a:solidFill>
            <a:miter lim="800000"/>
            <a:headEnd/>
            <a:tailEnd type="triangle"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322751495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160D0-55FE-F845-A189-70CED828D4B4}"/>
              </a:ext>
            </a:extLst>
          </p:cNvPr>
          <p:cNvSpPr>
            <a:spLocks noGrp="1"/>
          </p:cNvSpPr>
          <p:nvPr>
            <p:ph type="title"/>
          </p:nvPr>
        </p:nvSpPr>
        <p:spPr/>
        <p:txBody>
          <a:bodyPr>
            <a:noAutofit/>
          </a:bodyPr>
          <a:lstStyle/>
          <a:p>
            <a:r>
              <a:rPr lang="en-US" dirty="0"/>
              <a:t>UML Class Description – Some Examples</a:t>
            </a:r>
          </a:p>
        </p:txBody>
      </p:sp>
      <p:sp>
        <p:nvSpPr>
          <p:cNvPr id="3" name="Content Placeholder 2">
            <a:extLst>
              <a:ext uri="{FF2B5EF4-FFF2-40B4-BE49-F238E27FC236}">
                <a16:creationId xmlns:a16="http://schemas.microsoft.com/office/drawing/2014/main" id="{CF7FDF39-734E-4E47-B935-FC77C43FAD34}"/>
              </a:ext>
            </a:extLst>
          </p:cNvPr>
          <p:cNvSpPr>
            <a:spLocks noGrp="1"/>
          </p:cNvSpPr>
          <p:nvPr>
            <p:ph idx="1"/>
          </p:nvPr>
        </p:nvSpPr>
        <p:spPr>
          <a:xfrm>
            <a:off x="457200" y="1249680"/>
            <a:ext cx="8229600" cy="1341120"/>
          </a:xfrm>
        </p:spPr>
        <p:txBody>
          <a:bodyPr/>
          <a:lstStyle/>
          <a:p>
            <a:r>
              <a:rPr lang="en-US" dirty="0"/>
              <a:t>There are several slightly different representations of classes in UML, but they all express the same information</a:t>
            </a:r>
          </a:p>
        </p:txBody>
      </p:sp>
      <p:sp>
        <p:nvSpPr>
          <p:cNvPr id="4" name="Slide Number Placeholder 3">
            <a:extLst>
              <a:ext uri="{FF2B5EF4-FFF2-40B4-BE49-F238E27FC236}">
                <a16:creationId xmlns:a16="http://schemas.microsoft.com/office/drawing/2014/main" id="{1105E5E3-7AC5-DA46-B5A4-A63922B94EE3}"/>
              </a:ext>
            </a:extLst>
          </p:cNvPr>
          <p:cNvSpPr>
            <a:spLocks noGrp="1"/>
          </p:cNvSpPr>
          <p:nvPr>
            <p:ph type="sldNum" sz="quarter" idx="12"/>
          </p:nvPr>
        </p:nvSpPr>
        <p:spPr/>
        <p:txBody>
          <a:bodyPr/>
          <a:lstStyle/>
          <a:p>
            <a:fld id="{13977939-A071-43C1-9268-F54CC2756BB5}" type="slidenum">
              <a:rPr lang="en-US" smtClean="0"/>
              <a:pPr/>
              <a:t>81</a:t>
            </a:fld>
            <a:endParaRPr lang="en-US" dirty="0"/>
          </a:p>
        </p:txBody>
      </p:sp>
      <p:graphicFrame>
        <p:nvGraphicFramePr>
          <p:cNvPr id="7" name="Table 6">
            <a:extLst>
              <a:ext uri="{FF2B5EF4-FFF2-40B4-BE49-F238E27FC236}">
                <a16:creationId xmlns:a16="http://schemas.microsoft.com/office/drawing/2014/main" id="{23A2EB31-0BFC-5547-BF1E-7715BB964C08}"/>
              </a:ext>
            </a:extLst>
          </p:cNvPr>
          <p:cNvGraphicFramePr>
            <a:graphicFrameLocks noGrp="1"/>
          </p:cNvGraphicFramePr>
          <p:nvPr>
            <p:extLst>
              <p:ext uri="{D42A27DB-BD31-4B8C-83A1-F6EECF244321}">
                <p14:modId xmlns:p14="http://schemas.microsoft.com/office/powerpoint/2010/main" val="2093018249"/>
              </p:ext>
            </p:extLst>
          </p:nvPr>
        </p:nvGraphicFramePr>
        <p:xfrm>
          <a:off x="824644" y="2600064"/>
          <a:ext cx="1588356" cy="1920240"/>
        </p:xfrm>
        <a:graphic>
          <a:graphicData uri="http://schemas.openxmlformats.org/drawingml/2006/table">
            <a:tbl>
              <a:tblPr firstRow="1" bandRow="1">
                <a:tableStyleId>{5C22544A-7EE6-4342-B048-85BDC9FD1C3A}</a:tableStyleId>
              </a:tblPr>
              <a:tblGrid>
                <a:gridCol w="1588356">
                  <a:extLst>
                    <a:ext uri="{9D8B030D-6E8A-4147-A177-3AD203B41FA5}">
                      <a16:colId xmlns:a16="http://schemas.microsoft.com/office/drawing/2014/main" val="1224525841"/>
                    </a:ext>
                  </a:extLst>
                </a:gridCol>
              </a:tblGrid>
              <a:tr h="0">
                <a:tc>
                  <a:txBody>
                    <a:bodyPr/>
                    <a:lstStyle/>
                    <a:p>
                      <a:r>
                        <a:rPr lang="en-US" b="0" dirty="0">
                          <a:solidFill>
                            <a:schemeClr val="tx1"/>
                          </a:solidFill>
                        </a:rPr>
                        <a:t>class 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15851159"/>
                  </a:ext>
                </a:extLst>
              </a:tr>
              <a:tr h="370840">
                <a:tc>
                  <a:txBody>
                    <a:bodyPr/>
                    <a:lstStyle/>
                    <a:p>
                      <a:r>
                        <a:rPr lang="en-US" b="0" dirty="0"/>
                        <a:t>Instance Variables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73726458"/>
                  </a:ext>
                </a:extLst>
              </a:tr>
              <a:tr h="370840">
                <a:tc>
                  <a:txBody>
                    <a:bodyPr/>
                    <a:lstStyle/>
                    <a:p>
                      <a:r>
                        <a:rPr lang="en-US" b="0" dirty="0"/>
                        <a:t>Constructors and Methods</a:t>
                      </a:r>
                    </a:p>
                    <a:p>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19346952"/>
                  </a:ext>
                </a:extLst>
              </a:tr>
            </a:tbl>
          </a:graphicData>
        </a:graphic>
      </p:graphicFrame>
      <p:pic>
        <p:nvPicPr>
          <p:cNvPr id="6" name="Picture 5">
            <a:extLst>
              <a:ext uri="{FF2B5EF4-FFF2-40B4-BE49-F238E27FC236}">
                <a16:creationId xmlns:a16="http://schemas.microsoft.com/office/drawing/2014/main" id="{9C8EB2E3-D2D6-4845-8B0C-16177BCD0846}"/>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791200" y="2209800"/>
            <a:ext cx="2743200" cy="2450592"/>
          </a:xfrm>
          <a:prstGeom prst="rect">
            <a:avLst/>
          </a:prstGeom>
        </p:spPr>
      </p:pic>
      <p:pic>
        <p:nvPicPr>
          <p:cNvPr id="8" name="Picture 7">
            <a:extLst>
              <a:ext uri="{FF2B5EF4-FFF2-40B4-BE49-F238E27FC236}">
                <a16:creationId xmlns:a16="http://schemas.microsoft.com/office/drawing/2014/main" id="{1BC48284-9ECC-9343-977E-5B6FE7712100}"/>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2743199" y="2514600"/>
            <a:ext cx="2916999" cy="2124336"/>
          </a:xfrm>
          <a:prstGeom prst="rect">
            <a:avLst/>
          </a:prstGeom>
        </p:spPr>
      </p:pic>
      <p:sp>
        <p:nvSpPr>
          <p:cNvPr id="5" name="TextBox 4">
            <a:extLst>
              <a:ext uri="{FF2B5EF4-FFF2-40B4-BE49-F238E27FC236}">
                <a16:creationId xmlns:a16="http://schemas.microsoft.com/office/drawing/2014/main" id="{BABF46BE-4BC7-3E46-9071-124C48BE2D6D}"/>
              </a:ext>
            </a:extLst>
          </p:cNvPr>
          <p:cNvSpPr txBox="1"/>
          <p:nvPr/>
        </p:nvSpPr>
        <p:spPr>
          <a:xfrm>
            <a:off x="1371601" y="4724400"/>
            <a:ext cx="6934200" cy="2031325"/>
          </a:xfrm>
          <a:prstGeom prst="rect">
            <a:avLst/>
          </a:prstGeom>
          <a:noFill/>
        </p:spPr>
        <p:txBody>
          <a:bodyPr wrap="square" rtlCol="0">
            <a:spAutoFit/>
          </a:bodyPr>
          <a:lstStyle/>
          <a:p>
            <a:r>
              <a:rPr lang="en-US" dirty="0"/>
              <a:t>Note: </a:t>
            </a:r>
          </a:p>
          <a:p>
            <a:pPr marL="342900" indent="-342900">
              <a:buAutoNum type="arabicPeriod"/>
            </a:pPr>
            <a:r>
              <a:rPr lang="en-US" dirty="0"/>
              <a:t>- indicates private variable or method, + indicates public, # indicates protected</a:t>
            </a:r>
          </a:p>
          <a:p>
            <a:pPr marL="342900" indent="-342900">
              <a:buAutoNum type="arabicPeriod"/>
            </a:pPr>
            <a:r>
              <a:rPr lang="en-US" dirty="0"/>
              <a:t>Order of variable and type is reversed from what you see in Java syntax</a:t>
            </a:r>
          </a:p>
          <a:p>
            <a:pPr marL="342900" indent="-342900">
              <a:buAutoNum type="arabicPeriod"/>
            </a:pPr>
            <a:r>
              <a:rPr lang="en-US" dirty="0"/>
              <a:t>Constructors do not have any return value – they send back a reference  to the object that is created</a:t>
            </a:r>
          </a:p>
        </p:txBody>
      </p:sp>
      <p:sp>
        <p:nvSpPr>
          <p:cNvPr id="9" name="Rectangle 8">
            <a:extLst>
              <a:ext uri="{FF2B5EF4-FFF2-40B4-BE49-F238E27FC236}">
                <a16:creationId xmlns:a16="http://schemas.microsoft.com/office/drawing/2014/main" id="{95FD7612-0E23-97D2-154B-81FC27E21639}"/>
              </a:ext>
              <a:ext uri="{C183D7F6-B498-43B3-948B-1728B52AA6E4}">
                <adec:decorative xmlns:adec="http://schemas.microsoft.com/office/drawing/2017/decorative" val="1"/>
              </a:ext>
            </a:extLst>
          </p:cNvPr>
          <p:cNvSpPr/>
          <p:nvPr/>
        </p:nvSpPr>
        <p:spPr>
          <a:xfrm flipH="1">
            <a:off x="7574281" y="3407516"/>
            <a:ext cx="45719" cy="17388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noFill/>
            </a:endParaRPr>
          </a:p>
        </p:txBody>
      </p:sp>
      <p:sp>
        <p:nvSpPr>
          <p:cNvPr id="10" name="Rectangle 9">
            <a:extLst>
              <a:ext uri="{FF2B5EF4-FFF2-40B4-BE49-F238E27FC236}">
                <a16:creationId xmlns:a16="http://schemas.microsoft.com/office/drawing/2014/main" id="{F9E51F2A-D8B9-3DA5-599F-D7FAC7E47055}"/>
              </a:ext>
              <a:ext uri="{C183D7F6-B498-43B3-948B-1728B52AA6E4}">
                <adec:decorative xmlns:adec="http://schemas.microsoft.com/office/drawing/2017/decorative" val="1"/>
              </a:ext>
            </a:extLst>
          </p:cNvPr>
          <p:cNvSpPr/>
          <p:nvPr/>
        </p:nvSpPr>
        <p:spPr>
          <a:xfrm flipH="1">
            <a:off x="7574281" y="3429000"/>
            <a:ext cx="45719" cy="15963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61787349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6C5F2-F7F6-2C4F-BABE-5FA36145578D}"/>
              </a:ext>
            </a:extLst>
          </p:cNvPr>
          <p:cNvSpPr>
            <a:spLocks noGrp="1"/>
          </p:cNvSpPr>
          <p:nvPr>
            <p:ph type="title"/>
          </p:nvPr>
        </p:nvSpPr>
        <p:spPr>
          <a:xfrm>
            <a:off x="457200" y="228600"/>
            <a:ext cx="8229600" cy="475488"/>
          </a:xfrm>
        </p:spPr>
        <p:txBody>
          <a:bodyPr>
            <a:normAutofit fontScale="90000"/>
          </a:bodyPr>
          <a:lstStyle/>
          <a:p>
            <a:r>
              <a:rPr lang="en-US" dirty="0"/>
              <a:t>Encapsulation </a:t>
            </a:r>
            <a:r>
              <a:rPr lang="en-US" sz="3600" dirty="0"/>
              <a:t>And</a:t>
            </a:r>
            <a:r>
              <a:rPr lang="en-US" dirty="0"/>
              <a:t> UML For An  Auto</a:t>
            </a:r>
          </a:p>
        </p:txBody>
      </p:sp>
      <p:graphicFrame>
        <p:nvGraphicFramePr>
          <p:cNvPr id="5" name="Content Placeholder 4">
            <a:extLst>
              <a:ext uri="{FF2B5EF4-FFF2-40B4-BE49-F238E27FC236}">
                <a16:creationId xmlns:a16="http://schemas.microsoft.com/office/drawing/2014/main" id="{DBB01792-C6AE-1044-A043-7D111B67F371}"/>
              </a:ext>
            </a:extLst>
          </p:cNvPr>
          <p:cNvGraphicFramePr>
            <a:graphicFrameLocks noGrp="1"/>
          </p:cNvGraphicFramePr>
          <p:nvPr>
            <p:ph idx="1"/>
            <p:extLst>
              <p:ext uri="{D42A27DB-BD31-4B8C-83A1-F6EECF244321}">
                <p14:modId xmlns:p14="http://schemas.microsoft.com/office/powerpoint/2010/main" val="2810631884"/>
              </p:ext>
            </p:extLst>
          </p:nvPr>
        </p:nvGraphicFramePr>
        <p:xfrm>
          <a:off x="838200" y="762000"/>
          <a:ext cx="6477000" cy="3474720"/>
        </p:xfrm>
        <a:graphic>
          <a:graphicData uri="http://schemas.openxmlformats.org/drawingml/2006/table">
            <a:tbl>
              <a:tblPr firstRow="1" bandRow="1">
                <a:tableStyleId>{5C22544A-7EE6-4342-B048-85BDC9FD1C3A}</a:tableStyleId>
              </a:tblPr>
              <a:tblGrid>
                <a:gridCol w="6477000">
                  <a:extLst>
                    <a:ext uri="{9D8B030D-6E8A-4147-A177-3AD203B41FA5}">
                      <a16:colId xmlns:a16="http://schemas.microsoft.com/office/drawing/2014/main" val="4023063949"/>
                    </a:ext>
                  </a:extLst>
                </a:gridCol>
              </a:tblGrid>
              <a:tr h="300569">
                <a:tc>
                  <a:txBody>
                    <a:bodyPr/>
                    <a:lstStyle/>
                    <a:p>
                      <a:pPr algn="ctr"/>
                      <a:r>
                        <a:rPr lang="en-US" sz="1400" dirty="0">
                          <a:solidFill>
                            <a:schemeClr val="tx1"/>
                          </a:solidFill>
                        </a:rPr>
                        <a:t>Auto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71439603"/>
                  </a:ext>
                </a:extLst>
              </a:tr>
              <a:tr h="638606">
                <a:tc>
                  <a:txBody>
                    <a:bodyPr/>
                    <a:lstStyle/>
                    <a:p>
                      <a:pPr marL="285750" indent="-285750">
                        <a:buFontTx/>
                        <a:buChar char="-"/>
                      </a:pPr>
                      <a:r>
                        <a:rPr lang="en-US" sz="1400" dirty="0">
                          <a:solidFill>
                            <a:schemeClr val="tx1"/>
                          </a:solidFill>
                        </a:rPr>
                        <a:t>model: String</a:t>
                      </a:r>
                    </a:p>
                    <a:p>
                      <a:pPr marL="285750" indent="-285750">
                        <a:buFontTx/>
                        <a:buChar char="-"/>
                      </a:pPr>
                      <a:r>
                        <a:rPr lang="en-US" sz="1400" dirty="0">
                          <a:solidFill>
                            <a:schemeClr val="tx1"/>
                          </a:solidFill>
                        </a:rPr>
                        <a:t>milesDriven: int</a:t>
                      </a:r>
                    </a:p>
                    <a:p>
                      <a:pPr marL="285750" indent="-285750">
                        <a:buFontTx/>
                        <a:buChar char="-"/>
                      </a:pPr>
                      <a:r>
                        <a:rPr lang="en-US" sz="1400" dirty="0">
                          <a:solidFill>
                            <a:schemeClr val="tx1"/>
                          </a:solidFill>
                        </a:rPr>
                        <a:t>gallonsOf Gas: double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5884036"/>
                  </a:ext>
                </a:extLst>
              </a:tr>
              <a:tr h="2128686">
                <a:tc>
                  <a:txBody>
                    <a:bodyPr/>
                    <a:lstStyle/>
                    <a:p>
                      <a:pPr marL="0" indent="0">
                        <a:buFontTx/>
                        <a:buNone/>
                      </a:pPr>
                      <a:r>
                        <a:rPr lang="en-US" sz="1400" dirty="0">
                          <a:solidFill>
                            <a:schemeClr val="tx1"/>
                          </a:solidFill>
                        </a:rPr>
                        <a:t>+  Auto()</a:t>
                      </a:r>
                    </a:p>
                    <a:p>
                      <a:pPr marL="0" indent="0">
                        <a:buFontTx/>
                        <a:buNone/>
                      </a:pPr>
                      <a:r>
                        <a:rPr lang="en-US" sz="1400" dirty="0">
                          <a:solidFill>
                            <a:schemeClr val="tx1"/>
                          </a:solidFill>
                        </a:rPr>
                        <a:t>+  Auto(startModel: String, startMilesDriven: int, startGallonsOfGas: double)</a:t>
                      </a:r>
                    </a:p>
                    <a:p>
                      <a:pPr marL="0" indent="0">
                        <a:buFontTx/>
                        <a:buNone/>
                      </a:pPr>
                      <a:r>
                        <a:rPr lang="en-US" sz="1400" dirty="0">
                          <a:solidFill>
                            <a:schemeClr val="tx1"/>
                          </a:solidFill>
                        </a:rPr>
                        <a:t>+ getModel() :  String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 getMilesDrivenl() :  int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 getGallonsOfGas() :  double</a:t>
                      </a:r>
                    </a:p>
                    <a:p>
                      <a:pPr marL="0" indent="0">
                        <a:buFontTx/>
                        <a:buNone/>
                      </a:pPr>
                      <a:r>
                        <a:rPr lang="en-US" sz="1400" dirty="0">
                          <a:solidFill>
                            <a:schemeClr val="tx1"/>
                          </a:solidFill>
                        </a:rPr>
                        <a:t>+ setModel(model: String) : void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 setMilesDrivenl(milesDriven: int) : void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 setGallonsOfGas(gallonsOfGas: double) : void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 milesPerGallon() :  double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 toString()  : String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 equals(obj: Object) : boolean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7680252"/>
                  </a:ext>
                </a:extLst>
              </a:tr>
            </a:tbl>
          </a:graphicData>
        </a:graphic>
      </p:graphicFrame>
      <p:sp>
        <p:nvSpPr>
          <p:cNvPr id="4" name="Slide Number Placeholder 3">
            <a:extLst>
              <a:ext uri="{FF2B5EF4-FFF2-40B4-BE49-F238E27FC236}">
                <a16:creationId xmlns:a16="http://schemas.microsoft.com/office/drawing/2014/main" id="{A25783F2-5C90-6249-9A88-4EE1B66D50C5}"/>
              </a:ext>
            </a:extLst>
          </p:cNvPr>
          <p:cNvSpPr>
            <a:spLocks noGrp="1"/>
          </p:cNvSpPr>
          <p:nvPr>
            <p:ph type="sldNum" sz="quarter" idx="12"/>
          </p:nvPr>
        </p:nvSpPr>
        <p:spPr/>
        <p:txBody>
          <a:bodyPr/>
          <a:lstStyle/>
          <a:p>
            <a:fld id="{13977939-A071-43C1-9268-F54CC2756BB5}" type="slidenum">
              <a:rPr lang="en-US" smtClean="0"/>
              <a:pPr/>
              <a:t>82</a:t>
            </a:fld>
            <a:endParaRPr lang="en-US" dirty="0"/>
          </a:p>
        </p:txBody>
      </p:sp>
      <p:sp>
        <p:nvSpPr>
          <p:cNvPr id="3" name="TextBox 2">
            <a:extLst>
              <a:ext uri="{FF2B5EF4-FFF2-40B4-BE49-F238E27FC236}">
                <a16:creationId xmlns:a16="http://schemas.microsoft.com/office/drawing/2014/main" id="{CFAE910E-DEA5-DC4F-AEA9-DBCBC3AB0E5E}"/>
              </a:ext>
            </a:extLst>
          </p:cNvPr>
          <p:cNvSpPr txBox="1"/>
          <p:nvPr/>
        </p:nvSpPr>
        <p:spPr>
          <a:xfrm>
            <a:off x="1066801" y="4419600"/>
            <a:ext cx="6629400" cy="2462213"/>
          </a:xfrm>
          <a:prstGeom prst="rect">
            <a:avLst/>
          </a:prstGeom>
          <a:noFill/>
        </p:spPr>
        <p:txBody>
          <a:bodyPr wrap="square" rtlCol="0">
            <a:spAutoFit/>
          </a:bodyPr>
          <a:lstStyle/>
          <a:p>
            <a:r>
              <a:rPr lang="en-US" sz="1400" dirty="0"/>
              <a:t>Notes: </a:t>
            </a:r>
          </a:p>
          <a:p>
            <a:r>
              <a:rPr lang="en-US" sz="1400" dirty="0"/>
              <a:t>+    means public</a:t>
            </a:r>
          </a:p>
          <a:p>
            <a:pPr marL="285750" indent="-285750">
              <a:buFontTx/>
              <a:buChar char="-"/>
            </a:pPr>
            <a:r>
              <a:rPr lang="en-US" sz="1400" dirty="0"/>
              <a:t>means private</a:t>
            </a:r>
          </a:p>
          <a:p>
            <a:r>
              <a:rPr lang="en-US" sz="1400" dirty="0"/>
              <a:t>#    means protected</a:t>
            </a:r>
          </a:p>
          <a:p>
            <a:r>
              <a:rPr lang="en-US" sz="1400" dirty="0"/>
              <a:t>~    is for an internal variable</a:t>
            </a:r>
          </a:p>
          <a:p>
            <a:r>
              <a:rPr lang="en-US" sz="1400" dirty="0"/>
              <a:t>Methods without return variables are constructors – constructor(s) are identified by the class name</a:t>
            </a:r>
          </a:p>
          <a:p>
            <a:r>
              <a:rPr lang="en-US" sz="1400" dirty="0"/>
              <a:t>If the title or method is italicized it is an abstract class or method </a:t>
            </a:r>
          </a:p>
          <a:p>
            <a:r>
              <a:rPr lang="en-US" sz="1400" dirty="0"/>
              <a:t>Underlines are used for static class variables and methods and </a:t>
            </a:r>
          </a:p>
          <a:p>
            <a:r>
              <a:rPr lang="en-US" sz="1400" dirty="0"/>
              <a:t>Overridden methods must be repeated in the subclass</a:t>
            </a:r>
          </a:p>
          <a:p>
            <a:endParaRPr lang="en-US" sz="1400" dirty="0"/>
          </a:p>
        </p:txBody>
      </p:sp>
    </p:spTree>
    <p:extLst>
      <p:ext uri="{BB962C8B-B14F-4D97-AF65-F5344CB8AC3E}">
        <p14:creationId xmlns:p14="http://schemas.microsoft.com/office/powerpoint/2010/main" val="322301849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D4A9209-0C5B-A04C-AE6D-8A589A42ADD6}"/>
              </a:ext>
            </a:extLst>
          </p:cNvPr>
          <p:cNvSpPr>
            <a:spLocks noGrp="1"/>
          </p:cNvSpPr>
          <p:nvPr>
            <p:ph type="title" idx="4294967295"/>
          </p:nvPr>
        </p:nvSpPr>
        <p:spPr>
          <a:xfrm>
            <a:off x="530225" y="2705100"/>
            <a:ext cx="7772400" cy="1509713"/>
          </a:xfrm>
          <a:prstGeom prst="rect">
            <a:avLst/>
          </a:prstGeom>
          <a:noFill/>
          <a:ln>
            <a:noFill/>
            <a:prstDash/>
          </a:ln>
          <a:effectLst/>
        </p:spPr>
        <p:txBody>
          <a:bodyPr rot="0" spcFirstLastPara="0" vertOverflow="overflow" horzOverflow="overflow" vert="horz" wrap="square" lIns="45720" tIns="45720" rIns="45720" bIns="45720" numCol="1" spcCol="0" rtlCol="0" fromWordArt="0" anchor="t" anchorCtr="0" forceAA="0" compatLnSpc="1">
            <a:prstTxWarp prst="textNoShape">
              <a:avLst/>
            </a:prstTxWarp>
            <a:normAutofit/>
          </a:bodyPr>
          <a:lstStyle/>
          <a:p>
            <a:pPr marL="0" marR="0" lvl="0" indent="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200" b="0" i="0" u="none" strike="noStrike" kern="1200" cap="none" spc="0" normalizeH="0" baseline="0" noProof="0" dirty="0">
                <a:ln>
                  <a:noFill/>
                </a:ln>
                <a:solidFill>
                  <a:schemeClr val="tx1"/>
                </a:solidFill>
                <a:effectLst/>
                <a:uLnTx/>
                <a:uFillTx/>
                <a:latin typeface="+mn-lt"/>
                <a:ea typeface="+mn-ea"/>
                <a:cs typeface="+mn-cs"/>
              </a:rPr>
              <a:t>Immutable Objects</a:t>
            </a:r>
          </a:p>
          <a:p>
            <a:pPr marL="0" marR="0" lvl="0" indent="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200" b="0" i="0" u="none" strike="noStrike" kern="1200" cap="none" spc="0" normalizeH="0" baseline="0" noProof="0" dirty="0">
                <a:ln>
                  <a:noFill/>
                </a:ln>
                <a:solidFill>
                  <a:schemeClr val="tx1"/>
                </a:solidFill>
                <a:effectLst/>
                <a:uLnTx/>
                <a:uFillTx/>
                <a:latin typeface="+mn-lt"/>
                <a:ea typeface="+mn-ea"/>
                <a:cs typeface="+mn-cs"/>
              </a:rPr>
              <a:t>The String Constant Pool</a:t>
            </a:r>
          </a:p>
        </p:txBody>
      </p:sp>
      <p:sp>
        <p:nvSpPr>
          <p:cNvPr id="4" name="Slide Number Placeholder 3">
            <a:extLst>
              <a:ext uri="{FF2B5EF4-FFF2-40B4-BE49-F238E27FC236}">
                <a16:creationId xmlns:a16="http://schemas.microsoft.com/office/drawing/2014/main" id="{6601E8D5-E994-B243-95B8-FA660B3713FE}"/>
              </a:ext>
            </a:extLst>
          </p:cNvPr>
          <p:cNvSpPr>
            <a:spLocks noGrp="1"/>
          </p:cNvSpPr>
          <p:nvPr>
            <p:ph type="sldNum" sz="quarter" idx="12"/>
          </p:nvPr>
        </p:nvSpPr>
        <p:spPr/>
        <p:txBody>
          <a:bodyPr/>
          <a:lstStyle/>
          <a:p>
            <a:fld id="{13977939-A071-43C1-9268-F54CC2756BB5}" type="slidenum">
              <a:rPr lang="en-US" smtClean="0"/>
              <a:pPr/>
              <a:t>83</a:t>
            </a:fld>
            <a:endParaRPr lang="en-US" dirty="0"/>
          </a:p>
        </p:txBody>
      </p:sp>
    </p:spTree>
    <p:extLst>
      <p:ext uri="{BB962C8B-B14F-4D97-AF65-F5344CB8AC3E}">
        <p14:creationId xmlns:p14="http://schemas.microsoft.com/office/powerpoint/2010/main" val="358588363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3FC00-3545-8929-8249-D7C7A4547C11}"/>
              </a:ext>
            </a:extLst>
          </p:cNvPr>
          <p:cNvSpPr>
            <a:spLocks noGrp="1"/>
          </p:cNvSpPr>
          <p:nvPr>
            <p:ph type="title"/>
          </p:nvPr>
        </p:nvSpPr>
        <p:spPr/>
        <p:txBody>
          <a:bodyPr>
            <a:noAutofit/>
          </a:bodyPr>
          <a:lstStyle/>
          <a:p>
            <a:r>
              <a:rPr lang="en-US" dirty="0"/>
              <a:t>The Immutable String class</a:t>
            </a:r>
          </a:p>
        </p:txBody>
      </p:sp>
      <p:sp>
        <p:nvSpPr>
          <p:cNvPr id="3" name="Content Placeholder 2">
            <a:extLst>
              <a:ext uri="{FF2B5EF4-FFF2-40B4-BE49-F238E27FC236}">
                <a16:creationId xmlns:a16="http://schemas.microsoft.com/office/drawing/2014/main" id="{4D27727F-01C4-827A-D2F2-81455FD0CC6B}"/>
              </a:ext>
            </a:extLst>
          </p:cNvPr>
          <p:cNvSpPr>
            <a:spLocks noGrp="1"/>
          </p:cNvSpPr>
          <p:nvPr>
            <p:ph idx="1"/>
          </p:nvPr>
        </p:nvSpPr>
        <p:spPr>
          <a:xfrm>
            <a:off x="457200" y="1249680"/>
            <a:ext cx="8229600" cy="5227320"/>
          </a:xfrm>
        </p:spPr>
        <p:txBody>
          <a:bodyPr>
            <a:normAutofit fontScale="85000" lnSpcReduction="10000"/>
          </a:bodyPr>
          <a:lstStyle/>
          <a:p>
            <a:r>
              <a:rPr lang="en-US" dirty="0"/>
              <a:t>Every programming language has a way of representing strings. </a:t>
            </a:r>
          </a:p>
          <a:p>
            <a:r>
              <a:rPr lang="en-US" dirty="0"/>
              <a:t>In Java, strings are not represented by a primitive type like int, long, and float. </a:t>
            </a:r>
          </a:p>
          <a:p>
            <a:pPr lvl="1"/>
            <a:r>
              <a:rPr lang="en-US" dirty="0"/>
              <a:t>They are represented by a references to Strings where String is a class. </a:t>
            </a:r>
          </a:p>
          <a:p>
            <a:pPr lvl="2"/>
            <a:r>
              <a:rPr lang="en-US" dirty="0"/>
              <a:t>Almost any Java application uses Strings, for example, the main(String [] args) method of a Java application gets as an argument an array of the String type.</a:t>
            </a:r>
          </a:p>
          <a:p>
            <a:r>
              <a:rPr lang="en-US" dirty="0"/>
              <a:t>The wide range of applications that use String means we should know it in detail. </a:t>
            </a:r>
          </a:p>
          <a:p>
            <a:pPr lvl="1"/>
            <a:r>
              <a:rPr lang="en-US" dirty="0"/>
              <a:t>Besides knowing how to declare and manipulate Strings (for example, reverse, and capitalize) developers should understand why this class was designed in a special or different way. </a:t>
            </a:r>
          </a:p>
          <a:p>
            <a:pPr lvl="1"/>
            <a:r>
              <a:rPr lang="en-US" dirty="0"/>
              <a:t>More precisely, why is String immutable? Or maybe this question has a better resonance formulated like this—what are the pros and cons of String being immutable?</a:t>
            </a:r>
          </a:p>
        </p:txBody>
      </p:sp>
      <p:sp>
        <p:nvSpPr>
          <p:cNvPr id="4" name="Slide Number Placeholder 3">
            <a:extLst>
              <a:ext uri="{FF2B5EF4-FFF2-40B4-BE49-F238E27FC236}">
                <a16:creationId xmlns:a16="http://schemas.microsoft.com/office/drawing/2014/main" id="{0DF6CA75-551E-C003-0876-6A111073D654}"/>
              </a:ext>
            </a:extLst>
          </p:cNvPr>
          <p:cNvSpPr>
            <a:spLocks noGrp="1"/>
          </p:cNvSpPr>
          <p:nvPr>
            <p:ph type="sldNum" sz="quarter" idx="12"/>
          </p:nvPr>
        </p:nvSpPr>
        <p:spPr/>
        <p:txBody>
          <a:bodyPr/>
          <a:lstStyle/>
          <a:p>
            <a:fld id="{13977939-A071-43C1-9268-F54CC2756BB5}" type="slidenum">
              <a:rPr lang="en-US" smtClean="0"/>
              <a:pPr/>
              <a:t>84</a:t>
            </a:fld>
            <a:endParaRPr lang="en-US" dirty="0"/>
          </a:p>
        </p:txBody>
      </p:sp>
    </p:spTree>
    <p:extLst>
      <p:ext uri="{BB962C8B-B14F-4D97-AF65-F5344CB8AC3E}">
        <p14:creationId xmlns:p14="http://schemas.microsoft.com/office/powerpoint/2010/main" val="350688262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3FC00-3545-8929-8249-D7C7A4547C11}"/>
              </a:ext>
            </a:extLst>
          </p:cNvPr>
          <p:cNvSpPr>
            <a:spLocks noGrp="1"/>
          </p:cNvSpPr>
          <p:nvPr>
            <p:ph type="title"/>
          </p:nvPr>
        </p:nvSpPr>
        <p:spPr/>
        <p:txBody>
          <a:bodyPr>
            <a:noAutofit/>
          </a:bodyPr>
          <a:lstStyle/>
          <a:p>
            <a:r>
              <a:rPr lang="en-US" dirty="0"/>
              <a:t>The String Constant Pool – a.k.a. Cached Pool (1)</a:t>
            </a:r>
          </a:p>
        </p:txBody>
      </p:sp>
      <p:sp>
        <p:nvSpPr>
          <p:cNvPr id="3" name="Content Placeholder 2">
            <a:extLst>
              <a:ext uri="{FF2B5EF4-FFF2-40B4-BE49-F238E27FC236}">
                <a16:creationId xmlns:a16="http://schemas.microsoft.com/office/drawing/2014/main" id="{4D27727F-01C4-827A-D2F2-81455FD0CC6B}"/>
              </a:ext>
            </a:extLst>
          </p:cNvPr>
          <p:cNvSpPr>
            <a:spLocks noGrp="1"/>
          </p:cNvSpPr>
          <p:nvPr>
            <p:ph idx="1"/>
          </p:nvPr>
        </p:nvSpPr>
        <p:spPr>
          <a:xfrm>
            <a:off x="457200" y="990600"/>
            <a:ext cx="8229600" cy="5791200"/>
          </a:xfrm>
        </p:spPr>
        <p:txBody>
          <a:bodyPr>
            <a:normAutofit fontScale="70000" lnSpcReduction="20000"/>
          </a:bodyPr>
          <a:lstStyle/>
          <a:p>
            <a:r>
              <a:rPr lang="en-US" dirty="0"/>
              <a:t>One of the reasons in favor of string immutability is represented by the string constant pool (SCP) or cached pool. In order to understand this statement, let's dive a little bit into how the String class works internally.</a:t>
            </a:r>
          </a:p>
          <a:p>
            <a:pPr lvl="1"/>
            <a:r>
              <a:rPr lang="en-US" dirty="0"/>
              <a:t>The SCP is a special area in memory (not the normal heap memory) used for the storage of string literals. Let's assume the following three String variables:</a:t>
            </a:r>
          </a:p>
          <a:p>
            <a:endParaRPr lang="en-US" dirty="0"/>
          </a:p>
          <a:p>
            <a:pPr marL="393192" lvl="1" indent="0">
              <a:buNone/>
            </a:pPr>
            <a:r>
              <a:rPr lang="en-US" dirty="0"/>
              <a:t>String x = "book";</a:t>
            </a:r>
          </a:p>
          <a:p>
            <a:pPr marL="393192" lvl="1" indent="0">
              <a:buNone/>
            </a:pPr>
            <a:r>
              <a:rPr lang="en-US" dirty="0"/>
              <a:t>String y = "book";</a:t>
            </a:r>
          </a:p>
          <a:p>
            <a:pPr marL="393192" lvl="1" indent="0">
              <a:buNone/>
            </a:pPr>
            <a:r>
              <a:rPr lang="en-US" dirty="0"/>
              <a:t>String z = "book";</a:t>
            </a:r>
          </a:p>
          <a:p>
            <a:pPr marL="393192" lvl="1" indent="0">
              <a:buNone/>
            </a:pPr>
            <a:endParaRPr lang="en-US" dirty="0"/>
          </a:p>
          <a:p>
            <a:r>
              <a:rPr lang="en-US" dirty="0"/>
              <a:t>How many String objects have been created? It is tempting to say three, but actually Java creates only one String object with the "book" value. </a:t>
            </a:r>
          </a:p>
          <a:p>
            <a:pPr lvl="1"/>
            <a:r>
              <a:rPr lang="en-US" dirty="0"/>
              <a:t>The idea is that everything between quotes is considered as a </a:t>
            </a:r>
            <a:r>
              <a:rPr lang="en-US" dirty="0">
                <a:solidFill>
                  <a:srgbClr val="FF0000"/>
                </a:solidFill>
              </a:rPr>
              <a:t>String literal</a:t>
            </a:r>
            <a:r>
              <a:rPr lang="en-US" dirty="0"/>
              <a:t>, and Java stores string literals in this special area of memory called the SCP, by following an algorithm like this (this algorithm is known as String interning):</a:t>
            </a:r>
          </a:p>
          <a:p>
            <a:r>
              <a:rPr lang="en-US" dirty="0"/>
              <a:t>When a String literal is created (for example, String x = "book"), Java inspects the SCP to see whether this string literal exists.</a:t>
            </a:r>
          </a:p>
          <a:p>
            <a:pPr lvl="1"/>
            <a:r>
              <a:rPr lang="en-US" dirty="0"/>
              <a:t>If the string literal is not found in the SCP, then a new string object for the String literal is created in the SCP and the corresponding variable, x, will point to it.</a:t>
            </a:r>
          </a:p>
          <a:p>
            <a:pPr lvl="1"/>
            <a:r>
              <a:rPr lang="en-US" dirty="0"/>
              <a:t>If the String literal is found in the SCP (for example, String y = "book", String z = "book"), then the new variable will point to the existing String object (basically, all variables that have the same value will point to the same String object):</a:t>
            </a:r>
          </a:p>
        </p:txBody>
      </p:sp>
      <p:sp>
        <p:nvSpPr>
          <p:cNvPr id="4" name="Slide Number Placeholder 3">
            <a:extLst>
              <a:ext uri="{FF2B5EF4-FFF2-40B4-BE49-F238E27FC236}">
                <a16:creationId xmlns:a16="http://schemas.microsoft.com/office/drawing/2014/main" id="{0DF6CA75-551E-C003-0876-6A111073D654}"/>
              </a:ext>
            </a:extLst>
          </p:cNvPr>
          <p:cNvSpPr>
            <a:spLocks noGrp="1"/>
          </p:cNvSpPr>
          <p:nvPr>
            <p:ph type="sldNum" sz="quarter" idx="12"/>
          </p:nvPr>
        </p:nvSpPr>
        <p:spPr/>
        <p:txBody>
          <a:bodyPr/>
          <a:lstStyle/>
          <a:p>
            <a:fld id="{13977939-A071-43C1-9268-F54CC2756BB5}" type="slidenum">
              <a:rPr lang="en-US" smtClean="0"/>
              <a:pPr/>
              <a:t>85</a:t>
            </a:fld>
            <a:endParaRPr lang="en-US" dirty="0"/>
          </a:p>
        </p:txBody>
      </p:sp>
    </p:spTree>
    <p:extLst>
      <p:ext uri="{BB962C8B-B14F-4D97-AF65-F5344CB8AC3E}">
        <p14:creationId xmlns:p14="http://schemas.microsoft.com/office/powerpoint/2010/main" val="176752706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3FC00-3545-8929-8249-D7C7A4547C11}"/>
              </a:ext>
            </a:extLst>
          </p:cNvPr>
          <p:cNvSpPr>
            <a:spLocks noGrp="1"/>
          </p:cNvSpPr>
          <p:nvPr>
            <p:ph type="title"/>
          </p:nvPr>
        </p:nvSpPr>
        <p:spPr/>
        <p:txBody>
          <a:bodyPr>
            <a:noAutofit/>
          </a:bodyPr>
          <a:lstStyle/>
          <a:p>
            <a:r>
              <a:rPr lang="en-US" dirty="0"/>
              <a:t>The String Constant Pool – a.k.a. Cached Pool (2)</a:t>
            </a:r>
          </a:p>
        </p:txBody>
      </p:sp>
      <p:sp>
        <p:nvSpPr>
          <p:cNvPr id="3" name="Content Placeholder 2">
            <a:extLst>
              <a:ext uri="{FF2B5EF4-FFF2-40B4-BE49-F238E27FC236}">
                <a16:creationId xmlns:a16="http://schemas.microsoft.com/office/drawing/2014/main" id="{4D27727F-01C4-827A-D2F2-81455FD0CC6B}"/>
              </a:ext>
            </a:extLst>
          </p:cNvPr>
          <p:cNvSpPr>
            <a:spLocks noGrp="1"/>
          </p:cNvSpPr>
          <p:nvPr>
            <p:ph idx="1"/>
          </p:nvPr>
        </p:nvSpPr>
        <p:spPr>
          <a:xfrm>
            <a:off x="435429" y="3117295"/>
            <a:ext cx="8229600" cy="1645205"/>
          </a:xfrm>
        </p:spPr>
        <p:txBody>
          <a:bodyPr>
            <a:normAutofit fontScale="77500" lnSpcReduction="20000"/>
          </a:bodyPr>
          <a:lstStyle/>
          <a:p>
            <a:r>
              <a:rPr lang="en-US" dirty="0"/>
              <a:t>But x should be "cook" and not "book", so let's replace "book" with "cook"—x = x.replace("b00k", "c00k");</a:t>
            </a:r>
          </a:p>
          <a:p>
            <a:r>
              <a:rPr lang="en-US" b="0" i="0" u="none" strike="noStrike" dirty="0">
                <a:solidFill>
                  <a:srgbClr val="3D3B49"/>
                </a:solidFill>
                <a:effectLst/>
                <a:latin typeface="Noto serif" panose="020F0502020204030204" pitchFamily="34" charset="0"/>
              </a:rPr>
              <a:t>While </a:t>
            </a:r>
            <a:r>
              <a:rPr lang="en-US" dirty="0"/>
              <a:t>x</a:t>
            </a:r>
            <a:r>
              <a:rPr lang="en-US" b="0" i="0" u="none" strike="noStrike" dirty="0">
                <a:solidFill>
                  <a:srgbClr val="3D3B49"/>
                </a:solidFill>
                <a:effectLst/>
                <a:latin typeface="Noto serif" panose="020F0502020204030204" pitchFamily="34" charset="0"/>
              </a:rPr>
              <a:t> should be </a:t>
            </a:r>
            <a:r>
              <a:rPr lang="en-US" dirty="0"/>
              <a:t>"cook"</a:t>
            </a:r>
            <a:r>
              <a:rPr lang="en-US" b="0" i="0" u="none" strike="noStrike" dirty="0">
                <a:solidFill>
                  <a:srgbClr val="3D3B49"/>
                </a:solidFill>
                <a:effectLst/>
                <a:latin typeface="Noto serif" panose="020F0502020204030204" pitchFamily="34" charset="0"/>
              </a:rPr>
              <a:t>, </a:t>
            </a:r>
            <a:r>
              <a:rPr lang="en-US" dirty="0"/>
              <a:t>y</a:t>
            </a:r>
            <a:r>
              <a:rPr lang="en-US" b="0" i="0" u="none" strike="noStrike" dirty="0">
                <a:solidFill>
                  <a:srgbClr val="3D3B49"/>
                </a:solidFill>
                <a:effectLst/>
                <a:latin typeface="Noto serif" panose="020F0502020204030204" pitchFamily="34" charset="0"/>
              </a:rPr>
              <a:t> and </a:t>
            </a:r>
            <a:r>
              <a:rPr lang="en-US" dirty="0"/>
              <a:t>z</a:t>
            </a:r>
            <a:r>
              <a:rPr lang="en-US" b="0" i="0" u="none" strike="noStrike" dirty="0">
                <a:solidFill>
                  <a:srgbClr val="3D3B49"/>
                </a:solidFill>
                <a:effectLst/>
                <a:latin typeface="Noto serif" panose="020F0502020204030204" pitchFamily="34" charset="0"/>
              </a:rPr>
              <a:t> should remain unchanged. This behavior is provided by immutability. Java will create a new object and will perform the change on it as follows:</a:t>
            </a:r>
            <a:endParaRPr lang="en-US" dirty="0"/>
          </a:p>
        </p:txBody>
      </p:sp>
      <p:sp>
        <p:nvSpPr>
          <p:cNvPr id="4" name="Slide Number Placeholder 3">
            <a:extLst>
              <a:ext uri="{FF2B5EF4-FFF2-40B4-BE49-F238E27FC236}">
                <a16:creationId xmlns:a16="http://schemas.microsoft.com/office/drawing/2014/main" id="{0DF6CA75-551E-C003-0876-6A111073D654}"/>
              </a:ext>
            </a:extLst>
          </p:cNvPr>
          <p:cNvSpPr>
            <a:spLocks noGrp="1"/>
          </p:cNvSpPr>
          <p:nvPr>
            <p:ph type="sldNum" sz="quarter" idx="12"/>
          </p:nvPr>
        </p:nvSpPr>
        <p:spPr/>
        <p:txBody>
          <a:bodyPr/>
          <a:lstStyle/>
          <a:p>
            <a:fld id="{13977939-A071-43C1-9268-F54CC2756BB5}" type="slidenum">
              <a:rPr lang="en-US" smtClean="0"/>
              <a:pPr/>
              <a:t>86</a:t>
            </a:fld>
            <a:endParaRPr lang="en-US" dirty="0"/>
          </a:p>
        </p:txBody>
      </p:sp>
      <p:pic>
        <p:nvPicPr>
          <p:cNvPr id="1026" name="Picture 2">
            <a:extLst>
              <a:ext uri="{FF2B5EF4-FFF2-40B4-BE49-F238E27FC236}">
                <a16:creationId xmlns:a16="http://schemas.microsoft.com/office/drawing/2014/main" id="{986A8C77-773C-A8E9-766B-487B51CA3B8A}"/>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086" y="1219200"/>
            <a:ext cx="7467600" cy="164520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tring Constant Pool Description">
            <a:extLst>
              <a:ext uri="{FF2B5EF4-FFF2-40B4-BE49-F238E27FC236}">
                <a16:creationId xmlns:a16="http://schemas.microsoft.com/office/drawing/2014/main" id="{94A8A183-BBC7-BEF8-F995-EDCE52C0B1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4762500"/>
            <a:ext cx="8612172" cy="1593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812568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3FC00-3545-8929-8249-D7C7A4547C11}"/>
              </a:ext>
            </a:extLst>
          </p:cNvPr>
          <p:cNvSpPr>
            <a:spLocks noGrp="1"/>
          </p:cNvSpPr>
          <p:nvPr>
            <p:ph type="title"/>
          </p:nvPr>
        </p:nvSpPr>
        <p:spPr/>
        <p:txBody>
          <a:bodyPr>
            <a:noAutofit/>
          </a:bodyPr>
          <a:lstStyle/>
          <a:p>
            <a:r>
              <a:rPr lang="en-US" dirty="0"/>
              <a:t>The String Constant Pool – a.k.a. Cached Pool (3)</a:t>
            </a:r>
          </a:p>
        </p:txBody>
      </p:sp>
      <p:sp>
        <p:nvSpPr>
          <p:cNvPr id="3" name="Content Placeholder 2">
            <a:extLst>
              <a:ext uri="{FF2B5EF4-FFF2-40B4-BE49-F238E27FC236}">
                <a16:creationId xmlns:a16="http://schemas.microsoft.com/office/drawing/2014/main" id="{4D27727F-01C4-827A-D2F2-81455FD0CC6B}"/>
              </a:ext>
            </a:extLst>
          </p:cNvPr>
          <p:cNvSpPr>
            <a:spLocks noGrp="1"/>
          </p:cNvSpPr>
          <p:nvPr>
            <p:ph idx="1"/>
          </p:nvPr>
        </p:nvSpPr>
        <p:spPr>
          <a:xfrm>
            <a:off x="457200" y="1066800"/>
            <a:ext cx="8229600" cy="5791200"/>
          </a:xfrm>
        </p:spPr>
        <p:txBody>
          <a:bodyPr>
            <a:normAutofit/>
          </a:bodyPr>
          <a:lstStyle/>
          <a:p>
            <a:r>
              <a:rPr lang="en-US" dirty="0"/>
              <a:t>So, String immutability permits the caching of String literals, which allows applications to use a large number of string literals with a minimum impact on the heap memory and garbage collector. </a:t>
            </a:r>
          </a:p>
          <a:p>
            <a:pPr lvl="1"/>
            <a:r>
              <a:rPr lang="en-US" dirty="0"/>
              <a:t>In a mutable context, a modification of a string literal may lead to corrupted variables.</a:t>
            </a:r>
          </a:p>
          <a:p>
            <a:r>
              <a:rPr lang="en-US" dirty="0"/>
              <a:t>Do not create a string as String x = new String("book") if you want to use the literals. </a:t>
            </a:r>
          </a:p>
          <a:p>
            <a:pPr lvl="1"/>
            <a:r>
              <a:rPr lang="en-US" dirty="0"/>
              <a:t>This is not a String literal; this is a String instance (built via a constructor) that will go in the normal memory heap instead of the SCP. </a:t>
            </a:r>
          </a:p>
        </p:txBody>
      </p:sp>
      <p:sp>
        <p:nvSpPr>
          <p:cNvPr id="4" name="Slide Number Placeholder 3">
            <a:extLst>
              <a:ext uri="{FF2B5EF4-FFF2-40B4-BE49-F238E27FC236}">
                <a16:creationId xmlns:a16="http://schemas.microsoft.com/office/drawing/2014/main" id="{0DF6CA75-551E-C003-0876-6A111073D654}"/>
              </a:ext>
            </a:extLst>
          </p:cNvPr>
          <p:cNvSpPr>
            <a:spLocks noGrp="1"/>
          </p:cNvSpPr>
          <p:nvPr>
            <p:ph type="sldNum" sz="quarter" idx="12"/>
          </p:nvPr>
        </p:nvSpPr>
        <p:spPr/>
        <p:txBody>
          <a:bodyPr/>
          <a:lstStyle/>
          <a:p>
            <a:fld id="{13977939-A071-43C1-9268-F54CC2756BB5}" type="slidenum">
              <a:rPr lang="en-US" smtClean="0"/>
              <a:pPr/>
              <a:t>87</a:t>
            </a:fld>
            <a:endParaRPr lang="en-US" dirty="0"/>
          </a:p>
        </p:txBody>
      </p:sp>
    </p:spTree>
    <p:extLst>
      <p:ext uri="{BB962C8B-B14F-4D97-AF65-F5344CB8AC3E}">
        <p14:creationId xmlns:p14="http://schemas.microsoft.com/office/powerpoint/2010/main" val="271936435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3FC00-3545-8929-8249-D7C7A4547C11}"/>
              </a:ext>
            </a:extLst>
          </p:cNvPr>
          <p:cNvSpPr>
            <a:spLocks noGrp="1"/>
          </p:cNvSpPr>
          <p:nvPr>
            <p:ph type="title"/>
          </p:nvPr>
        </p:nvSpPr>
        <p:spPr/>
        <p:txBody>
          <a:bodyPr>
            <a:noAutofit/>
          </a:bodyPr>
          <a:lstStyle/>
          <a:p>
            <a:r>
              <a:rPr lang="en-US" dirty="0"/>
              <a:t>Creating Immutable Classes</a:t>
            </a:r>
          </a:p>
        </p:txBody>
      </p:sp>
      <p:sp>
        <p:nvSpPr>
          <p:cNvPr id="3" name="Content Placeholder 2">
            <a:extLst>
              <a:ext uri="{FF2B5EF4-FFF2-40B4-BE49-F238E27FC236}">
                <a16:creationId xmlns:a16="http://schemas.microsoft.com/office/drawing/2014/main" id="{4D27727F-01C4-827A-D2F2-81455FD0CC6B}"/>
              </a:ext>
            </a:extLst>
          </p:cNvPr>
          <p:cNvSpPr>
            <a:spLocks noGrp="1"/>
          </p:cNvSpPr>
          <p:nvPr>
            <p:ph idx="1"/>
          </p:nvPr>
        </p:nvSpPr>
        <p:spPr>
          <a:xfrm>
            <a:off x="457200" y="1066800"/>
            <a:ext cx="8229600" cy="5791200"/>
          </a:xfrm>
        </p:spPr>
        <p:txBody>
          <a:bodyPr>
            <a:normAutofit fontScale="92500" lnSpcReduction="10000"/>
          </a:bodyPr>
          <a:lstStyle/>
          <a:p>
            <a:r>
              <a:rPr lang="en-US" dirty="0"/>
              <a:t>Declare the class as final so it can't be extended.</a:t>
            </a:r>
          </a:p>
          <a:p>
            <a:r>
              <a:rPr lang="en-US" dirty="0"/>
              <a:t>Make all of the fields private so that direct access is not allowed.</a:t>
            </a:r>
          </a:p>
          <a:p>
            <a:r>
              <a:rPr lang="en-US" dirty="0"/>
              <a:t>Don't provide setter methods for variables.</a:t>
            </a:r>
          </a:p>
          <a:p>
            <a:r>
              <a:rPr lang="en-US" dirty="0"/>
              <a:t>Make all mutable fields final so that a field's value can be assigned only once.</a:t>
            </a:r>
          </a:p>
          <a:p>
            <a:r>
              <a:rPr lang="en-US" dirty="0"/>
              <a:t>If the instance fields include references to mutable objects, don't allow those objects to be changed:</a:t>
            </a:r>
          </a:p>
          <a:p>
            <a:pPr lvl="1"/>
            <a:r>
              <a:rPr lang="en-US" dirty="0"/>
              <a:t>Don't provide methods that modify the mutable objects.</a:t>
            </a:r>
          </a:p>
          <a:p>
            <a:pPr lvl="1"/>
            <a:r>
              <a:rPr lang="en-US" dirty="0"/>
              <a:t>Don't share references to the mutable objects. </a:t>
            </a:r>
          </a:p>
          <a:p>
            <a:pPr lvl="1"/>
            <a:r>
              <a:rPr lang="en-US" dirty="0"/>
              <a:t>Never store references to external, mutable objects passed to the constructor; </a:t>
            </a:r>
          </a:p>
          <a:p>
            <a:pPr lvl="1"/>
            <a:r>
              <a:rPr lang="en-US" dirty="0"/>
              <a:t>If necessary, create copies, and store references to the copies. </a:t>
            </a:r>
          </a:p>
          <a:p>
            <a:pPr lvl="1"/>
            <a:r>
              <a:rPr lang="en-US" dirty="0"/>
              <a:t>Similarly, create copies of your internal mutable objects when necessary to avoid returning the originals in your methods.</a:t>
            </a:r>
          </a:p>
        </p:txBody>
      </p:sp>
      <p:sp>
        <p:nvSpPr>
          <p:cNvPr id="4" name="Slide Number Placeholder 3">
            <a:extLst>
              <a:ext uri="{FF2B5EF4-FFF2-40B4-BE49-F238E27FC236}">
                <a16:creationId xmlns:a16="http://schemas.microsoft.com/office/drawing/2014/main" id="{0DF6CA75-551E-C003-0876-6A111073D654}"/>
              </a:ext>
            </a:extLst>
          </p:cNvPr>
          <p:cNvSpPr>
            <a:spLocks noGrp="1"/>
          </p:cNvSpPr>
          <p:nvPr>
            <p:ph type="sldNum" sz="quarter" idx="12"/>
          </p:nvPr>
        </p:nvSpPr>
        <p:spPr/>
        <p:txBody>
          <a:bodyPr/>
          <a:lstStyle/>
          <a:p>
            <a:fld id="{13977939-A071-43C1-9268-F54CC2756BB5}" type="slidenum">
              <a:rPr lang="en-US" smtClean="0"/>
              <a:pPr/>
              <a:t>88</a:t>
            </a:fld>
            <a:endParaRPr lang="en-US" dirty="0"/>
          </a:p>
        </p:txBody>
      </p:sp>
    </p:spTree>
    <p:extLst>
      <p:ext uri="{BB962C8B-B14F-4D97-AF65-F5344CB8AC3E}">
        <p14:creationId xmlns:p14="http://schemas.microsoft.com/office/powerpoint/2010/main" val="91600270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D4A9209-0C5B-A04C-AE6D-8A589A42ADD6}"/>
              </a:ext>
            </a:extLst>
          </p:cNvPr>
          <p:cNvSpPr>
            <a:spLocks noGrp="1"/>
          </p:cNvSpPr>
          <p:nvPr>
            <p:ph type="title" idx="4294967295"/>
          </p:nvPr>
        </p:nvSpPr>
        <p:spPr>
          <a:xfrm>
            <a:off x="530225" y="2705100"/>
            <a:ext cx="7772400" cy="1509713"/>
          </a:xfrm>
          <a:prstGeom prst="rect">
            <a:avLst/>
          </a:prstGeom>
          <a:noFill/>
          <a:ln>
            <a:noFill/>
            <a:prstDash/>
          </a:ln>
          <a:effectLst/>
        </p:spPr>
        <p:txBody>
          <a:bodyPr rot="0" spcFirstLastPara="0" vertOverflow="overflow" horzOverflow="overflow" vert="horz" wrap="square" lIns="45720" tIns="45720" rIns="45720" bIns="45720" numCol="1" spcCol="0" rtlCol="0" fromWordArt="0" anchor="t" anchorCtr="0" forceAA="0" compatLnSpc="1">
            <a:prstTxWarp prst="textNoShape">
              <a:avLst/>
            </a:prstTxWarp>
            <a:normAutofit/>
          </a:bodyPr>
          <a:lstStyle/>
          <a:p>
            <a:pPr marL="0" marR="0" lvl="0" indent="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200" b="0" i="0" u="none" strike="noStrike" kern="1200" cap="none" spc="0" normalizeH="0" baseline="0" noProof="0">
                <a:ln>
                  <a:noFill/>
                </a:ln>
                <a:solidFill>
                  <a:schemeClr val="tx1"/>
                </a:solidFill>
                <a:effectLst/>
                <a:uLnTx/>
                <a:uFillTx/>
                <a:latin typeface="+mn-lt"/>
                <a:ea typeface="+mn-ea"/>
                <a:cs typeface="+mn-cs"/>
              </a:rPr>
              <a:t>Aggregation</a:t>
            </a:r>
            <a:endParaRPr kumimoji="0" lang="en-US" sz="2200" b="0" i="0" u="none" strike="noStrike" kern="1200" cap="none" spc="0" normalizeH="0" baseline="0" noProof="0" dirty="0">
              <a:ln>
                <a:noFill/>
              </a:ln>
              <a:solidFill>
                <a:schemeClr val="tx1"/>
              </a:solidFill>
              <a:effectLst/>
              <a:uLnTx/>
              <a:uFillTx/>
              <a:latin typeface="+mn-lt"/>
              <a:ea typeface="+mn-ea"/>
              <a:cs typeface="+mn-cs"/>
            </a:endParaRPr>
          </a:p>
        </p:txBody>
      </p:sp>
      <p:sp>
        <p:nvSpPr>
          <p:cNvPr id="4" name="Slide Number Placeholder 3">
            <a:extLst>
              <a:ext uri="{FF2B5EF4-FFF2-40B4-BE49-F238E27FC236}">
                <a16:creationId xmlns:a16="http://schemas.microsoft.com/office/drawing/2014/main" id="{6601E8D5-E994-B243-95B8-FA660B3713FE}"/>
              </a:ext>
            </a:extLst>
          </p:cNvPr>
          <p:cNvSpPr>
            <a:spLocks noGrp="1"/>
          </p:cNvSpPr>
          <p:nvPr>
            <p:ph type="sldNum" sz="quarter" idx="12"/>
          </p:nvPr>
        </p:nvSpPr>
        <p:spPr/>
        <p:txBody>
          <a:bodyPr/>
          <a:lstStyle/>
          <a:p>
            <a:fld id="{13977939-A071-43C1-9268-F54CC2756BB5}" type="slidenum">
              <a:rPr lang="en-US" smtClean="0"/>
              <a:pPr/>
              <a:t>89</a:t>
            </a:fld>
            <a:endParaRPr lang="en-US" dirty="0"/>
          </a:p>
        </p:txBody>
      </p:sp>
    </p:spTree>
    <p:extLst>
      <p:ext uri="{BB962C8B-B14F-4D97-AF65-F5344CB8AC3E}">
        <p14:creationId xmlns:p14="http://schemas.microsoft.com/office/powerpoint/2010/main" val="58361118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CAC1C-1A58-2E40-9E8B-9591145287A6}"/>
              </a:ext>
            </a:extLst>
          </p:cNvPr>
          <p:cNvSpPr>
            <a:spLocks noGrp="1"/>
          </p:cNvSpPr>
          <p:nvPr>
            <p:ph type="title"/>
          </p:nvPr>
        </p:nvSpPr>
        <p:spPr>
          <a:xfrm>
            <a:off x="457200" y="152400"/>
            <a:ext cx="8229600" cy="475488"/>
          </a:xfrm>
        </p:spPr>
        <p:txBody>
          <a:bodyPr>
            <a:noAutofit/>
          </a:bodyPr>
          <a:lstStyle/>
          <a:p>
            <a:r>
              <a:rPr lang="en-US" dirty="0"/>
              <a:t>Aggregation Allows Us To Build Realistic Models</a:t>
            </a:r>
          </a:p>
        </p:txBody>
      </p:sp>
      <p:sp>
        <p:nvSpPr>
          <p:cNvPr id="3" name="Content Placeholder 2">
            <a:extLst>
              <a:ext uri="{FF2B5EF4-FFF2-40B4-BE49-F238E27FC236}">
                <a16:creationId xmlns:a16="http://schemas.microsoft.com/office/drawing/2014/main" id="{B3E2FA09-98A4-4E4C-A57D-AD0DDB3723DC}"/>
              </a:ext>
            </a:extLst>
          </p:cNvPr>
          <p:cNvSpPr>
            <a:spLocks noGrp="1"/>
          </p:cNvSpPr>
          <p:nvPr>
            <p:ph idx="1"/>
          </p:nvPr>
        </p:nvSpPr>
        <p:spPr>
          <a:xfrm>
            <a:off x="457200" y="685801"/>
            <a:ext cx="8229600" cy="6172200"/>
          </a:xfrm>
        </p:spPr>
        <p:txBody>
          <a:bodyPr>
            <a:normAutofit fontScale="77500" lnSpcReduction="20000"/>
          </a:bodyPr>
          <a:lstStyle/>
          <a:p>
            <a:r>
              <a:rPr lang="en-US" altLang="en-US" dirty="0"/>
              <a:t>Aggregation occurs when a class is a field in another class</a:t>
            </a:r>
          </a:p>
          <a:p>
            <a:pPr lvl="1"/>
            <a:r>
              <a:rPr lang="en-US" altLang="en-US" dirty="0"/>
              <a:t>In real life, objects are frequently made of other objects. </a:t>
            </a:r>
          </a:p>
          <a:p>
            <a:pPr lvl="2"/>
            <a:r>
              <a:rPr lang="en-US" altLang="en-US" dirty="0"/>
              <a:t>A house, for example, is made of door objects, window objects, wall objects, and much more. </a:t>
            </a:r>
          </a:p>
          <a:p>
            <a:pPr lvl="2"/>
            <a:r>
              <a:rPr lang="en-US" altLang="en-US" dirty="0"/>
              <a:t>It is the combination of all these objects that makes a house object.</a:t>
            </a:r>
          </a:p>
          <a:p>
            <a:pPr lvl="2"/>
            <a:r>
              <a:rPr lang="en-US" altLang="en-US" dirty="0"/>
              <a:t>We have already done a bit of this with the use of String objects as instance variables.</a:t>
            </a:r>
          </a:p>
          <a:p>
            <a:r>
              <a:rPr lang="en-US" altLang="en-US" dirty="0"/>
              <a:t>When designing software, it sometimes makes sense to create an object from other objects. </a:t>
            </a:r>
          </a:p>
          <a:p>
            <a:pPr lvl="1"/>
            <a:r>
              <a:rPr lang="en-US" altLang="en-US" dirty="0"/>
              <a:t>For example, suppose you need an object to represent a course that you are taking in college. You decide to create a Course class, which will hold the following information:</a:t>
            </a:r>
          </a:p>
          <a:p>
            <a:pPr lvl="2"/>
            <a:r>
              <a:rPr lang="en-US" altLang="en-US" dirty="0"/>
              <a:t>Course name</a:t>
            </a:r>
          </a:p>
          <a:p>
            <a:pPr lvl="2"/>
            <a:r>
              <a:rPr lang="en-US" altLang="en-US" dirty="0"/>
              <a:t>Instructor</a:t>
            </a:r>
          </a:p>
          <a:p>
            <a:pPr lvl="2"/>
            <a:r>
              <a:rPr lang="en-US" altLang="en-US" dirty="0"/>
              <a:t>Textbook</a:t>
            </a:r>
          </a:p>
          <a:p>
            <a:pPr lvl="1"/>
            <a:r>
              <a:rPr lang="en-US" altLang="en-US" dirty="0"/>
              <a:t>The last two of these items are classes in their own right</a:t>
            </a:r>
          </a:p>
          <a:p>
            <a:pPr lvl="1"/>
            <a:r>
              <a:rPr lang="en-US" altLang="en-US" dirty="0"/>
              <a:t>You could put fields for each of these items in the Course class. </a:t>
            </a:r>
          </a:p>
          <a:p>
            <a:pPr lvl="1"/>
            <a:r>
              <a:rPr lang="en-US" altLang="en-US" dirty="0"/>
              <a:t>However, a good design principle is to separate related items into their own classes. </a:t>
            </a:r>
          </a:p>
          <a:p>
            <a:pPr lvl="1"/>
            <a:r>
              <a:rPr lang="en-US" altLang="en-US" dirty="0"/>
              <a:t>In this example, an Instructor class could be created to hold the instructor-related data and a TextBook class could be created to hold the textbook-related data. Instances of these classes could then be used as fields in the Course class</a:t>
            </a:r>
          </a:p>
        </p:txBody>
      </p:sp>
      <p:sp>
        <p:nvSpPr>
          <p:cNvPr id="4" name="Slide Number Placeholder 3">
            <a:extLst>
              <a:ext uri="{FF2B5EF4-FFF2-40B4-BE49-F238E27FC236}">
                <a16:creationId xmlns:a16="http://schemas.microsoft.com/office/drawing/2014/main" id="{4625D86A-35F6-504C-A220-143FBD148F3D}"/>
              </a:ext>
            </a:extLst>
          </p:cNvPr>
          <p:cNvSpPr>
            <a:spLocks noGrp="1"/>
          </p:cNvSpPr>
          <p:nvPr>
            <p:ph type="sldNum" sz="quarter" idx="12"/>
          </p:nvPr>
        </p:nvSpPr>
        <p:spPr/>
        <p:txBody>
          <a:bodyPr/>
          <a:lstStyle/>
          <a:p>
            <a:fld id="{13977939-A071-43C1-9268-F54CC2756BB5}" type="slidenum">
              <a:rPr lang="en-US" smtClean="0"/>
              <a:pPr/>
              <a:t>90</a:t>
            </a:fld>
            <a:endParaRPr lang="en-US" dirty="0"/>
          </a:p>
        </p:txBody>
      </p:sp>
    </p:spTree>
    <p:extLst>
      <p:ext uri="{BB962C8B-B14F-4D97-AF65-F5344CB8AC3E}">
        <p14:creationId xmlns:p14="http://schemas.microsoft.com/office/powerpoint/2010/main" val="153564325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33E1F2D-34A2-F245-9EF3-9107C76524A1}"/>
              </a:ext>
            </a:extLst>
          </p:cNvPr>
          <p:cNvGraphicFramePr>
            <a:graphicFrameLocks noGrp="1"/>
          </p:cNvGraphicFramePr>
          <p:nvPr>
            <p:extLst>
              <p:ext uri="{D42A27DB-BD31-4B8C-83A1-F6EECF244321}">
                <p14:modId xmlns:p14="http://schemas.microsoft.com/office/powerpoint/2010/main" val="2200130434"/>
              </p:ext>
            </p:extLst>
          </p:nvPr>
        </p:nvGraphicFramePr>
        <p:xfrm>
          <a:off x="2302737" y="1117667"/>
          <a:ext cx="4100626" cy="2179320"/>
        </p:xfrm>
        <a:graphic>
          <a:graphicData uri="http://schemas.openxmlformats.org/drawingml/2006/table">
            <a:tbl>
              <a:tblPr firstRow="1" firstCol="1" bandRow="1">
                <a:tableStyleId>{5C22544A-7EE6-4342-B048-85BDC9FD1C3A}</a:tableStyleId>
              </a:tblPr>
              <a:tblGrid>
                <a:gridCol w="4100626">
                  <a:extLst>
                    <a:ext uri="{9D8B030D-6E8A-4147-A177-3AD203B41FA5}">
                      <a16:colId xmlns:a16="http://schemas.microsoft.com/office/drawing/2014/main" val="1935755895"/>
                    </a:ext>
                  </a:extLst>
                </a:gridCol>
              </a:tblGrid>
              <a:tr h="160020">
                <a:tc>
                  <a:txBody>
                    <a:bodyPr/>
                    <a:lstStyle/>
                    <a:p>
                      <a:pPr marL="0" marR="0" algn="ctr">
                        <a:spcBef>
                          <a:spcPts val="0"/>
                        </a:spcBef>
                        <a:spcAft>
                          <a:spcPts val="0"/>
                        </a:spcAft>
                      </a:pPr>
                      <a:r>
                        <a:rPr lang="en-US" sz="1100" i="0" dirty="0">
                          <a:effectLst/>
                        </a:rPr>
                        <a:t>Course</a:t>
                      </a:r>
                      <a:endParaRPr lang="en-US" sz="1100" i="0" dirty="0">
                        <a:effectLst/>
                        <a:latin typeface="Cambria" panose="02040503050406030204" pitchFamily="18" charset="0"/>
                        <a:ea typeface="MS Mincho" panose="02020609040205080304" pitchFamily="49" charset="-128"/>
                        <a:cs typeface="Times New Roman" panose="02020603050405020304" pitchFamily="18" charset="0"/>
                      </a:endParaRPr>
                    </a:p>
                  </a:txBody>
                  <a:tcPr marL="51435" marR="51435" marT="0" marB="0"/>
                </a:tc>
                <a:extLst>
                  <a:ext uri="{0D108BD9-81ED-4DB2-BD59-A6C34878D82A}">
                    <a16:rowId xmlns:a16="http://schemas.microsoft.com/office/drawing/2014/main" val="3253078253"/>
                  </a:ext>
                </a:extLst>
              </a:tr>
              <a:tr h="480060">
                <a:tc>
                  <a:txBody>
                    <a:bodyPr/>
                    <a:lstStyle/>
                    <a:p>
                      <a:pPr marL="0" marR="0">
                        <a:spcBef>
                          <a:spcPts val="0"/>
                        </a:spcBef>
                        <a:spcAft>
                          <a:spcPts val="0"/>
                        </a:spcAft>
                      </a:pPr>
                      <a:r>
                        <a:rPr lang="en-US" sz="1100" dirty="0">
                          <a:effectLst/>
                        </a:rPr>
                        <a:t>-courseName:String</a:t>
                      </a:r>
                    </a:p>
                    <a:p>
                      <a:pPr marL="0" marR="0">
                        <a:spcBef>
                          <a:spcPts val="0"/>
                        </a:spcBef>
                        <a:spcAft>
                          <a:spcPts val="0"/>
                        </a:spcAft>
                      </a:pPr>
                      <a:r>
                        <a:rPr lang="en-US" sz="1100" dirty="0">
                          <a:effectLst/>
                        </a:rPr>
                        <a:t>-instructor:Instructor</a:t>
                      </a:r>
                    </a:p>
                    <a:p>
                      <a:pPr marL="0" marR="0">
                        <a:spcBef>
                          <a:spcPts val="0"/>
                        </a:spcBef>
                        <a:spcAft>
                          <a:spcPts val="0"/>
                        </a:spcAft>
                      </a:pPr>
                      <a:r>
                        <a:rPr lang="en-US" sz="1100" dirty="0">
                          <a:effectLst/>
                        </a:rPr>
                        <a:t>-textbook:TextBook</a:t>
                      </a:r>
                    </a:p>
                  </a:txBody>
                  <a:tcPr marL="51435" marR="51435" marT="0" marB="0"/>
                </a:tc>
                <a:extLst>
                  <a:ext uri="{0D108BD9-81ED-4DB2-BD59-A6C34878D82A}">
                    <a16:rowId xmlns:a16="http://schemas.microsoft.com/office/drawing/2014/main" val="4011262522"/>
                  </a:ext>
                </a:extLst>
              </a:tr>
              <a:tr h="1440180">
                <a:tc>
                  <a:txBody>
                    <a:bodyPr/>
                    <a:lstStyle/>
                    <a:p>
                      <a:pPr marL="0" marR="0">
                        <a:spcBef>
                          <a:spcPts val="0"/>
                        </a:spcBef>
                        <a:spcAft>
                          <a:spcPts val="0"/>
                        </a:spcAft>
                      </a:pPr>
                      <a:r>
                        <a:rPr lang="en-US" sz="1100" dirty="0">
                          <a:effectLst/>
                        </a:rPr>
                        <a:t>+Cours</a:t>
                      </a:r>
                      <a:r>
                        <a:rPr lang="en-US" sz="1100" i="0" dirty="0">
                          <a:effectLst/>
                        </a:rPr>
                        <a:t>e</a:t>
                      </a:r>
                      <a:r>
                        <a:rPr lang="en-US" sz="1100" dirty="0">
                          <a:effectLst/>
                        </a:rPr>
                        <a:t>(courseName:String, instructor:Instructor, textbook:TextBook)</a:t>
                      </a:r>
                    </a:p>
                    <a:p>
                      <a:pPr marL="0" marR="0">
                        <a:spcBef>
                          <a:spcPts val="0"/>
                        </a:spcBef>
                        <a:spcAft>
                          <a:spcPts val="0"/>
                        </a:spcAft>
                      </a:pPr>
                      <a:r>
                        <a:rPr lang="en-US" sz="1100" dirty="0">
                          <a:effectLst/>
                        </a:rPr>
                        <a:t>+setCourseName(name:String): void</a:t>
                      </a:r>
                    </a:p>
                    <a:p>
                      <a:pPr marL="0" marR="0">
                        <a:spcBef>
                          <a:spcPts val="0"/>
                        </a:spcBef>
                        <a:spcAft>
                          <a:spcPts val="0"/>
                        </a:spcAft>
                      </a:pPr>
                      <a:r>
                        <a:rPr lang="en-US" sz="1100" dirty="0">
                          <a:effectLst/>
                        </a:rPr>
                        <a:t>+setInstructor(instr:Instructor):void</a:t>
                      </a:r>
                    </a:p>
                    <a:p>
                      <a:pPr marL="0" marR="0">
                        <a:spcBef>
                          <a:spcPts val="0"/>
                        </a:spcBef>
                        <a:spcAft>
                          <a:spcPts val="0"/>
                        </a:spcAft>
                      </a:pPr>
                      <a:r>
                        <a:rPr lang="en-US" sz="1100" dirty="0">
                          <a:effectLst/>
                        </a:rPr>
                        <a:t>+setTextBook(text:TextBook):void</a:t>
                      </a:r>
                    </a:p>
                    <a:p>
                      <a:pPr marL="0" marR="0">
                        <a:spcBef>
                          <a:spcPts val="0"/>
                        </a:spcBef>
                        <a:spcAft>
                          <a:spcPts val="0"/>
                        </a:spcAft>
                      </a:pPr>
                      <a:r>
                        <a:rPr lang="en-US" sz="1100" dirty="0">
                          <a:effectLst/>
                        </a:rPr>
                        <a:t>+getCourseName(): String</a:t>
                      </a:r>
                    </a:p>
                    <a:p>
                      <a:pPr marL="0" marR="0">
                        <a:spcBef>
                          <a:spcPts val="0"/>
                        </a:spcBef>
                        <a:spcAft>
                          <a:spcPts val="0"/>
                        </a:spcAft>
                      </a:pPr>
                      <a:r>
                        <a:rPr lang="en-US" sz="1100" dirty="0">
                          <a:effectLst/>
                        </a:rPr>
                        <a:t>+getInstructor():Instructor</a:t>
                      </a:r>
                    </a:p>
                    <a:p>
                      <a:pPr marL="0" marR="0">
                        <a:spcBef>
                          <a:spcPts val="0"/>
                        </a:spcBef>
                        <a:spcAft>
                          <a:spcPts val="0"/>
                        </a:spcAft>
                      </a:pPr>
                      <a:r>
                        <a:rPr lang="en-US" sz="1100" dirty="0">
                          <a:effectLst/>
                        </a:rPr>
                        <a:t>+getTextBook():TextBook</a:t>
                      </a:r>
                    </a:p>
                    <a:p>
                      <a:pPr marL="0" marR="0">
                        <a:spcBef>
                          <a:spcPts val="0"/>
                        </a:spcBef>
                        <a:spcAft>
                          <a:spcPts val="0"/>
                        </a:spcAft>
                      </a:pPr>
                      <a:r>
                        <a:rPr lang="en-US" sz="1100" dirty="0">
                          <a:effectLst/>
                        </a:rPr>
                        <a:t>+toString():String</a:t>
                      </a:r>
                    </a:p>
                  </a:txBody>
                  <a:tcPr marL="51435" marR="51435" marT="0" marB="0"/>
                </a:tc>
                <a:extLst>
                  <a:ext uri="{0D108BD9-81ED-4DB2-BD59-A6C34878D82A}">
                    <a16:rowId xmlns:a16="http://schemas.microsoft.com/office/drawing/2014/main" val="3887668472"/>
                  </a:ext>
                </a:extLst>
              </a:tr>
            </a:tbl>
          </a:graphicData>
        </a:graphic>
      </p:graphicFrame>
      <p:graphicFrame>
        <p:nvGraphicFramePr>
          <p:cNvPr id="5" name="Table 4">
            <a:extLst>
              <a:ext uri="{FF2B5EF4-FFF2-40B4-BE49-F238E27FC236}">
                <a16:creationId xmlns:a16="http://schemas.microsoft.com/office/drawing/2014/main" id="{05B755E9-92E9-FF44-B79A-19CF514F6188}"/>
              </a:ext>
            </a:extLst>
          </p:cNvPr>
          <p:cNvGraphicFramePr>
            <a:graphicFrameLocks noGrp="1"/>
          </p:cNvGraphicFramePr>
          <p:nvPr/>
        </p:nvGraphicFramePr>
        <p:xfrm>
          <a:off x="567693" y="3977640"/>
          <a:ext cx="3092475" cy="2346960"/>
        </p:xfrm>
        <a:graphic>
          <a:graphicData uri="http://schemas.openxmlformats.org/drawingml/2006/table">
            <a:tbl>
              <a:tblPr firstRow="1" firstCol="1" bandRow="1">
                <a:tableStyleId>{5C22544A-7EE6-4342-B048-85BDC9FD1C3A}</a:tableStyleId>
              </a:tblPr>
              <a:tblGrid>
                <a:gridCol w="3092475">
                  <a:extLst>
                    <a:ext uri="{9D8B030D-6E8A-4147-A177-3AD203B41FA5}">
                      <a16:colId xmlns:a16="http://schemas.microsoft.com/office/drawing/2014/main" val="1935755895"/>
                    </a:ext>
                  </a:extLst>
                </a:gridCol>
              </a:tblGrid>
              <a:tr h="160020">
                <a:tc>
                  <a:txBody>
                    <a:bodyPr/>
                    <a:lstStyle/>
                    <a:p>
                      <a:pPr marL="0" marR="0" algn="ctr">
                        <a:spcBef>
                          <a:spcPts val="0"/>
                        </a:spcBef>
                        <a:spcAft>
                          <a:spcPts val="0"/>
                        </a:spcAft>
                      </a:pPr>
                      <a:r>
                        <a:rPr lang="en-US" sz="1100" i="0" dirty="0">
                          <a:effectLst/>
                        </a:rPr>
                        <a:t>Instructor</a:t>
                      </a:r>
                      <a:endParaRPr lang="en-US" sz="1100" i="0" dirty="0">
                        <a:effectLst/>
                        <a:latin typeface="Cambria" panose="02040503050406030204" pitchFamily="18" charset="0"/>
                        <a:ea typeface="MS Mincho" panose="02020609040205080304" pitchFamily="49" charset="-128"/>
                        <a:cs typeface="Times New Roman" panose="02020603050405020304" pitchFamily="18" charset="0"/>
                      </a:endParaRPr>
                    </a:p>
                  </a:txBody>
                  <a:tcPr marL="51435" marR="51435" marT="0" marB="0"/>
                </a:tc>
                <a:extLst>
                  <a:ext uri="{0D108BD9-81ED-4DB2-BD59-A6C34878D82A}">
                    <a16:rowId xmlns:a16="http://schemas.microsoft.com/office/drawing/2014/main" val="3253078253"/>
                  </a:ext>
                </a:extLst>
              </a:tr>
              <a:tr h="480060">
                <a:tc>
                  <a:txBody>
                    <a:bodyPr/>
                    <a:lstStyle/>
                    <a:p>
                      <a:pPr marL="0" marR="0">
                        <a:spcBef>
                          <a:spcPts val="0"/>
                        </a:spcBef>
                        <a:spcAft>
                          <a:spcPts val="0"/>
                        </a:spcAft>
                      </a:pPr>
                      <a:r>
                        <a:rPr lang="en-US" sz="1100" u="none" dirty="0">
                          <a:effectLst/>
                        </a:rPr>
                        <a:t>-lastName:String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u="none" dirty="0">
                          <a:effectLst/>
                        </a:rPr>
                        <a:t>-firstName:String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u="none" dirty="0">
                          <a:effectLst/>
                        </a:rPr>
                        <a:t>-officeNumber:String</a:t>
                      </a:r>
                    </a:p>
                  </a:txBody>
                  <a:tcPr marL="51435" marR="51435" marT="0" marB="0"/>
                </a:tc>
                <a:extLst>
                  <a:ext uri="{0D108BD9-81ED-4DB2-BD59-A6C34878D82A}">
                    <a16:rowId xmlns:a16="http://schemas.microsoft.com/office/drawing/2014/main" val="4011262522"/>
                  </a:ext>
                </a:extLst>
              </a:tr>
              <a:tr h="1600200">
                <a:tc>
                  <a:txBody>
                    <a:bodyPr/>
                    <a:lstStyle/>
                    <a:p>
                      <a:pPr marL="0" marR="0">
                        <a:spcBef>
                          <a:spcPts val="0"/>
                        </a:spcBef>
                        <a:spcAft>
                          <a:spcPts val="0"/>
                        </a:spcAft>
                      </a:pPr>
                      <a:r>
                        <a:rPr lang="en-US" sz="1100" dirty="0">
                          <a:effectLst/>
                        </a:rPr>
                        <a:t>+</a:t>
                      </a:r>
                      <a:r>
                        <a:rPr lang="en-US" sz="1100" i="0" dirty="0">
                          <a:effectLst/>
                        </a:rPr>
                        <a:t>Instructor</a:t>
                      </a:r>
                      <a:r>
                        <a:rPr lang="en-US" sz="1100" dirty="0">
                          <a:effectLst/>
                        </a:rPr>
                        <a:t>(lName:String, fName:String, office:String)</a:t>
                      </a:r>
                    </a:p>
                    <a:p>
                      <a:pPr marL="0" marR="0">
                        <a:spcBef>
                          <a:spcPts val="0"/>
                        </a:spcBef>
                        <a:spcAft>
                          <a:spcPts val="0"/>
                        </a:spcAft>
                      </a:pPr>
                      <a:r>
                        <a:rPr lang="en-US" sz="1100" dirty="0">
                          <a:effectLst/>
                        </a:rPr>
                        <a:t>+Instructor(object2:Instructor)</a:t>
                      </a:r>
                    </a:p>
                    <a:p>
                      <a:pPr marL="0" marR="0">
                        <a:spcBef>
                          <a:spcPts val="0"/>
                        </a:spcBef>
                        <a:spcAft>
                          <a:spcPts val="0"/>
                        </a:spcAft>
                      </a:pPr>
                      <a:r>
                        <a:rPr lang="en-US" sz="1100" dirty="0">
                          <a:effectLst/>
                        </a:rPr>
                        <a:t>+setLastName(lName:String):void</a:t>
                      </a:r>
                    </a:p>
                    <a:p>
                      <a:pPr marL="0" marR="0">
                        <a:spcBef>
                          <a:spcPts val="0"/>
                        </a:spcBef>
                        <a:spcAft>
                          <a:spcPts val="0"/>
                        </a:spcAft>
                      </a:pPr>
                      <a:r>
                        <a:rPr lang="en-US" sz="1100" dirty="0">
                          <a:effectLst/>
                        </a:rPr>
                        <a:t>+setFirstName(fName:String):void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effectLst/>
                        </a:rPr>
                        <a:t>+setOfficeNumber(offNum:String):void</a:t>
                      </a:r>
                    </a:p>
                    <a:p>
                      <a:pPr marL="0" marR="0">
                        <a:spcBef>
                          <a:spcPts val="0"/>
                        </a:spcBef>
                        <a:spcAft>
                          <a:spcPts val="0"/>
                        </a:spcAft>
                      </a:pPr>
                      <a:r>
                        <a:rPr lang="en-US" sz="1100" dirty="0">
                          <a:effectLst/>
                        </a:rPr>
                        <a:t>+getLastName():String</a:t>
                      </a:r>
                    </a:p>
                    <a:p>
                      <a:pPr marL="0" marR="0">
                        <a:spcBef>
                          <a:spcPts val="0"/>
                        </a:spcBef>
                        <a:spcAft>
                          <a:spcPts val="0"/>
                        </a:spcAft>
                      </a:pPr>
                      <a:r>
                        <a:rPr lang="en-US" sz="1100" dirty="0">
                          <a:effectLst/>
                        </a:rPr>
                        <a:t>+getFirstName():String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effectLst/>
                        </a:rPr>
                        <a:t>+getOfficeNumber():String</a:t>
                      </a:r>
                    </a:p>
                    <a:p>
                      <a:pPr marL="0" marR="0">
                        <a:spcBef>
                          <a:spcPts val="0"/>
                        </a:spcBef>
                        <a:spcAft>
                          <a:spcPts val="0"/>
                        </a:spcAft>
                      </a:pPr>
                      <a:r>
                        <a:rPr lang="en-US" sz="1100" dirty="0">
                          <a:effectLst/>
                        </a:rPr>
                        <a:t>+toString():String</a:t>
                      </a:r>
                    </a:p>
                  </a:txBody>
                  <a:tcPr marL="51435" marR="51435" marT="0" marB="0"/>
                </a:tc>
                <a:extLst>
                  <a:ext uri="{0D108BD9-81ED-4DB2-BD59-A6C34878D82A}">
                    <a16:rowId xmlns:a16="http://schemas.microsoft.com/office/drawing/2014/main" val="3887668472"/>
                  </a:ext>
                </a:extLst>
              </a:tr>
            </a:tbl>
          </a:graphicData>
        </a:graphic>
      </p:graphicFrame>
      <p:graphicFrame>
        <p:nvGraphicFramePr>
          <p:cNvPr id="6" name="Table 5">
            <a:extLst>
              <a:ext uri="{FF2B5EF4-FFF2-40B4-BE49-F238E27FC236}">
                <a16:creationId xmlns:a16="http://schemas.microsoft.com/office/drawing/2014/main" id="{52EEA009-9041-574C-AA56-A8EFDFCC2A2F}"/>
              </a:ext>
            </a:extLst>
          </p:cNvPr>
          <p:cNvGraphicFramePr>
            <a:graphicFrameLocks noGrp="1"/>
          </p:cNvGraphicFramePr>
          <p:nvPr/>
        </p:nvGraphicFramePr>
        <p:xfrm>
          <a:off x="4234282" y="4010730"/>
          <a:ext cx="3699937" cy="2179320"/>
        </p:xfrm>
        <a:graphic>
          <a:graphicData uri="http://schemas.openxmlformats.org/drawingml/2006/table">
            <a:tbl>
              <a:tblPr firstRow="1" firstCol="1" bandRow="1">
                <a:tableStyleId>{5C22544A-7EE6-4342-B048-85BDC9FD1C3A}</a:tableStyleId>
              </a:tblPr>
              <a:tblGrid>
                <a:gridCol w="3699937">
                  <a:extLst>
                    <a:ext uri="{9D8B030D-6E8A-4147-A177-3AD203B41FA5}">
                      <a16:colId xmlns:a16="http://schemas.microsoft.com/office/drawing/2014/main" val="1935755895"/>
                    </a:ext>
                  </a:extLst>
                </a:gridCol>
              </a:tblGrid>
              <a:tr h="160020">
                <a:tc>
                  <a:txBody>
                    <a:bodyPr/>
                    <a:lstStyle/>
                    <a:p>
                      <a:pPr marL="0" marR="0" algn="ctr">
                        <a:spcBef>
                          <a:spcPts val="0"/>
                        </a:spcBef>
                        <a:spcAft>
                          <a:spcPts val="0"/>
                        </a:spcAft>
                      </a:pPr>
                      <a:r>
                        <a:rPr lang="en-US" sz="1100" i="0" dirty="0">
                          <a:effectLst/>
                        </a:rPr>
                        <a:t>TextBook</a:t>
                      </a:r>
                      <a:endParaRPr lang="en-US" sz="1100" i="0" dirty="0">
                        <a:effectLst/>
                        <a:latin typeface="Cambria" panose="02040503050406030204" pitchFamily="18" charset="0"/>
                        <a:ea typeface="MS Mincho" panose="02020609040205080304" pitchFamily="49" charset="-128"/>
                        <a:cs typeface="Times New Roman" panose="02020603050405020304" pitchFamily="18" charset="0"/>
                      </a:endParaRPr>
                    </a:p>
                  </a:txBody>
                  <a:tcPr marL="51435" marR="51435" marT="0" marB="0"/>
                </a:tc>
                <a:extLst>
                  <a:ext uri="{0D108BD9-81ED-4DB2-BD59-A6C34878D82A}">
                    <a16:rowId xmlns:a16="http://schemas.microsoft.com/office/drawing/2014/main" val="3253078253"/>
                  </a:ext>
                </a:extLst>
              </a:tr>
              <a:tr h="480060">
                <a:tc>
                  <a:txBody>
                    <a:bodyPr/>
                    <a:lstStyle/>
                    <a:p>
                      <a:pPr marL="0" marR="0">
                        <a:spcBef>
                          <a:spcPts val="0"/>
                        </a:spcBef>
                        <a:spcAft>
                          <a:spcPts val="0"/>
                        </a:spcAft>
                      </a:pPr>
                      <a:r>
                        <a:rPr lang="en-US" sz="1100" u="none" dirty="0">
                          <a:effectLst/>
                        </a:rPr>
                        <a:t>-title:String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u="none" dirty="0">
                          <a:effectLst/>
                        </a:rPr>
                        <a:t>-author:String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u="none" dirty="0">
                          <a:effectLst/>
                        </a:rPr>
                        <a:t>-publisher:String</a:t>
                      </a:r>
                    </a:p>
                  </a:txBody>
                  <a:tcPr marL="51435" marR="51435" marT="0" marB="0"/>
                </a:tc>
                <a:extLst>
                  <a:ext uri="{0D108BD9-81ED-4DB2-BD59-A6C34878D82A}">
                    <a16:rowId xmlns:a16="http://schemas.microsoft.com/office/drawing/2014/main" val="4011262522"/>
                  </a:ext>
                </a:extLst>
              </a:tr>
              <a:tr h="1440180">
                <a:tc>
                  <a:txBody>
                    <a:bodyPr/>
                    <a:lstStyle/>
                    <a:p>
                      <a:pPr marL="0" marR="0">
                        <a:spcBef>
                          <a:spcPts val="0"/>
                        </a:spcBef>
                        <a:spcAft>
                          <a:spcPts val="0"/>
                        </a:spcAft>
                      </a:pPr>
                      <a:r>
                        <a:rPr lang="en-US" sz="1100" dirty="0">
                          <a:effectLst/>
                        </a:rPr>
                        <a:t>+</a:t>
                      </a:r>
                      <a:r>
                        <a:rPr lang="en-US" sz="1100" i="0" dirty="0">
                          <a:effectLst/>
                        </a:rPr>
                        <a:t>TextBook</a:t>
                      </a:r>
                      <a:r>
                        <a:rPr lang="en-US" sz="1100" dirty="0">
                          <a:effectLst/>
                        </a:rPr>
                        <a:t>(textTitle:String, auth:String, pub:String)</a:t>
                      </a:r>
                    </a:p>
                    <a:p>
                      <a:pPr marL="0" marR="0">
                        <a:spcBef>
                          <a:spcPts val="0"/>
                        </a:spcBef>
                        <a:spcAft>
                          <a:spcPts val="0"/>
                        </a:spcAft>
                      </a:pPr>
                      <a:r>
                        <a:rPr lang="en-US" sz="1100" dirty="0">
                          <a:effectLst/>
                        </a:rPr>
                        <a:t>+TextBook(object2:TextBook)</a:t>
                      </a:r>
                    </a:p>
                    <a:p>
                      <a:pPr marL="0" marR="0">
                        <a:spcBef>
                          <a:spcPts val="0"/>
                        </a:spcBef>
                        <a:spcAft>
                          <a:spcPts val="0"/>
                        </a:spcAft>
                      </a:pPr>
                      <a:r>
                        <a:rPr lang="en-US" sz="1100" dirty="0">
                          <a:effectLst/>
                        </a:rPr>
                        <a:t>+setTitle(title:String):void</a:t>
                      </a:r>
                    </a:p>
                    <a:p>
                      <a:pPr marL="0" marR="0">
                        <a:spcBef>
                          <a:spcPts val="0"/>
                        </a:spcBef>
                        <a:spcAft>
                          <a:spcPts val="0"/>
                        </a:spcAft>
                      </a:pPr>
                      <a:r>
                        <a:rPr lang="en-US" sz="1100" dirty="0">
                          <a:effectLst/>
                        </a:rPr>
                        <a:t>+setAuthor(aName:String):void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effectLst/>
                        </a:rPr>
                        <a:t>+setPublisher(pub:String):void</a:t>
                      </a:r>
                    </a:p>
                    <a:p>
                      <a:pPr marL="0" marR="0">
                        <a:spcBef>
                          <a:spcPts val="0"/>
                        </a:spcBef>
                        <a:spcAft>
                          <a:spcPts val="0"/>
                        </a:spcAft>
                      </a:pPr>
                      <a:r>
                        <a:rPr lang="en-US" sz="1100" dirty="0">
                          <a:effectLst/>
                        </a:rPr>
                        <a:t>+getTitle():String</a:t>
                      </a:r>
                    </a:p>
                    <a:p>
                      <a:pPr marL="0" marR="0">
                        <a:spcBef>
                          <a:spcPts val="0"/>
                        </a:spcBef>
                        <a:spcAft>
                          <a:spcPts val="0"/>
                        </a:spcAft>
                      </a:pPr>
                      <a:r>
                        <a:rPr lang="en-US" sz="1100" dirty="0">
                          <a:effectLst/>
                        </a:rPr>
                        <a:t>+getAuthor():String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effectLst/>
                        </a:rPr>
                        <a:t>+getPublisher():String</a:t>
                      </a:r>
                    </a:p>
                    <a:p>
                      <a:pPr marL="0" marR="0">
                        <a:spcBef>
                          <a:spcPts val="0"/>
                        </a:spcBef>
                        <a:spcAft>
                          <a:spcPts val="0"/>
                        </a:spcAft>
                      </a:pPr>
                      <a:r>
                        <a:rPr lang="en-US" sz="1100" dirty="0">
                          <a:effectLst/>
                        </a:rPr>
                        <a:t>+toString():String</a:t>
                      </a:r>
                    </a:p>
                  </a:txBody>
                  <a:tcPr marL="51435" marR="51435" marT="0" marB="0"/>
                </a:tc>
                <a:extLst>
                  <a:ext uri="{0D108BD9-81ED-4DB2-BD59-A6C34878D82A}">
                    <a16:rowId xmlns:a16="http://schemas.microsoft.com/office/drawing/2014/main" val="3887668472"/>
                  </a:ext>
                </a:extLst>
              </a:tr>
            </a:tbl>
          </a:graphicData>
        </a:graphic>
      </p:graphicFrame>
      <p:cxnSp>
        <p:nvCxnSpPr>
          <p:cNvPr id="8" name="Straight Connector 7">
            <a:extLst>
              <a:ext uri="{FF2B5EF4-FFF2-40B4-BE49-F238E27FC236}">
                <a16:creationId xmlns:a16="http://schemas.microsoft.com/office/drawing/2014/main" id="{22ABCD51-0732-F94A-97BB-2F4B4FC50E01}"/>
              </a:ext>
              <a:ext uri="{C183D7F6-B498-43B3-948B-1728B52AA6E4}">
                <adec:decorative xmlns:adec="http://schemas.microsoft.com/office/drawing/2017/decorative" val="1"/>
              </a:ext>
            </a:extLst>
          </p:cNvPr>
          <p:cNvCxnSpPr>
            <a:cxnSpLocks/>
          </p:cNvCxnSpPr>
          <p:nvPr/>
        </p:nvCxnSpPr>
        <p:spPr>
          <a:xfrm flipV="1">
            <a:off x="2496620" y="3331839"/>
            <a:ext cx="0" cy="655012"/>
          </a:xfrm>
          <a:prstGeom prst="line">
            <a:avLst/>
          </a:prstGeom>
          <a:ln w="53975">
            <a:solidFill>
              <a:srgbClr val="FF0000"/>
            </a:solidFill>
            <a:headEnd type="none" w="med" len="med"/>
            <a:tailEnd type="diamond" w="med" len="me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D571DD1-A609-1246-848E-4031D7374BB2}"/>
              </a:ext>
              <a:ext uri="{C183D7F6-B498-43B3-948B-1728B52AA6E4}">
                <adec:decorative xmlns:adec="http://schemas.microsoft.com/office/drawing/2017/decorative" val="1"/>
              </a:ext>
            </a:extLst>
          </p:cNvPr>
          <p:cNvCxnSpPr>
            <a:cxnSpLocks/>
          </p:cNvCxnSpPr>
          <p:nvPr/>
        </p:nvCxnSpPr>
        <p:spPr>
          <a:xfrm flipV="1">
            <a:off x="4778627" y="3331839"/>
            <a:ext cx="0" cy="645801"/>
          </a:xfrm>
          <a:prstGeom prst="line">
            <a:avLst/>
          </a:prstGeom>
          <a:ln w="53975">
            <a:solidFill>
              <a:srgbClr val="FF0000"/>
            </a:solidFill>
            <a:headEnd type="none" w="med" len="med"/>
            <a:tailEnd type="diamond" w="med" len="med"/>
          </a:ln>
        </p:spPr>
        <p:style>
          <a:lnRef idx="1">
            <a:schemeClr val="accent1"/>
          </a:lnRef>
          <a:fillRef idx="0">
            <a:schemeClr val="accent1"/>
          </a:fillRef>
          <a:effectRef idx="0">
            <a:schemeClr val="accent1"/>
          </a:effectRef>
          <a:fontRef idx="minor">
            <a:schemeClr val="tx1"/>
          </a:fontRef>
        </p:style>
      </p:cxnSp>
      <p:sp>
        <p:nvSpPr>
          <p:cNvPr id="7" name="Title 1">
            <a:extLst>
              <a:ext uri="{FF2B5EF4-FFF2-40B4-BE49-F238E27FC236}">
                <a16:creationId xmlns:a16="http://schemas.microsoft.com/office/drawing/2014/main" id="{E827AE9B-7F51-974D-B869-B9628368E93F}"/>
              </a:ext>
            </a:extLst>
          </p:cNvPr>
          <p:cNvSpPr txBox="1">
            <a:spLocks noGrp="1"/>
          </p:cNvSpPr>
          <p:nvPr>
            <p:ph type="title" idx="4294967295"/>
          </p:nvPr>
        </p:nvSpPr>
        <p:spPr>
          <a:xfrm>
            <a:off x="457200" y="381000"/>
            <a:ext cx="8305800" cy="627888"/>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rtl="0" eaLnBrk="1" latinLnBrk="0" hangingPunct="1">
              <a:spcBef>
                <a:spcPct val="0"/>
              </a:spcBef>
              <a:buNone/>
              <a:defRPr kumimoji="0" sz="3200" b="1" kern="1200">
                <a:ln>
                  <a:noFill/>
                </a:ln>
                <a:solidFill>
                  <a:schemeClr val="tx2"/>
                </a:solidFill>
                <a:effectLst/>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schemeClr val="tx2"/>
                </a:solidFill>
                <a:effectLst/>
                <a:uLnTx/>
                <a:uFillTx/>
                <a:latin typeface="+mj-lt"/>
                <a:ea typeface="+mj-ea"/>
                <a:cs typeface="+mj-cs"/>
              </a:rPr>
              <a:t>A UML Envisioning Of A Course</a:t>
            </a:r>
          </a:p>
        </p:txBody>
      </p:sp>
      <p:sp>
        <p:nvSpPr>
          <p:cNvPr id="3" name="TextBox 2">
            <a:extLst>
              <a:ext uri="{FF2B5EF4-FFF2-40B4-BE49-F238E27FC236}">
                <a16:creationId xmlns:a16="http://schemas.microsoft.com/office/drawing/2014/main" id="{D4268F4C-6216-1614-098F-A1CAC4598D45}"/>
              </a:ext>
            </a:extLst>
          </p:cNvPr>
          <p:cNvSpPr txBox="1"/>
          <p:nvPr/>
        </p:nvSpPr>
        <p:spPr>
          <a:xfrm>
            <a:off x="1899313" y="6357690"/>
            <a:ext cx="5917326" cy="369332"/>
          </a:xfrm>
          <a:prstGeom prst="rect">
            <a:avLst/>
          </a:prstGeom>
          <a:noFill/>
        </p:spPr>
        <p:txBody>
          <a:bodyPr wrap="none" rtlCol="0">
            <a:spAutoFit/>
          </a:bodyPr>
          <a:lstStyle/>
          <a:p>
            <a:r>
              <a:rPr lang="en-US" dirty="0"/>
              <a:t>Note: Aggregation is indicated by a </a:t>
            </a:r>
            <a:r>
              <a:rPr lang="en-US" dirty="0">
                <a:solidFill>
                  <a:srgbClr val="FF0000"/>
                </a:solidFill>
              </a:rPr>
              <a:t>diamond</a:t>
            </a:r>
            <a:r>
              <a:rPr lang="en-US" dirty="0"/>
              <a:t>, not an arrow</a:t>
            </a:r>
          </a:p>
        </p:txBody>
      </p:sp>
    </p:spTree>
    <p:extLst>
      <p:ext uri="{BB962C8B-B14F-4D97-AF65-F5344CB8AC3E}">
        <p14:creationId xmlns:p14="http://schemas.microsoft.com/office/powerpoint/2010/main" val="55423144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6AF5F-666C-1144-AF77-AC9670835D75}"/>
              </a:ext>
            </a:extLst>
          </p:cNvPr>
          <p:cNvSpPr>
            <a:spLocks noGrp="1"/>
          </p:cNvSpPr>
          <p:nvPr>
            <p:ph type="title"/>
          </p:nvPr>
        </p:nvSpPr>
        <p:spPr/>
        <p:txBody>
          <a:bodyPr>
            <a:normAutofit/>
          </a:bodyPr>
          <a:lstStyle/>
          <a:p>
            <a:r>
              <a:rPr lang="en-US" sz="2800" dirty="0"/>
              <a:t>The “has-a” Associations in UML</a:t>
            </a:r>
          </a:p>
        </p:txBody>
      </p:sp>
      <p:sp>
        <p:nvSpPr>
          <p:cNvPr id="3" name="Content Placeholder 2">
            <a:extLst>
              <a:ext uri="{FF2B5EF4-FFF2-40B4-BE49-F238E27FC236}">
                <a16:creationId xmlns:a16="http://schemas.microsoft.com/office/drawing/2014/main" id="{A19FBD48-B8F6-054F-8DA8-37C27E8584DB}"/>
              </a:ext>
            </a:extLst>
          </p:cNvPr>
          <p:cNvSpPr>
            <a:spLocks noGrp="1"/>
          </p:cNvSpPr>
          <p:nvPr>
            <p:ph idx="1"/>
          </p:nvPr>
        </p:nvSpPr>
        <p:spPr/>
        <p:txBody>
          <a:bodyPr/>
          <a:lstStyle/>
          <a:p>
            <a:r>
              <a:rPr lang="en-US" dirty="0"/>
              <a:t>Arrow going left to right says “a College has zero or more students”</a:t>
            </a:r>
          </a:p>
          <a:p>
            <a:r>
              <a:rPr lang="en-US" dirty="0"/>
              <a:t>Arrow going right to left says “a Student has exactly 1 College”</a:t>
            </a:r>
          </a:p>
          <a:p>
            <a:r>
              <a:rPr lang="en-US" dirty="0"/>
              <a:t>What it means in real terms is that the College class will contain a variable that somehow links to a set of Student objects, and a Student will have a variable that references a College object.</a:t>
            </a:r>
          </a:p>
          <a:p>
            <a:r>
              <a:rPr lang="en-US" dirty="0"/>
              <a:t>Note that we are only linking classes: we don't start drawing arrows to primitive types.</a:t>
            </a:r>
          </a:p>
        </p:txBody>
      </p:sp>
      <p:sp>
        <p:nvSpPr>
          <p:cNvPr id="4" name="Slide Number Placeholder 3">
            <a:extLst>
              <a:ext uri="{FF2B5EF4-FFF2-40B4-BE49-F238E27FC236}">
                <a16:creationId xmlns:a16="http://schemas.microsoft.com/office/drawing/2014/main" id="{AD12F14F-B534-D346-A4FE-D0ABFE559E35}"/>
              </a:ext>
            </a:extLst>
          </p:cNvPr>
          <p:cNvSpPr>
            <a:spLocks noGrp="1"/>
          </p:cNvSpPr>
          <p:nvPr>
            <p:ph type="sldNum" sz="quarter" idx="12"/>
          </p:nvPr>
        </p:nvSpPr>
        <p:spPr/>
        <p:txBody>
          <a:bodyPr/>
          <a:lstStyle/>
          <a:p>
            <a:fld id="{13977939-A071-43C1-9268-F54CC2756BB5}" type="slidenum">
              <a:rPr lang="en-US" smtClean="0"/>
              <a:pPr/>
              <a:t>92</a:t>
            </a:fld>
            <a:endParaRPr lang="en-US" dirty="0"/>
          </a:p>
        </p:txBody>
      </p:sp>
      <p:pic>
        <p:nvPicPr>
          <p:cNvPr id="5" name="Picture 4" descr="1 to many relationship">
            <a:extLst>
              <a:ext uri="{FF2B5EF4-FFF2-40B4-BE49-F238E27FC236}">
                <a16:creationId xmlns:a16="http://schemas.microsoft.com/office/drawing/2014/main" id="{B96B1F04-0AE5-C945-977A-FD296039469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315726" y="5502275"/>
            <a:ext cx="6512548" cy="1355725"/>
          </a:xfrm>
          <a:prstGeom prst="rect">
            <a:avLst/>
          </a:prstGeom>
        </p:spPr>
      </p:pic>
    </p:spTree>
    <p:extLst>
      <p:ext uri="{BB962C8B-B14F-4D97-AF65-F5344CB8AC3E}">
        <p14:creationId xmlns:p14="http://schemas.microsoft.com/office/powerpoint/2010/main" val="147670923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30E3B-E952-4644-BF9E-A23A6C580227}"/>
              </a:ext>
            </a:extLst>
          </p:cNvPr>
          <p:cNvSpPr>
            <a:spLocks noGrp="1"/>
          </p:cNvSpPr>
          <p:nvPr>
            <p:ph type="title"/>
          </p:nvPr>
        </p:nvSpPr>
        <p:spPr>
          <a:xfrm>
            <a:off x="457200" y="457200"/>
            <a:ext cx="8458200" cy="475488"/>
          </a:xfrm>
        </p:spPr>
        <p:txBody>
          <a:bodyPr>
            <a:noAutofit/>
          </a:bodyPr>
          <a:lstStyle/>
          <a:p>
            <a:r>
              <a:rPr lang="en-US" dirty="0"/>
              <a:t>Discussion On UML For the Instructor class</a:t>
            </a:r>
          </a:p>
        </p:txBody>
      </p:sp>
      <p:sp>
        <p:nvSpPr>
          <p:cNvPr id="3" name="Content Placeholder 2">
            <a:extLst>
              <a:ext uri="{FF2B5EF4-FFF2-40B4-BE49-F238E27FC236}">
                <a16:creationId xmlns:a16="http://schemas.microsoft.com/office/drawing/2014/main" id="{D7F45A64-BD48-0B43-B282-62840D190FA3}"/>
              </a:ext>
            </a:extLst>
          </p:cNvPr>
          <p:cNvSpPr>
            <a:spLocks noGrp="1"/>
          </p:cNvSpPr>
          <p:nvPr>
            <p:ph idx="1"/>
          </p:nvPr>
        </p:nvSpPr>
        <p:spPr>
          <a:xfrm>
            <a:off x="457200" y="1249680"/>
            <a:ext cx="8229600" cy="5106670"/>
          </a:xfrm>
        </p:spPr>
        <p:txBody>
          <a:bodyPr>
            <a:normAutofit lnSpcReduction="10000"/>
          </a:bodyPr>
          <a:lstStyle/>
          <a:p>
            <a:r>
              <a:rPr lang="en-US" dirty="0"/>
              <a:t>The Instructor class</a:t>
            </a:r>
          </a:p>
          <a:p>
            <a:pPr lvl="1"/>
            <a:r>
              <a:rPr lang="en-US" dirty="0"/>
              <a:t>Three instance variables - the instructor’s last name, first name and office number</a:t>
            </a:r>
          </a:p>
          <a:p>
            <a:pPr lvl="1"/>
            <a:r>
              <a:rPr lang="en-US" dirty="0"/>
              <a:t>A constructor which accepts arguments for the instructor’s last name, first name and office number</a:t>
            </a:r>
          </a:p>
          <a:p>
            <a:pPr lvl="1"/>
            <a:r>
              <a:rPr lang="en-US" dirty="0"/>
              <a:t>A constructor that creates a copy of the Instructor</a:t>
            </a:r>
          </a:p>
          <a:p>
            <a:pPr lvl="1"/>
            <a:r>
              <a:rPr lang="en-US" dirty="0"/>
              <a:t>A set method for each instance variable, which can be used to set that instance variable</a:t>
            </a:r>
          </a:p>
          <a:p>
            <a:pPr lvl="1"/>
            <a:r>
              <a:rPr lang="en-US" dirty="0"/>
              <a:t>A get method for each instance variable, which can be used to retrieve that instance variable</a:t>
            </a:r>
          </a:p>
          <a:p>
            <a:pPr lvl="1"/>
            <a:r>
              <a:rPr lang="en-US" dirty="0"/>
              <a:t>A toString method</a:t>
            </a:r>
          </a:p>
          <a:p>
            <a:pPr lvl="1"/>
            <a:endParaRPr lang="en-US" dirty="0"/>
          </a:p>
          <a:p>
            <a:pPr marL="393192" lvl="1" indent="0">
              <a:buNone/>
            </a:pPr>
            <a:r>
              <a:rPr lang="en-US" dirty="0"/>
              <a:t>See </a:t>
            </a:r>
            <a:r>
              <a:rPr lang="en-US" dirty="0">
                <a:solidFill>
                  <a:srgbClr val="FF0000"/>
                </a:solidFill>
              </a:rPr>
              <a:t>Instructor.java</a:t>
            </a:r>
            <a:r>
              <a:rPr lang="en-US" dirty="0"/>
              <a:t> code</a:t>
            </a:r>
          </a:p>
        </p:txBody>
      </p:sp>
      <p:sp>
        <p:nvSpPr>
          <p:cNvPr id="4" name="Slide Number Placeholder 3">
            <a:extLst>
              <a:ext uri="{FF2B5EF4-FFF2-40B4-BE49-F238E27FC236}">
                <a16:creationId xmlns:a16="http://schemas.microsoft.com/office/drawing/2014/main" id="{C3D67C17-E683-E04E-B8BE-E3EFD7502732}"/>
              </a:ext>
            </a:extLst>
          </p:cNvPr>
          <p:cNvSpPr>
            <a:spLocks noGrp="1"/>
          </p:cNvSpPr>
          <p:nvPr>
            <p:ph type="sldNum" sz="quarter" idx="12"/>
          </p:nvPr>
        </p:nvSpPr>
        <p:spPr/>
        <p:txBody>
          <a:bodyPr/>
          <a:lstStyle/>
          <a:p>
            <a:fld id="{13977939-A071-43C1-9268-F54CC2756BB5}" type="slidenum">
              <a:rPr lang="en-US" smtClean="0"/>
              <a:pPr/>
              <a:t>93</a:t>
            </a:fld>
            <a:endParaRPr lang="en-US" dirty="0"/>
          </a:p>
        </p:txBody>
      </p:sp>
    </p:spTree>
    <p:extLst>
      <p:ext uri="{BB962C8B-B14F-4D97-AF65-F5344CB8AC3E}">
        <p14:creationId xmlns:p14="http://schemas.microsoft.com/office/powerpoint/2010/main" val="191342085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30E3B-E952-4644-BF9E-A23A6C580227}"/>
              </a:ext>
            </a:extLst>
          </p:cNvPr>
          <p:cNvSpPr>
            <a:spLocks noGrp="1"/>
          </p:cNvSpPr>
          <p:nvPr>
            <p:ph type="title"/>
          </p:nvPr>
        </p:nvSpPr>
        <p:spPr>
          <a:xfrm>
            <a:off x="457200" y="457200"/>
            <a:ext cx="8458200" cy="475488"/>
          </a:xfrm>
        </p:spPr>
        <p:txBody>
          <a:bodyPr>
            <a:noAutofit/>
          </a:bodyPr>
          <a:lstStyle/>
          <a:p>
            <a:r>
              <a:rPr lang="en-US" dirty="0"/>
              <a:t>Discussion On UML For the Textbook class</a:t>
            </a:r>
          </a:p>
        </p:txBody>
      </p:sp>
      <p:sp>
        <p:nvSpPr>
          <p:cNvPr id="3" name="Content Placeholder 2">
            <a:extLst>
              <a:ext uri="{FF2B5EF4-FFF2-40B4-BE49-F238E27FC236}">
                <a16:creationId xmlns:a16="http://schemas.microsoft.com/office/drawing/2014/main" id="{D7F45A64-BD48-0B43-B282-62840D190FA3}"/>
              </a:ext>
            </a:extLst>
          </p:cNvPr>
          <p:cNvSpPr>
            <a:spLocks noGrp="1"/>
          </p:cNvSpPr>
          <p:nvPr>
            <p:ph idx="1"/>
          </p:nvPr>
        </p:nvSpPr>
        <p:spPr/>
        <p:txBody>
          <a:bodyPr>
            <a:normAutofit fontScale="92500" lnSpcReduction="10000"/>
          </a:bodyPr>
          <a:lstStyle/>
          <a:p>
            <a:r>
              <a:rPr lang="en-US" dirty="0"/>
              <a:t>The Textbook class</a:t>
            </a:r>
          </a:p>
          <a:p>
            <a:pPr lvl="1"/>
            <a:r>
              <a:rPr lang="en-US" dirty="0"/>
              <a:t>Three instance variables - the title, author and publisher</a:t>
            </a:r>
          </a:p>
          <a:p>
            <a:pPr lvl="1"/>
            <a:r>
              <a:rPr lang="en-US" dirty="0"/>
              <a:t>A constructor which accepts arguments for the title, author and publisher</a:t>
            </a:r>
          </a:p>
          <a:p>
            <a:pPr lvl="1"/>
            <a:r>
              <a:rPr lang="en-US" dirty="0"/>
              <a:t>A constructor that creates a copy of the Textbook</a:t>
            </a:r>
          </a:p>
          <a:p>
            <a:pPr lvl="1"/>
            <a:r>
              <a:rPr lang="en-US" dirty="0"/>
              <a:t>A set method for each instance variable, which can be used to set that instance variable</a:t>
            </a:r>
          </a:p>
          <a:p>
            <a:pPr lvl="1"/>
            <a:r>
              <a:rPr lang="en-US" dirty="0"/>
              <a:t>A get method for each instance variable, which can be used to retrieve that instance variable</a:t>
            </a:r>
          </a:p>
          <a:p>
            <a:pPr lvl="1"/>
            <a:r>
              <a:rPr lang="en-US" dirty="0"/>
              <a:t>A toString method</a:t>
            </a:r>
          </a:p>
          <a:p>
            <a:pPr lvl="1"/>
            <a:endParaRPr lang="en-US" dirty="0"/>
          </a:p>
          <a:p>
            <a:pPr marL="393192" lvl="1" indent="0">
              <a:buNone/>
            </a:pPr>
            <a:r>
              <a:rPr lang="en-US" dirty="0"/>
              <a:t>See </a:t>
            </a:r>
            <a:r>
              <a:rPr lang="en-US" dirty="0">
                <a:solidFill>
                  <a:srgbClr val="FF0000"/>
                </a:solidFill>
              </a:rPr>
              <a:t>TextBook.java </a:t>
            </a:r>
            <a:r>
              <a:rPr lang="en-US" dirty="0"/>
              <a:t>code</a:t>
            </a:r>
          </a:p>
        </p:txBody>
      </p:sp>
      <p:sp>
        <p:nvSpPr>
          <p:cNvPr id="4" name="Slide Number Placeholder 3">
            <a:extLst>
              <a:ext uri="{FF2B5EF4-FFF2-40B4-BE49-F238E27FC236}">
                <a16:creationId xmlns:a16="http://schemas.microsoft.com/office/drawing/2014/main" id="{C3D67C17-E683-E04E-B8BE-E3EFD7502732}"/>
              </a:ext>
            </a:extLst>
          </p:cNvPr>
          <p:cNvSpPr>
            <a:spLocks noGrp="1"/>
          </p:cNvSpPr>
          <p:nvPr>
            <p:ph type="sldNum" sz="quarter" idx="12"/>
          </p:nvPr>
        </p:nvSpPr>
        <p:spPr/>
        <p:txBody>
          <a:bodyPr/>
          <a:lstStyle/>
          <a:p>
            <a:fld id="{13977939-A071-43C1-9268-F54CC2756BB5}" type="slidenum">
              <a:rPr lang="en-US" smtClean="0"/>
              <a:pPr/>
              <a:t>94</a:t>
            </a:fld>
            <a:endParaRPr lang="en-US" dirty="0"/>
          </a:p>
        </p:txBody>
      </p:sp>
    </p:spTree>
    <p:extLst>
      <p:ext uri="{BB962C8B-B14F-4D97-AF65-F5344CB8AC3E}">
        <p14:creationId xmlns:p14="http://schemas.microsoft.com/office/powerpoint/2010/main" val="92739729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30E3B-E952-4644-BF9E-A23A6C580227}"/>
              </a:ext>
            </a:extLst>
          </p:cNvPr>
          <p:cNvSpPr>
            <a:spLocks noGrp="1"/>
          </p:cNvSpPr>
          <p:nvPr>
            <p:ph type="title"/>
          </p:nvPr>
        </p:nvSpPr>
        <p:spPr>
          <a:xfrm>
            <a:off x="457200" y="457200"/>
            <a:ext cx="8458200" cy="475488"/>
          </a:xfrm>
        </p:spPr>
        <p:txBody>
          <a:bodyPr>
            <a:noAutofit/>
          </a:bodyPr>
          <a:lstStyle/>
          <a:p>
            <a:r>
              <a:rPr lang="en-US" dirty="0"/>
              <a:t>Aggregation Example – The Course class</a:t>
            </a:r>
          </a:p>
        </p:txBody>
      </p:sp>
      <p:sp>
        <p:nvSpPr>
          <p:cNvPr id="3" name="Content Placeholder 2">
            <a:extLst>
              <a:ext uri="{FF2B5EF4-FFF2-40B4-BE49-F238E27FC236}">
                <a16:creationId xmlns:a16="http://schemas.microsoft.com/office/drawing/2014/main" id="{D7F45A64-BD48-0B43-B282-62840D190FA3}"/>
              </a:ext>
            </a:extLst>
          </p:cNvPr>
          <p:cNvSpPr>
            <a:spLocks noGrp="1"/>
          </p:cNvSpPr>
          <p:nvPr>
            <p:ph idx="1"/>
          </p:nvPr>
        </p:nvSpPr>
        <p:spPr>
          <a:xfrm>
            <a:off x="457200" y="1249679"/>
            <a:ext cx="8229600" cy="5471795"/>
          </a:xfrm>
        </p:spPr>
        <p:txBody>
          <a:bodyPr>
            <a:normAutofit fontScale="85000" lnSpcReduction="10000"/>
          </a:bodyPr>
          <a:lstStyle/>
          <a:p>
            <a:r>
              <a:rPr lang="en-US" dirty="0"/>
              <a:t>The Course class has an Instructor object and a TextBook object as fields, as well as a course name </a:t>
            </a:r>
          </a:p>
          <a:p>
            <a:r>
              <a:rPr lang="en-US" dirty="0"/>
              <a:t>Making an instance of one class a field in another class is called </a:t>
            </a:r>
            <a:r>
              <a:rPr lang="en-US" dirty="0">
                <a:solidFill>
                  <a:srgbClr val="FF0000"/>
                </a:solidFill>
              </a:rPr>
              <a:t>object aggregation</a:t>
            </a:r>
            <a:r>
              <a:rPr lang="en-US" dirty="0"/>
              <a:t>. </a:t>
            </a:r>
          </a:p>
          <a:p>
            <a:pPr lvl="1"/>
            <a:r>
              <a:rPr lang="en-US" dirty="0"/>
              <a:t>The word aggregate means “a whole which is made of constituent parts.” </a:t>
            </a:r>
          </a:p>
          <a:p>
            <a:pPr lvl="1"/>
            <a:r>
              <a:rPr lang="en-US" dirty="0"/>
              <a:t>In this example, the Course class is an aggregate class because it is made of constituent objects.</a:t>
            </a:r>
          </a:p>
          <a:p>
            <a:r>
              <a:rPr lang="en-US" dirty="0"/>
              <a:t>When an instance of one class is a member of another class, it is said that there is a “has a” relationship between the classes. </a:t>
            </a:r>
          </a:p>
          <a:p>
            <a:r>
              <a:rPr lang="en-US" dirty="0"/>
              <a:t>For example, the relationships that exist among the Course, Instructor, and TextBook classes can be described as follows:</a:t>
            </a:r>
          </a:p>
          <a:p>
            <a:pPr lvl="1"/>
            <a:r>
              <a:rPr lang="en-US" dirty="0"/>
              <a:t>The course has an instructor.</a:t>
            </a:r>
          </a:p>
          <a:p>
            <a:pPr lvl="1"/>
            <a:r>
              <a:rPr lang="en-US" dirty="0"/>
              <a:t>The course has a textbook</a:t>
            </a:r>
          </a:p>
          <a:p>
            <a:r>
              <a:rPr lang="en-US" dirty="0"/>
              <a:t>The “has a” relationship is sometimes called a whole-part relationship because one object is part of a greater whole. </a:t>
            </a:r>
          </a:p>
        </p:txBody>
      </p:sp>
      <p:sp>
        <p:nvSpPr>
          <p:cNvPr id="4" name="Slide Number Placeholder 3">
            <a:extLst>
              <a:ext uri="{FF2B5EF4-FFF2-40B4-BE49-F238E27FC236}">
                <a16:creationId xmlns:a16="http://schemas.microsoft.com/office/drawing/2014/main" id="{C3D67C17-E683-E04E-B8BE-E3EFD7502732}"/>
              </a:ext>
            </a:extLst>
          </p:cNvPr>
          <p:cNvSpPr>
            <a:spLocks noGrp="1"/>
          </p:cNvSpPr>
          <p:nvPr>
            <p:ph type="sldNum" sz="quarter" idx="12"/>
          </p:nvPr>
        </p:nvSpPr>
        <p:spPr/>
        <p:txBody>
          <a:bodyPr/>
          <a:lstStyle/>
          <a:p>
            <a:fld id="{13977939-A071-43C1-9268-F54CC2756BB5}" type="slidenum">
              <a:rPr lang="en-US" smtClean="0"/>
              <a:pPr/>
              <a:t>95</a:t>
            </a:fld>
            <a:endParaRPr lang="en-US" dirty="0"/>
          </a:p>
        </p:txBody>
      </p:sp>
    </p:spTree>
    <p:extLst>
      <p:ext uri="{BB962C8B-B14F-4D97-AF65-F5344CB8AC3E}">
        <p14:creationId xmlns:p14="http://schemas.microsoft.com/office/powerpoint/2010/main" val="298889564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30E3B-E952-4644-BF9E-A23A6C580227}"/>
              </a:ext>
            </a:extLst>
          </p:cNvPr>
          <p:cNvSpPr>
            <a:spLocks noGrp="1"/>
          </p:cNvSpPr>
          <p:nvPr>
            <p:ph type="title"/>
          </p:nvPr>
        </p:nvSpPr>
        <p:spPr>
          <a:xfrm>
            <a:off x="457200" y="457200"/>
            <a:ext cx="8458200" cy="475488"/>
          </a:xfrm>
        </p:spPr>
        <p:txBody>
          <a:bodyPr>
            <a:noAutofit/>
          </a:bodyPr>
          <a:lstStyle/>
          <a:p>
            <a:r>
              <a:rPr lang="en-US" dirty="0"/>
              <a:t>Discussion On UML For the Course class</a:t>
            </a:r>
          </a:p>
        </p:txBody>
      </p:sp>
      <p:sp>
        <p:nvSpPr>
          <p:cNvPr id="3" name="Content Placeholder 2">
            <a:extLst>
              <a:ext uri="{FF2B5EF4-FFF2-40B4-BE49-F238E27FC236}">
                <a16:creationId xmlns:a16="http://schemas.microsoft.com/office/drawing/2014/main" id="{D7F45A64-BD48-0B43-B282-62840D190FA3}"/>
              </a:ext>
            </a:extLst>
          </p:cNvPr>
          <p:cNvSpPr>
            <a:spLocks noGrp="1"/>
          </p:cNvSpPr>
          <p:nvPr>
            <p:ph idx="1"/>
          </p:nvPr>
        </p:nvSpPr>
        <p:spPr>
          <a:xfrm>
            <a:off x="457200" y="1249680"/>
            <a:ext cx="8229600" cy="5303520"/>
          </a:xfrm>
        </p:spPr>
        <p:txBody>
          <a:bodyPr>
            <a:normAutofit lnSpcReduction="10000"/>
          </a:bodyPr>
          <a:lstStyle/>
          <a:p>
            <a:r>
              <a:rPr lang="en-US" dirty="0"/>
              <a:t>The Course class</a:t>
            </a:r>
          </a:p>
          <a:p>
            <a:pPr lvl="1"/>
            <a:r>
              <a:rPr lang="en-US" dirty="0"/>
              <a:t>Three instance variables - the courseName, Instructor and TextBook</a:t>
            </a:r>
          </a:p>
          <a:p>
            <a:pPr lvl="1"/>
            <a:r>
              <a:rPr lang="en-US" dirty="0"/>
              <a:t>A constructor which accepts arguments for the the courseName, Instructor and TextBook</a:t>
            </a:r>
          </a:p>
          <a:p>
            <a:pPr lvl="1"/>
            <a:r>
              <a:rPr lang="en-US" dirty="0"/>
              <a:t>A set method for each instance variable, which can be used to set that instance variable</a:t>
            </a:r>
          </a:p>
          <a:p>
            <a:pPr lvl="1"/>
            <a:r>
              <a:rPr lang="en-US" dirty="0"/>
              <a:t>A get method for each instance variable, which can be used to retrieve that instance variable</a:t>
            </a:r>
          </a:p>
          <a:p>
            <a:pPr lvl="1"/>
            <a:r>
              <a:rPr lang="en-US" dirty="0"/>
              <a:t>A toString method</a:t>
            </a:r>
          </a:p>
          <a:p>
            <a:pPr lvl="1"/>
            <a:endParaRPr lang="en-US" dirty="0"/>
          </a:p>
          <a:p>
            <a:pPr marL="393192" lvl="1" indent="0">
              <a:buNone/>
            </a:pPr>
            <a:r>
              <a:rPr lang="en-US" dirty="0"/>
              <a:t>See </a:t>
            </a:r>
            <a:r>
              <a:rPr lang="en-US" dirty="0">
                <a:solidFill>
                  <a:srgbClr val="FF0000"/>
                </a:solidFill>
              </a:rPr>
              <a:t>Course.java </a:t>
            </a:r>
            <a:r>
              <a:rPr lang="en-US" dirty="0"/>
              <a:t>code</a:t>
            </a:r>
          </a:p>
          <a:p>
            <a:pPr marL="393192" lvl="1" indent="0">
              <a:buNone/>
            </a:pPr>
            <a:r>
              <a:rPr lang="en-US" dirty="0"/>
              <a:t>Then see </a:t>
            </a:r>
            <a:r>
              <a:rPr lang="en-US" dirty="0">
                <a:solidFill>
                  <a:srgbClr val="FF0000"/>
                </a:solidFill>
              </a:rPr>
              <a:t>CourseDemo.java</a:t>
            </a:r>
          </a:p>
          <a:p>
            <a:pPr marL="393192" lvl="1" indent="0">
              <a:buNone/>
            </a:pPr>
            <a:endParaRPr lang="en-US" dirty="0"/>
          </a:p>
        </p:txBody>
      </p:sp>
      <p:sp>
        <p:nvSpPr>
          <p:cNvPr id="4" name="Slide Number Placeholder 3">
            <a:extLst>
              <a:ext uri="{FF2B5EF4-FFF2-40B4-BE49-F238E27FC236}">
                <a16:creationId xmlns:a16="http://schemas.microsoft.com/office/drawing/2014/main" id="{C3D67C17-E683-E04E-B8BE-E3EFD7502732}"/>
              </a:ext>
            </a:extLst>
          </p:cNvPr>
          <p:cNvSpPr>
            <a:spLocks noGrp="1"/>
          </p:cNvSpPr>
          <p:nvPr>
            <p:ph type="sldNum" sz="quarter" idx="12"/>
          </p:nvPr>
        </p:nvSpPr>
        <p:spPr/>
        <p:txBody>
          <a:bodyPr/>
          <a:lstStyle/>
          <a:p>
            <a:fld id="{13977939-A071-43C1-9268-F54CC2756BB5}" type="slidenum">
              <a:rPr lang="en-US" smtClean="0"/>
              <a:pPr/>
              <a:t>96</a:t>
            </a:fld>
            <a:endParaRPr lang="en-US" dirty="0"/>
          </a:p>
        </p:txBody>
      </p:sp>
    </p:spTree>
    <p:extLst>
      <p:ext uri="{BB962C8B-B14F-4D97-AF65-F5344CB8AC3E}">
        <p14:creationId xmlns:p14="http://schemas.microsoft.com/office/powerpoint/2010/main" val="327992793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4F62C-EC03-F04E-B2AF-4BF20BC18828}"/>
              </a:ext>
            </a:extLst>
          </p:cNvPr>
          <p:cNvSpPr>
            <a:spLocks noGrp="1"/>
          </p:cNvSpPr>
          <p:nvPr>
            <p:ph type="title"/>
          </p:nvPr>
        </p:nvSpPr>
        <p:spPr/>
        <p:txBody>
          <a:bodyPr>
            <a:noAutofit/>
          </a:bodyPr>
          <a:lstStyle/>
          <a:p>
            <a:r>
              <a:rPr lang="en-US" dirty="0"/>
              <a:t>Security Issues With Aggregate Classes</a:t>
            </a:r>
          </a:p>
        </p:txBody>
      </p:sp>
      <p:sp>
        <p:nvSpPr>
          <p:cNvPr id="3" name="Content Placeholder 2">
            <a:extLst>
              <a:ext uri="{FF2B5EF4-FFF2-40B4-BE49-F238E27FC236}">
                <a16:creationId xmlns:a16="http://schemas.microsoft.com/office/drawing/2014/main" id="{06E028DD-58E0-3848-B418-C542CF6A97DA}"/>
              </a:ext>
            </a:extLst>
          </p:cNvPr>
          <p:cNvSpPr>
            <a:spLocks noGrp="1"/>
          </p:cNvSpPr>
          <p:nvPr>
            <p:ph idx="1"/>
          </p:nvPr>
        </p:nvSpPr>
        <p:spPr>
          <a:xfrm>
            <a:off x="457200" y="1249680"/>
            <a:ext cx="8229600" cy="5303520"/>
          </a:xfrm>
        </p:spPr>
        <p:txBody>
          <a:bodyPr>
            <a:normAutofit fontScale="85000" lnSpcReduction="10000"/>
          </a:bodyPr>
          <a:lstStyle/>
          <a:p>
            <a:r>
              <a:rPr lang="en-US" dirty="0"/>
              <a:t>Perform Deep Copies</a:t>
            </a:r>
          </a:p>
          <a:p>
            <a:pPr lvl="1"/>
            <a:r>
              <a:rPr lang="en-US" dirty="0"/>
              <a:t>When you make a copy of an Aggregate object, you need to make copies of any object within the aggregate.</a:t>
            </a:r>
          </a:p>
          <a:p>
            <a:pPr lvl="1"/>
            <a:r>
              <a:rPr lang="en-US" dirty="0"/>
              <a:t>Don’t just reference the same objects – don’t make a shallow copy</a:t>
            </a:r>
          </a:p>
          <a:p>
            <a:pPr lvl="1"/>
            <a:r>
              <a:rPr lang="en-US" dirty="0"/>
              <a:t>Shallow copies can create security holes. </a:t>
            </a:r>
          </a:p>
          <a:p>
            <a:pPr lvl="1"/>
            <a:r>
              <a:rPr lang="en-US" dirty="0"/>
              <a:t>For instance, if you copy a course with a shallow copy you my have both courses referring to the same list of books</a:t>
            </a:r>
          </a:p>
          <a:p>
            <a:pPr lvl="1"/>
            <a:r>
              <a:rPr lang="en-US" dirty="0"/>
              <a:t>However, you need to separate these so that you can change the name of the books in one of the courses without changing the books in the second course</a:t>
            </a:r>
          </a:p>
          <a:p>
            <a:pPr lvl="1"/>
            <a:r>
              <a:rPr lang="en-US" dirty="0"/>
              <a:t>Of course you don’t need to worry about immutable objects, since they can’t be changed</a:t>
            </a:r>
          </a:p>
          <a:p>
            <a:r>
              <a:rPr lang="en-US" dirty="0"/>
              <a:t>When an object is requested, create a new Object that is a copy of the original, and return a reference to it.</a:t>
            </a:r>
          </a:p>
          <a:p>
            <a:r>
              <a:rPr lang="en-US" dirty="0"/>
              <a:t>This keeps the user from getting access to the original object.</a:t>
            </a:r>
          </a:p>
        </p:txBody>
      </p:sp>
      <p:sp>
        <p:nvSpPr>
          <p:cNvPr id="4" name="Slide Number Placeholder 3">
            <a:extLst>
              <a:ext uri="{FF2B5EF4-FFF2-40B4-BE49-F238E27FC236}">
                <a16:creationId xmlns:a16="http://schemas.microsoft.com/office/drawing/2014/main" id="{CDAED7B4-1649-AF48-BF02-3456DC7BD59C}"/>
              </a:ext>
            </a:extLst>
          </p:cNvPr>
          <p:cNvSpPr>
            <a:spLocks noGrp="1"/>
          </p:cNvSpPr>
          <p:nvPr>
            <p:ph type="sldNum" sz="quarter" idx="12"/>
          </p:nvPr>
        </p:nvSpPr>
        <p:spPr/>
        <p:txBody>
          <a:bodyPr/>
          <a:lstStyle/>
          <a:p>
            <a:fld id="{13977939-A071-43C1-9268-F54CC2756BB5}" type="slidenum">
              <a:rPr lang="en-US" smtClean="0"/>
              <a:pPr/>
              <a:t>97</a:t>
            </a:fld>
            <a:endParaRPr lang="en-US" dirty="0"/>
          </a:p>
        </p:txBody>
      </p:sp>
    </p:spTree>
    <p:extLst>
      <p:ext uri="{BB962C8B-B14F-4D97-AF65-F5344CB8AC3E}">
        <p14:creationId xmlns:p14="http://schemas.microsoft.com/office/powerpoint/2010/main" val="55445977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735E11-1521-0AD3-DA96-D69D74DF81CB}"/>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E5BCA2AD-BB9E-D779-AB15-C304F4F6339A}"/>
              </a:ext>
            </a:extLst>
          </p:cNvPr>
          <p:cNvSpPr>
            <a:spLocks noGrp="1"/>
          </p:cNvSpPr>
          <p:nvPr>
            <p:ph type="title" idx="4294967295"/>
          </p:nvPr>
        </p:nvSpPr>
        <p:spPr>
          <a:xfrm>
            <a:off x="530225" y="2705100"/>
            <a:ext cx="7772400" cy="1509713"/>
          </a:xfrm>
          <a:prstGeom prst="rect">
            <a:avLst/>
          </a:prstGeom>
          <a:noFill/>
          <a:ln>
            <a:noFill/>
            <a:prstDash/>
          </a:ln>
          <a:effectLst/>
        </p:spPr>
        <p:txBody>
          <a:bodyPr rot="0" spcFirstLastPara="0" vertOverflow="overflow" horzOverflow="overflow" vert="horz" wrap="square" lIns="45720" tIns="45720" rIns="45720" bIns="45720" numCol="1" spcCol="0" rtlCol="0" fromWordArt="0" anchor="t" anchorCtr="0" forceAA="0" compatLnSpc="1">
            <a:prstTxWarp prst="textNoShape">
              <a:avLst/>
            </a:prstTxWarp>
            <a:normAutofit/>
          </a:bodyPr>
          <a:lstStyle/>
          <a:p>
            <a:pPr marL="0" marR="0" lvl="0" indent="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200" b="0" i="0" u="none" strike="noStrike" kern="1200" cap="none" spc="0" normalizeH="0" baseline="0" noProof="0" dirty="0">
                <a:ln>
                  <a:noFill/>
                </a:ln>
                <a:solidFill>
                  <a:schemeClr val="tx1"/>
                </a:solidFill>
                <a:effectLst/>
                <a:uLnTx/>
                <a:uFillTx/>
                <a:latin typeface="+mn-lt"/>
                <a:ea typeface="+mn-ea"/>
                <a:cs typeface="+mn-cs"/>
              </a:rPr>
              <a:t>Enumerated Types</a:t>
            </a:r>
          </a:p>
        </p:txBody>
      </p:sp>
      <p:sp>
        <p:nvSpPr>
          <p:cNvPr id="4" name="Slide Number Placeholder 3">
            <a:extLst>
              <a:ext uri="{FF2B5EF4-FFF2-40B4-BE49-F238E27FC236}">
                <a16:creationId xmlns:a16="http://schemas.microsoft.com/office/drawing/2014/main" id="{07E17DF8-BA20-78A3-45DA-BD08C74993B4}"/>
              </a:ext>
            </a:extLst>
          </p:cNvPr>
          <p:cNvSpPr>
            <a:spLocks noGrp="1"/>
          </p:cNvSpPr>
          <p:nvPr>
            <p:ph type="sldNum" sz="quarter" idx="12"/>
          </p:nvPr>
        </p:nvSpPr>
        <p:spPr/>
        <p:txBody>
          <a:bodyPr/>
          <a:lstStyle/>
          <a:p>
            <a:fld id="{13977939-A071-43C1-9268-F54CC2756BB5}" type="slidenum">
              <a:rPr lang="en-US" smtClean="0"/>
              <a:pPr/>
              <a:t>98</a:t>
            </a:fld>
            <a:endParaRPr lang="en-US" dirty="0"/>
          </a:p>
        </p:txBody>
      </p:sp>
    </p:spTree>
    <p:extLst>
      <p:ext uri="{BB962C8B-B14F-4D97-AF65-F5344CB8AC3E}">
        <p14:creationId xmlns:p14="http://schemas.microsoft.com/office/powerpoint/2010/main" val="116263586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4D67B-3AA6-8940-A6DB-77A358F80579}"/>
              </a:ext>
            </a:extLst>
          </p:cNvPr>
          <p:cNvSpPr>
            <a:spLocks noGrp="1"/>
          </p:cNvSpPr>
          <p:nvPr>
            <p:ph type="title"/>
          </p:nvPr>
        </p:nvSpPr>
        <p:spPr/>
        <p:txBody>
          <a:bodyPr>
            <a:noAutofit/>
          </a:bodyPr>
          <a:lstStyle/>
          <a:p>
            <a:r>
              <a:rPr lang="en-US" dirty="0"/>
              <a:t>Enumerated Types Overview</a:t>
            </a:r>
          </a:p>
        </p:txBody>
      </p:sp>
      <p:sp>
        <p:nvSpPr>
          <p:cNvPr id="3" name="Content Placeholder 2">
            <a:extLst>
              <a:ext uri="{FF2B5EF4-FFF2-40B4-BE49-F238E27FC236}">
                <a16:creationId xmlns:a16="http://schemas.microsoft.com/office/drawing/2014/main" id="{F1A71857-ED21-2744-9949-7A860CF73BC5}"/>
              </a:ext>
            </a:extLst>
          </p:cNvPr>
          <p:cNvSpPr>
            <a:spLocks noGrp="1"/>
          </p:cNvSpPr>
          <p:nvPr>
            <p:ph idx="1"/>
          </p:nvPr>
        </p:nvSpPr>
        <p:spPr>
          <a:xfrm>
            <a:off x="381000" y="1066800"/>
            <a:ext cx="8458200" cy="5379720"/>
          </a:xfrm>
        </p:spPr>
        <p:txBody>
          <a:bodyPr>
            <a:normAutofit fontScale="92500" lnSpcReduction="10000"/>
          </a:bodyPr>
          <a:lstStyle/>
          <a:p>
            <a:r>
              <a:rPr lang="en-US" dirty="0"/>
              <a:t>An enumerated data type consists of a set of predefined values</a:t>
            </a:r>
          </a:p>
          <a:p>
            <a:pPr lvl="1"/>
            <a:r>
              <a:rPr lang="en-US" dirty="0"/>
              <a:t>You can use the data type to create variables that can hold only the values that belong to the enumerated data type</a:t>
            </a:r>
          </a:p>
          <a:p>
            <a:r>
              <a:rPr lang="en-US" dirty="0"/>
              <a:t>Sometimes it is helpful to create your own data type that has a specific set of legal values</a:t>
            </a:r>
          </a:p>
          <a:p>
            <a:pPr lvl="1"/>
            <a:r>
              <a:rPr lang="en-US" dirty="0"/>
              <a:t>For example, suppose you wanted to create a data type named Day, and the legal values in that data type were the names of the days of the week (Sunday, Monday, and so forth)</a:t>
            </a:r>
          </a:p>
          <a:p>
            <a:pPr lvl="1"/>
            <a:r>
              <a:rPr lang="en-US" dirty="0"/>
              <a:t>When you create a variable of the Day data type, you can only store the names of the days of the week in that variable</a:t>
            </a:r>
          </a:p>
          <a:p>
            <a:pPr lvl="1"/>
            <a:r>
              <a:rPr lang="en-US" dirty="0"/>
              <a:t>Any other values would be illegal</a:t>
            </a:r>
          </a:p>
          <a:p>
            <a:pPr lvl="1"/>
            <a:r>
              <a:rPr lang="en-US" dirty="0"/>
              <a:t>In Java, such a type is known as an </a:t>
            </a:r>
            <a:r>
              <a:rPr lang="en-US" dirty="0">
                <a:solidFill>
                  <a:srgbClr val="FF0000"/>
                </a:solidFill>
              </a:rPr>
              <a:t>enumerated</a:t>
            </a:r>
            <a:r>
              <a:rPr lang="en-US" dirty="0"/>
              <a:t> data type</a:t>
            </a:r>
          </a:p>
          <a:p>
            <a:r>
              <a:rPr lang="en-US" dirty="0"/>
              <a:t>When you write an enumerated type declaration, you are actually creating </a:t>
            </a:r>
            <a:r>
              <a:rPr lang="en-US" dirty="0">
                <a:solidFill>
                  <a:srgbClr val="FF0000"/>
                </a:solidFill>
              </a:rPr>
              <a:t>a special kind of class</a:t>
            </a:r>
            <a:r>
              <a:rPr lang="en-US" dirty="0"/>
              <a:t>. </a:t>
            </a:r>
          </a:p>
        </p:txBody>
      </p:sp>
      <p:sp>
        <p:nvSpPr>
          <p:cNvPr id="4" name="Slide Number Placeholder 3">
            <a:extLst>
              <a:ext uri="{FF2B5EF4-FFF2-40B4-BE49-F238E27FC236}">
                <a16:creationId xmlns:a16="http://schemas.microsoft.com/office/drawing/2014/main" id="{7AB037B3-B82B-4741-AE1D-0B8B0BB87A77}"/>
              </a:ext>
            </a:extLst>
          </p:cNvPr>
          <p:cNvSpPr>
            <a:spLocks noGrp="1"/>
          </p:cNvSpPr>
          <p:nvPr>
            <p:ph type="sldNum" sz="quarter" idx="12"/>
          </p:nvPr>
        </p:nvSpPr>
        <p:spPr/>
        <p:txBody>
          <a:bodyPr/>
          <a:lstStyle/>
          <a:p>
            <a:fld id="{13977939-A071-43C1-9268-F54CC2756BB5}" type="slidenum">
              <a:rPr lang="en-US" smtClean="0"/>
              <a:pPr/>
              <a:t>99</a:t>
            </a:fld>
            <a:endParaRPr lang="en-US" dirty="0"/>
          </a:p>
        </p:txBody>
      </p:sp>
    </p:spTree>
    <p:extLst>
      <p:ext uri="{BB962C8B-B14F-4D97-AF65-F5344CB8AC3E}">
        <p14:creationId xmlns:p14="http://schemas.microsoft.com/office/powerpoint/2010/main" val="9143278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E961A-6F6E-6A4C-AC39-DB835D39F63B}"/>
              </a:ext>
            </a:extLst>
          </p:cNvPr>
          <p:cNvSpPr>
            <a:spLocks noGrp="1"/>
          </p:cNvSpPr>
          <p:nvPr>
            <p:ph type="title"/>
          </p:nvPr>
        </p:nvSpPr>
        <p:spPr>
          <a:xfrm>
            <a:off x="457200" y="304800"/>
            <a:ext cx="8229600" cy="475488"/>
          </a:xfrm>
        </p:spPr>
        <p:txBody>
          <a:bodyPr>
            <a:noAutofit/>
          </a:bodyPr>
          <a:lstStyle/>
          <a:p>
            <a:r>
              <a:rPr lang="en-US" dirty="0"/>
              <a:t>The Syntax Of Enumerated Types</a:t>
            </a:r>
          </a:p>
        </p:txBody>
      </p:sp>
      <p:sp>
        <p:nvSpPr>
          <p:cNvPr id="3" name="Content Placeholder 2">
            <a:extLst>
              <a:ext uri="{FF2B5EF4-FFF2-40B4-BE49-F238E27FC236}">
                <a16:creationId xmlns:a16="http://schemas.microsoft.com/office/drawing/2014/main" id="{18D200DE-819B-DD4E-B818-F09324A7E6B6}"/>
              </a:ext>
            </a:extLst>
          </p:cNvPr>
          <p:cNvSpPr>
            <a:spLocks noGrp="1"/>
          </p:cNvSpPr>
          <p:nvPr>
            <p:ph idx="1"/>
          </p:nvPr>
        </p:nvSpPr>
        <p:spPr>
          <a:xfrm>
            <a:off x="457200" y="868679"/>
            <a:ext cx="8229600" cy="5836921"/>
          </a:xfrm>
        </p:spPr>
        <p:txBody>
          <a:bodyPr>
            <a:normAutofit fontScale="77500" lnSpcReduction="20000"/>
          </a:bodyPr>
          <a:lstStyle/>
          <a:p>
            <a:r>
              <a:rPr lang="en-US" dirty="0"/>
              <a:t>You can use the enum key word to create your own data type and specify the values that belong to that type:</a:t>
            </a:r>
          </a:p>
          <a:p>
            <a:pPr marL="365760" lvl="1" indent="0">
              <a:buNone/>
            </a:pPr>
            <a:r>
              <a:rPr lang="en-US" dirty="0">
                <a:solidFill>
                  <a:srgbClr val="FF0000"/>
                </a:solidFill>
              </a:rPr>
              <a:t>public enum Day { SUNDAY, MONDAY, TUESDAY, WEDNESDAY, THURSDAY, FRIDAY, SATURDAY} ;</a:t>
            </a:r>
          </a:p>
          <a:p>
            <a:r>
              <a:rPr lang="en-US" dirty="0"/>
              <a:t>The declaration in the example above creates an enumerated data type named Day</a:t>
            </a:r>
          </a:p>
          <a:p>
            <a:pPr lvl="1"/>
            <a:r>
              <a:rPr lang="en-US" dirty="0"/>
              <a:t>The identifiers SUNDAY, MONDAY, TUESDAY, WEDNESDAY, THURSDAY, FRIDAY, and SATURDAY, which are listed inside the braces, are known as enum constants</a:t>
            </a:r>
          </a:p>
          <a:p>
            <a:pPr lvl="1"/>
            <a:r>
              <a:rPr lang="en-US" dirty="0"/>
              <a:t>They represent the values that belong to the Day data type</a:t>
            </a:r>
          </a:p>
          <a:p>
            <a:r>
              <a:rPr lang="en-US" dirty="0"/>
              <a:t>The general format of an enumerated type declaration:</a:t>
            </a:r>
          </a:p>
          <a:p>
            <a:pPr marL="365760" lvl="1" indent="0">
              <a:buNone/>
            </a:pPr>
            <a:r>
              <a:rPr lang="en-US" dirty="0">
                <a:solidFill>
                  <a:srgbClr val="FF0000"/>
                </a:solidFill>
              </a:rPr>
              <a:t>enum TypeName { One or more enum constants };</a:t>
            </a:r>
          </a:p>
          <a:p>
            <a:pPr marL="342900" indent="-342900"/>
            <a:r>
              <a:rPr lang="en-US" dirty="0"/>
              <a:t>The </a:t>
            </a:r>
            <a:r>
              <a:rPr lang="en-US" dirty="0" err="1"/>
              <a:t>enum</a:t>
            </a:r>
            <a:r>
              <a:rPr lang="en-US" dirty="0"/>
              <a:t> type must be declared outside of any method, including main</a:t>
            </a:r>
          </a:p>
          <a:p>
            <a:pPr marL="342900" indent="-342900"/>
            <a:r>
              <a:rPr lang="en-US" dirty="0"/>
              <a:t>When making up enum constants, the standard convention is to write them in all uppercase letters, since they are constants, although this is not required</a:t>
            </a:r>
          </a:p>
          <a:p>
            <a:endParaRPr lang="en-US" dirty="0"/>
          </a:p>
          <a:p>
            <a:r>
              <a:rPr lang="en-US" dirty="0"/>
              <a:t>Note: The enum constants are </a:t>
            </a:r>
            <a:r>
              <a:rPr lang="en-US" dirty="0">
                <a:solidFill>
                  <a:srgbClr val="FF0000"/>
                </a:solidFill>
              </a:rPr>
              <a:t>not enclosed in quotation marks</a:t>
            </a:r>
            <a:r>
              <a:rPr lang="en-US" dirty="0"/>
              <a:t>; </a:t>
            </a:r>
          </a:p>
          <a:p>
            <a:pPr lvl="1"/>
            <a:r>
              <a:rPr lang="en-US" dirty="0">
                <a:solidFill>
                  <a:srgbClr val="FF0000"/>
                </a:solidFill>
              </a:rPr>
              <a:t>They are not Strings</a:t>
            </a:r>
          </a:p>
          <a:p>
            <a:pPr lvl="1"/>
            <a:r>
              <a:rPr lang="en-US" dirty="0"/>
              <a:t>enum constants must be legal Java identifiers.</a:t>
            </a:r>
          </a:p>
        </p:txBody>
      </p:sp>
      <p:sp>
        <p:nvSpPr>
          <p:cNvPr id="4" name="Slide Number Placeholder 3">
            <a:extLst>
              <a:ext uri="{FF2B5EF4-FFF2-40B4-BE49-F238E27FC236}">
                <a16:creationId xmlns:a16="http://schemas.microsoft.com/office/drawing/2014/main" id="{942D9BB7-2772-6047-907C-A62DFD812E77}"/>
              </a:ext>
            </a:extLst>
          </p:cNvPr>
          <p:cNvSpPr>
            <a:spLocks noGrp="1"/>
          </p:cNvSpPr>
          <p:nvPr>
            <p:ph type="sldNum" sz="quarter" idx="12"/>
          </p:nvPr>
        </p:nvSpPr>
        <p:spPr/>
        <p:txBody>
          <a:bodyPr/>
          <a:lstStyle/>
          <a:p>
            <a:fld id="{13977939-A071-43C1-9268-F54CC2756BB5}" type="slidenum">
              <a:rPr lang="en-US" smtClean="0"/>
              <a:pPr/>
              <a:t>100</a:t>
            </a:fld>
            <a:endParaRPr lang="en-US" dirty="0"/>
          </a:p>
        </p:txBody>
      </p:sp>
    </p:spTree>
    <p:extLst>
      <p:ext uri="{BB962C8B-B14F-4D97-AF65-F5344CB8AC3E}">
        <p14:creationId xmlns:p14="http://schemas.microsoft.com/office/powerpoint/2010/main" val="399735920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2E81F-AFD9-3741-BF25-2E149EB77380}"/>
              </a:ext>
            </a:extLst>
          </p:cNvPr>
          <p:cNvSpPr>
            <a:spLocks noGrp="1"/>
          </p:cNvSpPr>
          <p:nvPr>
            <p:ph type="title"/>
          </p:nvPr>
        </p:nvSpPr>
        <p:spPr/>
        <p:txBody>
          <a:bodyPr>
            <a:noAutofit/>
          </a:bodyPr>
          <a:lstStyle/>
          <a:p>
            <a:r>
              <a:rPr lang="en-US" dirty="0"/>
              <a:t>Declaring And Using An Enumerated Variable</a:t>
            </a:r>
          </a:p>
        </p:txBody>
      </p:sp>
      <p:sp>
        <p:nvSpPr>
          <p:cNvPr id="3" name="Content Placeholder 2">
            <a:extLst>
              <a:ext uri="{FF2B5EF4-FFF2-40B4-BE49-F238E27FC236}">
                <a16:creationId xmlns:a16="http://schemas.microsoft.com/office/drawing/2014/main" id="{203D0037-4703-344C-ADF4-897E9E8F1D30}"/>
              </a:ext>
            </a:extLst>
          </p:cNvPr>
          <p:cNvSpPr>
            <a:spLocks noGrp="1"/>
          </p:cNvSpPr>
          <p:nvPr>
            <p:ph idx="1"/>
          </p:nvPr>
        </p:nvSpPr>
        <p:spPr>
          <a:xfrm>
            <a:off x="457200" y="1249679"/>
            <a:ext cx="8229600" cy="5471795"/>
          </a:xfrm>
        </p:spPr>
        <p:txBody>
          <a:bodyPr>
            <a:normAutofit fontScale="85000" lnSpcReduction="10000"/>
          </a:bodyPr>
          <a:lstStyle/>
          <a:p>
            <a:r>
              <a:rPr lang="en-US" dirty="0"/>
              <a:t>Once you have created an enumerated data type in your program, you can declare variables of that type – each of these is essentially an object of the </a:t>
            </a:r>
            <a:r>
              <a:rPr lang="en-US" dirty="0" err="1"/>
              <a:t>enum</a:t>
            </a:r>
            <a:r>
              <a:rPr lang="en-US" dirty="0"/>
              <a:t> class of that type</a:t>
            </a:r>
          </a:p>
          <a:p>
            <a:pPr marL="365760" lvl="1" indent="0">
              <a:buNone/>
            </a:pPr>
            <a:r>
              <a:rPr lang="en-US" dirty="0"/>
              <a:t>Day workDay; // creates a variable workDay</a:t>
            </a:r>
          </a:p>
          <a:p>
            <a:r>
              <a:rPr lang="en-US" dirty="0"/>
              <a:t>Because workDay is a Day variable, the only values that we can legally assign to it are the enum constants Day.SUNDAY, Day.MONDAY, Day.TUESDAY, Day.WEDNESDAY, Day.THURSDAY, Day.FRIDAY, and Day.SATURDAY</a:t>
            </a:r>
          </a:p>
          <a:p>
            <a:pPr marL="365760" lvl="1" indent="0">
              <a:buNone/>
            </a:pPr>
            <a:r>
              <a:rPr lang="en-US" dirty="0">
                <a:solidFill>
                  <a:srgbClr val="FF0000"/>
                </a:solidFill>
              </a:rPr>
              <a:t>Day workDay = Day.WEDNESDAY;//NOTE – this is a constant, no instantiation variable</a:t>
            </a:r>
          </a:p>
          <a:p>
            <a:r>
              <a:rPr lang="en-US" dirty="0"/>
              <a:t>If we try to assign any value other than one of the Day type’s enum constants, a compiler error will result. </a:t>
            </a:r>
          </a:p>
          <a:p>
            <a:pPr lvl="1"/>
            <a:r>
              <a:rPr lang="en-US" dirty="0"/>
              <a:t>Note: We assign Day.WEDNESDAY instead of just WEDNESDAY. The name Day.WEDNESDAY is the </a:t>
            </a:r>
            <a:r>
              <a:rPr lang="en-US" dirty="0">
                <a:solidFill>
                  <a:srgbClr val="FF0000"/>
                </a:solidFill>
              </a:rPr>
              <a:t>fully qualified name </a:t>
            </a:r>
            <a:r>
              <a:rPr lang="en-US" dirty="0"/>
              <a:t>of the Day type’s WEDNESDAY constant</a:t>
            </a:r>
          </a:p>
          <a:p>
            <a:pPr lvl="1"/>
            <a:r>
              <a:rPr lang="en-US" dirty="0"/>
              <a:t>Under most circumstances you must use the fully qualified name of an </a:t>
            </a:r>
            <a:r>
              <a:rPr lang="en-US" dirty="0" err="1"/>
              <a:t>enum</a:t>
            </a:r>
            <a:r>
              <a:rPr lang="en-US" dirty="0"/>
              <a:t> constant</a:t>
            </a:r>
          </a:p>
        </p:txBody>
      </p:sp>
      <p:sp>
        <p:nvSpPr>
          <p:cNvPr id="4" name="Slide Number Placeholder 3">
            <a:extLst>
              <a:ext uri="{FF2B5EF4-FFF2-40B4-BE49-F238E27FC236}">
                <a16:creationId xmlns:a16="http://schemas.microsoft.com/office/drawing/2014/main" id="{85092245-3CF2-844B-86B9-416E1931921D}"/>
              </a:ext>
            </a:extLst>
          </p:cNvPr>
          <p:cNvSpPr>
            <a:spLocks noGrp="1"/>
          </p:cNvSpPr>
          <p:nvPr>
            <p:ph type="sldNum" sz="quarter" idx="12"/>
          </p:nvPr>
        </p:nvSpPr>
        <p:spPr/>
        <p:txBody>
          <a:bodyPr/>
          <a:lstStyle/>
          <a:p>
            <a:fld id="{13977939-A071-43C1-9268-F54CC2756BB5}" type="slidenum">
              <a:rPr lang="en-US" smtClean="0"/>
              <a:pPr/>
              <a:t>101</a:t>
            </a:fld>
            <a:endParaRPr lang="en-US" dirty="0"/>
          </a:p>
        </p:txBody>
      </p:sp>
    </p:spTree>
    <p:extLst>
      <p:ext uri="{BB962C8B-B14F-4D97-AF65-F5344CB8AC3E}">
        <p14:creationId xmlns:p14="http://schemas.microsoft.com/office/powerpoint/2010/main" val="320848213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C8384-295F-1D41-9538-2AAC4B61E2F6}"/>
              </a:ext>
            </a:extLst>
          </p:cNvPr>
          <p:cNvSpPr>
            <a:spLocks noGrp="1"/>
          </p:cNvSpPr>
          <p:nvPr>
            <p:ph type="title"/>
          </p:nvPr>
        </p:nvSpPr>
        <p:spPr/>
        <p:txBody>
          <a:bodyPr>
            <a:noAutofit/>
          </a:bodyPr>
          <a:lstStyle/>
          <a:p>
            <a:r>
              <a:rPr lang="en-US" dirty="0"/>
              <a:t>An enum Type Is Really A Class</a:t>
            </a:r>
          </a:p>
        </p:txBody>
      </p:sp>
      <p:sp>
        <p:nvSpPr>
          <p:cNvPr id="3" name="Content Placeholder 2">
            <a:extLst>
              <a:ext uri="{FF2B5EF4-FFF2-40B4-BE49-F238E27FC236}">
                <a16:creationId xmlns:a16="http://schemas.microsoft.com/office/drawing/2014/main" id="{23B6E50F-028D-DE43-B89F-04787F79E911}"/>
              </a:ext>
            </a:extLst>
          </p:cNvPr>
          <p:cNvSpPr>
            <a:spLocks noGrp="1"/>
          </p:cNvSpPr>
          <p:nvPr>
            <p:ph idx="1"/>
          </p:nvPr>
        </p:nvSpPr>
        <p:spPr>
          <a:xfrm>
            <a:off x="457200" y="1249680"/>
            <a:ext cx="8229600" cy="5151120"/>
          </a:xfrm>
        </p:spPr>
        <p:txBody>
          <a:bodyPr>
            <a:normAutofit fontScale="85000" lnSpcReduction="10000"/>
          </a:bodyPr>
          <a:lstStyle/>
          <a:p>
            <a:r>
              <a:rPr lang="en-US" dirty="0"/>
              <a:t>When you write an enumerated type declaration, you are actually </a:t>
            </a:r>
            <a:r>
              <a:rPr lang="en-US" dirty="0">
                <a:solidFill>
                  <a:srgbClr val="FF0000"/>
                </a:solidFill>
              </a:rPr>
              <a:t>extending</a:t>
            </a:r>
            <a:r>
              <a:rPr lang="en-US" dirty="0"/>
              <a:t> a special kind of class called the Enum class</a:t>
            </a:r>
          </a:p>
          <a:p>
            <a:r>
              <a:rPr lang="en-US" dirty="0"/>
              <a:t>The enum constants that you list inside the braces are actually objects of the class</a:t>
            </a:r>
          </a:p>
          <a:p>
            <a:r>
              <a:rPr lang="en-US" dirty="0"/>
              <a:t>In the example, Day is a class, and the enum constants Day.SUNDAY, Day.MONDAY, Day.TUESDAY, Day.WEDNESDAY, Day.THURSDAY, Day.FRIDAY, and Day.SATURDAY are all instances of the Day class. </a:t>
            </a:r>
          </a:p>
          <a:p>
            <a:r>
              <a:rPr lang="en-US" dirty="0"/>
              <a:t>When we assigned Day.WEDNESDAY to the workDay variable, we were assigning a reference to the Day.WEDNESDAY object to the variable</a:t>
            </a:r>
          </a:p>
          <a:p>
            <a:endParaRPr lang="en-US" dirty="0"/>
          </a:p>
          <a:p>
            <a:r>
              <a:rPr lang="en-US" dirty="0"/>
              <a:t>You can actually have a class that is just its enum type (It will be a static type of class)</a:t>
            </a:r>
          </a:p>
          <a:p>
            <a:pPr lvl="1"/>
            <a:r>
              <a:rPr lang="en-US" dirty="0"/>
              <a:t>You can switch on an enum constant – </a:t>
            </a:r>
            <a:r>
              <a:rPr lang="en-US" dirty="0">
                <a:solidFill>
                  <a:srgbClr val="FF0000"/>
                </a:solidFill>
              </a:rPr>
              <a:t>see PickCar.java</a:t>
            </a:r>
          </a:p>
        </p:txBody>
      </p:sp>
      <p:sp>
        <p:nvSpPr>
          <p:cNvPr id="4" name="Slide Number Placeholder 3">
            <a:extLst>
              <a:ext uri="{FF2B5EF4-FFF2-40B4-BE49-F238E27FC236}">
                <a16:creationId xmlns:a16="http://schemas.microsoft.com/office/drawing/2014/main" id="{D4A01ADD-26F1-C54A-BF6B-A55BC25202A7}"/>
              </a:ext>
            </a:extLst>
          </p:cNvPr>
          <p:cNvSpPr>
            <a:spLocks noGrp="1"/>
          </p:cNvSpPr>
          <p:nvPr>
            <p:ph type="sldNum" sz="quarter" idx="12"/>
          </p:nvPr>
        </p:nvSpPr>
        <p:spPr/>
        <p:txBody>
          <a:bodyPr/>
          <a:lstStyle/>
          <a:p>
            <a:fld id="{13977939-A071-43C1-9268-F54CC2756BB5}" type="slidenum">
              <a:rPr lang="en-US" smtClean="0"/>
              <a:pPr/>
              <a:t>102</a:t>
            </a:fld>
            <a:endParaRPr lang="en-US" dirty="0"/>
          </a:p>
        </p:txBody>
      </p:sp>
    </p:spTree>
    <p:extLst>
      <p:ext uri="{BB962C8B-B14F-4D97-AF65-F5344CB8AC3E}">
        <p14:creationId xmlns:p14="http://schemas.microsoft.com/office/powerpoint/2010/main" val="150069000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E3ACB-80D8-C544-8CC8-BD0CE95ADF1D}"/>
              </a:ext>
            </a:extLst>
          </p:cNvPr>
          <p:cNvSpPr>
            <a:spLocks noGrp="1"/>
          </p:cNvSpPr>
          <p:nvPr>
            <p:ph type="title"/>
          </p:nvPr>
        </p:nvSpPr>
        <p:spPr>
          <a:xfrm>
            <a:off x="457200" y="591312"/>
            <a:ext cx="8229600" cy="475488"/>
          </a:xfrm>
        </p:spPr>
        <p:txBody>
          <a:bodyPr>
            <a:noAutofit/>
          </a:bodyPr>
          <a:lstStyle/>
          <a:p>
            <a:r>
              <a:rPr lang="en-US" dirty="0"/>
              <a:t>The enum May Be declared Inside Or Outside Of The class</a:t>
            </a:r>
          </a:p>
        </p:txBody>
      </p:sp>
      <p:sp>
        <p:nvSpPr>
          <p:cNvPr id="3" name="Content Placeholder 2">
            <a:extLst>
              <a:ext uri="{FF2B5EF4-FFF2-40B4-BE49-F238E27FC236}">
                <a16:creationId xmlns:a16="http://schemas.microsoft.com/office/drawing/2014/main" id="{E8BB6787-FEC9-C94C-98E4-2ADCB6B508B4}"/>
              </a:ext>
            </a:extLst>
          </p:cNvPr>
          <p:cNvSpPr>
            <a:spLocks noGrp="1"/>
          </p:cNvSpPr>
          <p:nvPr>
            <p:ph idx="1"/>
          </p:nvPr>
        </p:nvSpPr>
        <p:spPr/>
        <p:txBody>
          <a:bodyPr/>
          <a:lstStyle/>
          <a:p>
            <a:r>
              <a:rPr lang="en-US" dirty="0"/>
              <a:t>Enum itself is a class</a:t>
            </a:r>
          </a:p>
          <a:p>
            <a:r>
              <a:rPr lang="en-US" dirty="0"/>
              <a:t>See </a:t>
            </a:r>
            <a:r>
              <a:rPr lang="en-US" dirty="0">
                <a:solidFill>
                  <a:srgbClr val="FF0000"/>
                </a:solidFill>
              </a:rPr>
              <a:t>TestEnumColorV1.java</a:t>
            </a:r>
            <a:r>
              <a:rPr lang="en-US" dirty="0"/>
              <a:t> and </a:t>
            </a:r>
            <a:r>
              <a:rPr lang="en-US" dirty="0">
                <a:solidFill>
                  <a:srgbClr val="FF0000"/>
                </a:solidFill>
              </a:rPr>
              <a:t>TestEnumColorV2.java</a:t>
            </a:r>
          </a:p>
          <a:p>
            <a:r>
              <a:rPr lang="en-US" dirty="0"/>
              <a:t>Every enum constant is always implicitly public static final. </a:t>
            </a:r>
          </a:p>
          <a:p>
            <a:pPr lvl="1"/>
            <a:r>
              <a:rPr lang="en-US" dirty="0"/>
              <a:t>Since it is static, we can access it by using enum Name. </a:t>
            </a:r>
          </a:p>
          <a:p>
            <a:pPr lvl="1"/>
            <a:r>
              <a:rPr lang="en-US" dirty="0"/>
              <a:t>Since it is final, we can’t create child enums</a:t>
            </a:r>
          </a:p>
        </p:txBody>
      </p:sp>
      <p:sp>
        <p:nvSpPr>
          <p:cNvPr id="4" name="Slide Number Placeholder 3">
            <a:extLst>
              <a:ext uri="{FF2B5EF4-FFF2-40B4-BE49-F238E27FC236}">
                <a16:creationId xmlns:a16="http://schemas.microsoft.com/office/drawing/2014/main" id="{12355960-2D6E-1A4D-9766-93A6CCCB0795}"/>
              </a:ext>
            </a:extLst>
          </p:cNvPr>
          <p:cNvSpPr>
            <a:spLocks noGrp="1"/>
          </p:cNvSpPr>
          <p:nvPr>
            <p:ph type="sldNum" sz="quarter" idx="12"/>
          </p:nvPr>
        </p:nvSpPr>
        <p:spPr/>
        <p:txBody>
          <a:bodyPr/>
          <a:lstStyle/>
          <a:p>
            <a:fld id="{13977939-A071-43C1-9268-F54CC2756BB5}" type="slidenum">
              <a:rPr lang="en-US" smtClean="0"/>
              <a:pPr/>
              <a:t>103</a:t>
            </a:fld>
            <a:endParaRPr lang="en-US" dirty="0"/>
          </a:p>
        </p:txBody>
      </p:sp>
    </p:spTree>
    <p:extLst>
      <p:ext uri="{BB962C8B-B14F-4D97-AF65-F5344CB8AC3E}">
        <p14:creationId xmlns:p14="http://schemas.microsoft.com/office/powerpoint/2010/main" val="175362313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13638-3864-E449-9C36-F4440EC4EA53}"/>
              </a:ext>
            </a:extLst>
          </p:cNvPr>
          <p:cNvSpPr>
            <a:spLocks noGrp="1"/>
          </p:cNvSpPr>
          <p:nvPr>
            <p:ph type="title"/>
          </p:nvPr>
        </p:nvSpPr>
        <p:spPr>
          <a:xfrm>
            <a:off x="457200" y="76200"/>
            <a:ext cx="8305800" cy="780288"/>
          </a:xfrm>
        </p:spPr>
        <p:txBody>
          <a:bodyPr/>
          <a:lstStyle/>
          <a:p>
            <a:r>
              <a:rPr lang="en-US" dirty="0"/>
              <a:t>The enum Type Structure</a:t>
            </a:r>
          </a:p>
        </p:txBody>
      </p:sp>
      <p:sp>
        <p:nvSpPr>
          <p:cNvPr id="3" name="Slide Number Placeholder 2">
            <a:extLst>
              <a:ext uri="{FF2B5EF4-FFF2-40B4-BE49-F238E27FC236}">
                <a16:creationId xmlns:a16="http://schemas.microsoft.com/office/drawing/2014/main" id="{FB26FFFE-670D-D648-A4A9-B6AC81F8C8DD}"/>
              </a:ext>
            </a:extLst>
          </p:cNvPr>
          <p:cNvSpPr>
            <a:spLocks noGrp="1"/>
          </p:cNvSpPr>
          <p:nvPr>
            <p:ph type="sldNum" sz="quarter" idx="12"/>
          </p:nvPr>
        </p:nvSpPr>
        <p:spPr/>
        <p:txBody>
          <a:bodyPr/>
          <a:lstStyle/>
          <a:p>
            <a:fld id="{13977939-A071-43C1-9268-F54CC2756BB5}" type="slidenum">
              <a:rPr lang="en-US" smtClean="0"/>
              <a:pPr/>
              <a:t>104</a:t>
            </a:fld>
            <a:endParaRPr lang="en-US" dirty="0"/>
          </a:p>
        </p:txBody>
      </p:sp>
      <p:sp>
        <p:nvSpPr>
          <p:cNvPr id="4" name="Rectangle 3">
            <a:extLst>
              <a:ext uri="{FF2B5EF4-FFF2-40B4-BE49-F238E27FC236}">
                <a16:creationId xmlns:a16="http://schemas.microsoft.com/office/drawing/2014/main" id="{D3125F7F-F57C-E14C-8A9F-018A6EDC08B6}"/>
              </a:ext>
            </a:extLst>
          </p:cNvPr>
          <p:cNvSpPr/>
          <p:nvPr/>
        </p:nvSpPr>
        <p:spPr>
          <a:xfrm>
            <a:off x="1219200" y="3505200"/>
            <a:ext cx="1295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reference</a:t>
            </a:r>
          </a:p>
        </p:txBody>
      </p:sp>
      <p:sp>
        <p:nvSpPr>
          <p:cNvPr id="5" name="Rectangle 4">
            <a:extLst>
              <a:ext uri="{FF2B5EF4-FFF2-40B4-BE49-F238E27FC236}">
                <a16:creationId xmlns:a16="http://schemas.microsoft.com/office/drawing/2014/main" id="{5092FDF5-75A4-A34A-BD68-137EACBEBCB7}"/>
              </a:ext>
            </a:extLst>
          </p:cNvPr>
          <p:cNvSpPr/>
          <p:nvPr/>
        </p:nvSpPr>
        <p:spPr>
          <a:xfrm>
            <a:off x="4191000" y="1295400"/>
            <a:ext cx="2057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Day.SUNDAY</a:t>
            </a:r>
          </a:p>
        </p:txBody>
      </p:sp>
      <p:sp>
        <p:nvSpPr>
          <p:cNvPr id="6" name="Rectangle 5">
            <a:extLst>
              <a:ext uri="{FF2B5EF4-FFF2-40B4-BE49-F238E27FC236}">
                <a16:creationId xmlns:a16="http://schemas.microsoft.com/office/drawing/2014/main" id="{C0016479-5133-AD4E-B102-AF8EE53A68F7}"/>
              </a:ext>
            </a:extLst>
          </p:cNvPr>
          <p:cNvSpPr/>
          <p:nvPr/>
        </p:nvSpPr>
        <p:spPr>
          <a:xfrm>
            <a:off x="4191000" y="2057400"/>
            <a:ext cx="2057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Day.MONDAY</a:t>
            </a:r>
          </a:p>
        </p:txBody>
      </p:sp>
      <p:sp>
        <p:nvSpPr>
          <p:cNvPr id="7" name="Rectangle 6">
            <a:extLst>
              <a:ext uri="{FF2B5EF4-FFF2-40B4-BE49-F238E27FC236}">
                <a16:creationId xmlns:a16="http://schemas.microsoft.com/office/drawing/2014/main" id="{E6E3F91B-55FF-C545-8062-F3D5D55ECDCB}"/>
              </a:ext>
            </a:extLst>
          </p:cNvPr>
          <p:cNvSpPr/>
          <p:nvPr/>
        </p:nvSpPr>
        <p:spPr>
          <a:xfrm>
            <a:off x="4186718" y="2792156"/>
            <a:ext cx="2061682"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Day.TUESDAY</a:t>
            </a:r>
          </a:p>
        </p:txBody>
      </p:sp>
      <p:sp>
        <p:nvSpPr>
          <p:cNvPr id="8" name="Rectangle 7">
            <a:extLst>
              <a:ext uri="{FF2B5EF4-FFF2-40B4-BE49-F238E27FC236}">
                <a16:creationId xmlns:a16="http://schemas.microsoft.com/office/drawing/2014/main" id="{2E684A10-C4E2-5B42-A99B-BC1660F3C180}"/>
              </a:ext>
            </a:extLst>
          </p:cNvPr>
          <p:cNvSpPr/>
          <p:nvPr/>
        </p:nvSpPr>
        <p:spPr>
          <a:xfrm>
            <a:off x="4180726" y="3505200"/>
            <a:ext cx="2067674"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Day.WEDNESDAY</a:t>
            </a:r>
          </a:p>
        </p:txBody>
      </p:sp>
      <p:sp>
        <p:nvSpPr>
          <p:cNvPr id="9" name="Rectangle 8">
            <a:extLst>
              <a:ext uri="{FF2B5EF4-FFF2-40B4-BE49-F238E27FC236}">
                <a16:creationId xmlns:a16="http://schemas.microsoft.com/office/drawing/2014/main" id="{CBEC9390-2425-5748-9DB2-C25C65AC72D3}"/>
              </a:ext>
            </a:extLst>
          </p:cNvPr>
          <p:cNvSpPr/>
          <p:nvPr/>
        </p:nvSpPr>
        <p:spPr>
          <a:xfrm>
            <a:off x="4180726" y="4278638"/>
            <a:ext cx="2067674"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Day.THURSDAY</a:t>
            </a:r>
          </a:p>
        </p:txBody>
      </p:sp>
      <p:sp>
        <p:nvSpPr>
          <p:cNvPr id="10" name="Rectangle 9">
            <a:extLst>
              <a:ext uri="{FF2B5EF4-FFF2-40B4-BE49-F238E27FC236}">
                <a16:creationId xmlns:a16="http://schemas.microsoft.com/office/drawing/2014/main" id="{70670759-A101-1A4B-A613-AE0EDDB11795}"/>
              </a:ext>
            </a:extLst>
          </p:cNvPr>
          <p:cNvSpPr/>
          <p:nvPr/>
        </p:nvSpPr>
        <p:spPr>
          <a:xfrm>
            <a:off x="4180726" y="5136068"/>
            <a:ext cx="2067674"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Day.FRIDAY</a:t>
            </a:r>
          </a:p>
        </p:txBody>
      </p:sp>
      <p:sp>
        <p:nvSpPr>
          <p:cNvPr id="11" name="Rectangle 10">
            <a:extLst>
              <a:ext uri="{FF2B5EF4-FFF2-40B4-BE49-F238E27FC236}">
                <a16:creationId xmlns:a16="http://schemas.microsoft.com/office/drawing/2014/main" id="{E015E6D0-A130-3448-9C5E-8D6230D87826}"/>
              </a:ext>
            </a:extLst>
          </p:cNvPr>
          <p:cNvSpPr/>
          <p:nvPr/>
        </p:nvSpPr>
        <p:spPr>
          <a:xfrm>
            <a:off x="4180726" y="5907640"/>
            <a:ext cx="2067674"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Day.SATURDAY</a:t>
            </a:r>
          </a:p>
        </p:txBody>
      </p:sp>
      <p:cxnSp>
        <p:nvCxnSpPr>
          <p:cNvPr id="13" name="Straight Arrow Connector 12">
            <a:extLst>
              <a:ext uri="{FF2B5EF4-FFF2-40B4-BE49-F238E27FC236}">
                <a16:creationId xmlns:a16="http://schemas.microsoft.com/office/drawing/2014/main" id="{69FA976B-BCF0-5E41-84D5-B8C84E47E0FF}"/>
              </a:ext>
            </a:extLst>
          </p:cNvPr>
          <p:cNvCxnSpPr>
            <a:stCxn id="4" idx="3"/>
            <a:endCxn id="8" idx="1"/>
          </p:cNvCxnSpPr>
          <p:nvPr/>
        </p:nvCxnSpPr>
        <p:spPr>
          <a:xfrm>
            <a:off x="2514600" y="3733800"/>
            <a:ext cx="166612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F28A4288-5ABA-8543-9923-2E7F6548B669}"/>
              </a:ext>
            </a:extLst>
          </p:cNvPr>
          <p:cNvSpPr txBox="1"/>
          <p:nvPr/>
        </p:nvSpPr>
        <p:spPr>
          <a:xfrm>
            <a:off x="762000" y="2779313"/>
            <a:ext cx="571695" cy="369332"/>
          </a:xfrm>
          <a:prstGeom prst="rect">
            <a:avLst/>
          </a:prstGeom>
          <a:noFill/>
        </p:spPr>
        <p:txBody>
          <a:bodyPr wrap="none" rtlCol="0">
            <a:spAutoFit/>
          </a:bodyPr>
          <a:lstStyle/>
          <a:p>
            <a:r>
              <a:rPr lang="en-US" dirty="0"/>
              <a:t>Day</a:t>
            </a:r>
          </a:p>
        </p:txBody>
      </p:sp>
      <p:sp>
        <p:nvSpPr>
          <p:cNvPr id="15" name="Arc 14">
            <a:extLst>
              <a:ext uri="{FF2B5EF4-FFF2-40B4-BE49-F238E27FC236}">
                <a16:creationId xmlns:a16="http://schemas.microsoft.com/office/drawing/2014/main" id="{6392DF1D-A897-BA46-AF9E-062F3BCD5CEB}"/>
              </a:ext>
            </a:extLst>
          </p:cNvPr>
          <p:cNvSpPr/>
          <p:nvPr/>
        </p:nvSpPr>
        <p:spPr>
          <a:xfrm>
            <a:off x="685800" y="3200400"/>
            <a:ext cx="647700" cy="533400"/>
          </a:xfrm>
          <a:prstGeom prst="arc">
            <a:avLst/>
          </a:prstGeom>
          <a:ln w="15875" cap="flat" cmpd="sng" algn="ctr">
            <a:solidFill>
              <a:schemeClr val="accent1">
                <a:lumMod val="7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US" dirty="0"/>
          </a:p>
        </p:txBody>
      </p:sp>
    </p:spTree>
    <p:extLst>
      <p:ext uri="{BB962C8B-B14F-4D97-AF65-F5344CB8AC3E}">
        <p14:creationId xmlns:p14="http://schemas.microsoft.com/office/powerpoint/2010/main" val="200600351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8B618-C420-3D46-BFE4-A3CEB4864C39}"/>
              </a:ext>
            </a:extLst>
          </p:cNvPr>
          <p:cNvSpPr>
            <a:spLocks noGrp="1"/>
          </p:cNvSpPr>
          <p:nvPr>
            <p:ph type="title"/>
          </p:nvPr>
        </p:nvSpPr>
        <p:spPr/>
        <p:txBody>
          <a:bodyPr>
            <a:noAutofit/>
          </a:bodyPr>
          <a:lstStyle/>
          <a:p>
            <a:r>
              <a:rPr lang="en-US" dirty="0"/>
              <a:t>Common Methods Of The enum Type</a:t>
            </a:r>
          </a:p>
        </p:txBody>
      </p:sp>
      <p:graphicFrame>
        <p:nvGraphicFramePr>
          <p:cNvPr id="5" name="Content Placeholder 4">
            <a:extLst>
              <a:ext uri="{FF2B5EF4-FFF2-40B4-BE49-F238E27FC236}">
                <a16:creationId xmlns:a16="http://schemas.microsoft.com/office/drawing/2014/main" id="{502EF0B4-2FE3-9A4F-8EB0-E83BD4974F95}"/>
              </a:ext>
            </a:extLst>
          </p:cNvPr>
          <p:cNvGraphicFramePr>
            <a:graphicFrameLocks noGrp="1"/>
          </p:cNvGraphicFramePr>
          <p:nvPr>
            <p:ph idx="1"/>
          </p:nvPr>
        </p:nvGraphicFramePr>
        <p:xfrm>
          <a:off x="533400" y="1371600"/>
          <a:ext cx="8305801" cy="338836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699374564"/>
                    </a:ext>
                  </a:extLst>
                </a:gridCol>
                <a:gridCol w="3048000">
                  <a:extLst>
                    <a:ext uri="{9D8B030D-6E8A-4147-A177-3AD203B41FA5}">
                      <a16:colId xmlns:a16="http://schemas.microsoft.com/office/drawing/2014/main" val="507387627"/>
                    </a:ext>
                  </a:extLst>
                </a:gridCol>
                <a:gridCol w="2971801">
                  <a:extLst>
                    <a:ext uri="{9D8B030D-6E8A-4147-A177-3AD203B41FA5}">
                      <a16:colId xmlns:a16="http://schemas.microsoft.com/office/drawing/2014/main" val="2188040667"/>
                    </a:ext>
                  </a:extLst>
                </a:gridCol>
              </a:tblGrid>
              <a:tr h="370840">
                <a:tc>
                  <a:txBody>
                    <a:bodyPr/>
                    <a:lstStyle/>
                    <a:p>
                      <a:r>
                        <a:rPr lang="en-US" sz="1200" dirty="0">
                          <a:latin typeface="Arial" panose="020B0604020202020204" pitchFamily="34" charset="0"/>
                          <a:cs typeface="Arial" panose="020B0604020202020204" pitchFamily="34" charset="0"/>
                        </a:rPr>
                        <a:t>Method Name</a:t>
                      </a:r>
                    </a:p>
                  </a:txBody>
                  <a:tcPr/>
                </a:tc>
                <a:tc>
                  <a:txBody>
                    <a:bodyPr/>
                    <a:lstStyle/>
                    <a:p>
                      <a:r>
                        <a:rPr lang="en-US" sz="1200" dirty="0">
                          <a:latin typeface="Arial" panose="020B0604020202020204" pitchFamily="34" charset="0"/>
                          <a:cs typeface="Arial" panose="020B0604020202020204" pitchFamily="34" charset="0"/>
                        </a:rPr>
                        <a:t>Description</a:t>
                      </a:r>
                    </a:p>
                  </a:txBody>
                  <a:tcPr/>
                </a:tc>
                <a:tc>
                  <a:txBody>
                    <a:bodyPr/>
                    <a:lstStyle/>
                    <a:p>
                      <a:r>
                        <a:rPr lang="en-US" sz="1200" dirty="0">
                          <a:latin typeface="Arial" panose="020B0604020202020204" pitchFamily="34" charset="0"/>
                          <a:cs typeface="Arial" panose="020B0604020202020204" pitchFamily="34" charset="0"/>
                        </a:rPr>
                        <a:t>Example</a:t>
                      </a:r>
                    </a:p>
                  </a:txBody>
                  <a:tcPr/>
                </a:tc>
                <a:extLst>
                  <a:ext uri="{0D108BD9-81ED-4DB2-BD59-A6C34878D82A}">
                    <a16:rowId xmlns:a16="http://schemas.microsoft.com/office/drawing/2014/main" val="4001337380"/>
                  </a:ext>
                </a:extLst>
              </a:tr>
              <a:tr h="370840">
                <a:tc>
                  <a:txBody>
                    <a:bodyPr/>
                    <a:lstStyle/>
                    <a:p>
                      <a:r>
                        <a:rPr lang="en-US" sz="1200" dirty="0">
                          <a:latin typeface="Arial" panose="020B0604020202020204" pitchFamily="34" charset="0"/>
                          <a:cs typeface="Arial" panose="020B0604020202020204" pitchFamily="34" charset="0"/>
                        </a:rPr>
                        <a:t>int </a:t>
                      </a:r>
                      <a:r>
                        <a:rPr lang="en-US" sz="1200" dirty="0">
                          <a:solidFill>
                            <a:srgbClr val="FF0000"/>
                          </a:solidFill>
                          <a:latin typeface="Arial" panose="020B0604020202020204" pitchFamily="34" charset="0"/>
                          <a:cs typeface="Arial" panose="020B0604020202020204" pitchFamily="34" charset="0"/>
                        </a:rPr>
                        <a:t>ordinal</a:t>
                      </a:r>
                      <a:r>
                        <a:rPr lang="en-US" sz="1200" dirty="0">
                          <a:latin typeface="Arial" panose="020B0604020202020204" pitchFamily="34" charset="0"/>
                          <a:cs typeface="Arial" panose="020B0604020202020204" pitchFamily="34" charset="0"/>
                        </a:rPr>
                        <a:t>()</a:t>
                      </a:r>
                    </a:p>
                  </a:txBody>
                  <a:tcPr/>
                </a:tc>
                <a:tc>
                  <a:txBody>
                    <a:bodyPr/>
                    <a:lstStyle/>
                    <a:p>
                      <a:r>
                        <a:rPr lang="en-US" sz="1200" dirty="0">
                          <a:latin typeface="Arial" panose="020B0604020202020204" pitchFamily="34" charset="0"/>
                          <a:cs typeface="Arial" panose="020B0604020202020204" pitchFamily="34" charset="0"/>
                        </a:rPr>
                        <a:t>Returns the numeric value of the enum object</a:t>
                      </a:r>
                    </a:p>
                  </a:txBody>
                  <a:tcPr/>
                </a:tc>
                <a:tc>
                  <a:txBody>
                    <a:bodyPr/>
                    <a:lstStyle/>
                    <a:p>
                      <a:r>
                        <a:rPr lang="en-US" sz="1200" dirty="0">
                          <a:latin typeface="Arial" panose="020B0604020202020204" pitchFamily="34" charset="0"/>
                          <a:cs typeface="Arial" panose="020B0604020202020204" pitchFamily="34" charset="0"/>
                        </a:rPr>
                        <a:t>Day.SUNDAY.ordinal() returns 0</a:t>
                      </a:r>
                    </a:p>
                    <a:p>
                      <a:r>
                        <a:rPr lang="en-US" sz="1200" dirty="0">
                          <a:latin typeface="Arial" panose="020B0604020202020204" pitchFamily="34" charset="0"/>
                          <a:cs typeface="Arial" panose="020B0604020202020204" pitchFamily="34" charset="0"/>
                        </a:rPr>
                        <a:t>Day.THURSDAY.ordinal() returns 4</a:t>
                      </a:r>
                    </a:p>
                  </a:txBody>
                  <a:tcPr/>
                </a:tc>
                <a:extLst>
                  <a:ext uri="{0D108BD9-81ED-4DB2-BD59-A6C34878D82A}">
                    <a16:rowId xmlns:a16="http://schemas.microsoft.com/office/drawing/2014/main" val="1696467637"/>
                  </a:ext>
                </a:extLst>
              </a:tr>
              <a:tr h="370840">
                <a:tc>
                  <a:txBody>
                    <a:bodyPr/>
                    <a:lstStyle/>
                    <a:p>
                      <a:r>
                        <a:rPr lang="en-US" sz="1200" dirty="0">
                          <a:latin typeface="Arial" panose="020B0604020202020204" pitchFamily="34" charset="0"/>
                          <a:cs typeface="Arial" panose="020B0604020202020204" pitchFamily="34" charset="0"/>
                        </a:rPr>
                        <a:t>boolean </a:t>
                      </a:r>
                      <a:r>
                        <a:rPr lang="en-US" sz="1200" dirty="0">
                          <a:solidFill>
                            <a:srgbClr val="FF0000"/>
                          </a:solidFill>
                          <a:latin typeface="Arial" panose="020B0604020202020204" pitchFamily="34" charset="0"/>
                          <a:cs typeface="Arial" panose="020B0604020202020204" pitchFamily="34" charset="0"/>
                        </a:rPr>
                        <a:t>equals</a:t>
                      </a:r>
                      <a:r>
                        <a:rPr lang="en-US" sz="1200" dirty="0">
                          <a:latin typeface="Arial" panose="020B0604020202020204" pitchFamily="34" charset="0"/>
                          <a:cs typeface="Arial" panose="020B0604020202020204" pitchFamily="34" charset="0"/>
                        </a:rPr>
                        <a:t>(Enum object)</a:t>
                      </a:r>
                    </a:p>
                  </a:txBody>
                  <a:tcPr/>
                </a:tc>
                <a:tc>
                  <a:txBody>
                    <a:bodyPr/>
                    <a:lstStyle/>
                    <a:p>
                      <a:r>
                        <a:rPr lang="en-US" sz="1200" dirty="0">
                          <a:latin typeface="Arial" panose="020B0604020202020204" pitchFamily="34" charset="0"/>
                          <a:cs typeface="Arial" panose="020B0604020202020204" pitchFamily="34" charset="0"/>
                        </a:rPr>
                        <a:t>Returns true or false based on whether the values of the objects are equal</a:t>
                      </a:r>
                    </a:p>
                  </a:txBody>
                  <a:tcPr/>
                </a:tc>
                <a:tc>
                  <a:txBody>
                    <a:bodyPr/>
                    <a:lstStyle/>
                    <a:p>
                      <a:r>
                        <a:rPr lang="en-US" sz="1200" dirty="0" err="1">
                          <a:latin typeface="Arial" panose="020B0604020202020204" pitchFamily="34" charset="0"/>
                          <a:cs typeface="Arial" panose="020B0604020202020204" pitchFamily="34" charset="0"/>
                        </a:rPr>
                        <a:t>Day.SUNDAY.equals</a:t>
                      </a:r>
                      <a:r>
                        <a:rPr lang="en-US" sz="1200" dirty="0">
                          <a:latin typeface="Arial" panose="020B0604020202020204" pitchFamily="34" charset="0"/>
                          <a:cs typeface="Arial" panose="020B0604020202020204" pitchFamily="34" charset="0"/>
                        </a:rPr>
                        <a:t>(Day.THURSDAY) returns false</a:t>
                      </a:r>
                    </a:p>
                  </a:txBody>
                  <a:tcPr/>
                </a:tc>
                <a:extLst>
                  <a:ext uri="{0D108BD9-81ED-4DB2-BD59-A6C34878D82A}">
                    <a16:rowId xmlns:a16="http://schemas.microsoft.com/office/drawing/2014/main" val="910851679"/>
                  </a:ext>
                </a:extLst>
              </a:tr>
              <a:tr h="370840">
                <a:tc>
                  <a:txBody>
                    <a:bodyPr/>
                    <a:lstStyle/>
                    <a:p>
                      <a:r>
                        <a:rPr lang="en-US" sz="1200" dirty="0">
                          <a:latin typeface="Arial" panose="020B0604020202020204" pitchFamily="34" charset="0"/>
                          <a:cs typeface="Arial" panose="020B0604020202020204" pitchFamily="34" charset="0"/>
                        </a:rPr>
                        <a:t>int </a:t>
                      </a:r>
                      <a:r>
                        <a:rPr lang="en-US" sz="1200" dirty="0">
                          <a:solidFill>
                            <a:srgbClr val="FF0000"/>
                          </a:solidFill>
                          <a:latin typeface="Arial" panose="020B0604020202020204" pitchFamily="34" charset="0"/>
                          <a:cs typeface="Arial" panose="020B0604020202020204" pitchFamily="34" charset="0"/>
                        </a:rPr>
                        <a:t>compareTo</a:t>
                      </a:r>
                      <a:r>
                        <a:rPr lang="en-US" sz="1200" dirty="0">
                          <a:latin typeface="Arial" panose="020B0604020202020204" pitchFamily="34" charset="0"/>
                          <a:cs typeface="Arial" panose="020B0604020202020204" pitchFamily="34" charset="0"/>
                        </a:rPr>
                        <a:t> (Enum object)</a:t>
                      </a:r>
                    </a:p>
                  </a:txBody>
                  <a:tcPr/>
                </a:tc>
                <a:tc>
                  <a:txBody>
                    <a:bodyPr/>
                    <a:lstStyle/>
                    <a:p>
                      <a:r>
                        <a:rPr lang="en-US" sz="1200" dirty="0">
                          <a:latin typeface="Arial" panose="020B0604020202020204" pitchFamily="34" charset="0"/>
                          <a:cs typeface="Arial" panose="020B0604020202020204" pitchFamily="34" charset="0"/>
                        </a:rPr>
                        <a:t>Compares the two objects and returns a negative number if the ordinal of this object is less than the argument, 0 if they are the same or positive if the ordinal of the object is greater than the ordinal of the parameter</a:t>
                      </a:r>
                    </a:p>
                  </a:txBody>
                  <a:tcPr/>
                </a:tc>
                <a:tc>
                  <a:txBody>
                    <a:bodyPr/>
                    <a:lstStyle/>
                    <a:p>
                      <a:r>
                        <a:rPr lang="en-US" sz="1200" dirty="0">
                          <a:latin typeface="Arial" panose="020B0604020202020204" pitchFamily="34" charset="0"/>
                          <a:cs typeface="Arial" panose="020B0604020202020204" pitchFamily="34" charset="0"/>
                        </a:rPr>
                        <a:t>Day.WEDNESDAY.compareTo(DAY.THURSDAY) returns a value &lt;0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Day.THURSDAY.compareTo(DAY.WEDNESDAY) returns a value &gt;0</a:t>
                      </a:r>
                    </a:p>
                    <a:p>
                      <a:r>
                        <a:rPr lang="en-US" sz="1200" dirty="0">
                          <a:latin typeface="Arial" panose="020B0604020202020204" pitchFamily="34" charset="0"/>
                          <a:cs typeface="Arial" panose="020B0604020202020204" pitchFamily="34" charset="0"/>
                        </a:rPr>
                        <a:t>Day.THURSDAY.compareTo(DAY.THURSDAY) returns 0</a:t>
                      </a:r>
                    </a:p>
                  </a:txBody>
                  <a:tcPr/>
                </a:tc>
                <a:extLst>
                  <a:ext uri="{0D108BD9-81ED-4DB2-BD59-A6C34878D82A}">
                    <a16:rowId xmlns:a16="http://schemas.microsoft.com/office/drawing/2014/main" val="500601267"/>
                  </a:ext>
                </a:extLst>
              </a:tr>
              <a:tr h="370840">
                <a:tc>
                  <a:txBody>
                    <a:bodyPr/>
                    <a:lstStyle/>
                    <a:p>
                      <a:r>
                        <a:rPr lang="en-US" sz="1200" dirty="0">
                          <a:latin typeface="Arial" panose="020B0604020202020204" pitchFamily="34" charset="0"/>
                          <a:cs typeface="Arial" panose="020B0604020202020204" pitchFamily="34" charset="0"/>
                        </a:rPr>
                        <a:t>String toString()</a:t>
                      </a:r>
                    </a:p>
                  </a:txBody>
                  <a:tcPr/>
                </a:tc>
                <a:tc>
                  <a:txBody>
                    <a:bodyPr/>
                    <a:lstStyle/>
                    <a:p>
                      <a:r>
                        <a:rPr lang="en-US" sz="1200" dirty="0">
                          <a:latin typeface="Arial" panose="020B0604020202020204" pitchFamily="34" charset="0"/>
                          <a:cs typeface="Arial" panose="020B0604020202020204" pitchFamily="34" charset="0"/>
                        </a:rPr>
                        <a:t>Returns the name of the enumerated constant</a:t>
                      </a:r>
                    </a:p>
                  </a:txBody>
                  <a:tcPr/>
                </a:tc>
                <a:tc>
                  <a:txBody>
                    <a:bodyPr/>
                    <a:lstStyle/>
                    <a:p>
                      <a:r>
                        <a:rPr lang="en-US" sz="1200" dirty="0">
                          <a:latin typeface="Arial" panose="020B0604020202020204" pitchFamily="34" charset="0"/>
                          <a:cs typeface="Arial" panose="020B0604020202020204" pitchFamily="34" charset="0"/>
                        </a:rPr>
                        <a:t>Day.SUNDAY.toString() returns “SUNDAY”</a:t>
                      </a:r>
                    </a:p>
                  </a:txBody>
                  <a:tcPr/>
                </a:tc>
                <a:extLst>
                  <a:ext uri="{0D108BD9-81ED-4DB2-BD59-A6C34878D82A}">
                    <a16:rowId xmlns:a16="http://schemas.microsoft.com/office/drawing/2014/main" val="3287752244"/>
                  </a:ext>
                </a:extLst>
              </a:tr>
              <a:tr h="370840">
                <a:tc>
                  <a:txBody>
                    <a:bodyPr/>
                    <a:lstStyle/>
                    <a:p>
                      <a:r>
                        <a:rPr lang="en-US" sz="1200" dirty="0">
                          <a:latin typeface="Arial" panose="020B0604020202020204" pitchFamily="34" charset="0"/>
                          <a:cs typeface="Arial" panose="020B0604020202020204" pitchFamily="34" charset="0"/>
                        </a:rPr>
                        <a:t>Enum </a:t>
                      </a:r>
                      <a:r>
                        <a:rPr lang="en-US" sz="1200" dirty="0">
                          <a:solidFill>
                            <a:srgbClr val="FF0000"/>
                          </a:solidFill>
                          <a:latin typeface="Arial" panose="020B0604020202020204" pitchFamily="34" charset="0"/>
                          <a:cs typeface="Arial" panose="020B0604020202020204" pitchFamily="34" charset="0"/>
                        </a:rPr>
                        <a:t>valueOf</a:t>
                      </a:r>
                      <a:r>
                        <a:rPr lang="en-US" sz="1200" dirty="0">
                          <a:latin typeface="Arial" panose="020B0604020202020204" pitchFamily="34" charset="0"/>
                          <a:cs typeface="Arial" panose="020B0604020202020204" pitchFamily="34" charset="0"/>
                        </a:rPr>
                        <a:t>(String enumName)</a:t>
                      </a:r>
                    </a:p>
                  </a:txBody>
                  <a:tcPr/>
                </a:tc>
                <a:tc>
                  <a:txBody>
                    <a:bodyPr/>
                    <a:lstStyle/>
                    <a:p>
                      <a:r>
                        <a:rPr lang="en-US" sz="1200" dirty="0">
                          <a:latin typeface="Arial" panose="020B0604020202020204" pitchFamily="34" charset="0"/>
                          <a:cs typeface="Arial" panose="020B0604020202020204" pitchFamily="34" charset="0"/>
                        </a:rPr>
                        <a:t>Returns the enum object whose name is the same as the String argument</a:t>
                      </a:r>
                    </a:p>
                  </a:txBody>
                  <a:tcPr/>
                </a:tc>
                <a:tc>
                  <a:txBody>
                    <a:bodyPr/>
                    <a:lstStyle/>
                    <a:p>
                      <a:r>
                        <a:rPr lang="en-US" sz="1200" dirty="0">
                          <a:latin typeface="Arial" panose="020B0604020202020204" pitchFamily="34" charset="0"/>
                          <a:cs typeface="Arial" panose="020B0604020202020204" pitchFamily="34" charset="0"/>
                        </a:rPr>
                        <a:t>Day.valueOf("WEDNESDAY") returns WEDNESDAY</a:t>
                      </a:r>
                    </a:p>
                  </a:txBody>
                  <a:tcPr/>
                </a:tc>
                <a:extLst>
                  <a:ext uri="{0D108BD9-81ED-4DB2-BD59-A6C34878D82A}">
                    <a16:rowId xmlns:a16="http://schemas.microsoft.com/office/drawing/2014/main" val="2038987126"/>
                  </a:ext>
                </a:extLst>
              </a:tr>
            </a:tbl>
          </a:graphicData>
        </a:graphic>
      </p:graphicFrame>
      <p:sp>
        <p:nvSpPr>
          <p:cNvPr id="4" name="Slide Number Placeholder 3">
            <a:extLst>
              <a:ext uri="{FF2B5EF4-FFF2-40B4-BE49-F238E27FC236}">
                <a16:creationId xmlns:a16="http://schemas.microsoft.com/office/drawing/2014/main" id="{F96533FD-648B-284A-B49E-3E4F6F85F625}"/>
              </a:ext>
            </a:extLst>
          </p:cNvPr>
          <p:cNvSpPr>
            <a:spLocks noGrp="1"/>
          </p:cNvSpPr>
          <p:nvPr>
            <p:ph type="sldNum" sz="quarter" idx="12"/>
          </p:nvPr>
        </p:nvSpPr>
        <p:spPr/>
        <p:txBody>
          <a:bodyPr/>
          <a:lstStyle/>
          <a:p>
            <a:fld id="{13977939-A071-43C1-9268-F54CC2756BB5}" type="slidenum">
              <a:rPr lang="en-US" smtClean="0"/>
              <a:pPr/>
              <a:t>105</a:t>
            </a:fld>
            <a:endParaRPr lang="en-US" dirty="0"/>
          </a:p>
        </p:txBody>
      </p:sp>
      <p:sp>
        <p:nvSpPr>
          <p:cNvPr id="6" name="TextBox 5">
            <a:extLst>
              <a:ext uri="{FF2B5EF4-FFF2-40B4-BE49-F238E27FC236}">
                <a16:creationId xmlns:a16="http://schemas.microsoft.com/office/drawing/2014/main" id="{EFE1F0B9-2D09-9740-8E5D-7ED0FCF57216}"/>
              </a:ext>
            </a:extLst>
          </p:cNvPr>
          <p:cNvSpPr txBox="1"/>
          <p:nvPr/>
        </p:nvSpPr>
        <p:spPr>
          <a:xfrm>
            <a:off x="914400" y="5257800"/>
            <a:ext cx="2387961" cy="646331"/>
          </a:xfrm>
          <a:prstGeom prst="rect">
            <a:avLst/>
          </a:prstGeom>
          <a:noFill/>
        </p:spPr>
        <p:txBody>
          <a:bodyPr wrap="none" rtlCol="0">
            <a:spAutoFit/>
          </a:bodyPr>
          <a:lstStyle/>
          <a:p>
            <a:r>
              <a:rPr lang="en-US" dirty="0"/>
              <a:t>See </a:t>
            </a:r>
            <a:r>
              <a:rPr lang="en-US" dirty="0">
                <a:solidFill>
                  <a:srgbClr val="FF0000"/>
                </a:solidFill>
              </a:rPr>
              <a:t>EnumTester.java</a:t>
            </a:r>
          </a:p>
          <a:p>
            <a:r>
              <a:rPr lang="en-US" dirty="0"/>
              <a:t>See</a:t>
            </a:r>
            <a:r>
              <a:rPr lang="en-US" dirty="0">
                <a:solidFill>
                  <a:srgbClr val="FF0000"/>
                </a:solidFill>
              </a:rPr>
              <a:t> </a:t>
            </a:r>
            <a:r>
              <a:rPr lang="en-US" dirty="0" err="1">
                <a:solidFill>
                  <a:srgbClr val="FF0000"/>
                </a:solidFill>
              </a:rPr>
              <a:t>TestEnumDay.java</a:t>
            </a:r>
            <a:endParaRPr lang="en-US" dirty="0">
              <a:solidFill>
                <a:srgbClr val="FF0000"/>
              </a:solidFill>
            </a:endParaRPr>
          </a:p>
        </p:txBody>
      </p:sp>
    </p:spTree>
    <p:extLst>
      <p:ext uri="{BB962C8B-B14F-4D97-AF65-F5344CB8AC3E}">
        <p14:creationId xmlns:p14="http://schemas.microsoft.com/office/powerpoint/2010/main" val="245512743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E3ACB-80D8-C544-8CC8-BD0CE95ADF1D}"/>
              </a:ext>
            </a:extLst>
          </p:cNvPr>
          <p:cNvSpPr>
            <a:spLocks noGrp="1"/>
          </p:cNvSpPr>
          <p:nvPr>
            <p:ph type="title"/>
          </p:nvPr>
        </p:nvSpPr>
        <p:spPr>
          <a:xfrm>
            <a:off x="457200" y="591312"/>
            <a:ext cx="8229600" cy="475488"/>
          </a:xfrm>
        </p:spPr>
        <p:txBody>
          <a:bodyPr>
            <a:noAutofit/>
          </a:bodyPr>
          <a:lstStyle/>
          <a:p>
            <a:r>
              <a:rPr lang="en-US" dirty="0"/>
              <a:t>The </a:t>
            </a:r>
            <a:r>
              <a:rPr lang="en-US" dirty="0" err="1"/>
              <a:t>enum</a:t>
            </a:r>
            <a:r>
              <a:rPr lang="en-US" dirty="0"/>
              <a:t> class – Rules summary</a:t>
            </a:r>
          </a:p>
        </p:txBody>
      </p:sp>
      <p:sp>
        <p:nvSpPr>
          <p:cNvPr id="3" name="Content Placeholder 2">
            <a:extLst>
              <a:ext uri="{FF2B5EF4-FFF2-40B4-BE49-F238E27FC236}">
                <a16:creationId xmlns:a16="http://schemas.microsoft.com/office/drawing/2014/main" id="{E8BB6787-FEC9-C94C-98E4-2ADCB6B508B4}"/>
              </a:ext>
            </a:extLst>
          </p:cNvPr>
          <p:cNvSpPr>
            <a:spLocks noGrp="1"/>
          </p:cNvSpPr>
          <p:nvPr>
            <p:ph idx="1"/>
          </p:nvPr>
        </p:nvSpPr>
        <p:spPr/>
        <p:txBody>
          <a:bodyPr/>
          <a:lstStyle/>
          <a:p>
            <a:r>
              <a:rPr lang="en-US" dirty="0" err="1"/>
              <a:t>enum</a:t>
            </a:r>
            <a:r>
              <a:rPr lang="en-US" dirty="0"/>
              <a:t> itself is a class</a:t>
            </a:r>
          </a:p>
          <a:p>
            <a:r>
              <a:rPr lang="en-US" dirty="0" err="1"/>
              <a:t>enum</a:t>
            </a:r>
            <a:r>
              <a:rPr lang="en-US" dirty="0"/>
              <a:t> constants are implicitly final</a:t>
            </a:r>
          </a:p>
          <a:p>
            <a:r>
              <a:rPr lang="en-US" dirty="0" err="1"/>
              <a:t>enum</a:t>
            </a:r>
            <a:r>
              <a:rPr lang="en-US" dirty="0"/>
              <a:t> constants are implicitly static</a:t>
            </a:r>
          </a:p>
          <a:p>
            <a:r>
              <a:rPr lang="en-US" dirty="0"/>
              <a:t>Any attempt to create an object of an </a:t>
            </a:r>
            <a:r>
              <a:rPr lang="en-US" dirty="0" err="1"/>
              <a:t>enum</a:t>
            </a:r>
            <a:r>
              <a:rPr lang="en-US" dirty="0"/>
              <a:t> type with operator new results in a compilation error</a:t>
            </a:r>
          </a:p>
          <a:p>
            <a:r>
              <a:rPr lang="en-US" dirty="0"/>
              <a:t>The </a:t>
            </a:r>
            <a:r>
              <a:rPr lang="en-US" dirty="0" err="1"/>
              <a:t>enum</a:t>
            </a:r>
            <a:r>
              <a:rPr lang="en-US" dirty="0"/>
              <a:t> constants can be used anywhere constants can be used, such as in the case labels of switch statements and to control enhanced for statements</a:t>
            </a:r>
          </a:p>
          <a:p>
            <a:endParaRPr lang="en-US" dirty="0"/>
          </a:p>
        </p:txBody>
      </p:sp>
      <p:sp>
        <p:nvSpPr>
          <p:cNvPr id="4" name="Slide Number Placeholder 3">
            <a:extLst>
              <a:ext uri="{FF2B5EF4-FFF2-40B4-BE49-F238E27FC236}">
                <a16:creationId xmlns:a16="http://schemas.microsoft.com/office/drawing/2014/main" id="{12355960-2D6E-1A4D-9766-93A6CCCB0795}"/>
              </a:ext>
            </a:extLst>
          </p:cNvPr>
          <p:cNvSpPr>
            <a:spLocks noGrp="1"/>
          </p:cNvSpPr>
          <p:nvPr>
            <p:ph type="sldNum" sz="quarter" idx="12"/>
          </p:nvPr>
        </p:nvSpPr>
        <p:spPr/>
        <p:txBody>
          <a:bodyPr/>
          <a:lstStyle/>
          <a:p>
            <a:fld id="{13977939-A071-43C1-9268-F54CC2756BB5}" type="slidenum">
              <a:rPr lang="en-US" smtClean="0"/>
              <a:pPr/>
              <a:t>106</a:t>
            </a:fld>
            <a:endParaRPr lang="en-US" dirty="0"/>
          </a:p>
        </p:txBody>
      </p:sp>
    </p:spTree>
    <p:extLst>
      <p:ext uri="{BB962C8B-B14F-4D97-AF65-F5344CB8AC3E}">
        <p14:creationId xmlns:p14="http://schemas.microsoft.com/office/powerpoint/2010/main" val="158158490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D4A9209-0C5B-A04C-AE6D-8A589A42ADD6}"/>
              </a:ext>
            </a:extLst>
          </p:cNvPr>
          <p:cNvSpPr>
            <a:spLocks noGrp="1"/>
          </p:cNvSpPr>
          <p:nvPr>
            <p:ph type="title" idx="4294967295"/>
          </p:nvPr>
        </p:nvSpPr>
        <p:spPr>
          <a:xfrm>
            <a:off x="530225" y="2705100"/>
            <a:ext cx="7772400" cy="1509713"/>
          </a:xfrm>
          <a:prstGeom prst="rect">
            <a:avLst/>
          </a:prstGeom>
          <a:noFill/>
          <a:ln>
            <a:noFill/>
            <a:prstDash/>
          </a:ln>
          <a:effectLst/>
        </p:spPr>
        <p:txBody>
          <a:bodyPr rot="0" spcFirstLastPara="0" vertOverflow="overflow" horzOverflow="overflow" vert="horz" wrap="square" lIns="45720" tIns="45720" rIns="45720" bIns="45720" numCol="1" spcCol="0" rtlCol="0" fromWordArt="0" anchor="t" anchorCtr="0" forceAA="0" compatLnSpc="1">
            <a:prstTxWarp prst="textNoShape">
              <a:avLst/>
            </a:prstTxWarp>
            <a:normAutofit/>
          </a:bodyPr>
          <a:lstStyle/>
          <a:p>
            <a:pPr marL="0" marR="0" lvl="0" indent="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200" b="0" i="0" u="none" strike="noStrike" kern="1200" cap="none" spc="0" normalizeH="0" baseline="0" noProof="0" dirty="0">
                <a:ln>
                  <a:noFill/>
                </a:ln>
                <a:solidFill>
                  <a:schemeClr val="tx1"/>
                </a:solidFill>
                <a:effectLst/>
                <a:uLnTx/>
                <a:uFillTx/>
                <a:latin typeface="+mn-lt"/>
                <a:ea typeface="+mn-ea"/>
                <a:cs typeface="+mn-cs"/>
              </a:rPr>
              <a:t>Inheritance</a:t>
            </a:r>
          </a:p>
        </p:txBody>
      </p:sp>
      <p:sp>
        <p:nvSpPr>
          <p:cNvPr id="4" name="Slide Number Placeholder 3">
            <a:extLst>
              <a:ext uri="{FF2B5EF4-FFF2-40B4-BE49-F238E27FC236}">
                <a16:creationId xmlns:a16="http://schemas.microsoft.com/office/drawing/2014/main" id="{6601E8D5-E994-B243-95B8-FA660B3713FE}"/>
              </a:ext>
            </a:extLst>
          </p:cNvPr>
          <p:cNvSpPr>
            <a:spLocks noGrp="1"/>
          </p:cNvSpPr>
          <p:nvPr>
            <p:ph type="sldNum" sz="quarter" idx="12"/>
          </p:nvPr>
        </p:nvSpPr>
        <p:spPr/>
        <p:txBody>
          <a:bodyPr/>
          <a:lstStyle/>
          <a:p>
            <a:fld id="{13977939-A071-43C1-9268-F54CC2756BB5}" type="slidenum">
              <a:rPr lang="en-US" smtClean="0"/>
              <a:pPr/>
              <a:t>107</a:t>
            </a:fld>
            <a:endParaRPr lang="en-US" dirty="0"/>
          </a:p>
        </p:txBody>
      </p:sp>
    </p:spTree>
    <p:extLst>
      <p:ext uri="{BB962C8B-B14F-4D97-AF65-F5344CB8AC3E}">
        <p14:creationId xmlns:p14="http://schemas.microsoft.com/office/powerpoint/2010/main" val="84325523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CAC1C-1A58-2E40-9E8B-9591145287A6}"/>
              </a:ext>
            </a:extLst>
          </p:cNvPr>
          <p:cNvSpPr>
            <a:spLocks noGrp="1"/>
          </p:cNvSpPr>
          <p:nvPr>
            <p:ph type="title"/>
          </p:nvPr>
        </p:nvSpPr>
        <p:spPr/>
        <p:txBody>
          <a:bodyPr>
            <a:noAutofit/>
          </a:bodyPr>
          <a:lstStyle/>
          <a:p>
            <a:r>
              <a:rPr lang="en-US" dirty="0"/>
              <a:t>What Is Inheritance?</a:t>
            </a:r>
          </a:p>
        </p:txBody>
      </p:sp>
      <p:sp>
        <p:nvSpPr>
          <p:cNvPr id="3" name="Content Placeholder 2">
            <a:extLst>
              <a:ext uri="{FF2B5EF4-FFF2-40B4-BE49-F238E27FC236}">
                <a16:creationId xmlns:a16="http://schemas.microsoft.com/office/drawing/2014/main" id="{B3E2FA09-98A4-4E4C-A57D-AD0DDB3723DC}"/>
              </a:ext>
            </a:extLst>
          </p:cNvPr>
          <p:cNvSpPr>
            <a:spLocks noGrp="1"/>
          </p:cNvSpPr>
          <p:nvPr>
            <p:ph idx="1"/>
          </p:nvPr>
        </p:nvSpPr>
        <p:spPr>
          <a:xfrm>
            <a:off x="457200" y="1249680"/>
            <a:ext cx="8229600" cy="5227320"/>
          </a:xfrm>
        </p:spPr>
        <p:txBody>
          <a:bodyPr>
            <a:normAutofit lnSpcReduction="10000"/>
          </a:bodyPr>
          <a:lstStyle/>
          <a:p>
            <a:r>
              <a:rPr lang="en-US" altLang="en-US" dirty="0"/>
              <a:t>Object oriented languages have a feature called inheritance, that enables you to define new classes based upon an existing class. </a:t>
            </a:r>
          </a:p>
          <a:p>
            <a:pPr lvl="1"/>
            <a:r>
              <a:rPr lang="en-US" altLang="en-US" dirty="0"/>
              <a:t>The new classes are similar to the existing class but have additional member variables and methods. </a:t>
            </a:r>
          </a:p>
          <a:p>
            <a:pPr lvl="1"/>
            <a:r>
              <a:rPr lang="en-US" altLang="en-US" dirty="0"/>
              <a:t>This makes programming easier because you can build upon an existing class instead of starting out from scratch.</a:t>
            </a:r>
          </a:p>
          <a:p>
            <a:r>
              <a:rPr lang="en-US" altLang="en-US" dirty="0"/>
              <a:t>Inheritance is part of the reason for the enormous success of modern software. </a:t>
            </a:r>
          </a:p>
          <a:p>
            <a:r>
              <a:rPr lang="en-US" altLang="en-US" dirty="0"/>
              <a:t>Programmers are able to build upon previous work and to continuously improve and upgrade existing software.</a:t>
            </a:r>
          </a:p>
          <a:p>
            <a:endParaRPr lang="en-US" altLang="en-US" dirty="0"/>
          </a:p>
        </p:txBody>
      </p:sp>
      <p:sp>
        <p:nvSpPr>
          <p:cNvPr id="4" name="Slide Number Placeholder 3">
            <a:extLst>
              <a:ext uri="{FF2B5EF4-FFF2-40B4-BE49-F238E27FC236}">
                <a16:creationId xmlns:a16="http://schemas.microsoft.com/office/drawing/2014/main" id="{4625D86A-35F6-504C-A220-143FBD148F3D}"/>
              </a:ext>
            </a:extLst>
          </p:cNvPr>
          <p:cNvSpPr>
            <a:spLocks noGrp="1"/>
          </p:cNvSpPr>
          <p:nvPr>
            <p:ph type="sldNum" sz="quarter" idx="12"/>
          </p:nvPr>
        </p:nvSpPr>
        <p:spPr/>
        <p:txBody>
          <a:bodyPr/>
          <a:lstStyle/>
          <a:p>
            <a:fld id="{13977939-A071-43C1-9268-F54CC2756BB5}" type="slidenum">
              <a:rPr lang="en-US" smtClean="0"/>
              <a:pPr/>
              <a:t>108</a:t>
            </a:fld>
            <a:endParaRPr lang="en-US" dirty="0"/>
          </a:p>
        </p:txBody>
      </p:sp>
    </p:spTree>
    <p:extLst>
      <p:ext uri="{BB962C8B-B14F-4D97-AF65-F5344CB8AC3E}">
        <p14:creationId xmlns:p14="http://schemas.microsoft.com/office/powerpoint/2010/main" val="166784367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CAC1C-1A58-2E40-9E8B-9591145287A6}"/>
              </a:ext>
            </a:extLst>
          </p:cNvPr>
          <p:cNvSpPr>
            <a:spLocks noGrp="1"/>
          </p:cNvSpPr>
          <p:nvPr>
            <p:ph type="title"/>
          </p:nvPr>
        </p:nvSpPr>
        <p:spPr/>
        <p:txBody>
          <a:bodyPr>
            <a:noAutofit/>
          </a:bodyPr>
          <a:lstStyle/>
          <a:p>
            <a:r>
              <a:rPr lang="en-US" dirty="0"/>
              <a:t>Basic Principles Of Inheritance</a:t>
            </a:r>
          </a:p>
        </p:txBody>
      </p:sp>
      <p:sp>
        <p:nvSpPr>
          <p:cNvPr id="3" name="Content Placeholder 2">
            <a:extLst>
              <a:ext uri="{FF2B5EF4-FFF2-40B4-BE49-F238E27FC236}">
                <a16:creationId xmlns:a16="http://schemas.microsoft.com/office/drawing/2014/main" id="{B3E2FA09-98A4-4E4C-A57D-AD0DDB3723DC}"/>
              </a:ext>
            </a:extLst>
          </p:cNvPr>
          <p:cNvSpPr>
            <a:spLocks noGrp="1"/>
          </p:cNvSpPr>
          <p:nvPr>
            <p:ph idx="1"/>
          </p:nvPr>
        </p:nvSpPr>
        <p:spPr>
          <a:xfrm>
            <a:off x="457200" y="1143000"/>
            <a:ext cx="8229600" cy="5334000"/>
          </a:xfrm>
        </p:spPr>
        <p:txBody>
          <a:bodyPr>
            <a:normAutofit/>
          </a:bodyPr>
          <a:lstStyle/>
          <a:p>
            <a:r>
              <a:rPr lang="en-US" altLang="en-US" dirty="0"/>
              <a:t>A common form of reuse of classes is inheritance.</a:t>
            </a:r>
          </a:p>
          <a:p>
            <a:r>
              <a:rPr lang="en-US" altLang="en-US" dirty="0"/>
              <a:t>We can organize classes into</a:t>
            </a:r>
            <a:r>
              <a:rPr lang="en-US" altLang="en-US" b="1" dirty="0"/>
              <a:t> </a:t>
            </a:r>
            <a:r>
              <a:rPr lang="en-US" altLang="en-US" dirty="0"/>
              <a:t>hierarchies of functionality.</a:t>
            </a:r>
          </a:p>
          <a:p>
            <a:r>
              <a:rPr lang="en-US" altLang="en-US" dirty="0"/>
              <a:t>The class at the top of the hierarchy (superclass) defines instance variables and methods common to all classes in the hierarchy.</a:t>
            </a:r>
          </a:p>
          <a:p>
            <a:r>
              <a:rPr lang="en-US" altLang="en-US" dirty="0"/>
              <a:t>We derive a subclass, which can inherit both behavior and fields from the superclass.</a:t>
            </a:r>
          </a:p>
        </p:txBody>
      </p:sp>
      <p:sp>
        <p:nvSpPr>
          <p:cNvPr id="4" name="Slide Number Placeholder 3">
            <a:extLst>
              <a:ext uri="{FF2B5EF4-FFF2-40B4-BE49-F238E27FC236}">
                <a16:creationId xmlns:a16="http://schemas.microsoft.com/office/drawing/2014/main" id="{4625D86A-35F6-504C-A220-143FBD148F3D}"/>
              </a:ext>
            </a:extLst>
          </p:cNvPr>
          <p:cNvSpPr>
            <a:spLocks noGrp="1"/>
          </p:cNvSpPr>
          <p:nvPr>
            <p:ph type="sldNum" sz="quarter" idx="12"/>
          </p:nvPr>
        </p:nvSpPr>
        <p:spPr/>
        <p:txBody>
          <a:bodyPr/>
          <a:lstStyle/>
          <a:p>
            <a:fld id="{13977939-A071-43C1-9268-F54CC2756BB5}" type="slidenum">
              <a:rPr lang="en-US" smtClean="0"/>
              <a:pPr/>
              <a:t>109</a:t>
            </a:fld>
            <a:endParaRPr lang="en-US" dirty="0"/>
          </a:p>
        </p:txBody>
      </p:sp>
    </p:spTree>
    <p:extLst>
      <p:ext uri="{BB962C8B-B14F-4D97-AF65-F5344CB8AC3E}">
        <p14:creationId xmlns:p14="http://schemas.microsoft.com/office/powerpoint/2010/main" val="149415891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13782-58A0-614F-9877-4E70513FE6C3}"/>
              </a:ext>
            </a:extLst>
          </p:cNvPr>
          <p:cNvSpPr>
            <a:spLocks noGrp="1"/>
          </p:cNvSpPr>
          <p:nvPr>
            <p:ph type="title"/>
          </p:nvPr>
        </p:nvSpPr>
        <p:spPr/>
        <p:txBody>
          <a:bodyPr>
            <a:noAutofit/>
          </a:bodyPr>
          <a:lstStyle/>
          <a:p>
            <a:r>
              <a:rPr lang="en-US" dirty="0"/>
              <a:t>Java and Inheritance</a:t>
            </a:r>
          </a:p>
        </p:txBody>
      </p:sp>
      <p:sp>
        <p:nvSpPr>
          <p:cNvPr id="3" name="Content Placeholder 2">
            <a:extLst>
              <a:ext uri="{FF2B5EF4-FFF2-40B4-BE49-F238E27FC236}">
                <a16:creationId xmlns:a16="http://schemas.microsoft.com/office/drawing/2014/main" id="{ECF70303-F45B-EA47-B52E-07F0A66748BA}"/>
              </a:ext>
            </a:extLst>
          </p:cNvPr>
          <p:cNvSpPr>
            <a:spLocks noGrp="1"/>
          </p:cNvSpPr>
          <p:nvPr>
            <p:ph idx="1"/>
          </p:nvPr>
        </p:nvSpPr>
        <p:spPr>
          <a:xfrm>
            <a:off x="304800" y="1249680"/>
            <a:ext cx="7467600" cy="4922520"/>
          </a:xfrm>
        </p:spPr>
        <p:txBody>
          <a:bodyPr>
            <a:normAutofit fontScale="85000" lnSpcReduction="10000"/>
          </a:bodyPr>
          <a:lstStyle/>
          <a:p>
            <a:r>
              <a:rPr lang="en-US" dirty="0"/>
              <a:t>The class that is used to define a new class is called a parent class (or superclass or base class.) The class based on the parent class is called a child class (or subclass or derived class.)</a:t>
            </a:r>
          </a:p>
          <a:p>
            <a:r>
              <a:rPr lang="en-US" dirty="0"/>
              <a:t>In diagrams, the arrow points from the child to the parent.</a:t>
            </a:r>
          </a:p>
          <a:p>
            <a:r>
              <a:rPr lang="en-US" dirty="0">
                <a:solidFill>
                  <a:srgbClr val="FF0000"/>
                </a:solidFill>
              </a:rPr>
              <a:t>In Java, (unlike with humans) children inherit characteristics from just one parent. </a:t>
            </a:r>
          </a:p>
          <a:p>
            <a:pPr lvl="1"/>
            <a:r>
              <a:rPr lang="en-US" dirty="0">
                <a:solidFill>
                  <a:srgbClr val="FF0000"/>
                </a:solidFill>
              </a:rPr>
              <a:t>This is called </a:t>
            </a:r>
            <a:r>
              <a:rPr lang="en-US" b="1" dirty="0">
                <a:solidFill>
                  <a:srgbClr val="FF0000"/>
                </a:solidFill>
              </a:rPr>
              <a:t>single inheritance</a:t>
            </a:r>
            <a:r>
              <a:rPr lang="en-US" dirty="0">
                <a:solidFill>
                  <a:srgbClr val="FF0000"/>
                </a:solidFill>
              </a:rPr>
              <a:t>.</a:t>
            </a:r>
            <a:r>
              <a:rPr lang="en-US" dirty="0"/>
              <a:t> </a:t>
            </a:r>
          </a:p>
          <a:p>
            <a:r>
              <a:rPr lang="en-US" dirty="0"/>
              <a:t>Some languages allow a child to inherit from more than one parent. </a:t>
            </a:r>
          </a:p>
          <a:p>
            <a:pPr lvl="1"/>
            <a:r>
              <a:rPr lang="en-US" dirty="0"/>
              <a:t>This is called multiple inheritance. </a:t>
            </a:r>
          </a:p>
          <a:p>
            <a:pPr lvl="1"/>
            <a:r>
              <a:rPr lang="en-US" dirty="0"/>
              <a:t>With multiple inheritance, it is sometimes hard to tell which parent contributed what characteristics to the child (as with humans). </a:t>
            </a:r>
          </a:p>
          <a:p>
            <a:pPr lvl="1"/>
            <a:r>
              <a:rPr lang="en-US" dirty="0"/>
              <a:t>Java avoids these problems by using single inheritance.</a:t>
            </a:r>
          </a:p>
        </p:txBody>
      </p:sp>
      <p:sp>
        <p:nvSpPr>
          <p:cNvPr id="4" name="Slide Number Placeholder 3">
            <a:extLst>
              <a:ext uri="{FF2B5EF4-FFF2-40B4-BE49-F238E27FC236}">
                <a16:creationId xmlns:a16="http://schemas.microsoft.com/office/drawing/2014/main" id="{202C6BFE-522A-BE4E-BDCF-302B405032D6}"/>
              </a:ext>
            </a:extLst>
          </p:cNvPr>
          <p:cNvSpPr>
            <a:spLocks noGrp="1"/>
          </p:cNvSpPr>
          <p:nvPr>
            <p:ph type="sldNum" sz="quarter" idx="12"/>
          </p:nvPr>
        </p:nvSpPr>
        <p:spPr/>
        <p:txBody>
          <a:bodyPr/>
          <a:lstStyle/>
          <a:p>
            <a:fld id="{13977939-A071-43C1-9268-F54CC2756BB5}" type="slidenum">
              <a:rPr lang="en-US" smtClean="0"/>
              <a:pPr/>
              <a:t>110</a:t>
            </a:fld>
            <a:endParaRPr lang="en-US" dirty="0"/>
          </a:p>
        </p:txBody>
      </p:sp>
      <p:pic>
        <p:nvPicPr>
          <p:cNvPr id="5" name="Picture 4">
            <a:extLst>
              <a:ext uri="{FF2B5EF4-FFF2-40B4-BE49-F238E27FC236}">
                <a16:creationId xmlns:a16="http://schemas.microsoft.com/office/drawing/2014/main" id="{ADCA37BE-DB6B-3C42-99F0-5BCF138514BB}"/>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543800" y="1828800"/>
            <a:ext cx="1282700" cy="2235200"/>
          </a:xfrm>
          <a:prstGeom prst="rect">
            <a:avLst/>
          </a:prstGeom>
        </p:spPr>
      </p:pic>
    </p:spTree>
    <p:extLst>
      <p:ext uri="{BB962C8B-B14F-4D97-AF65-F5344CB8AC3E}">
        <p14:creationId xmlns:p14="http://schemas.microsoft.com/office/powerpoint/2010/main" val="391250249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CAC1C-1A58-2E40-9E8B-9591145287A6}"/>
              </a:ext>
            </a:extLst>
          </p:cNvPr>
          <p:cNvSpPr>
            <a:spLocks noGrp="1"/>
          </p:cNvSpPr>
          <p:nvPr>
            <p:ph type="title"/>
          </p:nvPr>
        </p:nvSpPr>
        <p:spPr/>
        <p:txBody>
          <a:bodyPr>
            <a:noAutofit/>
          </a:bodyPr>
          <a:lstStyle/>
          <a:p>
            <a:r>
              <a:rPr lang="en-US" dirty="0"/>
              <a:t>A Few Common Synonyms</a:t>
            </a:r>
          </a:p>
        </p:txBody>
      </p:sp>
      <p:sp>
        <p:nvSpPr>
          <p:cNvPr id="3" name="Content Placeholder 2">
            <a:extLst>
              <a:ext uri="{FF2B5EF4-FFF2-40B4-BE49-F238E27FC236}">
                <a16:creationId xmlns:a16="http://schemas.microsoft.com/office/drawing/2014/main" id="{B3E2FA09-98A4-4E4C-A57D-AD0DDB3723DC}"/>
              </a:ext>
            </a:extLst>
          </p:cNvPr>
          <p:cNvSpPr>
            <a:spLocks noGrp="1"/>
          </p:cNvSpPr>
          <p:nvPr>
            <p:ph idx="1"/>
          </p:nvPr>
        </p:nvSpPr>
        <p:spPr>
          <a:xfrm>
            <a:off x="457200" y="1143000"/>
            <a:ext cx="8229600" cy="2819400"/>
          </a:xfrm>
        </p:spPr>
        <p:txBody>
          <a:bodyPr>
            <a:normAutofit/>
          </a:bodyPr>
          <a:lstStyle/>
          <a:p>
            <a:r>
              <a:rPr lang="en-US" altLang="en-US" dirty="0"/>
              <a:t>There are three sets of phrases for describing inheritance relationships:</a:t>
            </a:r>
          </a:p>
          <a:p>
            <a:pPr lvl="1"/>
            <a:r>
              <a:rPr lang="en-US" altLang="en-US" dirty="0"/>
              <a:t>parent / child</a:t>
            </a:r>
          </a:p>
          <a:p>
            <a:pPr lvl="1"/>
            <a:r>
              <a:rPr lang="en-US" altLang="en-US" dirty="0"/>
              <a:t>base class / derived class</a:t>
            </a:r>
          </a:p>
          <a:p>
            <a:pPr lvl="1"/>
            <a:r>
              <a:rPr lang="en-US" altLang="en-US" dirty="0"/>
              <a:t>superclass / subclass</a:t>
            </a:r>
          </a:p>
          <a:p>
            <a:r>
              <a:rPr lang="en-US" altLang="en-US" dirty="0"/>
              <a:t>Programmers use all three sets interchangeably.</a:t>
            </a:r>
          </a:p>
        </p:txBody>
      </p:sp>
      <p:sp>
        <p:nvSpPr>
          <p:cNvPr id="4" name="Slide Number Placeholder 3">
            <a:extLst>
              <a:ext uri="{FF2B5EF4-FFF2-40B4-BE49-F238E27FC236}">
                <a16:creationId xmlns:a16="http://schemas.microsoft.com/office/drawing/2014/main" id="{4625D86A-35F6-504C-A220-143FBD148F3D}"/>
              </a:ext>
            </a:extLst>
          </p:cNvPr>
          <p:cNvSpPr>
            <a:spLocks noGrp="1"/>
          </p:cNvSpPr>
          <p:nvPr>
            <p:ph type="sldNum" sz="quarter" idx="12"/>
          </p:nvPr>
        </p:nvSpPr>
        <p:spPr/>
        <p:txBody>
          <a:bodyPr/>
          <a:lstStyle/>
          <a:p>
            <a:fld id="{13977939-A071-43C1-9268-F54CC2756BB5}" type="slidenum">
              <a:rPr lang="en-US" smtClean="0"/>
              <a:pPr/>
              <a:t>111</a:t>
            </a:fld>
            <a:endParaRPr lang="en-US" dirty="0"/>
          </a:p>
        </p:txBody>
      </p:sp>
      <p:pic>
        <p:nvPicPr>
          <p:cNvPr id="5" name="Picture 4">
            <a:extLst>
              <a:ext uri="{FF2B5EF4-FFF2-40B4-BE49-F238E27FC236}">
                <a16:creationId xmlns:a16="http://schemas.microsoft.com/office/drawing/2014/main" id="{1B80D4A8-F7E0-BD41-B282-2EBD9BD2F46F}"/>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828800" y="4023846"/>
            <a:ext cx="5156200" cy="2235200"/>
          </a:xfrm>
          <a:prstGeom prst="rect">
            <a:avLst/>
          </a:prstGeom>
        </p:spPr>
      </p:pic>
    </p:spTree>
    <p:extLst>
      <p:ext uri="{BB962C8B-B14F-4D97-AF65-F5344CB8AC3E}">
        <p14:creationId xmlns:p14="http://schemas.microsoft.com/office/powerpoint/2010/main" val="356146518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B214D-3140-A143-8FFE-04BB6C8C8A2B}"/>
              </a:ext>
            </a:extLst>
          </p:cNvPr>
          <p:cNvSpPr>
            <a:spLocks noGrp="1"/>
          </p:cNvSpPr>
          <p:nvPr>
            <p:ph type="title"/>
          </p:nvPr>
        </p:nvSpPr>
        <p:spPr/>
        <p:txBody>
          <a:bodyPr>
            <a:normAutofit fontScale="90000"/>
          </a:bodyPr>
          <a:lstStyle/>
          <a:p>
            <a:r>
              <a:rPr lang="en-US" dirty="0"/>
              <a:t>Specifying Inheritance In Java</a:t>
            </a:r>
          </a:p>
        </p:txBody>
      </p:sp>
      <p:sp>
        <p:nvSpPr>
          <p:cNvPr id="3" name="Content Placeholder 2">
            <a:extLst>
              <a:ext uri="{FF2B5EF4-FFF2-40B4-BE49-F238E27FC236}">
                <a16:creationId xmlns:a16="http://schemas.microsoft.com/office/drawing/2014/main" id="{BFE48C09-A828-2F41-AE4B-2BBDD5FDEBCB}"/>
              </a:ext>
            </a:extLst>
          </p:cNvPr>
          <p:cNvSpPr>
            <a:spLocks noGrp="1"/>
          </p:cNvSpPr>
          <p:nvPr>
            <p:ph idx="1"/>
          </p:nvPr>
        </p:nvSpPr>
        <p:spPr>
          <a:xfrm>
            <a:off x="457200" y="1249680"/>
            <a:ext cx="8229600" cy="5303520"/>
          </a:xfrm>
        </p:spPr>
        <p:txBody>
          <a:bodyPr>
            <a:normAutofit fontScale="77500" lnSpcReduction="20000"/>
          </a:bodyPr>
          <a:lstStyle/>
          <a:p>
            <a:r>
              <a:rPr lang="en-US" dirty="0"/>
              <a:t>The syntax for defining a subclass is to use the </a:t>
            </a:r>
            <a:r>
              <a:rPr lang="en-US" dirty="0">
                <a:solidFill>
                  <a:srgbClr val="FF0000"/>
                </a:solidFill>
              </a:rPr>
              <a:t>extends</a:t>
            </a:r>
            <a:r>
              <a:rPr lang="en-US" dirty="0"/>
              <a:t> keyword in the class header, as in</a:t>
            </a:r>
          </a:p>
          <a:p>
            <a:pPr marL="0" indent="0">
              <a:buNone/>
            </a:pPr>
            <a:endParaRPr lang="en-US" dirty="0"/>
          </a:p>
          <a:p>
            <a:pPr marL="0" indent="0">
              <a:buNone/>
            </a:pPr>
            <a:r>
              <a:rPr lang="en-US" dirty="0"/>
              <a:t> accessModifier class SubclassName </a:t>
            </a:r>
            <a:r>
              <a:rPr lang="en-US" dirty="0">
                <a:solidFill>
                  <a:srgbClr val="FF0000"/>
                </a:solidFill>
              </a:rPr>
              <a:t>extends</a:t>
            </a:r>
            <a:r>
              <a:rPr lang="en-US" dirty="0"/>
              <a:t> SuperclassName</a:t>
            </a:r>
          </a:p>
          <a:p>
            <a:pPr marL="0" indent="0">
              <a:buNone/>
            </a:pPr>
            <a:r>
              <a:rPr lang="en-US" dirty="0"/>
              <a:t>{</a:t>
            </a:r>
          </a:p>
          <a:p>
            <a:pPr marL="0" indent="0">
              <a:buNone/>
            </a:pPr>
            <a:r>
              <a:rPr lang="en-US" dirty="0"/>
              <a:t>     // class definition – new variables, constructors and other      </a:t>
            </a:r>
          </a:p>
          <a:p>
            <a:pPr marL="0" indent="0">
              <a:buNone/>
            </a:pPr>
            <a:r>
              <a:rPr lang="en-US" dirty="0"/>
              <a:t>         methods (new or overriding)</a:t>
            </a:r>
          </a:p>
          <a:p>
            <a:pPr marL="0" indent="0">
              <a:buNone/>
            </a:pPr>
            <a:r>
              <a:rPr lang="en-US" dirty="0"/>
              <a:t>}</a:t>
            </a:r>
          </a:p>
          <a:p>
            <a:endParaRPr lang="en-US" dirty="0"/>
          </a:p>
          <a:p>
            <a:r>
              <a:rPr lang="en-US" dirty="0"/>
              <a:t>The superclass name specified after the extends keyword is called the direct superclass.</a:t>
            </a:r>
          </a:p>
          <a:p>
            <a:r>
              <a:rPr lang="en-US" dirty="0"/>
              <a:t>As mentioned, a subclass can have many superclasses, </a:t>
            </a:r>
            <a:r>
              <a:rPr lang="en-US" b="1" dirty="0">
                <a:solidFill>
                  <a:srgbClr val="FF0000"/>
                </a:solidFill>
              </a:rPr>
              <a:t>but only one direct superclass</a:t>
            </a:r>
            <a:r>
              <a:rPr lang="en-US" dirty="0"/>
              <a:t>.</a:t>
            </a:r>
          </a:p>
          <a:p>
            <a:r>
              <a:rPr lang="en-US" dirty="0"/>
              <a:t>We will be seeing this extends word quite a bit this semester with generics</a:t>
            </a:r>
          </a:p>
          <a:p>
            <a:r>
              <a:rPr lang="en-US" dirty="0"/>
              <a:t>Note: If we are dealing with a “first-level” class it still has a parent, the Object class, but we don’t need the extends phrase</a:t>
            </a:r>
          </a:p>
          <a:p>
            <a:endParaRPr lang="en-US" dirty="0"/>
          </a:p>
          <a:p>
            <a:endParaRPr lang="en-US" dirty="0"/>
          </a:p>
        </p:txBody>
      </p:sp>
      <p:sp>
        <p:nvSpPr>
          <p:cNvPr id="4" name="Slide Number Placeholder 3">
            <a:extLst>
              <a:ext uri="{FF2B5EF4-FFF2-40B4-BE49-F238E27FC236}">
                <a16:creationId xmlns:a16="http://schemas.microsoft.com/office/drawing/2014/main" id="{89FD37FC-FA5E-744B-B83F-FF82530436A8}"/>
              </a:ext>
            </a:extLst>
          </p:cNvPr>
          <p:cNvSpPr>
            <a:spLocks noGrp="1"/>
          </p:cNvSpPr>
          <p:nvPr>
            <p:ph type="sldNum" sz="quarter" idx="12"/>
          </p:nvPr>
        </p:nvSpPr>
        <p:spPr/>
        <p:txBody>
          <a:bodyPr/>
          <a:lstStyle/>
          <a:p>
            <a:fld id="{13977939-A071-43C1-9268-F54CC2756BB5}" type="slidenum">
              <a:rPr lang="en-US" smtClean="0"/>
              <a:pPr/>
              <a:t>112</a:t>
            </a:fld>
            <a:endParaRPr lang="en-US" dirty="0"/>
          </a:p>
        </p:txBody>
      </p:sp>
    </p:spTree>
    <p:extLst>
      <p:ext uri="{BB962C8B-B14F-4D97-AF65-F5344CB8AC3E}">
        <p14:creationId xmlns:p14="http://schemas.microsoft.com/office/powerpoint/2010/main" val="286663079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E9C5F-0252-454F-8A8E-986C0BD49E3F}"/>
              </a:ext>
            </a:extLst>
          </p:cNvPr>
          <p:cNvSpPr>
            <a:spLocks noGrp="1"/>
          </p:cNvSpPr>
          <p:nvPr>
            <p:ph type="title"/>
          </p:nvPr>
        </p:nvSpPr>
        <p:spPr/>
        <p:txBody>
          <a:bodyPr>
            <a:noAutofit/>
          </a:bodyPr>
          <a:lstStyle/>
          <a:p>
            <a:r>
              <a:rPr lang="en-US" dirty="0"/>
              <a:t>Visualizing A Simple Hierarchy In UML</a:t>
            </a:r>
          </a:p>
        </p:txBody>
      </p:sp>
      <p:sp>
        <p:nvSpPr>
          <p:cNvPr id="3" name="Content Placeholder 2">
            <a:extLst>
              <a:ext uri="{FF2B5EF4-FFF2-40B4-BE49-F238E27FC236}">
                <a16:creationId xmlns:a16="http://schemas.microsoft.com/office/drawing/2014/main" id="{472E4907-AF5A-F143-B6BB-E1689623AFB2}"/>
              </a:ext>
            </a:extLst>
          </p:cNvPr>
          <p:cNvSpPr>
            <a:spLocks noGrp="1"/>
          </p:cNvSpPr>
          <p:nvPr>
            <p:ph idx="1"/>
          </p:nvPr>
        </p:nvSpPr>
        <p:spPr>
          <a:xfrm>
            <a:off x="685800" y="5289550"/>
            <a:ext cx="8229600" cy="1066800"/>
          </a:xfrm>
        </p:spPr>
        <p:txBody>
          <a:bodyPr/>
          <a:lstStyle/>
          <a:p>
            <a:r>
              <a:rPr lang="en-US" dirty="0"/>
              <a:t>In UML diagrams, arrows point from the subclass to the superclass.</a:t>
            </a:r>
          </a:p>
          <a:p>
            <a:endParaRPr lang="en-US" dirty="0"/>
          </a:p>
          <a:p>
            <a:endParaRPr lang="en-US" dirty="0"/>
          </a:p>
        </p:txBody>
      </p:sp>
      <p:sp>
        <p:nvSpPr>
          <p:cNvPr id="4" name="Slide Number Placeholder 3">
            <a:extLst>
              <a:ext uri="{FF2B5EF4-FFF2-40B4-BE49-F238E27FC236}">
                <a16:creationId xmlns:a16="http://schemas.microsoft.com/office/drawing/2014/main" id="{579B2D82-A8F3-9947-A384-3D6AB60EE7E7}"/>
              </a:ext>
            </a:extLst>
          </p:cNvPr>
          <p:cNvSpPr>
            <a:spLocks noGrp="1"/>
          </p:cNvSpPr>
          <p:nvPr>
            <p:ph type="sldNum" sz="quarter" idx="12"/>
          </p:nvPr>
        </p:nvSpPr>
        <p:spPr/>
        <p:txBody>
          <a:bodyPr/>
          <a:lstStyle/>
          <a:p>
            <a:fld id="{13977939-A071-43C1-9268-F54CC2756BB5}" type="slidenum">
              <a:rPr lang="en-US" smtClean="0"/>
              <a:pPr/>
              <a:t>113</a:t>
            </a:fld>
            <a:endParaRPr lang="en-US" dirty="0"/>
          </a:p>
        </p:txBody>
      </p:sp>
      <p:pic>
        <p:nvPicPr>
          <p:cNvPr id="5" name="Picture 4">
            <a:extLst>
              <a:ext uri="{FF2B5EF4-FFF2-40B4-BE49-F238E27FC236}">
                <a16:creationId xmlns:a16="http://schemas.microsoft.com/office/drawing/2014/main" id="{C91BE724-4704-B841-87A2-41958E486E04}"/>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973936" y="1054634"/>
            <a:ext cx="3196128" cy="3969793"/>
          </a:xfrm>
          <a:prstGeom prst="rect">
            <a:avLst/>
          </a:prstGeom>
        </p:spPr>
      </p:pic>
    </p:spTree>
    <p:extLst>
      <p:ext uri="{BB962C8B-B14F-4D97-AF65-F5344CB8AC3E}">
        <p14:creationId xmlns:p14="http://schemas.microsoft.com/office/powerpoint/2010/main" val="75922402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6FE83-F459-8142-BD8D-A5AF951DFC9F}"/>
              </a:ext>
            </a:extLst>
          </p:cNvPr>
          <p:cNvSpPr>
            <a:spLocks noGrp="1"/>
          </p:cNvSpPr>
          <p:nvPr>
            <p:ph type="title"/>
          </p:nvPr>
        </p:nvSpPr>
        <p:spPr>
          <a:xfrm>
            <a:off x="533400" y="76200"/>
            <a:ext cx="8382000" cy="475488"/>
          </a:xfrm>
        </p:spPr>
        <p:txBody>
          <a:bodyPr>
            <a:noAutofit/>
          </a:bodyPr>
          <a:lstStyle/>
          <a:p>
            <a:r>
              <a:rPr lang="en-US" dirty="0"/>
              <a:t>UML For The Video and Movie3 classes</a:t>
            </a:r>
          </a:p>
        </p:txBody>
      </p:sp>
      <p:sp>
        <p:nvSpPr>
          <p:cNvPr id="3" name="Content Placeholder 2">
            <a:extLst>
              <a:ext uri="{FF2B5EF4-FFF2-40B4-BE49-F238E27FC236}">
                <a16:creationId xmlns:a16="http://schemas.microsoft.com/office/drawing/2014/main" id="{AF360451-2957-B446-A3D6-603BA48225A8}"/>
              </a:ext>
            </a:extLst>
          </p:cNvPr>
          <p:cNvSpPr>
            <a:spLocks noGrp="1"/>
          </p:cNvSpPr>
          <p:nvPr>
            <p:ph idx="1"/>
          </p:nvPr>
        </p:nvSpPr>
        <p:spPr>
          <a:xfrm>
            <a:off x="457200" y="609600"/>
            <a:ext cx="8229600" cy="1264920"/>
          </a:xfrm>
        </p:spPr>
        <p:txBody>
          <a:bodyPr>
            <a:normAutofit fontScale="62500" lnSpcReduction="20000"/>
          </a:bodyPr>
          <a:lstStyle/>
          <a:p>
            <a:r>
              <a:rPr lang="en-US" dirty="0"/>
              <a:t>Let’s look at the following files:</a:t>
            </a:r>
          </a:p>
          <a:p>
            <a:pPr lvl="1"/>
            <a:r>
              <a:rPr lang="en-US" dirty="0">
                <a:solidFill>
                  <a:srgbClr val="FF0000"/>
                </a:solidFill>
              </a:rPr>
              <a:t>TestVideoStore.java, Video.java, Movie.java, Test2VideoStore.java, Test3VideoStore.java, Movie3.java</a:t>
            </a:r>
          </a:p>
          <a:p>
            <a:r>
              <a:rPr lang="en-US" dirty="0">
                <a:solidFill>
                  <a:srgbClr val="FF0000"/>
                </a:solidFill>
              </a:rPr>
              <a:t>The Movie3 is a subclass of Video</a:t>
            </a:r>
          </a:p>
          <a:p>
            <a:pPr lvl="1"/>
            <a:r>
              <a:rPr lang="en-US" dirty="0">
                <a:solidFill>
                  <a:srgbClr val="FF0000"/>
                </a:solidFill>
              </a:rPr>
              <a:t>Movie3 overrides toString() unlike Movie</a:t>
            </a:r>
            <a:endParaRPr lang="en-US" dirty="0"/>
          </a:p>
        </p:txBody>
      </p:sp>
      <p:sp>
        <p:nvSpPr>
          <p:cNvPr id="4" name="Slide Number Placeholder 3">
            <a:extLst>
              <a:ext uri="{FF2B5EF4-FFF2-40B4-BE49-F238E27FC236}">
                <a16:creationId xmlns:a16="http://schemas.microsoft.com/office/drawing/2014/main" id="{77CD7AC1-F9A0-B743-99FD-AE90B7B7E241}"/>
              </a:ext>
            </a:extLst>
          </p:cNvPr>
          <p:cNvSpPr>
            <a:spLocks noGrp="1"/>
          </p:cNvSpPr>
          <p:nvPr>
            <p:ph type="sldNum" sz="quarter" idx="12"/>
          </p:nvPr>
        </p:nvSpPr>
        <p:spPr/>
        <p:txBody>
          <a:bodyPr/>
          <a:lstStyle/>
          <a:p>
            <a:fld id="{13977939-A071-43C1-9268-F54CC2756BB5}" type="slidenum">
              <a:rPr lang="en-US" smtClean="0"/>
              <a:pPr/>
              <a:t>114</a:t>
            </a:fld>
            <a:endParaRPr lang="en-US" dirty="0"/>
          </a:p>
        </p:txBody>
      </p:sp>
      <p:graphicFrame>
        <p:nvGraphicFramePr>
          <p:cNvPr id="8" name="Table 7">
            <a:extLst>
              <a:ext uri="{FF2B5EF4-FFF2-40B4-BE49-F238E27FC236}">
                <a16:creationId xmlns:a16="http://schemas.microsoft.com/office/drawing/2014/main" id="{1E3608B6-10F2-CB4A-A32A-180A678C87C7}"/>
              </a:ext>
            </a:extLst>
          </p:cNvPr>
          <p:cNvGraphicFramePr>
            <a:graphicFrameLocks noGrp="1"/>
          </p:cNvGraphicFramePr>
          <p:nvPr>
            <p:extLst>
              <p:ext uri="{D42A27DB-BD31-4B8C-83A1-F6EECF244321}">
                <p14:modId xmlns:p14="http://schemas.microsoft.com/office/powerpoint/2010/main" val="242741324"/>
              </p:ext>
            </p:extLst>
          </p:nvPr>
        </p:nvGraphicFramePr>
        <p:xfrm>
          <a:off x="2933700" y="1826260"/>
          <a:ext cx="2819400" cy="2748280"/>
        </p:xfrm>
        <a:graphic>
          <a:graphicData uri="http://schemas.openxmlformats.org/drawingml/2006/table">
            <a:tbl>
              <a:tblPr firstRow="1" bandRow="1">
                <a:tableStyleId>{5C22544A-7EE6-4342-B048-85BDC9FD1C3A}</a:tableStyleId>
              </a:tblPr>
              <a:tblGrid>
                <a:gridCol w="2819400">
                  <a:extLst>
                    <a:ext uri="{9D8B030D-6E8A-4147-A177-3AD203B41FA5}">
                      <a16:colId xmlns:a16="http://schemas.microsoft.com/office/drawing/2014/main" val="2862564453"/>
                    </a:ext>
                  </a:extLst>
                </a:gridCol>
              </a:tblGrid>
              <a:tr h="370840">
                <a:tc>
                  <a:txBody>
                    <a:bodyPr/>
                    <a:lstStyle/>
                    <a:p>
                      <a:pPr algn="ctr"/>
                      <a:r>
                        <a:rPr lang="en-US" sz="1200" dirty="0">
                          <a:latin typeface="Arial" panose="020B0604020202020204" pitchFamily="34" charset="0"/>
                          <a:cs typeface="Arial" panose="020B0604020202020204" pitchFamily="34" charset="0"/>
                        </a:rPr>
                        <a:t>Video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408352105"/>
                  </a:ext>
                </a:extLst>
              </a:tr>
              <a:tr h="370840">
                <a:tc>
                  <a:txBody>
                    <a:bodyPr/>
                    <a:lstStyle/>
                    <a:p>
                      <a:pPr marL="0" indent="0">
                        <a:buFontTx/>
                        <a:buNone/>
                      </a:pPr>
                      <a:r>
                        <a:rPr lang="en-US" sz="1200" dirty="0">
                          <a:latin typeface="Arial" panose="020B0604020202020204" pitchFamily="34" charset="0"/>
                          <a:cs typeface="Arial" panose="020B0604020202020204" pitchFamily="34" charset="0"/>
                        </a:rPr>
                        <a:t>-title:String</a:t>
                      </a:r>
                    </a:p>
                    <a:p>
                      <a:pPr marL="0" indent="0">
                        <a:buFontTx/>
                        <a:buNone/>
                      </a:pPr>
                      <a:r>
                        <a:rPr lang="en-US" sz="1200" dirty="0">
                          <a:latin typeface="Arial" panose="020B0604020202020204" pitchFamily="34" charset="0"/>
                          <a:cs typeface="Arial" panose="020B0604020202020204" pitchFamily="34" charset="0"/>
                        </a:rPr>
                        <a:t>-length:int</a:t>
                      </a:r>
                    </a:p>
                    <a:p>
                      <a:pPr marL="0" indent="0">
                        <a:buFontTx/>
                        <a:buNone/>
                      </a:pPr>
                      <a:r>
                        <a:rPr lang="en-US" sz="1200" dirty="0">
                          <a:latin typeface="Arial" panose="020B0604020202020204" pitchFamily="34" charset="0"/>
                          <a:cs typeface="Arial" panose="020B0604020202020204" pitchFamily="34" charset="0"/>
                        </a:rPr>
                        <a:t>-avail:boolean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36421846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+Video(ttl:String)</a:t>
                      </a:r>
                    </a:p>
                    <a:p>
                      <a:r>
                        <a:rPr lang="en-US" sz="1200" dirty="0">
                          <a:latin typeface="Arial" panose="020B0604020202020204" pitchFamily="34" charset="0"/>
                          <a:cs typeface="Arial" panose="020B0604020202020204" pitchFamily="34" charset="0"/>
                        </a:rPr>
                        <a:t>+Video(ttl:String, lngth:int)</a:t>
                      </a:r>
                    </a:p>
                    <a:p>
                      <a:r>
                        <a:rPr lang="en-US" sz="1200" dirty="0">
                          <a:latin typeface="Arial" panose="020B0604020202020204" pitchFamily="34" charset="0"/>
                          <a:cs typeface="Arial" panose="020B0604020202020204" pitchFamily="34" charset="0"/>
                        </a:rPr>
                        <a:t>+toString():String</a:t>
                      </a:r>
                    </a:p>
                    <a:p>
                      <a:r>
                        <a:rPr lang="en-US" sz="1200" dirty="0">
                          <a:latin typeface="Arial" panose="020B0604020202020204" pitchFamily="34" charset="0"/>
                          <a:cs typeface="Arial" panose="020B0604020202020204" pitchFamily="34" charset="0"/>
                        </a:rPr>
                        <a:t>+getTitle():String</a:t>
                      </a:r>
                    </a:p>
                    <a:p>
                      <a:r>
                        <a:rPr lang="en-US" sz="1200" dirty="0">
                          <a:latin typeface="Arial" panose="020B0604020202020204" pitchFamily="34" charset="0"/>
                          <a:cs typeface="Arial" panose="020B0604020202020204" pitchFamily="34" charset="0"/>
                        </a:rPr>
                        <a:t>+setTitle(ttl:String):void</a:t>
                      </a:r>
                    </a:p>
                    <a:p>
                      <a:r>
                        <a:rPr lang="en-US" sz="1200" dirty="0">
                          <a:latin typeface="Arial" panose="020B0604020202020204" pitchFamily="34" charset="0"/>
                          <a:cs typeface="Arial" panose="020B0604020202020204" pitchFamily="34" charset="0"/>
                        </a:rPr>
                        <a:t>+getLength():int</a:t>
                      </a:r>
                    </a:p>
                    <a:p>
                      <a:r>
                        <a:rPr lang="en-US" sz="1200" dirty="0">
                          <a:latin typeface="Arial" panose="020B0604020202020204" pitchFamily="34" charset="0"/>
                          <a:cs typeface="Arial" panose="020B0604020202020204" pitchFamily="34" charset="0"/>
                        </a:rPr>
                        <a:t>+setLength(lng:int):void</a:t>
                      </a:r>
                    </a:p>
                    <a:p>
                      <a:r>
                        <a:rPr lang="en-US" sz="1200" dirty="0">
                          <a:latin typeface="Arial" panose="020B0604020202020204" pitchFamily="34" charset="0"/>
                          <a:cs typeface="Arial" panose="020B0604020202020204" pitchFamily="34" charset="0"/>
                        </a:rPr>
                        <a:t>+getAvailable():boolean</a:t>
                      </a:r>
                    </a:p>
                    <a:p>
                      <a:r>
                        <a:rPr lang="en-US" sz="1200" dirty="0">
                          <a:latin typeface="Arial" panose="020B0604020202020204" pitchFamily="34" charset="0"/>
                          <a:cs typeface="Arial" panose="020B0604020202020204" pitchFamily="34" charset="0"/>
                        </a:rPr>
                        <a:t>+setAvailable(avl:boolean):void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3859722"/>
                  </a:ext>
                </a:extLst>
              </a:tr>
            </a:tbl>
          </a:graphicData>
        </a:graphic>
      </p:graphicFrame>
      <p:graphicFrame>
        <p:nvGraphicFramePr>
          <p:cNvPr id="9" name="Table 8">
            <a:extLst>
              <a:ext uri="{FF2B5EF4-FFF2-40B4-BE49-F238E27FC236}">
                <a16:creationId xmlns:a16="http://schemas.microsoft.com/office/drawing/2014/main" id="{8D95DEC4-BB72-BA4A-9C54-909602024386}"/>
              </a:ext>
            </a:extLst>
          </p:cNvPr>
          <p:cNvGraphicFramePr>
            <a:graphicFrameLocks noGrp="1"/>
          </p:cNvGraphicFramePr>
          <p:nvPr>
            <p:extLst>
              <p:ext uri="{D42A27DB-BD31-4B8C-83A1-F6EECF244321}">
                <p14:modId xmlns:p14="http://schemas.microsoft.com/office/powerpoint/2010/main" val="2451525908"/>
              </p:ext>
            </p:extLst>
          </p:nvPr>
        </p:nvGraphicFramePr>
        <p:xfrm>
          <a:off x="2362200" y="4832032"/>
          <a:ext cx="3733800" cy="1920240"/>
        </p:xfrm>
        <a:graphic>
          <a:graphicData uri="http://schemas.openxmlformats.org/drawingml/2006/table">
            <a:tbl>
              <a:tblPr firstRow="1" bandRow="1">
                <a:tableStyleId>{5C22544A-7EE6-4342-B048-85BDC9FD1C3A}</a:tableStyleId>
              </a:tblPr>
              <a:tblGrid>
                <a:gridCol w="3733800">
                  <a:extLst>
                    <a:ext uri="{9D8B030D-6E8A-4147-A177-3AD203B41FA5}">
                      <a16:colId xmlns:a16="http://schemas.microsoft.com/office/drawing/2014/main" val="2862564453"/>
                    </a:ext>
                  </a:extLst>
                </a:gridCol>
              </a:tblGrid>
              <a:tr h="119380">
                <a:tc>
                  <a:txBody>
                    <a:bodyPr/>
                    <a:lstStyle/>
                    <a:p>
                      <a:pPr algn="ctr"/>
                      <a:r>
                        <a:rPr lang="en-US" sz="1200" dirty="0">
                          <a:latin typeface="Arial" panose="020B0604020202020204" pitchFamily="34" charset="0"/>
                          <a:cs typeface="Arial" panose="020B0604020202020204" pitchFamily="34" charset="0"/>
                        </a:rPr>
                        <a:t>Movie3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408352105"/>
                  </a:ext>
                </a:extLst>
              </a:tr>
              <a:tr h="370840">
                <a:tc>
                  <a:txBody>
                    <a:bodyPr/>
                    <a:lstStyle/>
                    <a:p>
                      <a:pPr marL="0" indent="0">
                        <a:buFontTx/>
                        <a:buNone/>
                      </a:pPr>
                      <a:r>
                        <a:rPr lang="en-US" sz="1200" dirty="0">
                          <a:latin typeface="Arial" panose="020B0604020202020204" pitchFamily="34" charset="0"/>
                          <a:cs typeface="Arial" panose="020B0604020202020204" pitchFamily="34" charset="0"/>
                        </a:rPr>
                        <a:t>-director:String</a:t>
                      </a:r>
                    </a:p>
                    <a:p>
                      <a:pPr marL="0" indent="0">
                        <a:buFontTx/>
                        <a:buNone/>
                      </a:pPr>
                      <a:r>
                        <a:rPr lang="en-US" sz="1200" dirty="0">
                          <a:latin typeface="Arial" panose="020B0604020202020204" pitchFamily="34" charset="0"/>
                          <a:cs typeface="Arial" panose="020B0604020202020204" pitchFamily="34" charset="0"/>
                        </a:rPr>
                        <a:t>-rating:String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364218468"/>
                  </a:ext>
                </a:extLst>
              </a:tr>
              <a:tr h="0">
                <a:tc>
                  <a:txBody>
                    <a:bodyPr/>
                    <a:lstStyle/>
                    <a:p>
                      <a:r>
                        <a:rPr lang="en-US" sz="1200" dirty="0">
                          <a:latin typeface="Arial" panose="020B0604020202020204" pitchFamily="34" charset="0"/>
                          <a:cs typeface="Arial" panose="020B0604020202020204" pitchFamily="34" charset="0"/>
                        </a:rPr>
                        <a:t>+Movie3(ttl:String, lngth:int, dir:String, rtng:String))</a:t>
                      </a:r>
                    </a:p>
                    <a:p>
                      <a:r>
                        <a:rPr lang="en-US" sz="1200" dirty="0">
                          <a:latin typeface="Arial" panose="020B0604020202020204" pitchFamily="34" charset="0"/>
                          <a:cs typeface="Arial" panose="020B0604020202020204" pitchFamily="34" charset="0"/>
                        </a:rPr>
                        <a:t>+getDirector():String</a:t>
                      </a:r>
                    </a:p>
                    <a:p>
                      <a:r>
                        <a:rPr lang="en-US" sz="1200" dirty="0">
                          <a:latin typeface="Arial" panose="020B0604020202020204" pitchFamily="34" charset="0"/>
                          <a:cs typeface="Arial" panose="020B0604020202020204" pitchFamily="34" charset="0"/>
                        </a:rPr>
                        <a:t>+getRating():String</a:t>
                      </a:r>
                    </a:p>
                    <a:p>
                      <a:r>
                        <a:rPr lang="en-US" sz="1200" dirty="0">
                          <a:latin typeface="Arial" panose="020B0604020202020204" pitchFamily="34" charset="0"/>
                          <a:cs typeface="Arial" panose="020B0604020202020204" pitchFamily="34" charset="0"/>
                        </a:rPr>
                        <a:t>+setDirector(dir:String):void</a:t>
                      </a:r>
                    </a:p>
                    <a:p>
                      <a:r>
                        <a:rPr lang="en-US" sz="1200" dirty="0">
                          <a:latin typeface="Arial" panose="020B0604020202020204" pitchFamily="34" charset="0"/>
                          <a:cs typeface="Arial" panose="020B0604020202020204" pitchFamily="34" charset="0"/>
                        </a:rPr>
                        <a:t>+setRating(rtng: String):void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+toString():String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3859722"/>
                  </a:ext>
                </a:extLst>
              </a:tr>
            </a:tbl>
          </a:graphicData>
        </a:graphic>
      </p:graphicFrame>
      <p:cxnSp>
        <p:nvCxnSpPr>
          <p:cNvPr id="11" name="Straight Connector 10">
            <a:extLst>
              <a:ext uri="{FF2B5EF4-FFF2-40B4-BE49-F238E27FC236}">
                <a16:creationId xmlns:a16="http://schemas.microsoft.com/office/drawing/2014/main" id="{916602D2-8807-C444-9303-F29CF93FA4E5}"/>
              </a:ext>
              <a:ext uri="{C183D7F6-B498-43B3-948B-1728B52AA6E4}">
                <adec:decorative xmlns:adec="http://schemas.microsoft.com/office/drawing/2017/decorative" val="1"/>
              </a:ext>
            </a:extLst>
          </p:cNvPr>
          <p:cNvCxnSpPr>
            <a:cxnSpLocks/>
          </p:cNvCxnSpPr>
          <p:nvPr/>
        </p:nvCxnSpPr>
        <p:spPr>
          <a:xfrm flipV="1">
            <a:off x="4267200" y="4574540"/>
            <a:ext cx="0" cy="257492"/>
          </a:xfrm>
          <a:prstGeom prst="line">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865677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9086B-6128-8546-AB97-1CE993CF6465}"/>
              </a:ext>
            </a:extLst>
          </p:cNvPr>
          <p:cNvSpPr>
            <a:spLocks noGrp="1"/>
          </p:cNvSpPr>
          <p:nvPr>
            <p:ph type="title"/>
          </p:nvPr>
        </p:nvSpPr>
        <p:spPr>
          <a:xfrm>
            <a:off x="457200" y="228600"/>
            <a:ext cx="8229600" cy="475488"/>
          </a:xfrm>
        </p:spPr>
        <p:txBody>
          <a:bodyPr>
            <a:noAutofit/>
          </a:bodyPr>
          <a:lstStyle/>
          <a:p>
            <a:r>
              <a:rPr lang="en-US" dirty="0"/>
              <a:t>A Simple Example With Inheritance</a:t>
            </a:r>
          </a:p>
        </p:txBody>
      </p:sp>
      <p:sp>
        <p:nvSpPr>
          <p:cNvPr id="3" name="Content Placeholder 2">
            <a:extLst>
              <a:ext uri="{FF2B5EF4-FFF2-40B4-BE49-F238E27FC236}">
                <a16:creationId xmlns:a16="http://schemas.microsoft.com/office/drawing/2014/main" id="{03294772-BEE4-5343-8216-E93CE97EDD48}"/>
              </a:ext>
            </a:extLst>
          </p:cNvPr>
          <p:cNvSpPr>
            <a:spLocks noGrp="1"/>
          </p:cNvSpPr>
          <p:nvPr>
            <p:ph idx="1"/>
          </p:nvPr>
        </p:nvSpPr>
        <p:spPr>
          <a:xfrm>
            <a:off x="43031" y="914400"/>
            <a:ext cx="8229600" cy="1578159"/>
          </a:xfrm>
        </p:spPr>
        <p:txBody>
          <a:bodyPr>
            <a:normAutofit fontScale="92500" lnSpcReduction="10000"/>
          </a:bodyPr>
          <a:lstStyle/>
          <a:p>
            <a:r>
              <a:rPr lang="en-US" dirty="0"/>
              <a:t>Let’s look at the following files:</a:t>
            </a:r>
          </a:p>
          <a:p>
            <a:pPr lvl="1"/>
            <a:r>
              <a:rPr lang="en-US" dirty="0">
                <a:solidFill>
                  <a:srgbClr val="FF0000"/>
                </a:solidFill>
              </a:rPr>
              <a:t>TestVideoStore.java, Video.java, Movie3.java</a:t>
            </a:r>
          </a:p>
          <a:p>
            <a:r>
              <a:rPr lang="en-US" dirty="0"/>
              <a:t>The class Movie3 is a subclass of Video. An object of type Movie3 has these members:</a:t>
            </a:r>
          </a:p>
          <a:p>
            <a:endParaRPr lang="en-US" dirty="0"/>
          </a:p>
        </p:txBody>
      </p:sp>
      <p:sp>
        <p:nvSpPr>
          <p:cNvPr id="4" name="Slide Number Placeholder 3">
            <a:extLst>
              <a:ext uri="{FF2B5EF4-FFF2-40B4-BE49-F238E27FC236}">
                <a16:creationId xmlns:a16="http://schemas.microsoft.com/office/drawing/2014/main" id="{BBCFB881-64DC-044A-A1EF-02ABAC7B42FD}"/>
              </a:ext>
            </a:extLst>
          </p:cNvPr>
          <p:cNvSpPr>
            <a:spLocks noGrp="1"/>
          </p:cNvSpPr>
          <p:nvPr>
            <p:ph type="sldNum" sz="quarter" idx="12"/>
          </p:nvPr>
        </p:nvSpPr>
        <p:spPr/>
        <p:txBody>
          <a:bodyPr/>
          <a:lstStyle/>
          <a:p>
            <a:fld id="{13977939-A071-43C1-9268-F54CC2756BB5}" type="slidenum">
              <a:rPr lang="en-US" smtClean="0"/>
              <a:pPr/>
              <a:t>115</a:t>
            </a:fld>
            <a:endParaRPr lang="en-US" dirty="0"/>
          </a:p>
        </p:txBody>
      </p:sp>
      <p:graphicFrame>
        <p:nvGraphicFramePr>
          <p:cNvPr id="7" name="Table 6">
            <a:extLst>
              <a:ext uri="{FF2B5EF4-FFF2-40B4-BE49-F238E27FC236}">
                <a16:creationId xmlns:a16="http://schemas.microsoft.com/office/drawing/2014/main" id="{C6C1C35B-EE30-A242-8934-755D41AE32B9}"/>
              </a:ext>
            </a:extLst>
          </p:cNvPr>
          <p:cNvGraphicFramePr>
            <a:graphicFrameLocks noGrp="1"/>
          </p:cNvGraphicFramePr>
          <p:nvPr>
            <p:extLst>
              <p:ext uri="{D42A27DB-BD31-4B8C-83A1-F6EECF244321}">
                <p14:modId xmlns:p14="http://schemas.microsoft.com/office/powerpoint/2010/main" val="2052435265"/>
              </p:ext>
            </p:extLst>
          </p:nvPr>
        </p:nvGraphicFramePr>
        <p:xfrm>
          <a:off x="304800" y="2492559"/>
          <a:ext cx="8229600" cy="3611880"/>
        </p:xfrm>
        <a:graphic>
          <a:graphicData uri="http://schemas.openxmlformats.org/drawingml/2006/table">
            <a:tbl>
              <a:tblPr firstRow="1" bandCol="1">
                <a:tableStyleId>{D27102A9-8310-4765-A935-A1911B00CA55}</a:tableStyleId>
              </a:tblPr>
              <a:tblGrid>
                <a:gridCol w="1371600">
                  <a:extLst>
                    <a:ext uri="{9D8B030D-6E8A-4147-A177-3AD203B41FA5}">
                      <a16:colId xmlns:a16="http://schemas.microsoft.com/office/drawing/2014/main" val="1560753955"/>
                    </a:ext>
                  </a:extLst>
                </a:gridCol>
                <a:gridCol w="1371600">
                  <a:extLst>
                    <a:ext uri="{9D8B030D-6E8A-4147-A177-3AD203B41FA5}">
                      <a16:colId xmlns:a16="http://schemas.microsoft.com/office/drawing/2014/main" val="4234385848"/>
                    </a:ext>
                  </a:extLst>
                </a:gridCol>
                <a:gridCol w="1371600">
                  <a:extLst>
                    <a:ext uri="{9D8B030D-6E8A-4147-A177-3AD203B41FA5}">
                      <a16:colId xmlns:a16="http://schemas.microsoft.com/office/drawing/2014/main" val="4258343475"/>
                    </a:ext>
                  </a:extLst>
                </a:gridCol>
                <a:gridCol w="1371600">
                  <a:extLst>
                    <a:ext uri="{9D8B030D-6E8A-4147-A177-3AD203B41FA5}">
                      <a16:colId xmlns:a16="http://schemas.microsoft.com/office/drawing/2014/main" val="303531565"/>
                    </a:ext>
                  </a:extLst>
                </a:gridCol>
                <a:gridCol w="1371600">
                  <a:extLst>
                    <a:ext uri="{9D8B030D-6E8A-4147-A177-3AD203B41FA5}">
                      <a16:colId xmlns:a16="http://schemas.microsoft.com/office/drawing/2014/main" val="3755728656"/>
                    </a:ext>
                  </a:extLst>
                </a:gridCol>
                <a:gridCol w="1371600">
                  <a:extLst>
                    <a:ext uri="{9D8B030D-6E8A-4147-A177-3AD203B41FA5}">
                      <a16:colId xmlns:a16="http://schemas.microsoft.com/office/drawing/2014/main" val="173394370"/>
                    </a:ext>
                  </a:extLst>
                </a:gridCol>
              </a:tblGrid>
              <a:tr h="0">
                <a:tc>
                  <a:txBody>
                    <a:bodyPr/>
                    <a:lstStyle/>
                    <a:p>
                      <a:r>
                        <a:rPr lang="en-US" sz="1500" dirty="0">
                          <a:effectLst/>
                        </a:rPr>
                        <a:t>member </a:t>
                      </a:r>
                      <a:endParaRPr lang="en-US" sz="1500" dirty="0">
                        <a:effectLst/>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effectLst/>
                        </a:rPr>
                        <a:t> </a:t>
                      </a:r>
                      <a:endParaRPr lang="en-US" sz="1500" dirty="0">
                        <a:effectLst/>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effectLst/>
                        </a:rPr>
                        <a:t>member </a:t>
                      </a:r>
                      <a:endParaRPr lang="en-US" sz="1500" dirty="0">
                        <a:effectLst/>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effectLst/>
                        </a:rPr>
                        <a:t> </a:t>
                      </a:r>
                      <a:endParaRPr lang="en-US" sz="1500" dirty="0">
                        <a:effectLst/>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effectLst/>
                        </a:rPr>
                        <a:t>member </a:t>
                      </a:r>
                      <a:endParaRPr lang="en-US" sz="1500" dirty="0">
                        <a:effectLst/>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effectLst/>
                        </a:rPr>
                        <a:t> </a:t>
                      </a:r>
                      <a:endParaRPr lang="en-US" sz="1500" dirty="0">
                        <a:effectLst/>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7038209"/>
                  </a:ext>
                </a:extLst>
              </a:tr>
              <a:tr h="0">
                <a:tc>
                  <a:txBody>
                    <a:bodyPr/>
                    <a:lstStyle/>
                    <a:p>
                      <a:r>
                        <a:rPr lang="en-US" sz="1500" dirty="0">
                          <a:effectLst/>
                        </a:rPr>
                        <a:t>title </a:t>
                      </a:r>
                      <a:endParaRPr lang="en-US" sz="1500" dirty="0">
                        <a:effectLst/>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effectLst/>
                        </a:rPr>
                        <a:t>accessible from Video</a:t>
                      </a:r>
                      <a:endParaRPr lang="en-US" sz="1500" dirty="0">
                        <a:effectLst/>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effectLst/>
                        </a:rPr>
                        <a:t>getTitle()</a:t>
                      </a:r>
                      <a:endParaRPr lang="en-US" sz="1500" dirty="0">
                        <a:effectLst/>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effectLst/>
                        </a:rPr>
                        <a:t>inherited from Video</a:t>
                      </a:r>
                      <a:endParaRPr lang="en-US" sz="1500" dirty="0">
                        <a:effectLst/>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effectLst/>
                        </a:rPr>
                        <a:t>setTitle()</a:t>
                      </a:r>
                      <a:endParaRPr lang="en-US" sz="1500" dirty="0">
                        <a:effectLst/>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effectLst/>
                        </a:rPr>
                        <a:t>inherited from Video</a:t>
                      </a:r>
                      <a:endParaRPr lang="en-US" sz="1500" dirty="0">
                        <a:effectLst/>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70212855"/>
                  </a:ext>
                </a:extLst>
              </a:tr>
              <a:tr h="0">
                <a:tc>
                  <a:txBody>
                    <a:bodyPr/>
                    <a:lstStyle/>
                    <a:p>
                      <a:r>
                        <a:rPr lang="en-US" sz="1500" dirty="0">
                          <a:effectLst/>
                        </a:rPr>
                        <a:t>length </a:t>
                      </a:r>
                      <a:endParaRPr lang="en-US" sz="1500" dirty="0">
                        <a:effectLst/>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effectLst/>
                        </a:rPr>
                        <a:t>accessible from Video</a:t>
                      </a:r>
                      <a:endParaRPr lang="en-US" sz="1500" dirty="0">
                        <a:effectLst/>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effectLst/>
                        </a:rPr>
                        <a:t>getLength()</a:t>
                      </a:r>
                      <a:endParaRPr lang="en-US" sz="1500" dirty="0">
                        <a:effectLst/>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effectLst/>
                        </a:rPr>
                        <a:t>inherited from Video</a:t>
                      </a:r>
                      <a:endParaRPr lang="en-US" sz="1500" dirty="0">
                        <a:effectLst/>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effectLst/>
                        </a:rPr>
                        <a:t>setLength()</a:t>
                      </a:r>
                      <a:endParaRPr lang="en-US" sz="1500" dirty="0">
                        <a:effectLst/>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effectLst/>
                        </a:rPr>
                        <a:t>inherited from Video</a:t>
                      </a:r>
                      <a:endParaRPr lang="en-US" sz="1500" dirty="0">
                        <a:effectLst/>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16244219"/>
                  </a:ext>
                </a:extLst>
              </a:tr>
              <a:tr h="0">
                <a:tc>
                  <a:txBody>
                    <a:bodyPr/>
                    <a:lstStyle/>
                    <a:p>
                      <a:r>
                        <a:rPr lang="en-US" sz="1500" dirty="0">
                          <a:effectLst/>
                        </a:rPr>
                        <a:t>avail </a:t>
                      </a:r>
                      <a:endParaRPr lang="en-US" sz="1500" dirty="0">
                        <a:effectLst/>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effectLst/>
                        </a:rPr>
                        <a:t>accessible from Video</a:t>
                      </a:r>
                      <a:endParaRPr lang="en-US" sz="1500" dirty="0">
                        <a:effectLst/>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effectLst/>
                        </a:rPr>
                        <a:t>getAvailable()</a:t>
                      </a:r>
                      <a:endParaRPr lang="en-US" sz="1500" dirty="0">
                        <a:effectLst/>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effectLst/>
                        </a:rPr>
                        <a:t>inherited from Video</a:t>
                      </a:r>
                      <a:endParaRPr lang="en-US" sz="1500" dirty="0">
                        <a:effectLst/>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effectLst/>
                        </a:rPr>
                        <a:t>setAvailable()</a:t>
                      </a:r>
                      <a:endParaRPr lang="en-US" sz="1500" dirty="0">
                        <a:effectLst/>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effectLst/>
                        </a:rPr>
                        <a:t>inherited from Video</a:t>
                      </a:r>
                      <a:endParaRPr lang="en-US" sz="1500" dirty="0">
                        <a:effectLst/>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30125968"/>
                  </a:ext>
                </a:extLst>
              </a:tr>
              <a:tr h="0">
                <a:tc>
                  <a:txBody>
                    <a:bodyPr/>
                    <a:lstStyle/>
                    <a:p>
                      <a:r>
                        <a:rPr lang="en-US" sz="1500" dirty="0">
                          <a:effectLst/>
                        </a:rPr>
                        <a:t>director</a:t>
                      </a:r>
                      <a:endParaRPr lang="en-US" sz="1500" dirty="0">
                        <a:effectLst/>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effectLst/>
                        </a:rPr>
                        <a:t>defined in Movie3 </a:t>
                      </a:r>
                      <a:endParaRPr lang="en-US" sz="1500" dirty="0">
                        <a:effectLst/>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effectLst/>
                        </a:rPr>
                        <a:t>getDirector() </a:t>
                      </a:r>
                      <a:endParaRPr lang="en-US" sz="1500" dirty="0">
                        <a:effectLst/>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effectLst/>
                        </a:rPr>
                        <a:t>defined in Movie3</a:t>
                      </a:r>
                      <a:endParaRPr lang="en-US" sz="1500" dirty="0">
                        <a:effectLst/>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effectLst/>
                        </a:rPr>
                        <a:t>toString()</a:t>
                      </a:r>
                      <a:endParaRPr lang="en-US" sz="1500" dirty="0">
                        <a:effectLst/>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effectLst/>
                        </a:rPr>
                        <a:t>overriden in Movie3</a:t>
                      </a:r>
                      <a:endParaRPr lang="en-US" sz="1500" dirty="0">
                        <a:effectLst/>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0643812"/>
                  </a:ext>
                </a:extLst>
              </a:tr>
              <a:tr h="0">
                <a:tc>
                  <a:txBody>
                    <a:bodyPr/>
                    <a:lstStyle/>
                    <a:p>
                      <a:r>
                        <a:rPr lang="en-US" sz="1500" dirty="0">
                          <a:effectLst/>
                        </a:rPr>
                        <a:t>rating </a:t>
                      </a:r>
                      <a:endParaRPr lang="en-US" sz="1500" dirty="0">
                        <a:effectLst/>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effectLst/>
                        </a:rPr>
                        <a:t>defined in Movie3 </a:t>
                      </a:r>
                      <a:endParaRPr lang="en-US" sz="1500" dirty="0">
                        <a:effectLst/>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effectLst/>
                        </a:rPr>
                        <a:t>getRating() </a:t>
                      </a:r>
                      <a:endParaRPr lang="en-US" sz="1500" dirty="0">
                        <a:effectLst/>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effectLst/>
                        </a:rPr>
                        <a:t>defined in Movie3</a:t>
                      </a:r>
                      <a:endParaRPr lang="en-US" sz="1500" dirty="0">
                        <a:effectLst/>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effectLst/>
                        </a:rPr>
                        <a:t> </a:t>
                      </a:r>
                      <a:endParaRPr lang="en-US" sz="1500" dirty="0">
                        <a:effectLst/>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effectLst/>
                        </a:rPr>
                        <a:t> </a:t>
                      </a:r>
                      <a:endParaRPr lang="en-US" sz="1500" dirty="0">
                        <a:effectLst/>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1602593"/>
                  </a:ext>
                </a:extLst>
              </a:tr>
              <a:tr h="0">
                <a:tc>
                  <a:txBody>
                    <a:bodyPr/>
                    <a:lstStyle/>
                    <a:p>
                      <a:r>
                        <a:rPr lang="en-US" sz="1500" dirty="0">
                          <a:effectLst/>
                        </a:rPr>
                        <a:t>toString()</a:t>
                      </a:r>
                      <a:endParaRPr lang="en-US" sz="1500" dirty="0">
                        <a:effectLst/>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effectLst/>
                        </a:rPr>
                        <a:t>defined in Video</a:t>
                      </a:r>
                      <a:endParaRPr lang="en-US" sz="1500" dirty="0">
                        <a:effectLst/>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effectLst/>
                        </a:rPr>
                        <a:t> </a:t>
                      </a:r>
                      <a:endParaRPr lang="en-US" sz="1500" dirty="0">
                        <a:effectLst/>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effectLst/>
                        </a:rPr>
                        <a:t> </a:t>
                      </a:r>
                      <a:endParaRPr lang="en-US" sz="1500" dirty="0">
                        <a:effectLst/>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effectLst/>
                        </a:rPr>
                        <a:t> </a:t>
                      </a:r>
                      <a:endParaRPr lang="en-US" sz="1500" dirty="0">
                        <a:effectLst/>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effectLst/>
                        </a:rPr>
                        <a:t> </a:t>
                      </a:r>
                      <a:endParaRPr lang="en-US" sz="1500" dirty="0">
                        <a:effectLst/>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692708"/>
                  </a:ext>
                </a:extLst>
              </a:tr>
            </a:tbl>
          </a:graphicData>
        </a:graphic>
      </p:graphicFrame>
      <p:sp>
        <p:nvSpPr>
          <p:cNvPr id="8" name="Rectangle 2">
            <a:extLst>
              <a:ext uri="{FF2B5EF4-FFF2-40B4-BE49-F238E27FC236}">
                <a16:creationId xmlns:a16="http://schemas.microsoft.com/office/drawing/2014/main" id="{2ECFBC1F-6A66-584B-9CC0-EA264040BA3C}"/>
              </a:ext>
              <a:ext uri="{C183D7F6-B498-43B3-948B-1728B52AA6E4}">
                <adec:decorative xmlns:adec="http://schemas.microsoft.com/office/drawing/2017/decorative" val="1"/>
              </a:ext>
            </a:extLst>
          </p:cNvPr>
          <p:cNvSpPr>
            <a:spLocks noChangeArrowheads="1"/>
          </p:cNvSpPr>
          <p:nvPr/>
        </p:nvSpPr>
        <p:spPr bwMode="auto">
          <a:xfrm>
            <a:off x="425824" y="261458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9028662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B8D12-8409-D640-8AFC-73FAB171639C}"/>
              </a:ext>
            </a:extLst>
          </p:cNvPr>
          <p:cNvSpPr>
            <a:spLocks noGrp="1"/>
          </p:cNvSpPr>
          <p:nvPr>
            <p:ph type="title"/>
          </p:nvPr>
        </p:nvSpPr>
        <p:spPr>
          <a:xfrm>
            <a:off x="457200" y="152400"/>
            <a:ext cx="8229600" cy="475488"/>
          </a:xfrm>
        </p:spPr>
        <p:txBody>
          <a:bodyPr>
            <a:noAutofit/>
          </a:bodyPr>
          <a:lstStyle/>
          <a:p>
            <a:r>
              <a:rPr lang="en-US" dirty="0"/>
              <a:t>Using A </a:t>
            </a:r>
            <a:r>
              <a:rPr lang="en-US" dirty="0">
                <a:solidFill>
                  <a:srgbClr val="FF0000"/>
                </a:solidFill>
              </a:rPr>
              <a:t>super</a:t>
            </a:r>
            <a:r>
              <a:rPr lang="en-US" dirty="0"/>
              <a:t> Constructor (1)</a:t>
            </a:r>
          </a:p>
        </p:txBody>
      </p:sp>
      <p:sp>
        <p:nvSpPr>
          <p:cNvPr id="3" name="Content Placeholder 2">
            <a:extLst>
              <a:ext uri="{FF2B5EF4-FFF2-40B4-BE49-F238E27FC236}">
                <a16:creationId xmlns:a16="http://schemas.microsoft.com/office/drawing/2014/main" id="{1D84506C-0098-3040-A486-09180EF1C75E}"/>
              </a:ext>
            </a:extLst>
          </p:cNvPr>
          <p:cNvSpPr>
            <a:spLocks noGrp="1"/>
          </p:cNvSpPr>
          <p:nvPr>
            <p:ph idx="1"/>
          </p:nvPr>
        </p:nvSpPr>
        <p:spPr>
          <a:xfrm>
            <a:off x="457200" y="685800"/>
            <a:ext cx="8229600" cy="6172200"/>
          </a:xfrm>
        </p:spPr>
        <p:txBody>
          <a:bodyPr>
            <a:normAutofit fontScale="55000" lnSpcReduction="20000"/>
          </a:bodyPr>
          <a:lstStyle/>
          <a:p>
            <a:r>
              <a:rPr lang="en-US" sz="2800" dirty="0">
                <a:solidFill>
                  <a:prstClr val="black"/>
                </a:solidFill>
              </a:rPr>
              <a:t>Look at he constructor for </a:t>
            </a:r>
            <a:r>
              <a:rPr lang="en-US" sz="2900" dirty="0">
                <a:solidFill>
                  <a:prstClr val="black"/>
                </a:solidFill>
              </a:rPr>
              <a:t>class </a:t>
            </a:r>
            <a:r>
              <a:rPr lang="en-US" sz="2900" dirty="0">
                <a:solidFill>
                  <a:srgbClr val="084101"/>
                </a:solidFill>
              </a:rPr>
              <a:t>Movie3</a:t>
            </a:r>
            <a:r>
              <a:rPr lang="en-US" sz="2900" dirty="0">
                <a:solidFill>
                  <a:prstClr val="black"/>
                </a:solidFill>
              </a:rPr>
              <a:t>. The </a:t>
            </a:r>
            <a:r>
              <a:rPr lang="en-US" sz="2800" dirty="0">
                <a:solidFill>
                  <a:prstClr val="black"/>
                </a:solidFill>
              </a:rPr>
              <a:t>class definition for </a:t>
            </a:r>
            <a:r>
              <a:rPr lang="en-US" sz="3600" dirty="0">
                <a:solidFill>
                  <a:srgbClr val="084101"/>
                </a:solidFill>
              </a:rPr>
              <a:t>Video</a:t>
            </a:r>
            <a:r>
              <a:rPr lang="en-US" sz="2800" dirty="0">
                <a:solidFill>
                  <a:prstClr val="black"/>
                </a:solidFill>
              </a:rPr>
              <a:t> has a constructor that initializes the instance variables of </a:t>
            </a:r>
            <a:r>
              <a:rPr lang="en-US" sz="3600" dirty="0">
                <a:solidFill>
                  <a:srgbClr val="084101"/>
                </a:solidFill>
              </a:rPr>
              <a:t>Video</a:t>
            </a:r>
            <a:r>
              <a:rPr lang="en-US" sz="2800" dirty="0">
                <a:solidFill>
                  <a:prstClr val="black"/>
                </a:solidFill>
              </a:rPr>
              <a:t> objects. The </a:t>
            </a:r>
            <a:r>
              <a:rPr lang="en-US" sz="2900" dirty="0">
                <a:solidFill>
                  <a:prstClr val="black"/>
                </a:solidFill>
              </a:rPr>
              <a:t>class </a:t>
            </a:r>
            <a:r>
              <a:rPr lang="en-US" sz="2900" dirty="0">
                <a:solidFill>
                  <a:srgbClr val="084101"/>
                </a:solidFill>
              </a:rPr>
              <a:t>Movie3</a:t>
            </a:r>
            <a:r>
              <a:rPr lang="en-US" sz="2900" dirty="0">
                <a:solidFill>
                  <a:prstClr val="black"/>
                </a:solidFill>
              </a:rPr>
              <a:t> has </a:t>
            </a:r>
            <a:r>
              <a:rPr lang="en-US" sz="2800" dirty="0">
                <a:solidFill>
                  <a:prstClr val="black"/>
                </a:solidFill>
              </a:rPr>
              <a:t>a constructor that initializes the instance variables of </a:t>
            </a:r>
            <a:r>
              <a:rPr lang="en-US" sz="3600" dirty="0">
                <a:solidFill>
                  <a:srgbClr val="084101"/>
                </a:solidFill>
              </a:rPr>
              <a:t>Movie3</a:t>
            </a:r>
            <a:r>
              <a:rPr lang="en-US" sz="2800" dirty="0">
                <a:solidFill>
                  <a:prstClr val="black"/>
                </a:solidFill>
              </a:rPr>
              <a:t> objects.</a:t>
            </a:r>
          </a:p>
          <a:p>
            <a:r>
              <a:rPr lang="en-US" sz="2800" dirty="0">
                <a:solidFill>
                  <a:prstClr val="black"/>
                </a:solidFill>
              </a:rPr>
              <a:t>The statement </a:t>
            </a:r>
            <a:r>
              <a:rPr lang="en-US" sz="3600" dirty="0">
                <a:solidFill>
                  <a:srgbClr val="FF0000"/>
                </a:solidFill>
              </a:rPr>
              <a:t>super(ttl, lngth)</a:t>
            </a:r>
            <a:r>
              <a:rPr lang="en-US" sz="2800" dirty="0">
                <a:solidFill>
                  <a:srgbClr val="FF0000"/>
                </a:solidFill>
              </a:rPr>
              <a:t> </a:t>
            </a:r>
            <a:r>
              <a:rPr lang="en-US" sz="2800" dirty="0">
                <a:solidFill>
                  <a:prstClr val="black"/>
                </a:solidFill>
              </a:rPr>
              <a:t>invokes a constructor of the parent to initialize some variables of the child. </a:t>
            </a:r>
          </a:p>
          <a:p>
            <a:pPr lvl="1"/>
            <a:r>
              <a:rPr lang="en-US" sz="2600" dirty="0">
                <a:solidFill>
                  <a:prstClr val="black"/>
                </a:solidFill>
              </a:rPr>
              <a:t>There are two constructors in the parent. </a:t>
            </a:r>
          </a:p>
          <a:p>
            <a:pPr lvl="1"/>
            <a:r>
              <a:rPr lang="en-US" sz="2600" dirty="0">
                <a:solidFill>
                  <a:prstClr val="black"/>
                </a:solidFill>
              </a:rPr>
              <a:t>The one that is invoked is the one that matches the argument list in </a:t>
            </a:r>
            <a:r>
              <a:rPr lang="en-US" sz="3400" dirty="0">
                <a:solidFill>
                  <a:srgbClr val="084101"/>
                </a:solidFill>
              </a:rPr>
              <a:t>super(ttl, lngth)</a:t>
            </a:r>
            <a:r>
              <a:rPr lang="en-US" sz="2600" dirty="0">
                <a:solidFill>
                  <a:prstClr val="black"/>
                </a:solidFill>
              </a:rPr>
              <a:t>. </a:t>
            </a:r>
          </a:p>
          <a:p>
            <a:pPr lvl="1"/>
            <a:r>
              <a:rPr lang="en-US" sz="2600" dirty="0">
                <a:solidFill>
                  <a:prstClr val="black"/>
                </a:solidFill>
              </a:rPr>
              <a:t>The next two statements initialize variables that only </a:t>
            </a:r>
            <a:r>
              <a:rPr lang="en-US" sz="3400" dirty="0">
                <a:solidFill>
                  <a:srgbClr val="084101"/>
                </a:solidFill>
              </a:rPr>
              <a:t>Movie3</a:t>
            </a:r>
            <a:r>
              <a:rPr lang="en-US" sz="2600" dirty="0">
                <a:solidFill>
                  <a:prstClr val="black"/>
                </a:solidFill>
              </a:rPr>
              <a:t> has.</a:t>
            </a:r>
          </a:p>
          <a:p>
            <a:r>
              <a:rPr lang="en-US" sz="2900" dirty="0"/>
              <a:t>Important Note: </a:t>
            </a:r>
            <a:r>
              <a:rPr lang="en-US" sz="2900" b="1" dirty="0">
                <a:solidFill>
                  <a:srgbClr val="FF0000"/>
                </a:solidFill>
              </a:rPr>
              <a:t>super(with 0 or more parameters) must be the first statement in the subclass's constructor.</a:t>
            </a:r>
          </a:p>
          <a:p>
            <a:r>
              <a:rPr lang="en-US" sz="2900" b="1" dirty="0">
                <a:solidFill>
                  <a:srgbClr val="FF0000"/>
                </a:solidFill>
              </a:rPr>
              <a:t>super() will be inserted </a:t>
            </a:r>
            <a:r>
              <a:rPr lang="en-US" sz="2900" dirty="0"/>
              <a:t>into any constructor of the subclass as the first statement </a:t>
            </a:r>
            <a:r>
              <a:rPr lang="en-US" sz="2900" dirty="0">
                <a:solidFill>
                  <a:srgbClr val="FF0000"/>
                </a:solidFill>
              </a:rPr>
              <a:t>if you do not explicitly </a:t>
            </a:r>
            <a:r>
              <a:rPr lang="en-US" sz="2900" dirty="0"/>
              <a:t>use a super constructor or a this statement with 0 or more comparators.</a:t>
            </a:r>
          </a:p>
          <a:p>
            <a:pPr lvl="1"/>
            <a:r>
              <a:rPr lang="en-US" sz="2900" dirty="0"/>
              <a:t>If you have more than one constructor in the subclass you can use the super(</a:t>
            </a:r>
            <a:r>
              <a:rPr lang="en-US" sz="2900" i="1" dirty="0"/>
              <a:t>paramlist</a:t>
            </a:r>
            <a:r>
              <a:rPr lang="en-US" sz="2900" dirty="0"/>
              <a:t>) with or without parameter as appropriate.</a:t>
            </a:r>
          </a:p>
          <a:p>
            <a:pPr lvl="1"/>
            <a:r>
              <a:rPr lang="en-US" sz="2900" dirty="0"/>
              <a:t>If you don’t have a default constructor in the parent class, then be sure to include an appropriate super in each subclass constructor to avoid a compiler error</a:t>
            </a:r>
          </a:p>
          <a:p>
            <a:pPr lvl="1"/>
            <a:r>
              <a:rPr lang="en-US" sz="2900" dirty="0"/>
              <a:t>Remember that once you create a non-default constructor in a class you don’t get a default constructor unless you write it explicitly</a:t>
            </a:r>
          </a:p>
          <a:p>
            <a:pPr lvl="1"/>
            <a:r>
              <a:rPr lang="en-US" sz="2900" dirty="0"/>
              <a:t>Even the “top-level” class has a super() in each constructor, which call the constructor in the Object class</a:t>
            </a:r>
          </a:p>
        </p:txBody>
      </p:sp>
      <p:sp>
        <p:nvSpPr>
          <p:cNvPr id="4" name="Slide Number Placeholder 3">
            <a:extLst>
              <a:ext uri="{FF2B5EF4-FFF2-40B4-BE49-F238E27FC236}">
                <a16:creationId xmlns:a16="http://schemas.microsoft.com/office/drawing/2014/main" id="{E365EE45-6213-0140-8895-69EAF9E201A5}"/>
              </a:ext>
            </a:extLst>
          </p:cNvPr>
          <p:cNvSpPr>
            <a:spLocks noGrp="1"/>
          </p:cNvSpPr>
          <p:nvPr>
            <p:ph type="sldNum" sz="quarter" idx="12"/>
          </p:nvPr>
        </p:nvSpPr>
        <p:spPr/>
        <p:txBody>
          <a:bodyPr/>
          <a:lstStyle/>
          <a:p>
            <a:fld id="{13977939-A071-43C1-9268-F54CC2756BB5}" type="slidenum">
              <a:rPr lang="en-US" smtClean="0"/>
              <a:pPr/>
              <a:t>116</a:t>
            </a:fld>
            <a:endParaRPr lang="en-US" dirty="0"/>
          </a:p>
        </p:txBody>
      </p:sp>
    </p:spTree>
    <p:extLst>
      <p:ext uri="{BB962C8B-B14F-4D97-AF65-F5344CB8AC3E}">
        <p14:creationId xmlns:p14="http://schemas.microsoft.com/office/powerpoint/2010/main" val="1793957026"/>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B8D12-8409-D640-8AFC-73FAB171639C}"/>
              </a:ext>
            </a:extLst>
          </p:cNvPr>
          <p:cNvSpPr>
            <a:spLocks noGrp="1"/>
          </p:cNvSpPr>
          <p:nvPr>
            <p:ph type="title"/>
          </p:nvPr>
        </p:nvSpPr>
        <p:spPr/>
        <p:txBody>
          <a:bodyPr>
            <a:noAutofit/>
          </a:bodyPr>
          <a:lstStyle/>
          <a:p>
            <a:r>
              <a:rPr lang="en-US" dirty="0"/>
              <a:t>Using A Super Constructor (2)</a:t>
            </a:r>
          </a:p>
        </p:txBody>
      </p:sp>
      <p:sp>
        <p:nvSpPr>
          <p:cNvPr id="3" name="Content Placeholder 2">
            <a:extLst>
              <a:ext uri="{FF2B5EF4-FFF2-40B4-BE49-F238E27FC236}">
                <a16:creationId xmlns:a16="http://schemas.microsoft.com/office/drawing/2014/main" id="{1D84506C-0098-3040-A486-09180EF1C75E}"/>
              </a:ext>
            </a:extLst>
          </p:cNvPr>
          <p:cNvSpPr>
            <a:spLocks noGrp="1"/>
          </p:cNvSpPr>
          <p:nvPr>
            <p:ph idx="1"/>
          </p:nvPr>
        </p:nvSpPr>
        <p:spPr>
          <a:xfrm>
            <a:off x="457200" y="1066800"/>
            <a:ext cx="8229600" cy="5486400"/>
          </a:xfrm>
        </p:spPr>
        <p:txBody>
          <a:bodyPr>
            <a:normAutofit fontScale="55000" lnSpcReduction="20000"/>
          </a:bodyPr>
          <a:lstStyle/>
          <a:p>
            <a:r>
              <a:rPr lang="en-US" sz="2800" dirty="0">
                <a:solidFill>
                  <a:prstClr val="black"/>
                </a:solidFill>
              </a:rPr>
              <a:t>An example.  If the code looks like this:</a:t>
            </a:r>
          </a:p>
          <a:p>
            <a:pPr marL="0" indent="0">
              <a:buNone/>
            </a:pPr>
            <a:r>
              <a:rPr lang="en-US" dirty="0"/>
              <a:t>public Movie3( String ttl, int lngth, String dir, String rtng )</a:t>
            </a:r>
          </a:p>
          <a:p>
            <a:pPr marL="0" indent="0">
              <a:buNone/>
            </a:pPr>
            <a:r>
              <a:rPr lang="en-US" dirty="0"/>
              <a:t>{</a:t>
            </a:r>
          </a:p>
          <a:p>
            <a:pPr marL="0" indent="0">
              <a:buNone/>
            </a:pPr>
            <a:r>
              <a:rPr lang="en-US" dirty="0"/>
              <a:t>  setTitle( ttl );    // initialize inherited variables </a:t>
            </a:r>
          </a:p>
          <a:p>
            <a:pPr marL="0" indent="0">
              <a:buNone/>
            </a:pPr>
            <a:r>
              <a:rPr lang="en-US" dirty="0"/>
              <a:t>  setLength( lngth );  </a:t>
            </a:r>
          </a:p>
          <a:p>
            <a:pPr marL="0" indent="0">
              <a:buNone/>
            </a:pPr>
            <a:r>
              <a:rPr lang="en-US" dirty="0"/>
              <a:t>  setAvailable( true );</a:t>
            </a:r>
          </a:p>
          <a:p>
            <a:pPr marL="0" indent="0">
              <a:buNone/>
            </a:pPr>
            <a:r>
              <a:rPr lang="en-US" dirty="0"/>
              <a:t>  director = dir;    // initialize Movie variables</a:t>
            </a:r>
          </a:p>
          <a:p>
            <a:pPr marL="0" indent="0">
              <a:buNone/>
            </a:pPr>
            <a:r>
              <a:rPr lang="en-US" dirty="0"/>
              <a:t>  rating = rtng;</a:t>
            </a:r>
          </a:p>
          <a:p>
            <a:pPr marL="0" indent="0">
              <a:buNone/>
            </a:pPr>
            <a:r>
              <a:rPr lang="en-US" dirty="0"/>
              <a:t>}</a:t>
            </a:r>
          </a:p>
          <a:p>
            <a:r>
              <a:rPr lang="en-US" dirty="0"/>
              <a:t>Then the following insert takes place:</a:t>
            </a:r>
          </a:p>
          <a:p>
            <a:endParaRPr lang="en-US" dirty="0"/>
          </a:p>
          <a:p>
            <a:pPr marL="0" indent="0">
              <a:buNone/>
            </a:pPr>
            <a:r>
              <a:rPr lang="en-US" dirty="0"/>
              <a:t>public Movie3( String ttl, int lngth, String dir, String rtng )</a:t>
            </a:r>
          </a:p>
          <a:p>
            <a:pPr marL="0" indent="0">
              <a:buNone/>
            </a:pPr>
            <a:r>
              <a:rPr lang="en-US" dirty="0"/>
              <a:t>{</a:t>
            </a:r>
          </a:p>
          <a:p>
            <a:pPr marL="0" indent="0">
              <a:buNone/>
            </a:pPr>
            <a:r>
              <a:rPr lang="en-US" dirty="0"/>
              <a:t>  </a:t>
            </a:r>
            <a:r>
              <a:rPr lang="en-US" b="1" dirty="0">
                <a:solidFill>
                  <a:srgbClr val="FF0000"/>
                </a:solidFill>
              </a:rPr>
              <a:t>super();          // inserted by compiler: parent's no-argument constructor</a:t>
            </a:r>
          </a:p>
          <a:p>
            <a:pPr marL="0" indent="0">
              <a:buNone/>
            </a:pPr>
            <a:r>
              <a:rPr lang="en-US" dirty="0"/>
              <a:t>  setTitle( ttl );    // initialize inherited variables </a:t>
            </a:r>
          </a:p>
          <a:p>
            <a:pPr marL="0" indent="0">
              <a:buNone/>
            </a:pPr>
            <a:r>
              <a:rPr lang="en-US" dirty="0"/>
              <a:t>  setLength( lngth );  </a:t>
            </a:r>
          </a:p>
          <a:p>
            <a:pPr marL="0" indent="0">
              <a:buNone/>
            </a:pPr>
            <a:r>
              <a:rPr lang="en-US" dirty="0"/>
              <a:t>  setAvailable( true );</a:t>
            </a:r>
          </a:p>
          <a:p>
            <a:pPr marL="0" indent="0">
              <a:buNone/>
            </a:pPr>
            <a:r>
              <a:rPr lang="en-US" dirty="0"/>
              <a:t>  director = dir;  // initialize Movie variables</a:t>
            </a:r>
          </a:p>
          <a:p>
            <a:pPr marL="0" indent="0">
              <a:buNone/>
            </a:pPr>
            <a:r>
              <a:rPr lang="en-US" dirty="0"/>
              <a:t>  rating = rtng;</a:t>
            </a:r>
          </a:p>
          <a:p>
            <a:pPr marL="0" indent="0">
              <a:buNone/>
            </a:pPr>
            <a:r>
              <a:rPr lang="en-US" dirty="0"/>
              <a:t>}</a:t>
            </a:r>
          </a:p>
          <a:p>
            <a:pPr marL="0" indent="0">
              <a:buNone/>
            </a:pPr>
            <a:endParaRPr lang="en-US" dirty="0"/>
          </a:p>
          <a:p>
            <a:pPr marL="0" indent="0">
              <a:buNone/>
            </a:pPr>
            <a:r>
              <a:rPr lang="en-US" sz="3300" dirty="0"/>
              <a:t>Note: In our program the class definition for Video (the superclass) lacks a no-argument constructor. The proposed constructor (above) calls for such a constructor so it would cause a syntax error.</a:t>
            </a:r>
          </a:p>
        </p:txBody>
      </p:sp>
      <p:sp>
        <p:nvSpPr>
          <p:cNvPr id="4" name="Slide Number Placeholder 3">
            <a:extLst>
              <a:ext uri="{FF2B5EF4-FFF2-40B4-BE49-F238E27FC236}">
                <a16:creationId xmlns:a16="http://schemas.microsoft.com/office/drawing/2014/main" id="{E365EE45-6213-0140-8895-69EAF9E201A5}"/>
              </a:ext>
            </a:extLst>
          </p:cNvPr>
          <p:cNvSpPr>
            <a:spLocks noGrp="1"/>
          </p:cNvSpPr>
          <p:nvPr>
            <p:ph type="sldNum" sz="quarter" idx="12"/>
          </p:nvPr>
        </p:nvSpPr>
        <p:spPr/>
        <p:txBody>
          <a:bodyPr/>
          <a:lstStyle/>
          <a:p>
            <a:fld id="{13977939-A071-43C1-9268-F54CC2756BB5}" type="slidenum">
              <a:rPr lang="en-US" smtClean="0"/>
              <a:pPr/>
              <a:t>117</a:t>
            </a:fld>
            <a:endParaRPr lang="en-US" dirty="0"/>
          </a:p>
        </p:txBody>
      </p:sp>
    </p:spTree>
    <p:extLst>
      <p:ext uri="{BB962C8B-B14F-4D97-AF65-F5344CB8AC3E}">
        <p14:creationId xmlns:p14="http://schemas.microsoft.com/office/powerpoint/2010/main" val="783748727"/>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47C0D-245E-4A4C-8335-6E5F0CC1AF80}"/>
              </a:ext>
            </a:extLst>
          </p:cNvPr>
          <p:cNvSpPr>
            <a:spLocks noGrp="1"/>
          </p:cNvSpPr>
          <p:nvPr>
            <p:ph type="title"/>
          </p:nvPr>
        </p:nvSpPr>
        <p:spPr/>
        <p:txBody>
          <a:bodyPr>
            <a:normAutofit fontScale="90000"/>
          </a:bodyPr>
          <a:lstStyle/>
          <a:p>
            <a:r>
              <a:rPr lang="en-US" dirty="0"/>
              <a:t>A Few Notes About The Default Constructor</a:t>
            </a:r>
          </a:p>
        </p:txBody>
      </p:sp>
      <p:sp>
        <p:nvSpPr>
          <p:cNvPr id="3" name="Content Placeholder 2">
            <a:extLst>
              <a:ext uri="{FF2B5EF4-FFF2-40B4-BE49-F238E27FC236}">
                <a16:creationId xmlns:a16="http://schemas.microsoft.com/office/drawing/2014/main" id="{A1031414-2F7B-954E-A1CD-0D650B0CD2AB}"/>
              </a:ext>
            </a:extLst>
          </p:cNvPr>
          <p:cNvSpPr>
            <a:spLocks noGrp="1"/>
          </p:cNvSpPr>
          <p:nvPr>
            <p:ph idx="1"/>
          </p:nvPr>
        </p:nvSpPr>
        <p:spPr/>
        <p:txBody>
          <a:bodyPr>
            <a:normAutofit lnSpcReduction="10000"/>
          </a:bodyPr>
          <a:lstStyle/>
          <a:p>
            <a:r>
              <a:rPr lang="en-US" dirty="0"/>
              <a:t>The programmer can explicitly write a no-argument constructor for a class.</a:t>
            </a:r>
          </a:p>
          <a:p>
            <a:r>
              <a:rPr lang="en-US" dirty="0"/>
              <a:t>If the programmer does not write </a:t>
            </a:r>
            <a:r>
              <a:rPr lang="en-US" dirty="0">
                <a:solidFill>
                  <a:srgbClr val="FF0000"/>
                </a:solidFill>
              </a:rPr>
              <a:t>any</a:t>
            </a:r>
            <a:r>
              <a:rPr lang="en-US" dirty="0"/>
              <a:t> constructors for a class, then a no-argument constructor (called the default constructor) is automatically supplied.</a:t>
            </a:r>
          </a:p>
          <a:p>
            <a:r>
              <a:rPr lang="en-US" dirty="0">
                <a:solidFill>
                  <a:srgbClr val="FF0000"/>
                </a:solidFill>
              </a:rPr>
              <a:t>If the programmer writes even one constructor for a class then the default constructor is not automatically supplied</a:t>
            </a:r>
            <a:r>
              <a:rPr lang="en-US" dirty="0"/>
              <a:t>.</a:t>
            </a:r>
          </a:p>
          <a:p>
            <a:r>
              <a:rPr lang="en-US" dirty="0"/>
              <a:t>So: if you write a constructor for a class, then you must also write a no-argument constructor if one is expected.</a:t>
            </a:r>
          </a:p>
          <a:p>
            <a:endParaRPr lang="en-US" dirty="0"/>
          </a:p>
        </p:txBody>
      </p:sp>
      <p:sp>
        <p:nvSpPr>
          <p:cNvPr id="4" name="Slide Number Placeholder 3">
            <a:extLst>
              <a:ext uri="{FF2B5EF4-FFF2-40B4-BE49-F238E27FC236}">
                <a16:creationId xmlns:a16="http://schemas.microsoft.com/office/drawing/2014/main" id="{09D0072A-C4ED-804C-B98B-141360E8D223}"/>
              </a:ext>
            </a:extLst>
          </p:cNvPr>
          <p:cNvSpPr>
            <a:spLocks noGrp="1"/>
          </p:cNvSpPr>
          <p:nvPr>
            <p:ph type="sldNum" sz="quarter" idx="12"/>
          </p:nvPr>
        </p:nvSpPr>
        <p:spPr/>
        <p:txBody>
          <a:bodyPr/>
          <a:lstStyle/>
          <a:p>
            <a:fld id="{13977939-A071-43C1-9268-F54CC2756BB5}" type="slidenum">
              <a:rPr lang="en-US" smtClean="0"/>
              <a:pPr/>
              <a:t>118</a:t>
            </a:fld>
            <a:endParaRPr lang="en-US" dirty="0"/>
          </a:p>
        </p:txBody>
      </p:sp>
    </p:spTree>
    <p:extLst>
      <p:ext uri="{BB962C8B-B14F-4D97-AF65-F5344CB8AC3E}">
        <p14:creationId xmlns:p14="http://schemas.microsoft.com/office/powerpoint/2010/main" val="170287649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22189-DAB2-2C46-8C80-6784B5BCF3F0}"/>
              </a:ext>
            </a:extLst>
          </p:cNvPr>
          <p:cNvSpPr>
            <a:spLocks noGrp="1"/>
          </p:cNvSpPr>
          <p:nvPr>
            <p:ph type="title"/>
          </p:nvPr>
        </p:nvSpPr>
        <p:spPr/>
        <p:txBody>
          <a:bodyPr/>
          <a:lstStyle/>
          <a:p>
            <a:r>
              <a:rPr lang="en-US" dirty="0"/>
              <a:t>Inheritance Rules for Constructors</a:t>
            </a:r>
          </a:p>
        </p:txBody>
      </p:sp>
      <p:sp>
        <p:nvSpPr>
          <p:cNvPr id="3" name="Slide Number Placeholder 2">
            <a:extLst>
              <a:ext uri="{FF2B5EF4-FFF2-40B4-BE49-F238E27FC236}">
                <a16:creationId xmlns:a16="http://schemas.microsoft.com/office/drawing/2014/main" id="{1C703719-CA7F-BD4C-8530-8042D3B894C9}"/>
              </a:ext>
            </a:extLst>
          </p:cNvPr>
          <p:cNvSpPr>
            <a:spLocks noGrp="1"/>
          </p:cNvSpPr>
          <p:nvPr>
            <p:ph type="sldNum" sz="quarter" idx="12"/>
          </p:nvPr>
        </p:nvSpPr>
        <p:spPr/>
        <p:txBody>
          <a:bodyPr/>
          <a:lstStyle/>
          <a:p>
            <a:fld id="{13977939-A071-43C1-9268-F54CC2756BB5}" type="slidenum">
              <a:rPr lang="en-US" smtClean="0"/>
              <a:pPr/>
              <a:t>119</a:t>
            </a:fld>
            <a:endParaRPr lang="en-US" dirty="0"/>
          </a:p>
        </p:txBody>
      </p:sp>
      <p:pic>
        <p:nvPicPr>
          <p:cNvPr id="4" name="Picture 3" descr="Constructor summary&#10;">
            <a:extLst>
              <a:ext uri="{FF2B5EF4-FFF2-40B4-BE49-F238E27FC236}">
                <a16:creationId xmlns:a16="http://schemas.microsoft.com/office/drawing/2014/main" id="{BA6F30F8-609E-444C-BACF-BE942C60B89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005924" y="2057400"/>
            <a:ext cx="7132152" cy="2258938"/>
          </a:xfrm>
          <a:prstGeom prst="rect">
            <a:avLst/>
          </a:prstGeom>
        </p:spPr>
      </p:pic>
    </p:spTree>
    <p:extLst>
      <p:ext uri="{BB962C8B-B14F-4D97-AF65-F5344CB8AC3E}">
        <p14:creationId xmlns:p14="http://schemas.microsoft.com/office/powerpoint/2010/main" val="63270909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E8FF3-6EEA-114B-A6E3-0CD3A76F5281}"/>
              </a:ext>
            </a:extLst>
          </p:cNvPr>
          <p:cNvSpPr>
            <a:spLocks noGrp="1"/>
          </p:cNvSpPr>
          <p:nvPr>
            <p:ph type="title"/>
          </p:nvPr>
        </p:nvSpPr>
        <p:spPr/>
        <p:txBody>
          <a:bodyPr>
            <a:noAutofit/>
          </a:bodyPr>
          <a:lstStyle/>
          <a:p>
            <a:r>
              <a:rPr lang="en-US" dirty="0"/>
              <a:t>Method Signature</a:t>
            </a:r>
          </a:p>
        </p:txBody>
      </p:sp>
      <p:sp>
        <p:nvSpPr>
          <p:cNvPr id="3" name="Content Placeholder 2">
            <a:extLst>
              <a:ext uri="{FF2B5EF4-FFF2-40B4-BE49-F238E27FC236}">
                <a16:creationId xmlns:a16="http://schemas.microsoft.com/office/drawing/2014/main" id="{C0D29D13-8DC8-9543-9A7D-963C4FFDE3F3}"/>
              </a:ext>
            </a:extLst>
          </p:cNvPr>
          <p:cNvSpPr>
            <a:spLocks noGrp="1"/>
          </p:cNvSpPr>
          <p:nvPr>
            <p:ph idx="1"/>
          </p:nvPr>
        </p:nvSpPr>
        <p:spPr>
          <a:xfrm>
            <a:off x="457200" y="1249679"/>
            <a:ext cx="8229600" cy="5471795"/>
          </a:xfrm>
        </p:spPr>
        <p:txBody>
          <a:bodyPr>
            <a:normAutofit fontScale="92500" lnSpcReduction="20000"/>
          </a:bodyPr>
          <a:lstStyle/>
          <a:p>
            <a:r>
              <a:rPr lang="en-US" dirty="0"/>
              <a:t>Quick Reminder:</a:t>
            </a:r>
          </a:p>
          <a:p>
            <a:r>
              <a:rPr lang="en-US" dirty="0"/>
              <a:t>A signature looks like this:</a:t>
            </a:r>
          </a:p>
          <a:p>
            <a:pPr marL="0" indent="0">
              <a:buNone/>
            </a:pPr>
            <a:r>
              <a:rPr lang="en-US" dirty="0"/>
              <a:t>    someMethod( int, double, String )</a:t>
            </a:r>
          </a:p>
          <a:p>
            <a:endParaRPr lang="en-US" dirty="0"/>
          </a:p>
          <a:p>
            <a:r>
              <a:rPr lang="en-US" dirty="0"/>
              <a:t>The return type is not part of the signature. </a:t>
            </a:r>
          </a:p>
          <a:p>
            <a:r>
              <a:rPr lang="en-US" dirty="0"/>
              <a:t>The names of the parameters do not matter, just their types.</a:t>
            </a:r>
          </a:p>
          <a:p>
            <a:r>
              <a:rPr lang="en-US" dirty="0"/>
              <a:t>The name of a method is not enough to uniquely identify it. - There may be several versions of a method, each with different parameters. – that is what overloading is.</a:t>
            </a:r>
          </a:p>
          <a:p>
            <a:pPr lvl="1"/>
            <a:r>
              <a:rPr lang="en-US" dirty="0"/>
              <a:t>Overloading occurs </a:t>
            </a:r>
          </a:p>
          <a:p>
            <a:pPr lvl="2"/>
            <a:r>
              <a:rPr lang="en-US" dirty="0"/>
              <a:t>If there are the same number of parameters, but at least one mismatch in types between corresponding parameters, or</a:t>
            </a:r>
          </a:p>
          <a:p>
            <a:pPr lvl="2"/>
            <a:r>
              <a:rPr lang="en-US" dirty="0"/>
              <a:t>If there are a different number of parameters</a:t>
            </a:r>
          </a:p>
          <a:p>
            <a:pPr lvl="1"/>
            <a:r>
              <a:rPr lang="en-US" dirty="0"/>
              <a:t>The types in the parameter list are needed to specify which method you want.</a:t>
            </a:r>
          </a:p>
        </p:txBody>
      </p:sp>
      <p:sp>
        <p:nvSpPr>
          <p:cNvPr id="4" name="Slide Number Placeholder 3">
            <a:extLst>
              <a:ext uri="{FF2B5EF4-FFF2-40B4-BE49-F238E27FC236}">
                <a16:creationId xmlns:a16="http://schemas.microsoft.com/office/drawing/2014/main" id="{16B130DF-7FD9-F34E-B8DF-12CAC2BF3AEF}"/>
              </a:ext>
            </a:extLst>
          </p:cNvPr>
          <p:cNvSpPr>
            <a:spLocks noGrp="1"/>
          </p:cNvSpPr>
          <p:nvPr>
            <p:ph type="sldNum" sz="quarter" idx="12"/>
          </p:nvPr>
        </p:nvSpPr>
        <p:spPr/>
        <p:txBody>
          <a:bodyPr/>
          <a:lstStyle/>
          <a:p>
            <a:fld id="{13977939-A071-43C1-9268-F54CC2756BB5}" type="slidenum">
              <a:rPr lang="en-US" smtClean="0"/>
              <a:pPr/>
              <a:t>120</a:t>
            </a:fld>
            <a:endParaRPr lang="en-US" dirty="0"/>
          </a:p>
        </p:txBody>
      </p:sp>
    </p:spTree>
    <p:extLst>
      <p:ext uri="{BB962C8B-B14F-4D97-AF65-F5344CB8AC3E}">
        <p14:creationId xmlns:p14="http://schemas.microsoft.com/office/powerpoint/2010/main" val="199389268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0980E-7424-174F-92A1-C32A757939BF}"/>
              </a:ext>
            </a:extLst>
          </p:cNvPr>
          <p:cNvSpPr>
            <a:spLocks noGrp="1"/>
          </p:cNvSpPr>
          <p:nvPr>
            <p:ph type="title"/>
          </p:nvPr>
        </p:nvSpPr>
        <p:spPr>
          <a:xfrm>
            <a:off x="457200" y="76200"/>
            <a:ext cx="8229600" cy="475488"/>
          </a:xfrm>
        </p:spPr>
        <p:txBody>
          <a:bodyPr>
            <a:noAutofit/>
          </a:bodyPr>
          <a:lstStyle/>
          <a:p>
            <a:r>
              <a:rPr lang="en-US" dirty="0"/>
              <a:t>Overriding A Parent Method</a:t>
            </a:r>
          </a:p>
        </p:txBody>
      </p:sp>
      <p:sp>
        <p:nvSpPr>
          <p:cNvPr id="3" name="Content Placeholder 2">
            <a:extLst>
              <a:ext uri="{FF2B5EF4-FFF2-40B4-BE49-F238E27FC236}">
                <a16:creationId xmlns:a16="http://schemas.microsoft.com/office/drawing/2014/main" id="{F4D826C1-84ED-4C46-89CD-A96050F693FD}"/>
              </a:ext>
            </a:extLst>
          </p:cNvPr>
          <p:cNvSpPr>
            <a:spLocks noGrp="1"/>
          </p:cNvSpPr>
          <p:nvPr>
            <p:ph idx="1"/>
          </p:nvPr>
        </p:nvSpPr>
        <p:spPr>
          <a:xfrm>
            <a:off x="457200" y="688213"/>
            <a:ext cx="8229600" cy="6169787"/>
          </a:xfrm>
        </p:spPr>
        <p:txBody>
          <a:bodyPr>
            <a:normAutofit fontScale="77500" lnSpcReduction="20000"/>
          </a:bodyPr>
          <a:lstStyle/>
          <a:p>
            <a:r>
              <a:rPr lang="en-US" dirty="0"/>
              <a:t>In any object-oriented programming language, </a:t>
            </a:r>
            <a:r>
              <a:rPr lang="en-US" dirty="0">
                <a:solidFill>
                  <a:srgbClr val="FF0000"/>
                </a:solidFill>
              </a:rPr>
              <a:t>Overriding</a:t>
            </a:r>
            <a:r>
              <a:rPr lang="en-US" dirty="0"/>
              <a:t> is a feature that allows a subclass or child class to provide a specific implementation of a method that is already provided by one of its super-classes or parent classes.</a:t>
            </a:r>
          </a:p>
          <a:p>
            <a:pPr lvl="1"/>
            <a:r>
              <a:rPr lang="en-US" dirty="0"/>
              <a:t>Some programmers use the @Override annotation, but it is not required unless you are using javadocs</a:t>
            </a:r>
          </a:p>
          <a:p>
            <a:r>
              <a:rPr lang="en-US" dirty="0"/>
              <a:t>A child's method overrides a parent's method when it has the same signature as a parent method. </a:t>
            </a:r>
          </a:p>
          <a:p>
            <a:pPr lvl="1"/>
            <a:r>
              <a:rPr lang="en-US" dirty="0">
                <a:solidFill>
                  <a:srgbClr val="FF0000"/>
                </a:solidFill>
              </a:rPr>
              <a:t>Remember that the signature of a method is the name of the method and its parameter list.</a:t>
            </a:r>
          </a:p>
          <a:p>
            <a:r>
              <a:rPr lang="en-US" dirty="0"/>
              <a:t>When overriding a method with the same signature you can change the return type under certain conditions.</a:t>
            </a:r>
          </a:p>
          <a:p>
            <a:pPr lvl="1"/>
            <a:r>
              <a:rPr lang="en-US" dirty="0"/>
              <a:t>The return type is a non-primitive </a:t>
            </a:r>
            <a:r>
              <a:rPr lang="en-US" dirty="0">
                <a:solidFill>
                  <a:srgbClr val="FF0000"/>
                </a:solidFill>
              </a:rPr>
              <a:t>and</a:t>
            </a:r>
          </a:p>
          <a:p>
            <a:pPr lvl="1"/>
            <a:r>
              <a:rPr lang="en-US" dirty="0"/>
              <a:t>The return type is a subclass of what the base class’s overridden method is returning (i.e. co-variant return type).</a:t>
            </a:r>
          </a:p>
          <a:p>
            <a:pPr lvl="2"/>
            <a:r>
              <a:rPr lang="en-US" dirty="0"/>
              <a:t>Example – if a reference to a Video is returned in the superclass a reference to a Movie can be returned in the subclass method that is overriding</a:t>
            </a:r>
          </a:p>
          <a:p>
            <a:r>
              <a:rPr lang="en-US" dirty="0"/>
              <a:t>Now the parent has its method, and the child has its own method with the same signature. </a:t>
            </a:r>
          </a:p>
          <a:p>
            <a:r>
              <a:rPr lang="en-US" dirty="0"/>
              <a:t>Look at </a:t>
            </a:r>
            <a:r>
              <a:rPr lang="en-US" dirty="0">
                <a:solidFill>
                  <a:srgbClr val="FF0000"/>
                </a:solidFill>
              </a:rPr>
              <a:t>Test3VideoStore.java and Movie3.java</a:t>
            </a:r>
            <a:r>
              <a:rPr lang="en-US" dirty="0"/>
              <a:t> to see the overriding of toString() in Movie</a:t>
            </a:r>
          </a:p>
          <a:p>
            <a:pPr lvl="1"/>
            <a:r>
              <a:rPr lang="en-US" dirty="0"/>
              <a:t>You can also incorporate super in the process to print out the common parts the same way.</a:t>
            </a:r>
          </a:p>
        </p:txBody>
      </p:sp>
      <p:sp>
        <p:nvSpPr>
          <p:cNvPr id="4" name="Slide Number Placeholder 3">
            <a:extLst>
              <a:ext uri="{FF2B5EF4-FFF2-40B4-BE49-F238E27FC236}">
                <a16:creationId xmlns:a16="http://schemas.microsoft.com/office/drawing/2014/main" id="{F3B94F0E-CF73-584A-A50C-70975DB6E940}"/>
              </a:ext>
            </a:extLst>
          </p:cNvPr>
          <p:cNvSpPr>
            <a:spLocks noGrp="1"/>
          </p:cNvSpPr>
          <p:nvPr>
            <p:ph type="sldNum" sz="quarter" idx="12"/>
          </p:nvPr>
        </p:nvSpPr>
        <p:spPr/>
        <p:txBody>
          <a:bodyPr/>
          <a:lstStyle/>
          <a:p>
            <a:fld id="{13977939-A071-43C1-9268-F54CC2756BB5}" type="slidenum">
              <a:rPr lang="en-US" smtClean="0"/>
              <a:pPr/>
              <a:t>121</a:t>
            </a:fld>
            <a:endParaRPr lang="en-US" dirty="0"/>
          </a:p>
        </p:txBody>
      </p:sp>
    </p:spTree>
    <p:extLst>
      <p:ext uri="{BB962C8B-B14F-4D97-AF65-F5344CB8AC3E}">
        <p14:creationId xmlns:p14="http://schemas.microsoft.com/office/powerpoint/2010/main" val="89626626"/>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B3132-E523-CC45-8EA7-DB2AA7B75B20}"/>
              </a:ext>
            </a:extLst>
          </p:cNvPr>
          <p:cNvSpPr>
            <a:spLocks noGrp="1"/>
          </p:cNvSpPr>
          <p:nvPr>
            <p:ph type="title"/>
          </p:nvPr>
        </p:nvSpPr>
        <p:spPr/>
        <p:txBody>
          <a:bodyPr>
            <a:noAutofit/>
          </a:bodyPr>
          <a:lstStyle/>
          <a:p>
            <a:r>
              <a:rPr lang="en-US" dirty="0"/>
              <a:t>Rules For Overriding In Java</a:t>
            </a:r>
          </a:p>
        </p:txBody>
      </p:sp>
      <p:sp>
        <p:nvSpPr>
          <p:cNvPr id="3" name="Content Placeholder 2">
            <a:extLst>
              <a:ext uri="{FF2B5EF4-FFF2-40B4-BE49-F238E27FC236}">
                <a16:creationId xmlns:a16="http://schemas.microsoft.com/office/drawing/2014/main" id="{CA65E0CD-509E-8F4E-9ECF-98F133E0DAA5}"/>
              </a:ext>
            </a:extLst>
          </p:cNvPr>
          <p:cNvSpPr>
            <a:spLocks noGrp="1"/>
          </p:cNvSpPr>
          <p:nvPr>
            <p:ph idx="1"/>
          </p:nvPr>
        </p:nvSpPr>
        <p:spPr>
          <a:xfrm>
            <a:off x="457200" y="932688"/>
            <a:ext cx="8229600" cy="5925312"/>
          </a:xfrm>
        </p:spPr>
        <p:txBody>
          <a:bodyPr>
            <a:normAutofit fontScale="70000" lnSpcReduction="20000"/>
          </a:bodyPr>
          <a:lstStyle/>
          <a:p>
            <a:r>
              <a:rPr lang="en-US" dirty="0"/>
              <a:t>The argument list should be </a:t>
            </a:r>
            <a:r>
              <a:rPr lang="en-US" dirty="0">
                <a:solidFill>
                  <a:srgbClr val="FF0000"/>
                </a:solidFill>
              </a:rPr>
              <a:t>exactly the same </a:t>
            </a:r>
            <a:r>
              <a:rPr lang="en-US" dirty="0"/>
              <a:t>as that of the overridden method.</a:t>
            </a:r>
          </a:p>
          <a:p>
            <a:r>
              <a:rPr lang="en-US" dirty="0"/>
              <a:t>The return type </a:t>
            </a:r>
            <a:r>
              <a:rPr lang="en-US" dirty="0">
                <a:solidFill>
                  <a:srgbClr val="FF0000"/>
                </a:solidFill>
              </a:rPr>
              <a:t>should be the same or a subtype of the return type </a:t>
            </a:r>
            <a:r>
              <a:rPr lang="en-US" dirty="0"/>
              <a:t>declared in the original overridden method in the superclass.</a:t>
            </a:r>
          </a:p>
          <a:p>
            <a:r>
              <a:rPr lang="en-US" dirty="0"/>
              <a:t>The access level </a:t>
            </a:r>
            <a:r>
              <a:rPr lang="en-US" dirty="0">
                <a:solidFill>
                  <a:srgbClr val="FF0000"/>
                </a:solidFill>
              </a:rPr>
              <a:t>cannot be more restrictive </a:t>
            </a:r>
            <a:r>
              <a:rPr lang="en-US" dirty="0"/>
              <a:t>than the overridden method's access level. For example: If the superclass method is declared public then the overriding method in the sub class </a:t>
            </a:r>
            <a:r>
              <a:rPr lang="en-US" dirty="0">
                <a:solidFill>
                  <a:srgbClr val="FF0000"/>
                </a:solidFill>
              </a:rPr>
              <a:t>cannot</a:t>
            </a:r>
            <a:r>
              <a:rPr lang="en-US" dirty="0"/>
              <a:t> be either private or protected.</a:t>
            </a:r>
          </a:p>
          <a:p>
            <a:r>
              <a:rPr lang="en-US" dirty="0"/>
              <a:t>Instance() methods can be overridden only if they are inherited by the subclass.</a:t>
            </a:r>
          </a:p>
          <a:p>
            <a:r>
              <a:rPr lang="en-US" dirty="0"/>
              <a:t>A method declared final cannot be overridden.</a:t>
            </a:r>
          </a:p>
          <a:p>
            <a:r>
              <a:rPr lang="en-US" dirty="0"/>
              <a:t>A method declared static cannot be overridden but can be re-declared.</a:t>
            </a:r>
          </a:p>
          <a:p>
            <a:r>
              <a:rPr lang="en-US" dirty="0"/>
              <a:t>If a method cannot be inherited, then it cannot be overridden.</a:t>
            </a:r>
          </a:p>
          <a:p>
            <a:r>
              <a:rPr lang="en-US" dirty="0">
                <a:solidFill>
                  <a:srgbClr val="FF0000"/>
                </a:solidFill>
              </a:rPr>
              <a:t>A subclass within the same package as the instance's superclass can override any superclass method that is not declared private or final.</a:t>
            </a:r>
          </a:p>
          <a:p>
            <a:pPr lvl="1"/>
            <a:r>
              <a:rPr lang="en-US" dirty="0"/>
              <a:t>A subclass in a different package can only override the non-final methods declared public or protected.</a:t>
            </a:r>
          </a:p>
          <a:p>
            <a:pPr lvl="1"/>
            <a:r>
              <a:rPr lang="en-US" dirty="0"/>
              <a:t>Please just use public and private</a:t>
            </a:r>
          </a:p>
          <a:p>
            <a:r>
              <a:rPr lang="en-US" dirty="0"/>
              <a:t>An overriding method can throw any unchecked exceptions, regardless of whether the overridden method throws exceptions or not. </a:t>
            </a:r>
          </a:p>
          <a:p>
            <a:pPr lvl="1"/>
            <a:r>
              <a:rPr lang="en-US" dirty="0"/>
              <a:t>However, the overriding method should not throw checked exceptions that are new or broader than the ones declared by the overridden method. The overriding method can throw narrower or fewer exceptions than the overridden method.</a:t>
            </a:r>
          </a:p>
          <a:p>
            <a:r>
              <a:rPr lang="en-US" dirty="0">
                <a:solidFill>
                  <a:srgbClr val="FF0000"/>
                </a:solidFill>
              </a:rPr>
              <a:t>Constructors cannot be overridden. – They aren’t even inherited.</a:t>
            </a:r>
          </a:p>
        </p:txBody>
      </p:sp>
      <p:sp>
        <p:nvSpPr>
          <p:cNvPr id="4" name="Slide Number Placeholder 3">
            <a:extLst>
              <a:ext uri="{FF2B5EF4-FFF2-40B4-BE49-F238E27FC236}">
                <a16:creationId xmlns:a16="http://schemas.microsoft.com/office/drawing/2014/main" id="{2D194E10-2495-9C4E-915D-6E2393E179C9}"/>
              </a:ext>
            </a:extLst>
          </p:cNvPr>
          <p:cNvSpPr>
            <a:spLocks noGrp="1"/>
          </p:cNvSpPr>
          <p:nvPr>
            <p:ph type="sldNum" sz="quarter" idx="12"/>
          </p:nvPr>
        </p:nvSpPr>
        <p:spPr/>
        <p:txBody>
          <a:bodyPr/>
          <a:lstStyle/>
          <a:p>
            <a:fld id="{13977939-A071-43C1-9268-F54CC2756BB5}" type="slidenum">
              <a:rPr lang="en-US" smtClean="0"/>
              <a:pPr/>
              <a:t>122</a:t>
            </a:fld>
            <a:endParaRPr lang="en-US" dirty="0"/>
          </a:p>
        </p:txBody>
      </p:sp>
    </p:spTree>
    <p:extLst>
      <p:ext uri="{BB962C8B-B14F-4D97-AF65-F5344CB8AC3E}">
        <p14:creationId xmlns:p14="http://schemas.microsoft.com/office/powerpoint/2010/main" val="1749622449"/>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7928F-5E0D-5F47-8618-4F1C2F15F896}"/>
              </a:ext>
            </a:extLst>
          </p:cNvPr>
          <p:cNvSpPr>
            <a:spLocks noGrp="1"/>
          </p:cNvSpPr>
          <p:nvPr>
            <p:ph type="title"/>
          </p:nvPr>
        </p:nvSpPr>
        <p:spPr/>
        <p:txBody>
          <a:bodyPr/>
          <a:lstStyle/>
          <a:p>
            <a:r>
              <a:rPr lang="en-US" dirty="0"/>
              <a:t>Inheritance Rules For Overwritten Methods</a:t>
            </a:r>
          </a:p>
        </p:txBody>
      </p:sp>
      <p:sp>
        <p:nvSpPr>
          <p:cNvPr id="3" name="Slide Number Placeholder 2">
            <a:extLst>
              <a:ext uri="{FF2B5EF4-FFF2-40B4-BE49-F238E27FC236}">
                <a16:creationId xmlns:a16="http://schemas.microsoft.com/office/drawing/2014/main" id="{8B30355B-47B5-2641-82BC-622B3AB92141}"/>
              </a:ext>
            </a:extLst>
          </p:cNvPr>
          <p:cNvSpPr>
            <a:spLocks noGrp="1"/>
          </p:cNvSpPr>
          <p:nvPr>
            <p:ph type="sldNum" sz="quarter" idx="12"/>
          </p:nvPr>
        </p:nvSpPr>
        <p:spPr/>
        <p:txBody>
          <a:bodyPr/>
          <a:lstStyle/>
          <a:p>
            <a:fld id="{13977939-A071-43C1-9268-F54CC2756BB5}" type="slidenum">
              <a:rPr lang="en-US" smtClean="0"/>
              <a:pPr/>
              <a:t>123</a:t>
            </a:fld>
            <a:endParaRPr lang="en-US" dirty="0"/>
          </a:p>
        </p:txBody>
      </p:sp>
      <p:pic>
        <p:nvPicPr>
          <p:cNvPr id="4" name="Picture 3" descr="Inheritance rules">
            <a:extLst>
              <a:ext uri="{FF2B5EF4-FFF2-40B4-BE49-F238E27FC236}">
                <a16:creationId xmlns:a16="http://schemas.microsoft.com/office/drawing/2014/main" id="{E4D13CC7-2E04-9942-B9FC-C63F45BFD16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01149" y="1067906"/>
            <a:ext cx="6941702" cy="2110480"/>
          </a:xfrm>
          <a:prstGeom prst="rect">
            <a:avLst/>
          </a:prstGeom>
        </p:spPr>
      </p:pic>
      <p:sp>
        <p:nvSpPr>
          <p:cNvPr id="6" name="TextBox 5">
            <a:extLst>
              <a:ext uri="{FF2B5EF4-FFF2-40B4-BE49-F238E27FC236}">
                <a16:creationId xmlns:a16="http://schemas.microsoft.com/office/drawing/2014/main" id="{8E502780-9219-B14D-BEA6-A8A462B1EC30}"/>
              </a:ext>
            </a:extLst>
          </p:cNvPr>
          <p:cNvSpPr txBox="1"/>
          <p:nvPr/>
        </p:nvSpPr>
        <p:spPr>
          <a:xfrm>
            <a:off x="983098" y="3233678"/>
            <a:ext cx="6941702" cy="3139321"/>
          </a:xfrm>
          <a:prstGeom prst="rect">
            <a:avLst/>
          </a:prstGeom>
          <a:noFill/>
        </p:spPr>
        <p:txBody>
          <a:bodyPr wrap="square" rtlCol="0">
            <a:spAutoFit/>
          </a:bodyPr>
          <a:lstStyle/>
          <a:p>
            <a:pPr marL="285750" indent="-285750">
              <a:buClr>
                <a:schemeClr val="bg2">
                  <a:lumMod val="50000"/>
                </a:schemeClr>
              </a:buClr>
              <a:buSzPct val="130000"/>
              <a:buFont typeface="Arial" panose="020B0604020202020204" pitchFamily="34" charset="0"/>
              <a:buChar char="•"/>
            </a:pPr>
            <a:r>
              <a:rPr lang="en-US" dirty="0"/>
              <a:t>You can access the super class’s overridden method via the use of super</a:t>
            </a:r>
          </a:p>
          <a:p>
            <a:pPr marL="742950" lvl="1" indent="-285750">
              <a:buClr>
                <a:schemeClr val="bg2">
                  <a:lumMod val="50000"/>
                </a:schemeClr>
              </a:buClr>
              <a:buSzPct val="130000"/>
              <a:buFont typeface="Arial" panose="020B0604020202020204" pitchFamily="34" charset="0"/>
              <a:buChar char="•"/>
            </a:pPr>
            <a:r>
              <a:rPr lang="en-US" dirty="0"/>
              <a:t>Once you override that method becomes the primary method</a:t>
            </a:r>
          </a:p>
          <a:p>
            <a:pPr marL="742950" lvl="1" indent="-285750">
              <a:buClr>
                <a:schemeClr val="bg2">
                  <a:lumMod val="50000"/>
                </a:schemeClr>
              </a:buClr>
              <a:buSzPct val="130000"/>
              <a:buFont typeface="Arial" panose="020B0604020202020204" pitchFamily="34" charset="0"/>
              <a:buChar char="•"/>
            </a:pPr>
            <a:r>
              <a:rPr lang="en-US" dirty="0"/>
              <a:t>Often done with toString() – see Movie3</a:t>
            </a:r>
          </a:p>
          <a:p>
            <a:pPr marL="285750" indent="-285750">
              <a:buClr>
                <a:schemeClr val="bg2">
                  <a:lumMod val="50000"/>
                </a:schemeClr>
              </a:buClr>
              <a:buSzPct val="130000"/>
              <a:buFont typeface="Arial" panose="020B0604020202020204" pitchFamily="34" charset="0"/>
              <a:buChar char="•"/>
            </a:pPr>
            <a:r>
              <a:rPr lang="en-US" dirty="0"/>
              <a:t>Remember, overriding is different from overloading.</a:t>
            </a:r>
          </a:p>
          <a:p>
            <a:pPr marL="574675" lvl="1" indent="-282575">
              <a:buClr>
                <a:schemeClr val="bg2">
                  <a:lumMod val="50000"/>
                </a:schemeClr>
              </a:buClr>
              <a:buSzPct val="130000"/>
              <a:buFont typeface="Arial" panose="020B0604020202020204" pitchFamily="34" charset="0"/>
              <a:buChar char="•"/>
            </a:pPr>
            <a:r>
              <a:rPr lang="en-US" dirty="0"/>
              <a:t>When a subclass overloads a superclass method, both may be accessible</a:t>
            </a:r>
          </a:p>
          <a:p>
            <a:pPr marL="574675" lvl="1" indent="-282575">
              <a:buClr>
                <a:schemeClr val="bg2">
                  <a:lumMod val="50000"/>
                </a:schemeClr>
              </a:buClr>
              <a:buSzPct val="130000"/>
              <a:buFont typeface="Arial" panose="020B0604020202020204" pitchFamily="34" charset="0"/>
              <a:buChar char="•"/>
            </a:pPr>
            <a:r>
              <a:rPr lang="en-US" dirty="0"/>
              <a:t>When a subclass overrides a superclass method, only the subclass version of the method can be called via the subclass object</a:t>
            </a:r>
          </a:p>
        </p:txBody>
      </p:sp>
    </p:spTree>
    <p:extLst>
      <p:ext uri="{BB962C8B-B14F-4D97-AF65-F5344CB8AC3E}">
        <p14:creationId xmlns:p14="http://schemas.microsoft.com/office/powerpoint/2010/main" val="384332665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76200"/>
            <a:ext cx="8229600" cy="704088"/>
          </a:xfrm>
        </p:spPr>
        <p:txBody>
          <a:bodyPr>
            <a:normAutofit fontScale="90000"/>
          </a:bodyPr>
          <a:lstStyle/>
          <a:p>
            <a:r>
              <a:rPr lang="en-US" sz="3200" b="1" dirty="0"/>
              <a:t>Reminder - Overriding Is Different From Overloading</a:t>
            </a:r>
          </a:p>
        </p:txBody>
      </p:sp>
      <p:sp>
        <p:nvSpPr>
          <p:cNvPr id="3" name="Content Placeholder 2"/>
          <p:cNvSpPr>
            <a:spLocks noGrp="1"/>
          </p:cNvSpPr>
          <p:nvPr>
            <p:ph idx="1"/>
          </p:nvPr>
        </p:nvSpPr>
        <p:spPr>
          <a:xfrm>
            <a:off x="446314" y="638774"/>
            <a:ext cx="8229600" cy="6219226"/>
          </a:xfrm>
        </p:spPr>
        <p:txBody>
          <a:bodyPr>
            <a:normAutofit fontScale="62500" lnSpcReduction="20000"/>
          </a:bodyPr>
          <a:lstStyle/>
          <a:p>
            <a:r>
              <a:rPr lang="en-US" sz="2900" dirty="0"/>
              <a:t>Java allows 2 or more methods of the same class to share the </a:t>
            </a:r>
            <a:r>
              <a:rPr lang="en-US" sz="2900" dirty="0">
                <a:solidFill>
                  <a:srgbClr val="FF0000"/>
                </a:solidFill>
              </a:rPr>
              <a:t>same name</a:t>
            </a:r>
          </a:p>
          <a:p>
            <a:pPr lvl="1"/>
            <a:r>
              <a:rPr lang="en-US" dirty="0"/>
              <a:t>Any overloaded method name must have a different number of parameters or at least one parameter of a different type (in the same parameter position)  to distinguish between the methods</a:t>
            </a:r>
          </a:p>
          <a:p>
            <a:pPr>
              <a:buNone/>
            </a:pPr>
            <a:r>
              <a:rPr lang="en-US" sz="2900" dirty="0"/>
              <a:t>Simple example with different number of parameters:</a:t>
            </a:r>
          </a:p>
          <a:p>
            <a:pPr>
              <a:buNone/>
            </a:pPr>
            <a:r>
              <a:rPr lang="en-US" dirty="0"/>
              <a:t>                             public static int max(int x, int y) </a:t>
            </a:r>
          </a:p>
          <a:p>
            <a:pPr>
              <a:buNone/>
            </a:pPr>
            <a:r>
              <a:rPr lang="en-US" dirty="0"/>
              <a:t>                             public static int max(int x, int y, int z)</a:t>
            </a:r>
          </a:p>
          <a:p>
            <a:pPr>
              <a:buNone/>
            </a:pPr>
            <a:r>
              <a:rPr lang="en-US" sz="2900" dirty="0"/>
              <a:t>Simple example with at least one parameter of a different type :</a:t>
            </a:r>
          </a:p>
          <a:p>
            <a:pPr>
              <a:buNone/>
            </a:pPr>
            <a:r>
              <a:rPr lang="en-US" dirty="0"/>
              <a:t>                             public static int max(int x, int y)  </a:t>
            </a:r>
          </a:p>
          <a:p>
            <a:pPr>
              <a:buNone/>
            </a:pPr>
            <a:r>
              <a:rPr lang="en-US" dirty="0"/>
              <a:t>                             public static int max(int x, double y)</a:t>
            </a:r>
          </a:p>
          <a:p>
            <a:pPr>
              <a:buNone/>
            </a:pPr>
            <a:endParaRPr lang="en-US" dirty="0"/>
          </a:p>
          <a:p>
            <a:r>
              <a:rPr lang="en-US" sz="2900" dirty="0"/>
              <a:t>Warning:</a:t>
            </a:r>
          </a:p>
          <a:p>
            <a:pPr lvl="1"/>
            <a:r>
              <a:rPr lang="en-US" dirty="0"/>
              <a:t>It is not legal to overload a method by having two identical methods (same name and number of variables of the same type in the same order) with different return types:</a:t>
            </a:r>
          </a:p>
          <a:p>
            <a:pPr lvl="1"/>
            <a:endParaRPr lang="en-US" dirty="0"/>
          </a:p>
          <a:p>
            <a:pPr marL="398463" lvl="1" indent="-4763">
              <a:buNone/>
            </a:pPr>
            <a:r>
              <a:rPr lang="en-US" dirty="0"/>
              <a:t>public static </a:t>
            </a:r>
            <a:r>
              <a:rPr lang="en-US" i="1" dirty="0">
                <a:solidFill>
                  <a:srgbClr val="FF0000"/>
                </a:solidFill>
              </a:rPr>
              <a:t>int</a:t>
            </a:r>
            <a:r>
              <a:rPr lang="en-US" i="1" dirty="0"/>
              <a:t> myMethod(int x) </a:t>
            </a:r>
            <a:r>
              <a:rPr lang="en-US" dirty="0"/>
              <a:t>and </a:t>
            </a:r>
          </a:p>
          <a:p>
            <a:pPr marL="398463" lvl="1" indent="-4763">
              <a:buNone/>
            </a:pPr>
            <a:r>
              <a:rPr lang="en-US" dirty="0"/>
              <a:t>public static </a:t>
            </a:r>
            <a:r>
              <a:rPr lang="en-US" i="1" dirty="0">
                <a:solidFill>
                  <a:srgbClr val="FF0000"/>
                </a:solidFill>
              </a:rPr>
              <a:t>double</a:t>
            </a:r>
            <a:r>
              <a:rPr lang="en-US" i="1" dirty="0"/>
              <a:t> myMethod(int y) </a:t>
            </a:r>
          </a:p>
          <a:p>
            <a:pPr marL="398463" lvl="1" indent="-4763">
              <a:buNone/>
            </a:pPr>
            <a:r>
              <a:rPr lang="en-US" dirty="0">
                <a:solidFill>
                  <a:srgbClr val="FF0000"/>
                </a:solidFill>
              </a:rPr>
              <a:t>cannot</a:t>
            </a:r>
            <a:r>
              <a:rPr lang="en-US" dirty="0"/>
              <a:t> appear in the same class – this is not overloading</a:t>
            </a:r>
          </a:p>
          <a:p>
            <a:pPr marL="398463" lvl="1" indent="-4763">
              <a:buNone/>
            </a:pPr>
            <a:endParaRPr lang="en-US" dirty="0"/>
          </a:p>
          <a:p>
            <a:pPr marL="485140" indent="-457200"/>
            <a:r>
              <a:rPr lang="en-US" sz="3100" dirty="0"/>
              <a:t>Quite simply, the signatures of two methods with the same name must still be different in some way in the parameter list</a:t>
            </a:r>
          </a:p>
          <a:p>
            <a:pPr marL="485140" indent="-457200"/>
            <a:r>
              <a:rPr lang="en-US" sz="3100" dirty="0"/>
              <a:t>This is </a:t>
            </a:r>
            <a:r>
              <a:rPr lang="en-US" sz="3100" b="1" dirty="0"/>
              <a:t>different</a:t>
            </a:r>
            <a:r>
              <a:rPr lang="en-US" sz="3100" dirty="0"/>
              <a:t> from overriding where the signatures are exactly the same</a:t>
            </a:r>
          </a:p>
        </p:txBody>
      </p:sp>
      <p:sp>
        <p:nvSpPr>
          <p:cNvPr id="4" name="Slide Number Placeholder 3"/>
          <p:cNvSpPr>
            <a:spLocks noGrp="1"/>
          </p:cNvSpPr>
          <p:nvPr>
            <p:ph type="sldNum" sz="quarter" idx="12"/>
          </p:nvPr>
        </p:nvSpPr>
        <p:spPr/>
        <p:txBody>
          <a:bodyPr/>
          <a:lstStyle/>
          <a:p>
            <a:fld id="{13977939-A071-43C1-9268-F54CC2756BB5}" type="slidenum">
              <a:rPr lang="en-US" smtClean="0"/>
              <a:pPr/>
              <a:t>124</a:t>
            </a:fld>
            <a:endParaRPr lang="en-US"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5B677-F911-9048-8461-B189183D54F2}"/>
              </a:ext>
            </a:extLst>
          </p:cNvPr>
          <p:cNvSpPr>
            <a:spLocks noGrp="1"/>
          </p:cNvSpPr>
          <p:nvPr>
            <p:ph type="title"/>
          </p:nvPr>
        </p:nvSpPr>
        <p:spPr>
          <a:xfrm>
            <a:off x="457200" y="457200"/>
            <a:ext cx="8229600" cy="475488"/>
          </a:xfrm>
        </p:spPr>
        <p:txBody>
          <a:bodyPr>
            <a:noAutofit/>
          </a:bodyPr>
          <a:lstStyle/>
          <a:p>
            <a:r>
              <a:rPr lang="en-US" dirty="0"/>
              <a:t>private Variables and Methods In A Superclass</a:t>
            </a:r>
          </a:p>
        </p:txBody>
      </p:sp>
      <p:sp>
        <p:nvSpPr>
          <p:cNvPr id="3" name="Content Placeholder 2">
            <a:extLst>
              <a:ext uri="{FF2B5EF4-FFF2-40B4-BE49-F238E27FC236}">
                <a16:creationId xmlns:a16="http://schemas.microsoft.com/office/drawing/2014/main" id="{CE3980F5-CC11-594F-8769-6937C4B4A179}"/>
              </a:ext>
            </a:extLst>
          </p:cNvPr>
          <p:cNvSpPr>
            <a:spLocks noGrp="1"/>
          </p:cNvSpPr>
          <p:nvPr>
            <p:ph idx="1"/>
          </p:nvPr>
        </p:nvSpPr>
        <p:spPr>
          <a:xfrm>
            <a:off x="457200" y="1249680"/>
            <a:ext cx="8229600" cy="5106670"/>
          </a:xfrm>
        </p:spPr>
        <p:txBody>
          <a:bodyPr>
            <a:normAutofit lnSpcReduction="10000"/>
          </a:bodyPr>
          <a:lstStyle/>
          <a:p>
            <a:r>
              <a:rPr lang="en-US" dirty="0"/>
              <a:t>Superclass members declared as private are not inherited, although they are part of the subclass. </a:t>
            </a:r>
          </a:p>
          <a:p>
            <a:r>
              <a:rPr lang="en-US" dirty="0"/>
              <a:t>Thus, a title, length and avail instance variable is allocated to all Movie objects, but methods of the Movie class </a:t>
            </a:r>
            <a:r>
              <a:rPr lang="en-US" dirty="0">
                <a:solidFill>
                  <a:srgbClr val="FF0000"/>
                </a:solidFill>
              </a:rPr>
              <a:t>cannot directly access </a:t>
            </a:r>
            <a:r>
              <a:rPr lang="en-US" dirty="0"/>
              <a:t>title, length or avail directly since they are private.</a:t>
            </a:r>
          </a:p>
          <a:p>
            <a:r>
              <a:rPr lang="en-US" dirty="0"/>
              <a:t>To set or get the value of title, length or avail, the Movie methods must call the inherited getXXX or setXXX accessor and mutator methods, which should be public methods.</a:t>
            </a:r>
          </a:p>
          <a:p>
            <a:r>
              <a:rPr lang="en-US" dirty="0"/>
              <a:t>This simplifies maintenance because the Video class enforces the data validation rules for title, length or avail.</a:t>
            </a:r>
          </a:p>
          <a:p>
            <a:endParaRPr lang="en-US" dirty="0"/>
          </a:p>
          <a:p>
            <a:endParaRPr lang="en-US" dirty="0"/>
          </a:p>
        </p:txBody>
      </p:sp>
      <p:sp>
        <p:nvSpPr>
          <p:cNvPr id="4" name="Slide Number Placeholder 3">
            <a:extLst>
              <a:ext uri="{FF2B5EF4-FFF2-40B4-BE49-F238E27FC236}">
                <a16:creationId xmlns:a16="http://schemas.microsoft.com/office/drawing/2014/main" id="{F8E51129-DDB1-254A-B397-57EBB3574083}"/>
              </a:ext>
            </a:extLst>
          </p:cNvPr>
          <p:cNvSpPr>
            <a:spLocks noGrp="1"/>
          </p:cNvSpPr>
          <p:nvPr>
            <p:ph type="sldNum" sz="quarter" idx="12"/>
          </p:nvPr>
        </p:nvSpPr>
        <p:spPr/>
        <p:txBody>
          <a:bodyPr/>
          <a:lstStyle/>
          <a:p>
            <a:fld id="{13977939-A071-43C1-9268-F54CC2756BB5}" type="slidenum">
              <a:rPr lang="en-US" smtClean="0"/>
              <a:pPr/>
              <a:t>125</a:t>
            </a:fld>
            <a:endParaRPr lang="en-US" dirty="0"/>
          </a:p>
        </p:txBody>
      </p:sp>
    </p:spTree>
    <p:extLst>
      <p:ext uri="{BB962C8B-B14F-4D97-AF65-F5344CB8AC3E}">
        <p14:creationId xmlns:p14="http://schemas.microsoft.com/office/powerpoint/2010/main" val="249184886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BB84A-C236-9145-BB53-ABFDA3BDB34A}"/>
              </a:ext>
            </a:extLst>
          </p:cNvPr>
          <p:cNvSpPr>
            <a:spLocks noGrp="1"/>
          </p:cNvSpPr>
          <p:nvPr>
            <p:ph type="title"/>
          </p:nvPr>
        </p:nvSpPr>
        <p:spPr/>
        <p:txBody>
          <a:bodyPr>
            <a:normAutofit fontScale="90000"/>
          </a:bodyPr>
          <a:lstStyle/>
          <a:p>
            <a:r>
              <a:rPr lang="en-US" dirty="0"/>
              <a:t>protected Variables and Methods In A Superclass</a:t>
            </a:r>
          </a:p>
        </p:txBody>
      </p:sp>
      <p:sp>
        <p:nvSpPr>
          <p:cNvPr id="3" name="Content Placeholder 2">
            <a:extLst>
              <a:ext uri="{FF2B5EF4-FFF2-40B4-BE49-F238E27FC236}">
                <a16:creationId xmlns:a16="http://schemas.microsoft.com/office/drawing/2014/main" id="{2341B3AB-66CF-C841-9CB7-F11B528D13CA}"/>
              </a:ext>
            </a:extLst>
          </p:cNvPr>
          <p:cNvSpPr>
            <a:spLocks noGrp="1"/>
          </p:cNvSpPr>
          <p:nvPr>
            <p:ph idx="1"/>
          </p:nvPr>
        </p:nvSpPr>
        <p:spPr>
          <a:xfrm>
            <a:off x="457200" y="1249680"/>
            <a:ext cx="8229600" cy="4846320"/>
          </a:xfrm>
        </p:spPr>
        <p:txBody>
          <a:bodyPr>
            <a:normAutofit fontScale="92500" lnSpcReduction="10000"/>
          </a:bodyPr>
          <a:lstStyle/>
          <a:p>
            <a:r>
              <a:rPr lang="en-US" dirty="0"/>
              <a:t>protected members are inherited by subclasses (like public members), while still being hidden from client classes (like private members). </a:t>
            </a:r>
          </a:p>
          <a:p>
            <a:pPr lvl="1"/>
            <a:r>
              <a:rPr lang="en-US" dirty="0"/>
              <a:t>This means that the variables and methods that are protected can be directly accessed by the subclass</a:t>
            </a:r>
          </a:p>
          <a:p>
            <a:pPr lvl="1"/>
            <a:r>
              <a:rPr lang="en-US" dirty="0"/>
              <a:t>Also, any class in the </a:t>
            </a:r>
            <a:r>
              <a:rPr lang="en-US" dirty="0">
                <a:solidFill>
                  <a:srgbClr val="FF0000"/>
                </a:solidFill>
              </a:rPr>
              <a:t>same package </a:t>
            </a:r>
            <a:r>
              <a:rPr lang="en-US" dirty="0"/>
              <a:t>as the superclass can directly access a protected field, even if that class is not a subclass. </a:t>
            </a:r>
          </a:p>
          <a:p>
            <a:r>
              <a:rPr lang="en-US" dirty="0"/>
              <a:t>Disadvantage:</a:t>
            </a:r>
          </a:p>
          <a:p>
            <a:pPr lvl="1"/>
            <a:r>
              <a:rPr lang="en-US" dirty="0"/>
              <a:t>Because more than one class can directly access a protected field, protected access compromises encapsulation and complicates maintenance. </a:t>
            </a:r>
          </a:p>
          <a:p>
            <a:pPr lvl="1"/>
            <a:r>
              <a:rPr lang="en-US" dirty="0"/>
              <a:t>For that reason, we prefer to use private, rather than protected, for our instance variables.</a:t>
            </a:r>
          </a:p>
          <a:p>
            <a:endParaRPr lang="en-US" dirty="0"/>
          </a:p>
          <a:p>
            <a:endParaRPr lang="en-US" dirty="0"/>
          </a:p>
        </p:txBody>
      </p:sp>
      <p:sp>
        <p:nvSpPr>
          <p:cNvPr id="4" name="Slide Number Placeholder 3">
            <a:extLst>
              <a:ext uri="{FF2B5EF4-FFF2-40B4-BE49-F238E27FC236}">
                <a16:creationId xmlns:a16="http://schemas.microsoft.com/office/drawing/2014/main" id="{D8E7E6AA-406A-2840-AFDD-C6676666B106}"/>
              </a:ext>
            </a:extLst>
          </p:cNvPr>
          <p:cNvSpPr>
            <a:spLocks noGrp="1"/>
          </p:cNvSpPr>
          <p:nvPr>
            <p:ph type="sldNum" sz="quarter" idx="12"/>
          </p:nvPr>
        </p:nvSpPr>
        <p:spPr/>
        <p:txBody>
          <a:bodyPr/>
          <a:lstStyle/>
          <a:p>
            <a:fld id="{13977939-A071-43C1-9268-F54CC2756BB5}" type="slidenum">
              <a:rPr lang="en-US" smtClean="0"/>
              <a:pPr/>
              <a:t>126</a:t>
            </a:fld>
            <a:endParaRPr lang="en-US" dirty="0"/>
          </a:p>
        </p:txBody>
      </p:sp>
    </p:spTree>
    <p:extLst>
      <p:ext uri="{BB962C8B-B14F-4D97-AF65-F5344CB8AC3E}">
        <p14:creationId xmlns:p14="http://schemas.microsoft.com/office/powerpoint/2010/main" val="993926398"/>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B59B0-4868-4A49-99EB-42CA51D96581}"/>
              </a:ext>
            </a:extLst>
          </p:cNvPr>
          <p:cNvSpPr>
            <a:spLocks noGrp="1"/>
          </p:cNvSpPr>
          <p:nvPr>
            <p:ph type="title"/>
          </p:nvPr>
        </p:nvSpPr>
        <p:spPr>
          <a:xfrm>
            <a:off x="457200" y="228600"/>
            <a:ext cx="8229600" cy="475488"/>
          </a:xfrm>
        </p:spPr>
        <p:txBody>
          <a:bodyPr>
            <a:noAutofit/>
          </a:bodyPr>
          <a:lstStyle/>
          <a:p>
            <a:r>
              <a:rPr lang="en-US" dirty="0"/>
              <a:t>A Few More Notes On protected Members</a:t>
            </a:r>
          </a:p>
        </p:txBody>
      </p:sp>
      <p:sp>
        <p:nvSpPr>
          <p:cNvPr id="3" name="Content Placeholder 2">
            <a:extLst>
              <a:ext uri="{FF2B5EF4-FFF2-40B4-BE49-F238E27FC236}">
                <a16:creationId xmlns:a16="http://schemas.microsoft.com/office/drawing/2014/main" id="{24C1C719-4651-094E-B636-E1F5D6862253}"/>
              </a:ext>
            </a:extLst>
          </p:cNvPr>
          <p:cNvSpPr>
            <a:spLocks noGrp="1"/>
          </p:cNvSpPr>
          <p:nvPr>
            <p:ph idx="1"/>
          </p:nvPr>
        </p:nvSpPr>
        <p:spPr>
          <a:xfrm>
            <a:off x="457200" y="762000"/>
            <a:ext cx="8229600" cy="5867400"/>
          </a:xfrm>
        </p:spPr>
        <p:txBody>
          <a:bodyPr>
            <a:normAutofit fontScale="85000" lnSpcReduction="20000"/>
          </a:bodyPr>
          <a:lstStyle/>
          <a:p>
            <a:r>
              <a:rPr lang="en-US" dirty="0"/>
              <a:t>Declaring fields as private preserves encapsulation.</a:t>
            </a:r>
          </a:p>
          <a:p>
            <a:r>
              <a:rPr lang="en-US" dirty="0"/>
              <a:t>Subclass methods call superclass methods to set the values of the fields, and the superclass methods enforce the validation rules for the data.</a:t>
            </a:r>
          </a:p>
          <a:p>
            <a:pPr lvl="1"/>
            <a:r>
              <a:rPr lang="en-US" dirty="0"/>
              <a:t>However, calling methods incurs processing overhead.</a:t>
            </a:r>
          </a:p>
          <a:p>
            <a:r>
              <a:rPr lang="en-US" dirty="0"/>
              <a:t>Declaring fields as protected allows them to be accessed directly by subclass methods, reducing overhead when performance is critical.</a:t>
            </a:r>
          </a:p>
          <a:p>
            <a:r>
              <a:rPr lang="en-US" dirty="0"/>
              <a:t>Classes outside the inheritance hierarchy and package must use accessors and mutators for protected fields.</a:t>
            </a:r>
          </a:p>
          <a:p>
            <a:pPr lvl="1"/>
            <a:r>
              <a:rPr lang="en-US" dirty="0"/>
              <a:t>Advantage:</a:t>
            </a:r>
          </a:p>
          <a:p>
            <a:pPr lvl="2"/>
            <a:r>
              <a:rPr lang="en-US" dirty="0"/>
              <a:t>protected fields can be accessed directly by subclasses, so there is no method-invocation overhead.</a:t>
            </a:r>
          </a:p>
          <a:p>
            <a:pPr lvl="2"/>
            <a:r>
              <a:rPr lang="en-US" dirty="0"/>
              <a:t>Mutation and access rules can be isolated in one class</a:t>
            </a:r>
          </a:p>
          <a:p>
            <a:pPr lvl="1"/>
            <a:r>
              <a:rPr lang="en-US" dirty="0"/>
              <a:t>Disadvantage:</a:t>
            </a:r>
          </a:p>
          <a:p>
            <a:pPr lvl="2"/>
            <a:r>
              <a:rPr lang="en-US" dirty="0"/>
              <a:t>Maintenance is complicated because the subclass also needs to enforce validation rules.</a:t>
            </a:r>
          </a:p>
          <a:p>
            <a:r>
              <a:rPr lang="en-US" dirty="0"/>
              <a:t>Recommendation:</a:t>
            </a:r>
          </a:p>
          <a:p>
            <a:pPr lvl="1"/>
            <a:r>
              <a:rPr lang="en-US" dirty="0"/>
              <a:t>Define protected fields only when high performance is necessary.</a:t>
            </a:r>
          </a:p>
          <a:p>
            <a:pPr lvl="1"/>
            <a:r>
              <a:rPr lang="en-US" dirty="0"/>
              <a:t>Avoid directly setting the values of protected fields in the subclass.</a:t>
            </a:r>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83711483-0025-D640-B98D-F55C7032F7EA}"/>
              </a:ext>
            </a:extLst>
          </p:cNvPr>
          <p:cNvSpPr>
            <a:spLocks noGrp="1"/>
          </p:cNvSpPr>
          <p:nvPr>
            <p:ph type="sldNum" sz="quarter" idx="12"/>
          </p:nvPr>
        </p:nvSpPr>
        <p:spPr/>
        <p:txBody>
          <a:bodyPr/>
          <a:lstStyle/>
          <a:p>
            <a:fld id="{13977939-A071-43C1-9268-F54CC2756BB5}" type="slidenum">
              <a:rPr lang="en-US" smtClean="0"/>
              <a:pPr/>
              <a:t>127</a:t>
            </a:fld>
            <a:endParaRPr lang="en-US" dirty="0"/>
          </a:p>
        </p:txBody>
      </p:sp>
    </p:spTree>
    <p:extLst>
      <p:ext uri="{BB962C8B-B14F-4D97-AF65-F5344CB8AC3E}">
        <p14:creationId xmlns:p14="http://schemas.microsoft.com/office/powerpoint/2010/main" val="1506014392"/>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87A8D-4E91-934F-B117-C820D1CB539E}"/>
              </a:ext>
            </a:extLst>
          </p:cNvPr>
          <p:cNvSpPr>
            <a:spLocks noGrp="1"/>
          </p:cNvSpPr>
          <p:nvPr>
            <p:ph type="title"/>
          </p:nvPr>
        </p:nvSpPr>
        <p:spPr/>
        <p:txBody>
          <a:bodyPr/>
          <a:lstStyle/>
          <a:p>
            <a:r>
              <a:rPr lang="en-US" dirty="0"/>
              <a:t>Inheritance Rules For Classes and Subclasses</a:t>
            </a:r>
          </a:p>
        </p:txBody>
      </p:sp>
      <p:sp>
        <p:nvSpPr>
          <p:cNvPr id="3" name="Slide Number Placeholder 2">
            <a:extLst>
              <a:ext uri="{FF2B5EF4-FFF2-40B4-BE49-F238E27FC236}">
                <a16:creationId xmlns:a16="http://schemas.microsoft.com/office/drawing/2014/main" id="{94AA6F38-5964-144B-8967-FEBFBB280893}"/>
              </a:ext>
            </a:extLst>
          </p:cNvPr>
          <p:cNvSpPr>
            <a:spLocks noGrp="1"/>
          </p:cNvSpPr>
          <p:nvPr>
            <p:ph type="sldNum" sz="quarter" idx="12"/>
          </p:nvPr>
        </p:nvSpPr>
        <p:spPr/>
        <p:txBody>
          <a:bodyPr/>
          <a:lstStyle/>
          <a:p>
            <a:fld id="{13977939-A071-43C1-9268-F54CC2756BB5}" type="slidenum">
              <a:rPr lang="en-US" smtClean="0"/>
              <a:pPr/>
              <a:t>128</a:t>
            </a:fld>
            <a:endParaRPr lang="en-US" dirty="0"/>
          </a:p>
        </p:txBody>
      </p:sp>
      <p:pic>
        <p:nvPicPr>
          <p:cNvPr id="4" name="Picture 3" descr="Inheritance Rules">
            <a:extLst>
              <a:ext uri="{FF2B5EF4-FFF2-40B4-BE49-F238E27FC236}">
                <a16:creationId xmlns:a16="http://schemas.microsoft.com/office/drawing/2014/main" id="{D4C7868A-4BE1-2B4B-881E-23EFC7A451D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09600" y="1600200"/>
            <a:ext cx="7806046" cy="4419600"/>
          </a:xfrm>
          <a:prstGeom prst="rect">
            <a:avLst/>
          </a:prstGeom>
        </p:spPr>
      </p:pic>
    </p:spTree>
    <p:extLst>
      <p:ext uri="{BB962C8B-B14F-4D97-AF65-F5344CB8AC3E}">
        <p14:creationId xmlns:p14="http://schemas.microsoft.com/office/powerpoint/2010/main" val="1220237234"/>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5087A-AFA7-EA4F-A54D-0292E5D70E58}"/>
              </a:ext>
            </a:extLst>
          </p:cNvPr>
          <p:cNvSpPr>
            <a:spLocks noGrp="1"/>
          </p:cNvSpPr>
          <p:nvPr>
            <p:ph type="title"/>
          </p:nvPr>
        </p:nvSpPr>
        <p:spPr>
          <a:xfrm>
            <a:off x="457200" y="76200"/>
            <a:ext cx="8229600" cy="475488"/>
          </a:xfrm>
        </p:spPr>
        <p:txBody>
          <a:bodyPr>
            <a:noAutofit/>
          </a:bodyPr>
          <a:lstStyle/>
          <a:p>
            <a:r>
              <a:rPr lang="en-US" dirty="0"/>
              <a:t>Inheritance Checklist (1)</a:t>
            </a:r>
          </a:p>
        </p:txBody>
      </p:sp>
      <p:sp>
        <p:nvSpPr>
          <p:cNvPr id="3" name="Content Placeholder 2">
            <a:extLst>
              <a:ext uri="{FF2B5EF4-FFF2-40B4-BE49-F238E27FC236}">
                <a16:creationId xmlns:a16="http://schemas.microsoft.com/office/drawing/2014/main" id="{3EA048A1-DA1D-424E-9162-889482670032}"/>
              </a:ext>
            </a:extLst>
          </p:cNvPr>
          <p:cNvSpPr>
            <a:spLocks noGrp="1"/>
          </p:cNvSpPr>
          <p:nvPr>
            <p:ph idx="1"/>
          </p:nvPr>
        </p:nvSpPr>
        <p:spPr>
          <a:xfrm>
            <a:off x="152400" y="685800"/>
            <a:ext cx="8839200" cy="5791200"/>
          </a:xfrm>
        </p:spPr>
        <p:txBody>
          <a:bodyPr>
            <a:normAutofit/>
          </a:bodyPr>
          <a:lstStyle/>
          <a:p>
            <a:r>
              <a:rPr lang="en-US" dirty="0"/>
              <a:t>We create an inheritance hierarchy using the </a:t>
            </a:r>
            <a:r>
              <a:rPr lang="en-US" dirty="0">
                <a:solidFill>
                  <a:srgbClr val="FF0000"/>
                </a:solidFill>
              </a:rPr>
              <a:t>extends</a:t>
            </a:r>
            <a:r>
              <a:rPr lang="en-US" dirty="0"/>
              <a:t> keyword in the subclass declaration</a:t>
            </a:r>
          </a:p>
          <a:p>
            <a:r>
              <a:rPr lang="en-US" dirty="0"/>
              <a:t>The subclass inherits the members of the superclass, if the access modifiers permit it.</a:t>
            </a:r>
          </a:p>
          <a:p>
            <a:r>
              <a:rPr lang="en-US" dirty="0"/>
              <a:t>We can use the IS-A test to verify that the inheritance hierarchy is valid and this test works from the subclass up the inheritance chain of superclasses, but not the other way around.</a:t>
            </a:r>
          </a:p>
        </p:txBody>
      </p:sp>
      <p:sp>
        <p:nvSpPr>
          <p:cNvPr id="4" name="Slide Number Placeholder 3">
            <a:extLst>
              <a:ext uri="{FF2B5EF4-FFF2-40B4-BE49-F238E27FC236}">
                <a16:creationId xmlns:a16="http://schemas.microsoft.com/office/drawing/2014/main" id="{E2441F12-7148-8A46-AAB0-DAAEC54F869F}"/>
              </a:ext>
            </a:extLst>
          </p:cNvPr>
          <p:cNvSpPr>
            <a:spLocks noGrp="1"/>
          </p:cNvSpPr>
          <p:nvPr>
            <p:ph type="sldNum" sz="quarter" idx="12"/>
          </p:nvPr>
        </p:nvSpPr>
        <p:spPr/>
        <p:txBody>
          <a:bodyPr/>
          <a:lstStyle/>
          <a:p>
            <a:fld id="{13977939-A071-43C1-9268-F54CC2756BB5}" type="slidenum">
              <a:rPr lang="en-US" smtClean="0"/>
              <a:pPr/>
              <a:t>129</a:t>
            </a:fld>
            <a:endParaRPr lang="en-US" dirty="0"/>
          </a:p>
        </p:txBody>
      </p:sp>
    </p:spTree>
    <p:extLst>
      <p:ext uri="{BB962C8B-B14F-4D97-AF65-F5344CB8AC3E}">
        <p14:creationId xmlns:p14="http://schemas.microsoft.com/office/powerpoint/2010/main" val="2370356578"/>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5087A-AFA7-EA4F-A54D-0292E5D70E58}"/>
              </a:ext>
            </a:extLst>
          </p:cNvPr>
          <p:cNvSpPr>
            <a:spLocks noGrp="1"/>
          </p:cNvSpPr>
          <p:nvPr>
            <p:ph type="title"/>
          </p:nvPr>
        </p:nvSpPr>
        <p:spPr>
          <a:xfrm>
            <a:off x="457200" y="76200"/>
            <a:ext cx="8229600" cy="475488"/>
          </a:xfrm>
        </p:spPr>
        <p:txBody>
          <a:bodyPr>
            <a:noAutofit/>
          </a:bodyPr>
          <a:lstStyle/>
          <a:p>
            <a:r>
              <a:rPr lang="en-US" dirty="0"/>
              <a:t>Inheritance Checklist (2)</a:t>
            </a:r>
          </a:p>
        </p:txBody>
      </p:sp>
      <p:sp>
        <p:nvSpPr>
          <p:cNvPr id="3" name="Content Placeholder 2">
            <a:extLst>
              <a:ext uri="{FF2B5EF4-FFF2-40B4-BE49-F238E27FC236}">
                <a16:creationId xmlns:a16="http://schemas.microsoft.com/office/drawing/2014/main" id="{3EA048A1-DA1D-424E-9162-889482670032}"/>
              </a:ext>
            </a:extLst>
          </p:cNvPr>
          <p:cNvSpPr>
            <a:spLocks noGrp="1"/>
          </p:cNvSpPr>
          <p:nvPr>
            <p:ph idx="1"/>
          </p:nvPr>
        </p:nvSpPr>
        <p:spPr>
          <a:xfrm>
            <a:off x="152400" y="609600"/>
            <a:ext cx="8839200" cy="6172200"/>
          </a:xfrm>
        </p:spPr>
        <p:txBody>
          <a:bodyPr>
            <a:normAutofit fontScale="92500" lnSpcReduction="20000"/>
          </a:bodyPr>
          <a:lstStyle/>
          <a:p>
            <a:r>
              <a:rPr lang="en-US" dirty="0"/>
              <a:t>We can override the inherited method members as long as we adhere to the following rules:</a:t>
            </a:r>
          </a:p>
          <a:p>
            <a:pPr lvl="1"/>
            <a:r>
              <a:rPr lang="en-US" dirty="0"/>
              <a:t>A method override must have exactly the same arguments as the superclass method with the same method name or you are creating an overloaded version of the method.</a:t>
            </a:r>
          </a:p>
          <a:p>
            <a:pPr lvl="1"/>
            <a:r>
              <a:rPr lang="en-US" dirty="0"/>
              <a:t>A method override must have the same return type (or co-variant thereof) as the superclass method with the same method name.</a:t>
            </a:r>
          </a:p>
          <a:p>
            <a:pPr lvl="1"/>
            <a:r>
              <a:rPr lang="en-US" dirty="0"/>
              <a:t>When we override a method, the overriding method can't be less accessible, but can be more accessible.</a:t>
            </a:r>
          </a:p>
          <a:p>
            <a:pPr lvl="1"/>
            <a:r>
              <a:rPr lang="en-US" dirty="0"/>
              <a:t>You cannot override a method marked with the final modifier.</a:t>
            </a:r>
          </a:p>
          <a:p>
            <a:pPr lvl="1"/>
            <a:r>
              <a:rPr lang="en-US" dirty="0"/>
              <a:t>You cannot override a method marked with the private access modifier. </a:t>
            </a:r>
          </a:p>
          <a:p>
            <a:pPr lvl="2"/>
            <a:r>
              <a:rPr lang="en-US" dirty="0"/>
              <a:t>Even if you have a method in the subclass with the same method name and arguments as a private method in the superclass it knows nothing of that method as it can't see it and is just a normal non-overriding method</a:t>
            </a:r>
          </a:p>
          <a:p>
            <a:pPr lvl="1"/>
            <a:r>
              <a:rPr lang="en-US" dirty="0"/>
              <a:t>You cannot override a static method as overridden methods pertain to instance methods and not the class. </a:t>
            </a:r>
          </a:p>
          <a:p>
            <a:pPr lvl="2"/>
            <a:r>
              <a:rPr lang="en-US" dirty="0"/>
              <a:t>In fact if you use the same static method and parameters in a subclass as a static method in a superclass this is known as method hiding.</a:t>
            </a:r>
          </a:p>
          <a:p>
            <a:pPr lvl="2"/>
            <a:r>
              <a:rPr lang="en-US" dirty="0"/>
              <a:t>You will access the desired method via the appropriate class name</a:t>
            </a:r>
          </a:p>
        </p:txBody>
      </p:sp>
      <p:sp>
        <p:nvSpPr>
          <p:cNvPr id="4" name="Slide Number Placeholder 3">
            <a:extLst>
              <a:ext uri="{FF2B5EF4-FFF2-40B4-BE49-F238E27FC236}">
                <a16:creationId xmlns:a16="http://schemas.microsoft.com/office/drawing/2014/main" id="{E2441F12-7148-8A46-AAB0-DAAEC54F869F}"/>
              </a:ext>
            </a:extLst>
          </p:cNvPr>
          <p:cNvSpPr>
            <a:spLocks noGrp="1"/>
          </p:cNvSpPr>
          <p:nvPr>
            <p:ph type="sldNum" sz="quarter" idx="12"/>
          </p:nvPr>
        </p:nvSpPr>
        <p:spPr/>
        <p:txBody>
          <a:bodyPr/>
          <a:lstStyle/>
          <a:p>
            <a:fld id="{13977939-A071-43C1-9268-F54CC2756BB5}" type="slidenum">
              <a:rPr lang="en-US" smtClean="0"/>
              <a:pPr/>
              <a:t>130</a:t>
            </a:fld>
            <a:endParaRPr lang="en-US" dirty="0"/>
          </a:p>
        </p:txBody>
      </p:sp>
    </p:spTree>
    <p:extLst>
      <p:ext uri="{BB962C8B-B14F-4D97-AF65-F5344CB8AC3E}">
        <p14:creationId xmlns:p14="http://schemas.microsoft.com/office/powerpoint/2010/main" val="2384115567"/>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5087A-AFA7-EA4F-A54D-0292E5D70E58}"/>
              </a:ext>
            </a:extLst>
          </p:cNvPr>
          <p:cNvSpPr>
            <a:spLocks noGrp="1"/>
          </p:cNvSpPr>
          <p:nvPr>
            <p:ph type="title"/>
          </p:nvPr>
        </p:nvSpPr>
        <p:spPr>
          <a:xfrm>
            <a:off x="457200" y="76200"/>
            <a:ext cx="8229600" cy="475488"/>
          </a:xfrm>
        </p:spPr>
        <p:txBody>
          <a:bodyPr>
            <a:noAutofit/>
          </a:bodyPr>
          <a:lstStyle/>
          <a:p>
            <a:r>
              <a:rPr lang="en-US" dirty="0"/>
              <a:t>Inheritance Checklist (3)</a:t>
            </a:r>
          </a:p>
        </p:txBody>
      </p:sp>
      <p:sp>
        <p:nvSpPr>
          <p:cNvPr id="3" name="Content Placeholder 2">
            <a:extLst>
              <a:ext uri="{FF2B5EF4-FFF2-40B4-BE49-F238E27FC236}">
                <a16:creationId xmlns:a16="http://schemas.microsoft.com/office/drawing/2014/main" id="{3EA048A1-DA1D-424E-9162-889482670032}"/>
              </a:ext>
            </a:extLst>
          </p:cNvPr>
          <p:cNvSpPr>
            <a:spLocks noGrp="1"/>
          </p:cNvSpPr>
          <p:nvPr>
            <p:ph idx="1"/>
          </p:nvPr>
        </p:nvSpPr>
        <p:spPr>
          <a:xfrm>
            <a:off x="152400" y="685800"/>
            <a:ext cx="8839200" cy="6019800"/>
          </a:xfrm>
        </p:spPr>
        <p:txBody>
          <a:bodyPr>
            <a:normAutofit/>
          </a:bodyPr>
          <a:lstStyle/>
          <a:p>
            <a:r>
              <a:rPr lang="en-US" dirty="0"/>
              <a:t>We can access public or protected members from the superclass above the subclass with super.memberName(…)</a:t>
            </a:r>
          </a:p>
          <a:p>
            <a:r>
              <a:rPr lang="en-US" dirty="0"/>
              <a:t>We can use super(with 0 or more arguments) to invoke a superclass constructor and if we don't supply this explicitly, then the compiler inserts a no-args super() for us as the first statement in the constructor if we haven't used the this(</a:t>
            </a:r>
            <a:r>
              <a:rPr lang="en-US" i="1" dirty="0"/>
              <a:t>paramlist</a:t>
            </a:r>
            <a:r>
              <a:rPr lang="en-US" dirty="0"/>
              <a:t>) keyword.</a:t>
            </a:r>
          </a:p>
          <a:p>
            <a:r>
              <a:rPr lang="en-US" dirty="0"/>
              <a:t>When explicitly coding super(</a:t>
            </a:r>
            <a:r>
              <a:rPr lang="en-US" i="1" dirty="0"/>
              <a:t>paramlist</a:t>
            </a:r>
            <a:r>
              <a:rPr lang="en-US" dirty="0"/>
              <a:t>) we can supply arguments to invoke the constructor in the superclass matching the signature of our call.</a:t>
            </a:r>
          </a:p>
          <a:p>
            <a:r>
              <a:rPr lang="en-US" dirty="0"/>
              <a:t>When explicitly coding super(paramlist) or super() it must be the first statement within the constructor or we get a compiler error. This means we can't use super(</a:t>
            </a:r>
            <a:r>
              <a:rPr lang="en-US" i="1" dirty="0"/>
              <a:t>paramlist</a:t>
            </a:r>
            <a:r>
              <a:rPr lang="en-US" dirty="0"/>
              <a:t>) and this(</a:t>
            </a:r>
            <a:r>
              <a:rPr lang="en-US" i="1" dirty="0"/>
              <a:t>paramlist</a:t>
            </a:r>
            <a:r>
              <a:rPr lang="en-US" dirty="0"/>
              <a:t>) together in the same constructor.</a:t>
            </a:r>
          </a:p>
        </p:txBody>
      </p:sp>
      <p:sp>
        <p:nvSpPr>
          <p:cNvPr id="4" name="Slide Number Placeholder 3">
            <a:extLst>
              <a:ext uri="{FF2B5EF4-FFF2-40B4-BE49-F238E27FC236}">
                <a16:creationId xmlns:a16="http://schemas.microsoft.com/office/drawing/2014/main" id="{E2441F12-7148-8A46-AAB0-DAAEC54F869F}"/>
              </a:ext>
            </a:extLst>
          </p:cNvPr>
          <p:cNvSpPr>
            <a:spLocks noGrp="1"/>
          </p:cNvSpPr>
          <p:nvPr>
            <p:ph type="sldNum" sz="quarter" idx="12"/>
          </p:nvPr>
        </p:nvSpPr>
        <p:spPr/>
        <p:txBody>
          <a:bodyPr/>
          <a:lstStyle/>
          <a:p>
            <a:fld id="{13977939-A071-43C1-9268-F54CC2756BB5}" type="slidenum">
              <a:rPr lang="en-US" smtClean="0"/>
              <a:pPr/>
              <a:t>131</a:t>
            </a:fld>
            <a:endParaRPr lang="en-US" dirty="0"/>
          </a:p>
        </p:txBody>
      </p:sp>
    </p:spTree>
    <p:extLst>
      <p:ext uri="{BB962C8B-B14F-4D97-AF65-F5344CB8AC3E}">
        <p14:creationId xmlns:p14="http://schemas.microsoft.com/office/powerpoint/2010/main" val="2373054589"/>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3FC00-3545-8929-8249-D7C7A4547C11}"/>
              </a:ext>
            </a:extLst>
          </p:cNvPr>
          <p:cNvSpPr>
            <a:spLocks noGrp="1"/>
          </p:cNvSpPr>
          <p:nvPr>
            <p:ph type="title"/>
          </p:nvPr>
        </p:nvSpPr>
        <p:spPr>
          <a:xfrm>
            <a:off x="228600" y="152400"/>
            <a:ext cx="8763000" cy="475488"/>
          </a:xfrm>
        </p:spPr>
        <p:txBody>
          <a:bodyPr>
            <a:noAutofit/>
          </a:bodyPr>
          <a:lstStyle/>
          <a:p>
            <a:r>
              <a:rPr lang="en-US" dirty="0"/>
              <a:t>Employees - A Real World Problem Walkthrough (1)</a:t>
            </a:r>
          </a:p>
        </p:txBody>
      </p:sp>
      <p:sp>
        <p:nvSpPr>
          <p:cNvPr id="4" name="Slide Number Placeholder 3">
            <a:extLst>
              <a:ext uri="{FF2B5EF4-FFF2-40B4-BE49-F238E27FC236}">
                <a16:creationId xmlns:a16="http://schemas.microsoft.com/office/drawing/2014/main" id="{0DF6CA75-551E-C003-0876-6A111073D654}"/>
              </a:ext>
            </a:extLst>
          </p:cNvPr>
          <p:cNvSpPr>
            <a:spLocks noGrp="1"/>
          </p:cNvSpPr>
          <p:nvPr>
            <p:ph type="sldNum" sz="quarter" idx="12"/>
          </p:nvPr>
        </p:nvSpPr>
        <p:spPr/>
        <p:txBody>
          <a:bodyPr/>
          <a:lstStyle/>
          <a:p>
            <a:fld id="{13977939-A071-43C1-9268-F54CC2756BB5}" type="slidenum">
              <a:rPr lang="en-US" smtClean="0"/>
              <a:pPr/>
              <a:t>132</a:t>
            </a:fld>
            <a:endParaRPr lang="en-US" dirty="0"/>
          </a:p>
        </p:txBody>
      </p:sp>
      <p:pic>
        <p:nvPicPr>
          <p:cNvPr id="6" name="Picture 5">
            <a:extLst>
              <a:ext uri="{FF2B5EF4-FFF2-40B4-BE49-F238E27FC236}">
                <a16:creationId xmlns:a16="http://schemas.microsoft.com/office/drawing/2014/main" id="{3EE54BC8-B423-985D-1308-286FABEF4B55}"/>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l="20238" t="2857" r="19048" b="2261"/>
          <a:stretch/>
        </p:blipFill>
        <p:spPr>
          <a:xfrm>
            <a:off x="1295400" y="699994"/>
            <a:ext cx="4800600" cy="6251762"/>
          </a:xfrm>
          <a:prstGeom prst="rect">
            <a:avLst/>
          </a:prstGeom>
        </p:spPr>
      </p:pic>
    </p:spTree>
    <p:extLst>
      <p:ext uri="{BB962C8B-B14F-4D97-AF65-F5344CB8AC3E}">
        <p14:creationId xmlns:p14="http://schemas.microsoft.com/office/powerpoint/2010/main" val="2399605250"/>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729109-4D3A-8953-1AC5-28FEE071EE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17A9A5-1466-828D-7E71-7F5C2CD229E1}"/>
              </a:ext>
            </a:extLst>
          </p:cNvPr>
          <p:cNvSpPr>
            <a:spLocks noGrp="1"/>
          </p:cNvSpPr>
          <p:nvPr>
            <p:ph type="title"/>
          </p:nvPr>
        </p:nvSpPr>
        <p:spPr>
          <a:xfrm>
            <a:off x="228600" y="457200"/>
            <a:ext cx="8763000" cy="475488"/>
          </a:xfrm>
        </p:spPr>
        <p:txBody>
          <a:bodyPr>
            <a:noAutofit/>
          </a:bodyPr>
          <a:lstStyle/>
          <a:p>
            <a:r>
              <a:rPr lang="en-US" dirty="0"/>
              <a:t>Employees - A Real World Problem Walkthrough (2)</a:t>
            </a:r>
          </a:p>
        </p:txBody>
      </p:sp>
      <p:sp>
        <p:nvSpPr>
          <p:cNvPr id="3" name="Content Placeholder 2">
            <a:extLst>
              <a:ext uri="{FF2B5EF4-FFF2-40B4-BE49-F238E27FC236}">
                <a16:creationId xmlns:a16="http://schemas.microsoft.com/office/drawing/2014/main" id="{88DE5FBD-13D9-C648-25CE-9BCB447B29E4}"/>
              </a:ext>
            </a:extLst>
          </p:cNvPr>
          <p:cNvSpPr>
            <a:spLocks noGrp="1"/>
          </p:cNvSpPr>
          <p:nvPr>
            <p:ph idx="1"/>
          </p:nvPr>
        </p:nvSpPr>
        <p:spPr>
          <a:xfrm>
            <a:off x="457200" y="990600"/>
            <a:ext cx="8229600" cy="5867400"/>
          </a:xfrm>
        </p:spPr>
        <p:txBody>
          <a:bodyPr>
            <a:normAutofit fontScale="70000" lnSpcReduction="20000"/>
          </a:bodyPr>
          <a:lstStyle/>
          <a:p>
            <a:pPr marL="0" indent="0">
              <a:buNone/>
            </a:pPr>
            <a:r>
              <a:rPr lang="en-US" b="1" dirty="0"/>
              <a:t>Employee class</a:t>
            </a:r>
          </a:p>
          <a:p>
            <a:pPr marL="0" indent="0">
              <a:buNone/>
            </a:pPr>
            <a:r>
              <a:rPr lang="en-US" dirty="0"/>
              <a:t>Implement a class Employee such that a member of Employee has instance variables for name (String with no blanks), an ID number (int), an age (int), a salary(double), and a title (String with no blanks). </a:t>
            </a:r>
          </a:p>
          <a:p>
            <a:pPr marL="0" indent="0">
              <a:buNone/>
            </a:pPr>
            <a:endParaRPr lang="en-US" dirty="0"/>
          </a:p>
          <a:p>
            <a:pPr marL="0" indent="0">
              <a:buNone/>
            </a:pPr>
            <a:r>
              <a:rPr lang="en-US" dirty="0"/>
              <a:t>An Employee ID has a value of 1 to 2000. (see manager and Executive below for their ranges.)</a:t>
            </a:r>
          </a:p>
          <a:p>
            <a:pPr marL="0" indent="0">
              <a:buNone/>
            </a:pPr>
            <a:endParaRPr lang="en-US" dirty="0"/>
          </a:p>
          <a:p>
            <a:pPr marL="0" indent="0">
              <a:buNone/>
            </a:pPr>
            <a:r>
              <a:rPr lang="en-US" dirty="0"/>
              <a:t>There is a default constructor with an empty body.</a:t>
            </a:r>
          </a:p>
          <a:p>
            <a:pPr marL="0" indent="0">
              <a:buNone/>
            </a:pPr>
            <a:endParaRPr lang="en-US" dirty="0"/>
          </a:p>
          <a:p>
            <a:pPr marL="0" indent="0">
              <a:buNone/>
            </a:pPr>
            <a:r>
              <a:rPr lang="en-US" dirty="0"/>
              <a:t>There is a single constructor with the name, title, ID, age and salary as the parameters</a:t>
            </a:r>
          </a:p>
          <a:p>
            <a:pPr marL="0" indent="0">
              <a:buNone/>
            </a:pPr>
            <a:endParaRPr lang="en-US" dirty="0"/>
          </a:p>
          <a:p>
            <a:pPr marL="0" indent="0">
              <a:buNone/>
            </a:pPr>
            <a:r>
              <a:rPr lang="en-US" dirty="0"/>
              <a:t>Include an accessor and mutator for each field value.</a:t>
            </a:r>
          </a:p>
          <a:p>
            <a:pPr marL="0" indent="0">
              <a:buNone/>
            </a:pPr>
            <a:endParaRPr lang="en-US" dirty="0"/>
          </a:p>
          <a:p>
            <a:pPr marL="0" indent="0">
              <a:buNone/>
            </a:pPr>
            <a:r>
              <a:rPr lang="en-US" dirty="0"/>
              <a:t>Include a toString method that prints out all the attributes of the employee.</a:t>
            </a:r>
          </a:p>
          <a:p>
            <a:pPr marL="0" indent="0">
              <a:buNone/>
            </a:pPr>
            <a:endParaRPr lang="en-US" dirty="0"/>
          </a:p>
          <a:p>
            <a:pPr marL="0" indent="0">
              <a:buNone/>
            </a:pPr>
            <a:r>
              <a:rPr lang="en-US" dirty="0"/>
              <a:t>Include a method changeSalary which accepts a percentage for change as a double and changes a salary with a double argument which is the percent increase or decrease. i.e. </a:t>
            </a:r>
          </a:p>
          <a:p>
            <a:pPr marL="0" indent="0">
              <a:buNone/>
            </a:pPr>
            <a:endParaRPr lang="en-US" dirty="0"/>
          </a:p>
          <a:p>
            <a:pPr marL="0" indent="0">
              <a:buNone/>
            </a:pPr>
            <a:r>
              <a:rPr lang="en-US" dirty="0"/>
              <a:t>The new salary is the current salary time (1.0 + (percent/100.0)).</a:t>
            </a:r>
          </a:p>
          <a:p>
            <a:pPr marL="0" indent="0">
              <a:buNone/>
            </a:pPr>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3AB7C18C-78F8-B8AB-5034-72DFA82B730B}"/>
              </a:ext>
            </a:extLst>
          </p:cNvPr>
          <p:cNvSpPr>
            <a:spLocks noGrp="1"/>
          </p:cNvSpPr>
          <p:nvPr>
            <p:ph type="sldNum" sz="quarter" idx="12"/>
          </p:nvPr>
        </p:nvSpPr>
        <p:spPr/>
        <p:txBody>
          <a:bodyPr/>
          <a:lstStyle/>
          <a:p>
            <a:fld id="{13977939-A071-43C1-9268-F54CC2756BB5}" type="slidenum">
              <a:rPr lang="en-US" smtClean="0"/>
              <a:pPr/>
              <a:t>133</a:t>
            </a:fld>
            <a:endParaRPr lang="en-US" dirty="0"/>
          </a:p>
        </p:txBody>
      </p:sp>
    </p:spTree>
    <p:extLst>
      <p:ext uri="{BB962C8B-B14F-4D97-AF65-F5344CB8AC3E}">
        <p14:creationId xmlns:p14="http://schemas.microsoft.com/office/powerpoint/2010/main" val="950204761"/>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4987B-E6E3-86D8-53B4-2FB04D2AE4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C05FC3-2139-F916-12F6-4B6616B8F452}"/>
              </a:ext>
            </a:extLst>
          </p:cNvPr>
          <p:cNvSpPr>
            <a:spLocks noGrp="1"/>
          </p:cNvSpPr>
          <p:nvPr>
            <p:ph type="title"/>
          </p:nvPr>
        </p:nvSpPr>
        <p:spPr>
          <a:xfrm>
            <a:off x="152400" y="457200"/>
            <a:ext cx="8839200" cy="475488"/>
          </a:xfrm>
        </p:spPr>
        <p:txBody>
          <a:bodyPr>
            <a:noAutofit/>
          </a:bodyPr>
          <a:lstStyle/>
          <a:p>
            <a:r>
              <a:rPr lang="en-US" dirty="0"/>
              <a:t>Employees - A Real World Problem Walkthrough (3)</a:t>
            </a:r>
          </a:p>
        </p:txBody>
      </p:sp>
      <p:sp>
        <p:nvSpPr>
          <p:cNvPr id="3" name="Content Placeholder 2">
            <a:extLst>
              <a:ext uri="{FF2B5EF4-FFF2-40B4-BE49-F238E27FC236}">
                <a16:creationId xmlns:a16="http://schemas.microsoft.com/office/drawing/2014/main" id="{02C6B9EA-3E3A-5BE4-F56B-C6360DED28AC}"/>
              </a:ext>
            </a:extLst>
          </p:cNvPr>
          <p:cNvSpPr>
            <a:spLocks noGrp="1"/>
          </p:cNvSpPr>
          <p:nvPr>
            <p:ph idx="1"/>
          </p:nvPr>
        </p:nvSpPr>
        <p:spPr>
          <a:xfrm>
            <a:off x="457200" y="1249680"/>
            <a:ext cx="8229600" cy="5608320"/>
          </a:xfrm>
        </p:spPr>
        <p:txBody>
          <a:bodyPr>
            <a:normAutofit fontScale="70000" lnSpcReduction="20000"/>
          </a:bodyPr>
          <a:lstStyle/>
          <a:p>
            <a:pPr marL="0" indent="0">
              <a:buNone/>
            </a:pPr>
            <a:r>
              <a:rPr lang="en-US" b="1" dirty="0"/>
              <a:t>Manager class </a:t>
            </a:r>
          </a:p>
          <a:p>
            <a:pPr marL="0" indent="0">
              <a:buNone/>
            </a:pPr>
            <a:r>
              <a:rPr lang="en-US" dirty="0"/>
              <a:t>Implement a subclass of Employee, called Manager. A Manager ID number ranges from 2001 to 3000. </a:t>
            </a:r>
          </a:p>
          <a:p>
            <a:pPr marL="0" indent="0">
              <a:buNone/>
            </a:pPr>
            <a:endParaRPr lang="en-US" dirty="0"/>
          </a:p>
          <a:p>
            <a:pPr marL="0" indent="0">
              <a:buNone/>
            </a:pPr>
            <a:r>
              <a:rPr lang="en-US" dirty="0"/>
              <a:t>A manager also has a group of employees that he/she supervises found in an ArrayList called managedEmployees, an instance variable. </a:t>
            </a:r>
          </a:p>
          <a:p>
            <a:pPr marL="0" indent="0">
              <a:buNone/>
            </a:pPr>
            <a:endParaRPr lang="en-US" dirty="0"/>
          </a:p>
          <a:p>
            <a:pPr marL="0" indent="0">
              <a:buNone/>
            </a:pPr>
            <a:r>
              <a:rPr lang="en-US" dirty="0"/>
              <a:t>There is a single constructor which uses super with the 5 parameters.</a:t>
            </a:r>
          </a:p>
          <a:p>
            <a:pPr marL="0" indent="0">
              <a:buNone/>
            </a:pPr>
            <a:endParaRPr lang="en-US" dirty="0"/>
          </a:p>
          <a:p>
            <a:pPr marL="0" indent="0">
              <a:buNone/>
            </a:pPr>
            <a:r>
              <a:rPr lang="en-US" dirty="0"/>
              <a:t>For managedEmployees</a:t>
            </a:r>
          </a:p>
          <a:p>
            <a:pPr marL="0" indent="0">
              <a:buNone/>
            </a:pPr>
            <a:r>
              <a:rPr lang="en-US" dirty="0"/>
              <a:t>   Provide a mutator which adds an Employee (an input parameter reference) to</a:t>
            </a:r>
          </a:p>
          <a:p>
            <a:pPr marL="0" indent="0">
              <a:buNone/>
            </a:pPr>
            <a:r>
              <a:rPr lang="en-US" dirty="0"/>
              <a:t>   the managedEmployees list.  </a:t>
            </a:r>
          </a:p>
          <a:p>
            <a:pPr marL="0" indent="0">
              <a:buNone/>
            </a:pPr>
            <a:r>
              <a:rPr lang="en-US" dirty="0"/>
              <a:t>   Provide an method called getManagedEmployeesListSize which returns the size</a:t>
            </a:r>
          </a:p>
          <a:p>
            <a:pPr marL="0" indent="0">
              <a:buNone/>
            </a:pPr>
            <a:r>
              <a:rPr lang="en-US" dirty="0"/>
              <a:t>   of the managedEmployees list.</a:t>
            </a:r>
          </a:p>
          <a:p>
            <a:pPr marL="0" indent="0">
              <a:buNone/>
            </a:pPr>
            <a:r>
              <a:rPr lang="en-US" dirty="0"/>
              <a:t>   Provide a method called getManagedEmployeeAtIndex with an input parameter</a:t>
            </a:r>
          </a:p>
          <a:p>
            <a:pPr marL="0" indent="0">
              <a:buNone/>
            </a:pPr>
            <a:r>
              <a:rPr lang="en-US" dirty="0"/>
              <a:t>   index which returns a reference to the Employee at index i in the </a:t>
            </a:r>
          </a:p>
          <a:p>
            <a:pPr marL="0" indent="0">
              <a:buNone/>
            </a:pPr>
            <a:r>
              <a:rPr lang="en-US" dirty="0"/>
              <a:t>   managedEmployees list.</a:t>
            </a:r>
          </a:p>
          <a:p>
            <a:pPr marL="0" indent="0">
              <a:buNone/>
            </a:pPr>
            <a:r>
              <a:rPr lang="en-US" dirty="0"/>
              <a:t>Override toString(). All you need to do is change the word employee to manager. No new variables here.</a:t>
            </a:r>
          </a:p>
          <a:p>
            <a:pPr marL="0" indent="0">
              <a:buNone/>
            </a:pPr>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1F8A58F0-94B7-D6AB-BAF8-A142DD70EC63}"/>
              </a:ext>
            </a:extLst>
          </p:cNvPr>
          <p:cNvSpPr>
            <a:spLocks noGrp="1"/>
          </p:cNvSpPr>
          <p:nvPr>
            <p:ph type="sldNum" sz="quarter" idx="12"/>
          </p:nvPr>
        </p:nvSpPr>
        <p:spPr/>
        <p:txBody>
          <a:bodyPr/>
          <a:lstStyle/>
          <a:p>
            <a:fld id="{13977939-A071-43C1-9268-F54CC2756BB5}" type="slidenum">
              <a:rPr lang="en-US" smtClean="0"/>
              <a:pPr/>
              <a:t>134</a:t>
            </a:fld>
            <a:endParaRPr lang="en-US" dirty="0"/>
          </a:p>
        </p:txBody>
      </p:sp>
    </p:spTree>
    <p:extLst>
      <p:ext uri="{BB962C8B-B14F-4D97-AF65-F5344CB8AC3E}">
        <p14:creationId xmlns:p14="http://schemas.microsoft.com/office/powerpoint/2010/main" val="3735566784"/>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C620E-BAC6-F000-DE98-54F26569B3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7C9B94-036A-392C-5CA9-E547DFF51BFC}"/>
              </a:ext>
            </a:extLst>
          </p:cNvPr>
          <p:cNvSpPr>
            <a:spLocks noGrp="1"/>
          </p:cNvSpPr>
          <p:nvPr>
            <p:ph type="title"/>
          </p:nvPr>
        </p:nvSpPr>
        <p:spPr>
          <a:xfrm>
            <a:off x="228600" y="457200"/>
            <a:ext cx="8686800" cy="475488"/>
          </a:xfrm>
        </p:spPr>
        <p:txBody>
          <a:bodyPr>
            <a:noAutofit/>
          </a:bodyPr>
          <a:lstStyle/>
          <a:p>
            <a:r>
              <a:rPr lang="en-US" dirty="0"/>
              <a:t>Employees - A Real World Problem Walkthrough (4)</a:t>
            </a:r>
          </a:p>
        </p:txBody>
      </p:sp>
      <p:sp>
        <p:nvSpPr>
          <p:cNvPr id="3" name="Content Placeholder 2">
            <a:extLst>
              <a:ext uri="{FF2B5EF4-FFF2-40B4-BE49-F238E27FC236}">
                <a16:creationId xmlns:a16="http://schemas.microsoft.com/office/drawing/2014/main" id="{C4833406-CBDE-E417-EBED-F988397FFE0F}"/>
              </a:ext>
            </a:extLst>
          </p:cNvPr>
          <p:cNvSpPr>
            <a:spLocks noGrp="1"/>
          </p:cNvSpPr>
          <p:nvPr>
            <p:ph idx="1"/>
          </p:nvPr>
        </p:nvSpPr>
        <p:spPr>
          <a:xfrm>
            <a:off x="457200" y="1066800"/>
            <a:ext cx="8229600" cy="5791200"/>
          </a:xfrm>
        </p:spPr>
        <p:txBody>
          <a:bodyPr>
            <a:normAutofit fontScale="77500" lnSpcReduction="20000"/>
          </a:bodyPr>
          <a:lstStyle/>
          <a:p>
            <a:pPr marL="0" indent="0">
              <a:buNone/>
            </a:pPr>
            <a:r>
              <a:rPr lang="en-US" b="1" dirty="0"/>
              <a:t>Executive class</a:t>
            </a:r>
          </a:p>
          <a:p>
            <a:pPr marL="0" indent="0">
              <a:buNone/>
            </a:pPr>
            <a:r>
              <a:rPr lang="en-US" dirty="0"/>
              <a:t>Implement a subclass called Executive. Executive extends Manager, but an Executive only supervises an Employee who is a manager An Executive ID number ranges from 3001 to 3500. </a:t>
            </a:r>
          </a:p>
          <a:p>
            <a:pPr marL="0" indent="0">
              <a:buNone/>
            </a:pPr>
            <a:endParaRPr lang="en-US" dirty="0"/>
          </a:p>
          <a:p>
            <a:pPr marL="0" indent="0">
              <a:buNone/>
            </a:pPr>
            <a:r>
              <a:rPr lang="en-US" dirty="0"/>
              <a:t>Create an additional instance variable of type double called totalComp for an Executive which may be initialized to 0.0.</a:t>
            </a:r>
          </a:p>
          <a:p>
            <a:pPr marL="0" indent="0">
              <a:buNone/>
            </a:pPr>
            <a:endParaRPr lang="en-US" dirty="0"/>
          </a:p>
          <a:p>
            <a:pPr marL="0" indent="0">
              <a:buNone/>
            </a:pPr>
            <a:r>
              <a:rPr lang="en-US" dirty="0"/>
              <a:t>There is a single constructor which uses super with the 5 parameters.</a:t>
            </a:r>
          </a:p>
          <a:p>
            <a:pPr marL="0" indent="0">
              <a:buNone/>
            </a:pPr>
            <a:endParaRPr lang="en-US" dirty="0"/>
          </a:p>
          <a:p>
            <a:pPr marL="0" indent="0">
              <a:buNone/>
            </a:pPr>
            <a:r>
              <a:rPr lang="en-US" dirty="0"/>
              <a:t>Add a mutator method called setTotalComp with the company’s profits  and the bonus percentage as input values, which calculates and sets the total compensation of salary plus bonus as a double. An executive gets a bonus at the end of each year equal to a percentage of company profits.</a:t>
            </a:r>
          </a:p>
          <a:p>
            <a:pPr marL="0" indent="0">
              <a:buNone/>
            </a:pPr>
            <a:endParaRPr lang="en-US" dirty="0"/>
          </a:p>
          <a:p>
            <a:pPr marL="0" indent="0">
              <a:buNone/>
            </a:pPr>
            <a:r>
              <a:rPr lang="en-US" dirty="0"/>
              <a:t>Also include a getTotalComp() method which returns the totalComp.  </a:t>
            </a:r>
          </a:p>
          <a:p>
            <a:pPr marL="0" indent="0">
              <a:buNone/>
            </a:pPr>
            <a:endParaRPr lang="en-US" dirty="0"/>
          </a:p>
          <a:p>
            <a:pPr marL="0" indent="0">
              <a:buNone/>
            </a:pPr>
            <a:r>
              <a:rPr lang="en-US" dirty="0"/>
              <a:t>Override toString to include the totalComp for the Executive. Also change the word in the printout from manager to executive.</a:t>
            </a:r>
          </a:p>
          <a:p>
            <a:pPr marL="0" indent="0">
              <a:buNone/>
            </a:pPr>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8F5C8B62-FCCC-8DBE-1282-F569A1317D9A}"/>
              </a:ext>
            </a:extLst>
          </p:cNvPr>
          <p:cNvSpPr>
            <a:spLocks noGrp="1"/>
          </p:cNvSpPr>
          <p:nvPr>
            <p:ph type="sldNum" sz="quarter" idx="12"/>
          </p:nvPr>
        </p:nvSpPr>
        <p:spPr/>
        <p:txBody>
          <a:bodyPr/>
          <a:lstStyle/>
          <a:p>
            <a:fld id="{13977939-A071-43C1-9268-F54CC2756BB5}" type="slidenum">
              <a:rPr lang="en-US" smtClean="0"/>
              <a:pPr/>
              <a:t>135</a:t>
            </a:fld>
            <a:endParaRPr lang="en-US" dirty="0"/>
          </a:p>
        </p:txBody>
      </p:sp>
    </p:spTree>
    <p:extLst>
      <p:ext uri="{BB962C8B-B14F-4D97-AF65-F5344CB8AC3E}">
        <p14:creationId xmlns:p14="http://schemas.microsoft.com/office/powerpoint/2010/main" val="142894465"/>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87DDCB-5F2B-F2B5-7BA4-D2F69C6DDB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FA4FFB-6189-6521-98AE-F07EF6F4256F}"/>
              </a:ext>
            </a:extLst>
          </p:cNvPr>
          <p:cNvSpPr>
            <a:spLocks noGrp="1"/>
          </p:cNvSpPr>
          <p:nvPr>
            <p:ph type="title"/>
          </p:nvPr>
        </p:nvSpPr>
        <p:spPr>
          <a:xfrm>
            <a:off x="228600" y="152400"/>
            <a:ext cx="8763000" cy="475488"/>
          </a:xfrm>
        </p:spPr>
        <p:txBody>
          <a:bodyPr>
            <a:noAutofit/>
          </a:bodyPr>
          <a:lstStyle/>
          <a:p>
            <a:r>
              <a:rPr lang="en-US" dirty="0"/>
              <a:t>Employees - A Real World Problem Walkthrough (5)</a:t>
            </a:r>
          </a:p>
        </p:txBody>
      </p:sp>
      <p:sp>
        <p:nvSpPr>
          <p:cNvPr id="3" name="Content Placeholder 2">
            <a:extLst>
              <a:ext uri="{FF2B5EF4-FFF2-40B4-BE49-F238E27FC236}">
                <a16:creationId xmlns:a16="http://schemas.microsoft.com/office/drawing/2014/main" id="{2BCD5942-C18F-BED1-CAE6-D54B352A33D2}"/>
              </a:ext>
            </a:extLst>
          </p:cNvPr>
          <p:cNvSpPr>
            <a:spLocks noGrp="1"/>
          </p:cNvSpPr>
          <p:nvPr>
            <p:ph idx="1"/>
          </p:nvPr>
        </p:nvSpPr>
        <p:spPr>
          <a:xfrm>
            <a:off x="457200" y="685800"/>
            <a:ext cx="8229600" cy="6172200"/>
          </a:xfrm>
        </p:spPr>
        <p:txBody>
          <a:bodyPr>
            <a:normAutofit fontScale="62500" lnSpcReduction="20000"/>
          </a:bodyPr>
          <a:lstStyle/>
          <a:p>
            <a:pPr marL="0" indent="0">
              <a:buNone/>
            </a:pPr>
            <a:r>
              <a:rPr lang="en-US" b="1" dirty="0"/>
              <a:t>Business class</a:t>
            </a:r>
          </a:p>
          <a:p>
            <a:pPr marL="0" indent="0">
              <a:buNone/>
            </a:pPr>
            <a:r>
              <a:rPr lang="en-US" dirty="0"/>
              <a:t>Implement a class called</a:t>
            </a:r>
          </a:p>
          <a:p>
            <a:pPr marL="0" indent="0">
              <a:buNone/>
            </a:pPr>
            <a:r>
              <a:rPr lang="en-US" dirty="0"/>
              <a:t>Has three ArrayLists called employeeAL, managerAL and executiveAL of type Employee, Manager and Executive respectively. – We create these here.</a:t>
            </a:r>
          </a:p>
          <a:p>
            <a:pPr marL="0" indent="0">
              <a:buNone/>
            </a:pPr>
            <a:r>
              <a:rPr lang="en-US" dirty="0"/>
              <a:t>Has Scanner variables to read from the keyboard and a data file, and a </a:t>
            </a:r>
            <a:r>
              <a:rPr lang="en-US" dirty="0" err="1"/>
              <a:t>PrintWriter</a:t>
            </a:r>
            <a:r>
              <a:rPr lang="en-US" dirty="0"/>
              <a:t> </a:t>
            </a:r>
            <a:r>
              <a:rPr lang="en-US" dirty="0" err="1"/>
              <a:t>varriable</a:t>
            </a:r>
            <a:r>
              <a:rPr lang="en-US" dirty="0"/>
              <a:t> to write to an output file</a:t>
            </a:r>
          </a:p>
          <a:p>
            <a:pPr marL="0" indent="0">
              <a:buNone/>
            </a:pPr>
            <a:r>
              <a:rPr lang="en-US" dirty="0"/>
              <a:t>I also defined 3 convenience temporary variables for Employee, Manager and Executive</a:t>
            </a:r>
          </a:p>
          <a:p>
            <a:pPr marL="0" indent="0">
              <a:buNone/>
            </a:pPr>
            <a:r>
              <a:rPr lang="en-US" dirty="0"/>
              <a:t>The constructor has parameters for the the two Scanners and the </a:t>
            </a:r>
            <a:r>
              <a:rPr lang="en-US" dirty="0" err="1"/>
              <a:t>PrintWriter</a:t>
            </a:r>
            <a:endParaRPr lang="en-US" dirty="0"/>
          </a:p>
          <a:p>
            <a:pPr marL="0" indent="0">
              <a:buNone/>
            </a:pPr>
            <a:r>
              <a:rPr lang="en-US" dirty="0"/>
              <a:t>      Set the three input parameter variables the the three instance variables</a:t>
            </a:r>
          </a:p>
          <a:p>
            <a:pPr marL="0" indent="0">
              <a:buNone/>
            </a:pPr>
            <a:r>
              <a:rPr lang="en-US" dirty="0"/>
              <a:t>      Call the following methods</a:t>
            </a:r>
          </a:p>
          <a:p>
            <a:pPr marL="0" indent="0">
              <a:buNone/>
            </a:pPr>
            <a:r>
              <a:rPr lang="en-US" dirty="0"/>
              <a:t>      </a:t>
            </a:r>
            <a:r>
              <a:rPr lang="en-US" dirty="0" err="1"/>
              <a:t>createCompanyPersonnel</a:t>
            </a:r>
            <a:r>
              <a:rPr lang="en-US" dirty="0"/>
              <a:t>();</a:t>
            </a:r>
          </a:p>
          <a:p>
            <a:pPr marL="0" indent="0">
              <a:buNone/>
            </a:pPr>
            <a:r>
              <a:rPr lang="en-US" dirty="0"/>
              <a:t>      </a:t>
            </a:r>
            <a:r>
              <a:rPr lang="en-US" dirty="0" err="1"/>
              <a:t>assignEmployees</a:t>
            </a:r>
            <a:r>
              <a:rPr lang="en-US" dirty="0"/>
              <a:t>();</a:t>
            </a:r>
          </a:p>
          <a:p>
            <a:pPr marL="0" indent="0">
              <a:buNone/>
            </a:pPr>
            <a:r>
              <a:rPr lang="en-US" dirty="0"/>
              <a:t>      </a:t>
            </a:r>
            <a:r>
              <a:rPr lang="en-US" dirty="0" err="1"/>
              <a:t>calculatePayroll</a:t>
            </a:r>
            <a:r>
              <a:rPr lang="en-US" dirty="0"/>
              <a:t>();</a:t>
            </a:r>
          </a:p>
          <a:p>
            <a:pPr marL="0" indent="0">
              <a:buNone/>
            </a:pPr>
            <a:r>
              <a:rPr lang="en-US" dirty="0"/>
              <a:t>      </a:t>
            </a:r>
            <a:r>
              <a:rPr lang="en-US" dirty="0" err="1"/>
              <a:t>printCompanyRoster</a:t>
            </a:r>
            <a:r>
              <a:rPr lang="en-US" dirty="0"/>
              <a:t>();</a:t>
            </a:r>
          </a:p>
          <a:p>
            <a:pPr marL="0" indent="0">
              <a:buNone/>
            </a:pPr>
            <a:r>
              <a:rPr lang="en-US" dirty="0"/>
              <a:t>      </a:t>
            </a:r>
            <a:r>
              <a:rPr lang="en-US" dirty="0" err="1"/>
              <a:t>giveManagersARaise</a:t>
            </a:r>
            <a:r>
              <a:rPr lang="en-US" dirty="0"/>
              <a:t>();	</a:t>
            </a:r>
          </a:p>
          <a:p>
            <a:pPr marL="0" indent="0">
              <a:buNone/>
            </a:pPr>
            <a:endParaRPr lang="en-US" dirty="0"/>
          </a:p>
          <a:p>
            <a:pPr marL="0" indent="0">
              <a:buNone/>
            </a:pPr>
            <a:r>
              <a:rPr lang="en-US" b="1" dirty="0" err="1"/>
              <a:t>createCompanyPersonnel</a:t>
            </a:r>
            <a:r>
              <a:rPr lang="en-US" b="1" dirty="0"/>
              <a:t>()</a:t>
            </a:r>
          </a:p>
          <a:p>
            <a:pPr marL="0" indent="0">
              <a:buNone/>
            </a:pPr>
            <a:r>
              <a:rPr lang="en-US" dirty="0"/>
              <a:t>      Reads in the attributes of each employee from the file whose name you read in,   </a:t>
            </a:r>
          </a:p>
          <a:p>
            <a:pPr marL="0" indent="0">
              <a:buNone/>
            </a:pPr>
            <a:r>
              <a:rPr lang="en-US" dirty="0"/>
              <a:t>      in the order previously described. (use the file </a:t>
            </a:r>
            <a:r>
              <a:rPr lang="en-US" dirty="0" err="1"/>
              <a:t>emplist.txt</a:t>
            </a:r>
            <a:r>
              <a:rPr lang="en-US" dirty="0"/>
              <a:t>.)</a:t>
            </a:r>
          </a:p>
          <a:p>
            <a:pPr marL="0" indent="0">
              <a:buNone/>
            </a:pPr>
            <a:r>
              <a:rPr lang="en-US" dirty="0"/>
              <a:t>      As each employee’s attributes are read in the appropriate object is created </a:t>
            </a:r>
          </a:p>
          <a:p>
            <a:pPr marL="0" indent="0">
              <a:buNone/>
            </a:pPr>
            <a:r>
              <a:rPr lang="en-US" dirty="0"/>
              <a:t>      based on the ID of the person.  The object reference is then added to  the end </a:t>
            </a:r>
          </a:p>
          <a:p>
            <a:pPr marL="0" indent="0">
              <a:buNone/>
            </a:pPr>
            <a:r>
              <a:rPr lang="en-US" dirty="0"/>
              <a:t>      of the appropriate ArrayList.</a:t>
            </a:r>
          </a:p>
        </p:txBody>
      </p:sp>
      <p:sp>
        <p:nvSpPr>
          <p:cNvPr id="4" name="Slide Number Placeholder 3">
            <a:extLst>
              <a:ext uri="{FF2B5EF4-FFF2-40B4-BE49-F238E27FC236}">
                <a16:creationId xmlns:a16="http://schemas.microsoft.com/office/drawing/2014/main" id="{B9BF7C68-4068-9ED6-96B6-14D3263D0255}"/>
              </a:ext>
            </a:extLst>
          </p:cNvPr>
          <p:cNvSpPr>
            <a:spLocks noGrp="1"/>
          </p:cNvSpPr>
          <p:nvPr>
            <p:ph type="sldNum" sz="quarter" idx="12"/>
          </p:nvPr>
        </p:nvSpPr>
        <p:spPr/>
        <p:txBody>
          <a:bodyPr/>
          <a:lstStyle/>
          <a:p>
            <a:fld id="{13977939-A071-43C1-9268-F54CC2756BB5}" type="slidenum">
              <a:rPr lang="en-US" smtClean="0"/>
              <a:pPr/>
              <a:t>136</a:t>
            </a:fld>
            <a:endParaRPr lang="en-US" dirty="0"/>
          </a:p>
        </p:txBody>
      </p:sp>
    </p:spTree>
    <p:extLst>
      <p:ext uri="{BB962C8B-B14F-4D97-AF65-F5344CB8AC3E}">
        <p14:creationId xmlns:p14="http://schemas.microsoft.com/office/powerpoint/2010/main" val="4117455470"/>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047690-2EFE-2766-A024-55B534601C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322D51-EAB4-BAA0-1E51-BD4579872725}"/>
              </a:ext>
            </a:extLst>
          </p:cNvPr>
          <p:cNvSpPr>
            <a:spLocks noGrp="1"/>
          </p:cNvSpPr>
          <p:nvPr>
            <p:ph type="title"/>
          </p:nvPr>
        </p:nvSpPr>
        <p:spPr>
          <a:xfrm>
            <a:off x="228600" y="152400"/>
            <a:ext cx="8763000" cy="475488"/>
          </a:xfrm>
        </p:spPr>
        <p:txBody>
          <a:bodyPr>
            <a:noAutofit/>
          </a:bodyPr>
          <a:lstStyle/>
          <a:p>
            <a:r>
              <a:rPr lang="en-US" dirty="0"/>
              <a:t>Employees - A Real World Problem Walkthrough (6)</a:t>
            </a:r>
          </a:p>
        </p:txBody>
      </p:sp>
      <p:sp>
        <p:nvSpPr>
          <p:cNvPr id="3" name="Content Placeholder 2">
            <a:extLst>
              <a:ext uri="{FF2B5EF4-FFF2-40B4-BE49-F238E27FC236}">
                <a16:creationId xmlns:a16="http://schemas.microsoft.com/office/drawing/2014/main" id="{E67EBCC2-5C31-C833-1105-31035FAF32FD}"/>
              </a:ext>
            </a:extLst>
          </p:cNvPr>
          <p:cNvSpPr>
            <a:spLocks noGrp="1"/>
          </p:cNvSpPr>
          <p:nvPr>
            <p:ph idx="1"/>
          </p:nvPr>
        </p:nvSpPr>
        <p:spPr>
          <a:xfrm>
            <a:off x="457200" y="685800"/>
            <a:ext cx="8229600" cy="6172200"/>
          </a:xfrm>
        </p:spPr>
        <p:txBody>
          <a:bodyPr>
            <a:normAutofit fontScale="62500" lnSpcReduction="20000"/>
          </a:bodyPr>
          <a:lstStyle/>
          <a:p>
            <a:pPr marL="0" indent="0">
              <a:buNone/>
            </a:pPr>
            <a:r>
              <a:rPr lang="en-US" dirty="0" err="1"/>
              <a:t>assignEmployees</a:t>
            </a:r>
            <a:r>
              <a:rPr lang="en-US" dirty="0"/>
              <a:t>()</a:t>
            </a:r>
          </a:p>
          <a:p>
            <a:pPr marL="0" indent="0">
              <a:buNone/>
            </a:pPr>
            <a:r>
              <a:rPr lang="en-US" dirty="0"/>
              <a:t>        Once the results are read in assign each Employee in the employeeAL to a manager in a round robin fashion, adding a reference to the </a:t>
            </a:r>
          </a:p>
          <a:p>
            <a:pPr marL="0" indent="0">
              <a:buNone/>
            </a:pPr>
            <a:r>
              <a:rPr lang="en-US" dirty="0"/>
              <a:t>        employee to the managedEmployees ArrayList for the appropriate Manager.</a:t>
            </a:r>
          </a:p>
          <a:p>
            <a:pPr marL="0" indent="0">
              <a:buNone/>
            </a:pPr>
            <a:r>
              <a:rPr lang="en-US" dirty="0"/>
              <a:t>        Once the results are read in assign each Manager in the managerAL to an Executive in a round robin fashion.</a:t>
            </a:r>
          </a:p>
          <a:p>
            <a:pPr marL="0" indent="0">
              <a:buNone/>
            </a:pPr>
            <a:r>
              <a:rPr lang="en-US" dirty="0" err="1"/>
              <a:t>calculatePayroll</a:t>
            </a:r>
            <a:r>
              <a:rPr lang="en-US" dirty="0"/>
              <a:t>()</a:t>
            </a:r>
          </a:p>
          <a:p>
            <a:pPr marL="0" indent="0">
              <a:buNone/>
            </a:pPr>
            <a:r>
              <a:rPr lang="en-US" dirty="0"/>
              <a:t>       Prompt the user to enter the company’s profits and bonus percentage.  Use this to set the total compensation for each Executive.</a:t>
            </a:r>
          </a:p>
          <a:p>
            <a:pPr marL="0" indent="0">
              <a:buNone/>
            </a:pPr>
            <a:r>
              <a:rPr lang="en-US" dirty="0"/>
              <a:t>       Print out the total payroll to the output file</a:t>
            </a:r>
          </a:p>
          <a:p>
            <a:pPr marL="0" indent="0">
              <a:buNone/>
            </a:pPr>
            <a:r>
              <a:rPr lang="en-US" dirty="0" err="1"/>
              <a:t>printCompanyRoster</a:t>
            </a:r>
            <a:r>
              <a:rPr lang="en-US" dirty="0"/>
              <a:t>();</a:t>
            </a:r>
          </a:p>
          <a:p>
            <a:pPr marL="0" indent="0">
              <a:buNone/>
            </a:pPr>
            <a:r>
              <a:rPr lang="en-US" dirty="0"/>
              <a:t>       Print all of the following to the output file whose name you read in. The outputs are based on the interactive inputs shown below. Print to the    </a:t>
            </a:r>
          </a:p>
          <a:p>
            <a:pPr marL="0" indent="0">
              <a:buNone/>
            </a:pPr>
            <a:r>
              <a:rPr lang="en-US" dirty="0"/>
              <a:t>       output file:</a:t>
            </a:r>
          </a:p>
          <a:p>
            <a:pPr marL="0" indent="0">
              <a:buNone/>
            </a:pPr>
            <a:r>
              <a:rPr lang="en-US" dirty="0"/>
              <a:t>       The total payroll for the business including bonuses.</a:t>
            </a:r>
          </a:p>
          <a:p>
            <a:pPr marL="0" indent="0">
              <a:buNone/>
            </a:pPr>
            <a:r>
              <a:rPr lang="en-US" dirty="0"/>
              <a:t>       The attributes for each Executive, Manager and Employee as shown in the output file.</a:t>
            </a:r>
          </a:p>
          <a:p>
            <a:pPr marL="0" indent="0">
              <a:buNone/>
            </a:pPr>
            <a:r>
              <a:rPr lang="en-US" dirty="0"/>
              <a:t>       For each Executive the direct report Managers as shown in the output file.</a:t>
            </a:r>
          </a:p>
          <a:p>
            <a:pPr marL="0" indent="0">
              <a:buNone/>
            </a:pPr>
            <a:r>
              <a:rPr lang="en-US" dirty="0"/>
              <a:t>       For each Manager print out the direct report Employees as shown in the output file</a:t>
            </a:r>
          </a:p>
          <a:p>
            <a:pPr marL="0" indent="0">
              <a:buNone/>
            </a:pPr>
            <a:r>
              <a:rPr lang="en-US" dirty="0" err="1"/>
              <a:t>giveManagersARaise</a:t>
            </a:r>
            <a:r>
              <a:rPr lang="en-US" dirty="0"/>
              <a:t>()</a:t>
            </a:r>
          </a:p>
          <a:p>
            <a:pPr marL="0" indent="0">
              <a:buNone/>
            </a:pPr>
            <a:r>
              <a:rPr lang="en-US" dirty="0"/>
              <a:t>       Read in the percent raise for the managers. </a:t>
            </a:r>
          </a:p>
          <a:p>
            <a:pPr marL="0" indent="0">
              <a:buNone/>
            </a:pPr>
            <a:r>
              <a:rPr lang="en-US" dirty="0"/>
              <a:t>       For each manager raise the salary and then use toString to print out the new attributes </a:t>
            </a:r>
          </a:p>
          <a:p>
            <a:pPr marL="0" indent="0">
              <a:buNone/>
            </a:pPr>
            <a:r>
              <a:rPr lang="en-US" dirty="0"/>
              <a:t>       (only the salary has changed) for each manager.</a:t>
            </a:r>
          </a:p>
          <a:p>
            <a:pPr marL="0" indent="0">
              <a:buNone/>
            </a:pPr>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D2A8A563-2FAD-3EE9-9FE4-25B4A7F60EDB}"/>
              </a:ext>
            </a:extLst>
          </p:cNvPr>
          <p:cNvSpPr>
            <a:spLocks noGrp="1"/>
          </p:cNvSpPr>
          <p:nvPr>
            <p:ph type="sldNum" sz="quarter" idx="12"/>
          </p:nvPr>
        </p:nvSpPr>
        <p:spPr/>
        <p:txBody>
          <a:bodyPr/>
          <a:lstStyle/>
          <a:p>
            <a:fld id="{13977939-A071-43C1-9268-F54CC2756BB5}" type="slidenum">
              <a:rPr lang="en-US" smtClean="0"/>
              <a:pPr/>
              <a:t>137</a:t>
            </a:fld>
            <a:endParaRPr lang="en-US" dirty="0"/>
          </a:p>
        </p:txBody>
      </p:sp>
    </p:spTree>
    <p:extLst>
      <p:ext uri="{BB962C8B-B14F-4D97-AF65-F5344CB8AC3E}">
        <p14:creationId xmlns:p14="http://schemas.microsoft.com/office/powerpoint/2010/main" val="3471840633"/>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CFC7C-BE1C-582B-257A-0ABE7E83B8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B94E81-B919-B2F0-B9EF-3C9FED005BB4}"/>
              </a:ext>
            </a:extLst>
          </p:cNvPr>
          <p:cNvSpPr>
            <a:spLocks noGrp="1"/>
          </p:cNvSpPr>
          <p:nvPr>
            <p:ph type="title"/>
          </p:nvPr>
        </p:nvSpPr>
        <p:spPr>
          <a:xfrm>
            <a:off x="228600" y="152400"/>
            <a:ext cx="8763000" cy="475488"/>
          </a:xfrm>
        </p:spPr>
        <p:txBody>
          <a:bodyPr>
            <a:noAutofit/>
          </a:bodyPr>
          <a:lstStyle/>
          <a:p>
            <a:r>
              <a:rPr lang="en-US" dirty="0"/>
              <a:t>Employees - A Real World Problem Walkthrough (6)</a:t>
            </a:r>
          </a:p>
        </p:txBody>
      </p:sp>
      <p:sp>
        <p:nvSpPr>
          <p:cNvPr id="3" name="Content Placeholder 2">
            <a:extLst>
              <a:ext uri="{FF2B5EF4-FFF2-40B4-BE49-F238E27FC236}">
                <a16:creationId xmlns:a16="http://schemas.microsoft.com/office/drawing/2014/main" id="{DFB2D966-148C-6C02-5FB4-692F0B9EABC5}"/>
              </a:ext>
            </a:extLst>
          </p:cNvPr>
          <p:cNvSpPr>
            <a:spLocks noGrp="1"/>
          </p:cNvSpPr>
          <p:nvPr>
            <p:ph idx="1"/>
          </p:nvPr>
        </p:nvSpPr>
        <p:spPr>
          <a:xfrm>
            <a:off x="457200" y="685800"/>
            <a:ext cx="8229600" cy="6172200"/>
          </a:xfrm>
        </p:spPr>
        <p:txBody>
          <a:bodyPr>
            <a:normAutofit/>
          </a:bodyPr>
          <a:lstStyle/>
          <a:p>
            <a:pPr marL="0" indent="0">
              <a:buNone/>
            </a:pPr>
            <a:r>
              <a:rPr lang="en-US" b="1" dirty="0" err="1"/>
              <a:t>CreateBusiness</a:t>
            </a:r>
            <a:r>
              <a:rPr lang="en-US" b="1" dirty="0"/>
              <a:t> class</a:t>
            </a:r>
          </a:p>
          <a:p>
            <a:pPr marL="0" indent="0">
              <a:buNone/>
            </a:pPr>
            <a:r>
              <a:rPr lang="en-US" dirty="0"/>
              <a:t>Create a A Scanner to read from the keyboard.</a:t>
            </a:r>
          </a:p>
          <a:p>
            <a:pPr marL="0" indent="0">
              <a:buNone/>
            </a:pPr>
            <a:r>
              <a:rPr lang="en-US" dirty="0"/>
              <a:t>Create a Scanner to read from an input file</a:t>
            </a:r>
          </a:p>
          <a:p>
            <a:pPr marL="0" indent="0">
              <a:buNone/>
            </a:pPr>
            <a:r>
              <a:rPr lang="en-US" dirty="0"/>
              <a:t>Create a </a:t>
            </a:r>
            <a:r>
              <a:rPr lang="en-US" dirty="0" err="1"/>
              <a:t>Printwiter</a:t>
            </a:r>
            <a:r>
              <a:rPr lang="en-US" dirty="0"/>
              <a:t> with an output file to write to</a:t>
            </a:r>
          </a:p>
          <a:p>
            <a:pPr marL="0" indent="0">
              <a:buNone/>
            </a:pPr>
            <a:r>
              <a:rPr lang="en-US" dirty="0"/>
              <a:t>Create a Business with the two Scanners and the </a:t>
            </a:r>
            <a:r>
              <a:rPr lang="en-US" dirty="0" err="1"/>
              <a:t>PrintWriter</a:t>
            </a:r>
            <a:r>
              <a:rPr lang="en-US" dirty="0"/>
              <a:t> as the input parameters</a:t>
            </a:r>
          </a:p>
          <a:p>
            <a:pPr marL="0" indent="0">
              <a:buNone/>
            </a:pPr>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6C74B154-529A-1273-9DC0-ED720DAC98C8}"/>
              </a:ext>
            </a:extLst>
          </p:cNvPr>
          <p:cNvSpPr>
            <a:spLocks noGrp="1"/>
          </p:cNvSpPr>
          <p:nvPr>
            <p:ph type="sldNum" sz="quarter" idx="12"/>
          </p:nvPr>
        </p:nvSpPr>
        <p:spPr/>
        <p:txBody>
          <a:bodyPr/>
          <a:lstStyle/>
          <a:p>
            <a:fld id="{13977939-A071-43C1-9268-F54CC2756BB5}" type="slidenum">
              <a:rPr lang="en-US" smtClean="0"/>
              <a:pPr/>
              <a:t>138</a:t>
            </a:fld>
            <a:endParaRPr lang="en-US" dirty="0"/>
          </a:p>
        </p:txBody>
      </p:sp>
    </p:spTree>
    <p:extLst>
      <p:ext uri="{BB962C8B-B14F-4D97-AF65-F5344CB8AC3E}">
        <p14:creationId xmlns:p14="http://schemas.microsoft.com/office/powerpoint/2010/main" val="3318269397"/>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84ED3-E5F8-A520-E6C8-F29FC1A0E2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CA3744-598B-E939-4124-C1A983002392}"/>
              </a:ext>
            </a:extLst>
          </p:cNvPr>
          <p:cNvSpPr>
            <a:spLocks noGrp="1"/>
          </p:cNvSpPr>
          <p:nvPr>
            <p:ph type="title"/>
          </p:nvPr>
        </p:nvSpPr>
        <p:spPr>
          <a:xfrm>
            <a:off x="228600" y="152400"/>
            <a:ext cx="8686800" cy="475488"/>
          </a:xfrm>
        </p:spPr>
        <p:txBody>
          <a:bodyPr>
            <a:noAutofit/>
          </a:bodyPr>
          <a:lstStyle/>
          <a:p>
            <a:r>
              <a:rPr lang="en-US" dirty="0"/>
              <a:t>Employees - A Real World Problem Walkthrough (6)</a:t>
            </a:r>
          </a:p>
        </p:txBody>
      </p:sp>
      <p:sp>
        <p:nvSpPr>
          <p:cNvPr id="3" name="Content Placeholder 2">
            <a:extLst>
              <a:ext uri="{FF2B5EF4-FFF2-40B4-BE49-F238E27FC236}">
                <a16:creationId xmlns:a16="http://schemas.microsoft.com/office/drawing/2014/main" id="{47E63689-C9CC-2003-C4C1-31A84B870253}"/>
              </a:ext>
            </a:extLst>
          </p:cNvPr>
          <p:cNvSpPr>
            <a:spLocks noGrp="1"/>
          </p:cNvSpPr>
          <p:nvPr>
            <p:ph idx="1"/>
          </p:nvPr>
        </p:nvSpPr>
        <p:spPr>
          <a:xfrm>
            <a:off x="457200" y="685800"/>
            <a:ext cx="8229600" cy="6172200"/>
          </a:xfrm>
        </p:spPr>
        <p:txBody>
          <a:bodyPr>
            <a:normAutofit/>
          </a:bodyPr>
          <a:lstStyle/>
          <a:p>
            <a:pPr marL="0" indent="0">
              <a:buNone/>
            </a:pPr>
            <a:r>
              <a:rPr lang="en-US" dirty="0"/>
              <a:t>Interactive input on which the output file is based. </a:t>
            </a:r>
          </a:p>
          <a:p>
            <a:pPr marL="0" indent="0">
              <a:buNone/>
            </a:pPr>
            <a:r>
              <a:rPr lang="en-US" dirty="0"/>
              <a:t>Please enter the name of the input file with employee name and data: </a:t>
            </a:r>
          </a:p>
          <a:p>
            <a:pPr marL="0" indent="0">
              <a:buNone/>
            </a:pPr>
            <a:r>
              <a:rPr lang="en-US" dirty="0"/>
              <a:t>emplist.txt</a:t>
            </a:r>
          </a:p>
          <a:p>
            <a:pPr marL="0" indent="0">
              <a:buNone/>
            </a:pPr>
            <a:r>
              <a:rPr lang="en-US" dirty="0"/>
              <a:t>Please enter the total company profit for the year: $871249</a:t>
            </a:r>
          </a:p>
          <a:p>
            <a:pPr marL="0" indent="0">
              <a:buNone/>
            </a:pPr>
            <a:r>
              <a:rPr lang="en-US" dirty="0"/>
              <a:t>Please enter the executive bonus percentage for the year correct to 1 decimal place: 7.2</a:t>
            </a:r>
          </a:p>
          <a:p>
            <a:pPr marL="0" indent="0">
              <a:buNone/>
            </a:pPr>
            <a:r>
              <a:rPr lang="en-US" dirty="0"/>
              <a:t>Please enter the name of the output file: salesoutput.txt</a:t>
            </a:r>
          </a:p>
          <a:p>
            <a:pPr marL="0" indent="0">
              <a:buNone/>
            </a:pPr>
            <a:r>
              <a:rPr lang="en-US" dirty="0"/>
              <a:t>Please enter the salary change for a Manager as a percentage: 3.8</a:t>
            </a:r>
          </a:p>
        </p:txBody>
      </p:sp>
      <p:sp>
        <p:nvSpPr>
          <p:cNvPr id="4" name="Slide Number Placeholder 3">
            <a:extLst>
              <a:ext uri="{FF2B5EF4-FFF2-40B4-BE49-F238E27FC236}">
                <a16:creationId xmlns:a16="http://schemas.microsoft.com/office/drawing/2014/main" id="{6081F9F8-526D-E12C-AFC2-05C4BDA8D7B8}"/>
              </a:ext>
            </a:extLst>
          </p:cNvPr>
          <p:cNvSpPr>
            <a:spLocks noGrp="1"/>
          </p:cNvSpPr>
          <p:nvPr>
            <p:ph type="sldNum" sz="quarter" idx="12"/>
          </p:nvPr>
        </p:nvSpPr>
        <p:spPr/>
        <p:txBody>
          <a:bodyPr/>
          <a:lstStyle/>
          <a:p>
            <a:fld id="{13977939-A071-43C1-9268-F54CC2756BB5}" type="slidenum">
              <a:rPr lang="en-US" smtClean="0"/>
              <a:pPr/>
              <a:t>139</a:t>
            </a:fld>
            <a:endParaRPr lang="en-US" dirty="0"/>
          </a:p>
        </p:txBody>
      </p:sp>
    </p:spTree>
    <p:extLst>
      <p:ext uri="{BB962C8B-B14F-4D97-AF65-F5344CB8AC3E}">
        <p14:creationId xmlns:p14="http://schemas.microsoft.com/office/powerpoint/2010/main" val="3257478971"/>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D4A9209-0C5B-A04C-AE6D-8A589A42ADD6}"/>
              </a:ext>
            </a:extLst>
          </p:cNvPr>
          <p:cNvSpPr>
            <a:spLocks noGrp="1"/>
          </p:cNvSpPr>
          <p:nvPr>
            <p:ph type="title" idx="4294967295"/>
          </p:nvPr>
        </p:nvSpPr>
        <p:spPr>
          <a:xfrm>
            <a:off x="530225" y="2705100"/>
            <a:ext cx="7772400" cy="1509713"/>
          </a:xfrm>
          <a:prstGeom prst="rect">
            <a:avLst/>
          </a:prstGeom>
          <a:noFill/>
          <a:ln>
            <a:noFill/>
            <a:prstDash/>
          </a:ln>
          <a:effectLst/>
        </p:spPr>
        <p:txBody>
          <a:bodyPr rot="0" spcFirstLastPara="0" vertOverflow="overflow" horzOverflow="overflow" vert="horz" wrap="square" lIns="45720" tIns="45720" rIns="45720" bIns="45720" numCol="1" spcCol="0" rtlCol="0" fromWordArt="0" anchor="t" anchorCtr="0" forceAA="0" compatLnSpc="1">
            <a:prstTxWarp prst="textNoShape">
              <a:avLst/>
            </a:prstTxWarp>
            <a:normAutofit/>
          </a:bodyPr>
          <a:lstStyle/>
          <a:p>
            <a:pPr marL="0" marR="0" lvl="0" indent="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200" b="0" i="0" u="none" strike="noStrike" kern="1200" cap="none" spc="0" normalizeH="0" baseline="0" noProof="0">
                <a:ln>
                  <a:noFill/>
                </a:ln>
                <a:solidFill>
                  <a:schemeClr val="tx1"/>
                </a:solidFill>
                <a:effectLst/>
                <a:uLnTx/>
                <a:uFillTx/>
                <a:latin typeface="+mn-lt"/>
                <a:ea typeface="+mn-ea"/>
                <a:cs typeface="+mn-cs"/>
              </a:rPr>
              <a:t>The Object Class</a:t>
            </a:r>
            <a:endParaRPr kumimoji="0" lang="en-US" sz="2200" b="0" i="0" u="none" strike="noStrike" kern="1200" cap="none" spc="0" normalizeH="0" baseline="0" noProof="0" dirty="0">
              <a:ln>
                <a:noFill/>
              </a:ln>
              <a:solidFill>
                <a:schemeClr val="tx1"/>
              </a:solidFill>
              <a:effectLst/>
              <a:uLnTx/>
              <a:uFillTx/>
              <a:latin typeface="+mn-lt"/>
              <a:ea typeface="+mn-ea"/>
              <a:cs typeface="+mn-cs"/>
            </a:endParaRPr>
          </a:p>
        </p:txBody>
      </p:sp>
      <p:sp>
        <p:nvSpPr>
          <p:cNvPr id="4" name="Slide Number Placeholder 3">
            <a:extLst>
              <a:ext uri="{FF2B5EF4-FFF2-40B4-BE49-F238E27FC236}">
                <a16:creationId xmlns:a16="http://schemas.microsoft.com/office/drawing/2014/main" id="{6601E8D5-E994-B243-95B8-FA660B3713FE}"/>
              </a:ext>
            </a:extLst>
          </p:cNvPr>
          <p:cNvSpPr>
            <a:spLocks noGrp="1"/>
          </p:cNvSpPr>
          <p:nvPr>
            <p:ph type="sldNum" sz="quarter" idx="12"/>
          </p:nvPr>
        </p:nvSpPr>
        <p:spPr/>
        <p:txBody>
          <a:bodyPr/>
          <a:lstStyle/>
          <a:p>
            <a:fld id="{13977939-A071-43C1-9268-F54CC2756BB5}" type="slidenum">
              <a:rPr lang="en-US" smtClean="0"/>
              <a:pPr/>
              <a:t>140</a:t>
            </a:fld>
            <a:endParaRPr lang="en-US" dirty="0"/>
          </a:p>
        </p:txBody>
      </p:sp>
    </p:spTree>
    <p:extLst>
      <p:ext uri="{BB962C8B-B14F-4D97-AF65-F5344CB8AC3E}">
        <p14:creationId xmlns:p14="http://schemas.microsoft.com/office/powerpoint/2010/main" val="416822438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D6F7E-413A-234B-8F65-EC75D8F0773F}"/>
              </a:ext>
            </a:extLst>
          </p:cNvPr>
          <p:cNvSpPr>
            <a:spLocks noGrp="1"/>
          </p:cNvSpPr>
          <p:nvPr>
            <p:ph type="title"/>
          </p:nvPr>
        </p:nvSpPr>
        <p:spPr>
          <a:xfrm>
            <a:off x="152400" y="0"/>
            <a:ext cx="8839200" cy="475488"/>
          </a:xfrm>
        </p:spPr>
        <p:txBody>
          <a:bodyPr>
            <a:noAutofit/>
          </a:bodyPr>
          <a:lstStyle/>
          <a:p>
            <a:r>
              <a:rPr lang="en-US" sz="2800" dirty="0"/>
              <a:t>The Object Class Is At The Origin Of The Java Class Hierarchy</a:t>
            </a:r>
          </a:p>
        </p:txBody>
      </p:sp>
      <p:sp>
        <p:nvSpPr>
          <p:cNvPr id="3" name="Content Placeholder 2">
            <a:extLst>
              <a:ext uri="{FF2B5EF4-FFF2-40B4-BE49-F238E27FC236}">
                <a16:creationId xmlns:a16="http://schemas.microsoft.com/office/drawing/2014/main" id="{D3C02AE3-A077-1D46-8078-42BD52BE89F3}"/>
              </a:ext>
            </a:extLst>
          </p:cNvPr>
          <p:cNvSpPr>
            <a:spLocks noGrp="1"/>
          </p:cNvSpPr>
          <p:nvPr>
            <p:ph idx="1"/>
          </p:nvPr>
        </p:nvSpPr>
        <p:spPr>
          <a:xfrm>
            <a:off x="457200" y="517525"/>
            <a:ext cx="8229600" cy="6340475"/>
          </a:xfrm>
        </p:spPr>
        <p:txBody>
          <a:bodyPr>
            <a:normAutofit fontScale="70000" lnSpcReduction="20000"/>
          </a:bodyPr>
          <a:lstStyle/>
          <a:p>
            <a:r>
              <a:rPr lang="en-US" dirty="0"/>
              <a:t>All classes have a parent class (have a super class) except one. </a:t>
            </a:r>
          </a:p>
          <a:p>
            <a:r>
              <a:rPr lang="en-US" dirty="0"/>
              <a:t>The class at the top of the Java class hierarchy is called </a:t>
            </a:r>
            <a:r>
              <a:rPr lang="en-US" b="1" dirty="0">
                <a:solidFill>
                  <a:srgbClr val="FF0000"/>
                </a:solidFill>
              </a:rPr>
              <a:t>Object</a:t>
            </a:r>
            <a:r>
              <a:rPr lang="en-US" dirty="0"/>
              <a:t>. </a:t>
            </a:r>
          </a:p>
          <a:p>
            <a:pPr lvl="1"/>
            <a:r>
              <a:rPr lang="en-US" dirty="0"/>
              <a:t>If a class definition does not extend a parent class then it automatically has Object as a parent class.</a:t>
            </a:r>
          </a:p>
          <a:p>
            <a:pPr lvl="1"/>
            <a:r>
              <a:rPr lang="en-US" dirty="0"/>
              <a:t>Every program we write has an implicit superclass called Object</a:t>
            </a:r>
          </a:p>
          <a:p>
            <a:r>
              <a:rPr lang="en-US" dirty="0"/>
              <a:t>If a class definition does extend a parent class, then if the parent class does not extend a parent it automatically has Object as a parent class. </a:t>
            </a:r>
          </a:p>
          <a:p>
            <a:pPr lvl="1"/>
            <a:r>
              <a:rPr lang="en-US" dirty="0"/>
              <a:t>Ultimately all classes have Object as an ancestor.</a:t>
            </a:r>
          </a:p>
          <a:p>
            <a:r>
              <a:rPr lang="en-US" dirty="0"/>
              <a:t>This means that all classes in Java share some common characteristics. </a:t>
            </a:r>
          </a:p>
          <a:p>
            <a:pPr lvl="1"/>
            <a:r>
              <a:rPr lang="en-US" dirty="0"/>
              <a:t>Those characteristics are defined in Object. </a:t>
            </a:r>
          </a:p>
          <a:p>
            <a:pPr lvl="1"/>
            <a:r>
              <a:rPr lang="en-US" dirty="0"/>
              <a:t>What this means for us is that we get to inherit the methods of Object. </a:t>
            </a:r>
          </a:p>
          <a:p>
            <a:pPr lvl="2"/>
            <a:r>
              <a:rPr lang="en-US" dirty="0"/>
              <a:t>For example, all classes have a toString() method because the class Object defines that method so all classes get it by inheritance. </a:t>
            </a:r>
          </a:p>
          <a:p>
            <a:pPr lvl="2"/>
            <a:r>
              <a:rPr lang="en-US" dirty="0"/>
              <a:t>Of course, usually when you write a class you override the toString() method.</a:t>
            </a:r>
          </a:p>
          <a:p>
            <a:r>
              <a:rPr lang="en-US" dirty="0"/>
              <a:t>Constructors for our classes have not mentioned Object . According to the rule, the compiler automatically does this:</a:t>
            </a:r>
          </a:p>
          <a:p>
            <a:endParaRPr lang="en-US" dirty="0"/>
          </a:p>
          <a:p>
            <a:pPr marL="0" indent="0">
              <a:buNone/>
            </a:pPr>
            <a:r>
              <a:rPr lang="en-US" dirty="0"/>
              <a:t>public Video( String ttl, int lngth )</a:t>
            </a:r>
          </a:p>
          <a:p>
            <a:pPr marL="0" indent="0">
              <a:buNone/>
            </a:pPr>
            <a:r>
              <a:rPr lang="en-US" dirty="0"/>
              <a:t>  {</a:t>
            </a:r>
          </a:p>
          <a:p>
            <a:pPr marL="0" indent="0">
              <a:buNone/>
            </a:pPr>
            <a:r>
              <a:rPr lang="en-US" dirty="0"/>
              <a:t>    </a:t>
            </a:r>
            <a:r>
              <a:rPr lang="en-US" b="1" dirty="0">
                <a:solidFill>
                  <a:srgbClr val="FF0000"/>
                </a:solidFill>
              </a:rPr>
              <a:t>super();</a:t>
            </a:r>
            <a:r>
              <a:rPr lang="en-US" dirty="0">
                <a:solidFill>
                  <a:srgbClr val="FF0000"/>
                </a:solidFill>
              </a:rPr>
              <a:t>     // use the super class's constructor</a:t>
            </a:r>
          </a:p>
          <a:p>
            <a:pPr marL="0" indent="0">
              <a:buNone/>
            </a:pPr>
            <a:r>
              <a:rPr lang="en-US" dirty="0"/>
              <a:t>    title = ttl; length = lngth; avail = true; </a:t>
            </a:r>
          </a:p>
          <a:p>
            <a:pPr marL="0" indent="0">
              <a:buNone/>
            </a:pPr>
            <a:r>
              <a:rPr lang="en-US" dirty="0"/>
              <a:t>  }</a:t>
            </a:r>
          </a:p>
          <a:p>
            <a:r>
              <a:rPr lang="en-US" dirty="0"/>
              <a:t>And Video automatically has what is in red done:</a:t>
            </a:r>
          </a:p>
          <a:p>
            <a:pPr marL="0" indent="0">
              <a:buNone/>
            </a:pPr>
            <a:r>
              <a:rPr lang="en-US" dirty="0"/>
              <a:t>      class Video </a:t>
            </a:r>
            <a:r>
              <a:rPr lang="en-US" b="1" dirty="0">
                <a:solidFill>
                  <a:srgbClr val="FF0000"/>
                </a:solidFill>
              </a:rPr>
              <a:t>extends Object</a:t>
            </a:r>
          </a:p>
        </p:txBody>
      </p:sp>
      <p:sp>
        <p:nvSpPr>
          <p:cNvPr id="4" name="Slide Number Placeholder 3">
            <a:extLst>
              <a:ext uri="{FF2B5EF4-FFF2-40B4-BE49-F238E27FC236}">
                <a16:creationId xmlns:a16="http://schemas.microsoft.com/office/drawing/2014/main" id="{F8008198-343B-7546-8C7A-001AD7EEBC23}"/>
              </a:ext>
            </a:extLst>
          </p:cNvPr>
          <p:cNvSpPr>
            <a:spLocks noGrp="1"/>
          </p:cNvSpPr>
          <p:nvPr>
            <p:ph type="sldNum" sz="quarter" idx="12"/>
          </p:nvPr>
        </p:nvSpPr>
        <p:spPr/>
        <p:txBody>
          <a:bodyPr/>
          <a:lstStyle/>
          <a:p>
            <a:fld id="{13977939-A071-43C1-9268-F54CC2756BB5}" type="slidenum">
              <a:rPr lang="en-US" smtClean="0"/>
              <a:pPr/>
              <a:t>141</a:t>
            </a:fld>
            <a:endParaRPr lang="en-US" dirty="0"/>
          </a:p>
        </p:txBody>
      </p:sp>
    </p:spTree>
    <p:extLst>
      <p:ext uri="{BB962C8B-B14F-4D97-AF65-F5344CB8AC3E}">
        <p14:creationId xmlns:p14="http://schemas.microsoft.com/office/powerpoint/2010/main" val="2060267363"/>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826A3-F5A0-5542-AFD8-4BE1C174252C}"/>
              </a:ext>
            </a:extLst>
          </p:cNvPr>
          <p:cNvSpPr>
            <a:spLocks noGrp="1"/>
          </p:cNvSpPr>
          <p:nvPr>
            <p:ph type="title"/>
          </p:nvPr>
        </p:nvSpPr>
        <p:spPr/>
        <p:txBody>
          <a:bodyPr>
            <a:noAutofit/>
          </a:bodyPr>
          <a:lstStyle/>
          <a:p>
            <a:r>
              <a:rPr lang="en-US" dirty="0"/>
              <a:t>The Java Hierarchy for Video</a:t>
            </a:r>
          </a:p>
        </p:txBody>
      </p:sp>
      <p:sp>
        <p:nvSpPr>
          <p:cNvPr id="4" name="Slide Number Placeholder 3">
            <a:extLst>
              <a:ext uri="{FF2B5EF4-FFF2-40B4-BE49-F238E27FC236}">
                <a16:creationId xmlns:a16="http://schemas.microsoft.com/office/drawing/2014/main" id="{7F71997A-2E46-AF44-AB93-5CA6608F5BAB}"/>
              </a:ext>
            </a:extLst>
          </p:cNvPr>
          <p:cNvSpPr>
            <a:spLocks noGrp="1"/>
          </p:cNvSpPr>
          <p:nvPr>
            <p:ph type="sldNum" sz="quarter" idx="12"/>
          </p:nvPr>
        </p:nvSpPr>
        <p:spPr/>
        <p:txBody>
          <a:bodyPr/>
          <a:lstStyle/>
          <a:p>
            <a:fld id="{13977939-A071-43C1-9268-F54CC2756BB5}" type="slidenum">
              <a:rPr lang="en-US" smtClean="0"/>
              <a:pPr/>
              <a:t>142</a:t>
            </a:fld>
            <a:endParaRPr lang="en-US" dirty="0"/>
          </a:p>
        </p:txBody>
      </p:sp>
      <p:pic>
        <p:nvPicPr>
          <p:cNvPr id="5" name="Picture 4">
            <a:extLst>
              <a:ext uri="{FF2B5EF4-FFF2-40B4-BE49-F238E27FC236}">
                <a16:creationId xmlns:a16="http://schemas.microsoft.com/office/drawing/2014/main" id="{DCDBB2D7-CFB2-0C4F-93A2-9F240AA50892}"/>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855269" y="1219802"/>
            <a:ext cx="4024831" cy="4532696"/>
          </a:xfrm>
          <a:prstGeom prst="rect">
            <a:avLst/>
          </a:prstGeom>
        </p:spPr>
      </p:pic>
    </p:spTree>
    <p:extLst>
      <p:ext uri="{BB962C8B-B14F-4D97-AF65-F5344CB8AC3E}">
        <p14:creationId xmlns:p14="http://schemas.microsoft.com/office/powerpoint/2010/main" val="298639794"/>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D6F7E-413A-234B-8F65-EC75D8F0773F}"/>
              </a:ext>
            </a:extLst>
          </p:cNvPr>
          <p:cNvSpPr>
            <a:spLocks noGrp="1"/>
          </p:cNvSpPr>
          <p:nvPr>
            <p:ph type="title"/>
          </p:nvPr>
        </p:nvSpPr>
        <p:spPr>
          <a:xfrm>
            <a:off x="457200" y="76200"/>
            <a:ext cx="8229600" cy="475488"/>
          </a:xfrm>
        </p:spPr>
        <p:txBody>
          <a:bodyPr>
            <a:noAutofit/>
          </a:bodyPr>
          <a:lstStyle/>
          <a:p>
            <a:r>
              <a:rPr lang="en-US" dirty="0"/>
              <a:t>The Object Class - Key Points</a:t>
            </a:r>
          </a:p>
        </p:txBody>
      </p:sp>
      <p:sp>
        <p:nvSpPr>
          <p:cNvPr id="3" name="Content Placeholder 2">
            <a:extLst>
              <a:ext uri="{FF2B5EF4-FFF2-40B4-BE49-F238E27FC236}">
                <a16:creationId xmlns:a16="http://schemas.microsoft.com/office/drawing/2014/main" id="{D3C02AE3-A077-1D46-8078-42BD52BE89F3}"/>
              </a:ext>
            </a:extLst>
          </p:cNvPr>
          <p:cNvSpPr>
            <a:spLocks noGrp="1"/>
          </p:cNvSpPr>
          <p:nvPr>
            <p:ph idx="1"/>
          </p:nvPr>
        </p:nvSpPr>
        <p:spPr>
          <a:xfrm>
            <a:off x="457200" y="551689"/>
            <a:ext cx="8229600" cy="6230112"/>
          </a:xfrm>
        </p:spPr>
        <p:txBody>
          <a:bodyPr>
            <a:normAutofit fontScale="70000" lnSpcReduction="20000"/>
          </a:bodyPr>
          <a:lstStyle/>
          <a:p>
            <a:r>
              <a:rPr lang="en-US" dirty="0"/>
              <a:t>Any class that doesn't implicitly extend another class, is implicitly extended by the compiler to extend Object.</a:t>
            </a:r>
          </a:p>
          <a:p>
            <a:r>
              <a:rPr lang="en-US" dirty="0"/>
              <a:t>Object is a concrete class so we can create objects of type Object.</a:t>
            </a:r>
          </a:p>
          <a:p>
            <a:r>
              <a:rPr lang="en-US" dirty="0"/>
              <a:t>Every class inherits the </a:t>
            </a:r>
            <a:r>
              <a:rPr lang="en-US" dirty="0">
                <a:solidFill>
                  <a:srgbClr val="FF0000"/>
                </a:solidFill>
              </a:rPr>
              <a:t>non-final methods </a:t>
            </a:r>
            <a:r>
              <a:rPr lang="en-US" dirty="0"/>
              <a:t>of Object and these methods </a:t>
            </a:r>
            <a:r>
              <a:rPr lang="en-US" dirty="0">
                <a:solidFill>
                  <a:srgbClr val="FF0000"/>
                </a:solidFill>
              </a:rPr>
              <a:t>can be overridden.</a:t>
            </a:r>
          </a:p>
          <a:p>
            <a:r>
              <a:rPr lang="en-US" dirty="0"/>
              <a:t>We can use Object as a </a:t>
            </a:r>
            <a:r>
              <a:rPr lang="en-US" dirty="0">
                <a:solidFill>
                  <a:srgbClr val="FF0000"/>
                </a:solidFill>
              </a:rPr>
              <a:t>polymorphic</a:t>
            </a:r>
            <a:r>
              <a:rPr lang="en-US" dirty="0"/>
              <a:t> type for methods that need to work with objects of any type.</a:t>
            </a:r>
          </a:p>
          <a:p>
            <a:pPr lvl="1"/>
            <a:r>
              <a:rPr lang="en-US" dirty="0"/>
              <a:t>So if we can use Object as a polymorphic type, why not use Object with all our methods, parameters and return types? There are two very good reasons not to do this:</a:t>
            </a:r>
          </a:p>
          <a:p>
            <a:pPr lvl="1"/>
            <a:r>
              <a:rPr lang="en-US" dirty="0"/>
              <a:t>Java is a strongly typed language and as such cares about the type of the variables we declare. </a:t>
            </a:r>
          </a:p>
          <a:p>
            <a:pPr lvl="2"/>
            <a:r>
              <a:rPr lang="en-US" dirty="0"/>
              <a:t>As we know whenever we declare a variable in Java, we have to give it a type, or the compiler complains when we come to compile the code. (Note: This is changing in Java)</a:t>
            </a:r>
          </a:p>
          <a:p>
            <a:pPr lvl="2"/>
            <a:r>
              <a:rPr lang="en-US" dirty="0"/>
              <a:t>If we made every parameter and return type Object bang goes our type-safety. </a:t>
            </a:r>
          </a:p>
          <a:p>
            <a:pPr lvl="2"/>
            <a:r>
              <a:rPr lang="en-US" dirty="0"/>
              <a:t>Instead of catching errors at compile time, we may run code for months before we get a runtime error, or even worse not notice an error at all, not a pleasant prospect.</a:t>
            </a:r>
          </a:p>
          <a:p>
            <a:pPr lvl="1"/>
            <a:r>
              <a:rPr lang="en-US" dirty="0"/>
              <a:t>Inheritance - remember this only works up the inheritance tree as explained in inheritance method invocation. </a:t>
            </a:r>
          </a:p>
          <a:p>
            <a:pPr lvl="2"/>
            <a:r>
              <a:rPr lang="en-US" dirty="0"/>
              <a:t>If we made everything reference Object, what happens when we try to use a method from some class on the Object reference type? </a:t>
            </a:r>
          </a:p>
          <a:p>
            <a:pPr lvl="2"/>
            <a:r>
              <a:rPr lang="en-US" dirty="0"/>
              <a:t>The compiler doesn't allow it as Object knows nothing of subclass methods unless they have been overridden. </a:t>
            </a:r>
          </a:p>
          <a:p>
            <a:pPr lvl="1"/>
            <a:r>
              <a:rPr lang="en-US" dirty="0"/>
              <a:t>Therefore the only methods that can be called on Object are its own methods, or overrides thereof.</a:t>
            </a:r>
            <a:endParaRPr lang="en-US" b="1" dirty="0">
              <a:solidFill>
                <a:srgbClr val="FF0000"/>
              </a:solidFill>
            </a:endParaRPr>
          </a:p>
        </p:txBody>
      </p:sp>
      <p:sp>
        <p:nvSpPr>
          <p:cNvPr id="4" name="Slide Number Placeholder 3">
            <a:extLst>
              <a:ext uri="{FF2B5EF4-FFF2-40B4-BE49-F238E27FC236}">
                <a16:creationId xmlns:a16="http://schemas.microsoft.com/office/drawing/2014/main" id="{F8008198-343B-7546-8C7A-001AD7EEBC23}"/>
              </a:ext>
            </a:extLst>
          </p:cNvPr>
          <p:cNvSpPr>
            <a:spLocks noGrp="1"/>
          </p:cNvSpPr>
          <p:nvPr>
            <p:ph type="sldNum" sz="quarter" idx="12"/>
          </p:nvPr>
        </p:nvSpPr>
        <p:spPr/>
        <p:txBody>
          <a:bodyPr/>
          <a:lstStyle/>
          <a:p>
            <a:fld id="{13977939-A071-43C1-9268-F54CC2756BB5}" type="slidenum">
              <a:rPr lang="en-US" smtClean="0"/>
              <a:pPr/>
              <a:t>143</a:t>
            </a:fld>
            <a:endParaRPr lang="en-US" dirty="0"/>
          </a:p>
        </p:txBody>
      </p:sp>
    </p:spTree>
    <p:extLst>
      <p:ext uri="{BB962C8B-B14F-4D97-AF65-F5344CB8AC3E}">
        <p14:creationId xmlns:p14="http://schemas.microsoft.com/office/powerpoint/2010/main" val="9795105"/>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D6F7E-413A-234B-8F65-EC75D8F0773F}"/>
              </a:ext>
            </a:extLst>
          </p:cNvPr>
          <p:cNvSpPr>
            <a:spLocks noGrp="1"/>
          </p:cNvSpPr>
          <p:nvPr>
            <p:ph type="title"/>
          </p:nvPr>
        </p:nvSpPr>
        <p:spPr>
          <a:xfrm>
            <a:off x="457200" y="76200"/>
            <a:ext cx="8229600" cy="475488"/>
          </a:xfrm>
        </p:spPr>
        <p:txBody>
          <a:bodyPr>
            <a:noAutofit/>
          </a:bodyPr>
          <a:lstStyle/>
          <a:p>
            <a:r>
              <a:rPr lang="en-US" dirty="0"/>
              <a:t>The Object Class – Important Methods (1)</a:t>
            </a:r>
          </a:p>
        </p:txBody>
      </p:sp>
      <p:sp>
        <p:nvSpPr>
          <p:cNvPr id="3" name="Content Placeholder 2">
            <a:extLst>
              <a:ext uri="{FF2B5EF4-FFF2-40B4-BE49-F238E27FC236}">
                <a16:creationId xmlns:a16="http://schemas.microsoft.com/office/drawing/2014/main" id="{D3C02AE3-A077-1D46-8078-42BD52BE89F3}"/>
              </a:ext>
            </a:extLst>
          </p:cNvPr>
          <p:cNvSpPr>
            <a:spLocks noGrp="1"/>
          </p:cNvSpPr>
          <p:nvPr>
            <p:ph idx="1"/>
          </p:nvPr>
        </p:nvSpPr>
        <p:spPr>
          <a:xfrm>
            <a:off x="457200" y="761999"/>
            <a:ext cx="8229600" cy="5959475"/>
          </a:xfrm>
        </p:spPr>
        <p:txBody>
          <a:bodyPr>
            <a:normAutofit fontScale="85000" lnSpcReduction="10000"/>
          </a:bodyPr>
          <a:lstStyle/>
          <a:p>
            <a:r>
              <a:rPr lang="en-US" dirty="0"/>
              <a:t>protected void finalize() – Now deprecated</a:t>
            </a:r>
          </a:p>
          <a:p>
            <a:pPr lvl="1"/>
            <a:r>
              <a:rPr lang="en-US" dirty="0"/>
              <a:t>Called by the garbage collector on an object before that object is discarded.</a:t>
            </a:r>
          </a:p>
          <a:p>
            <a:r>
              <a:rPr lang="en-US" dirty="0"/>
              <a:t>public </a:t>
            </a:r>
            <a:r>
              <a:rPr lang="en-US" dirty="0">
                <a:solidFill>
                  <a:srgbClr val="FF0000"/>
                </a:solidFill>
              </a:rPr>
              <a:t>final</a:t>
            </a:r>
            <a:r>
              <a:rPr lang="en-US" dirty="0"/>
              <a:t> Class&lt;? extends Object&gt; </a:t>
            </a:r>
            <a:r>
              <a:rPr lang="en-US" b="1" dirty="0">
                <a:solidFill>
                  <a:srgbClr val="FF0000"/>
                </a:solidFill>
              </a:rPr>
              <a:t>getClass()</a:t>
            </a:r>
          </a:p>
          <a:p>
            <a:pPr lvl="1"/>
            <a:r>
              <a:rPr lang="en-US" dirty="0"/>
              <a:t>Obtains and returns the runtime class of an object.</a:t>
            </a:r>
          </a:p>
          <a:p>
            <a:pPr lvl="1"/>
            <a:r>
              <a:rPr lang="en-US" dirty="0"/>
              <a:t>Because it is final cannot be overridden</a:t>
            </a:r>
          </a:p>
          <a:p>
            <a:r>
              <a:rPr lang="en-US" dirty="0"/>
              <a:t>public String </a:t>
            </a:r>
            <a:r>
              <a:rPr lang="en-US" b="1" dirty="0">
                <a:solidFill>
                  <a:srgbClr val="FF0000"/>
                </a:solidFill>
              </a:rPr>
              <a:t>toString()</a:t>
            </a:r>
          </a:p>
          <a:p>
            <a:pPr lvl="1"/>
            <a:r>
              <a:rPr lang="en-US" dirty="0"/>
              <a:t>Returns a description of the object</a:t>
            </a:r>
          </a:p>
          <a:p>
            <a:pPr lvl="1"/>
            <a:r>
              <a:rPr lang="en-US" dirty="0"/>
              <a:t>Usually overridden</a:t>
            </a:r>
          </a:p>
          <a:p>
            <a:pPr lvl="1"/>
            <a:r>
              <a:rPr lang="en-US" dirty="0"/>
              <a:t>If not returns a memory address</a:t>
            </a:r>
          </a:p>
          <a:p>
            <a:r>
              <a:rPr lang="en-US" dirty="0"/>
              <a:t>public boolean </a:t>
            </a:r>
            <a:r>
              <a:rPr lang="en-US" b="1" dirty="0">
                <a:solidFill>
                  <a:srgbClr val="FF0000"/>
                </a:solidFill>
              </a:rPr>
              <a:t>equals(Object obj)</a:t>
            </a:r>
          </a:p>
          <a:p>
            <a:pPr lvl="1"/>
            <a:r>
              <a:rPr lang="en-US" dirty="0"/>
              <a:t>Indicates whether another object is equal to the invoking object.</a:t>
            </a:r>
          </a:p>
          <a:p>
            <a:pPr lvl="1"/>
            <a:r>
              <a:rPr lang="en-US" dirty="0"/>
              <a:t>Requires the parameter to be of type Object if overriding</a:t>
            </a:r>
          </a:p>
          <a:p>
            <a:pPr lvl="1"/>
            <a:r>
              <a:rPr lang="en-US" dirty="0"/>
              <a:t> The equals() method of the Object class only ever returns true when the reference variables refer to the same object.</a:t>
            </a:r>
          </a:p>
          <a:p>
            <a:pPr lvl="1"/>
            <a:r>
              <a:rPr lang="en-US" dirty="0"/>
              <a:t>If want to think of two objects as equal if part of their object state is the same then we need to override the equals() method of the Object class in our own classes. </a:t>
            </a:r>
          </a:p>
        </p:txBody>
      </p:sp>
      <p:sp>
        <p:nvSpPr>
          <p:cNvPr id="4" name="Slide Number Placeholder 3">
            <a:extLst>
              <a:ext uri="{FF2B5EF4-FFF2-40B4-BE49-F238E27FC236}">
                <a16:creationId xmlns:a16="http://schemas.microsoft.com/office/drawing/2014/main" id="{F8008198-343B-7546-8C7A-001AD7EEBC23}"/>
              </a:ext>
            </a:extLst>
          </p:cNvPr>
          <p:cNvSpPr>
            <a:spLocks noGrp="1"/>
          </p:cNvSpPr>
          <p:nvPr>
            <p:ph type="sldNum" sz="quarter" idx="12"/>
          </p:nvPr>
        </p:nvSpPr>
        <p:spPr/>
        <p:txBody>
          <a:bodyPr/>
          <a:lstStyle/>
          <a:p>
            <a:fld id="{13977939-A071-43C1-9268-F54CC2756BB5}" type="slidenum">
              <a:rPr lang="en-US" smtClean="0"/>
              <a:pPr/>
              <a:t>144</a:t>
            </a:fld>
            <a:endParaRPr lang="en-US" dirty="0"/>
          </a:p>
        </p:txBody>
      </p:sp>
    </p:spTree>
    <p:extLst>
      <p:ext uri="{BB962C8B-B14F-4D97-AF65-F5344CB8AC3E}">
        <p14:creationId xmlns:p14="http://schemas.microsoft.com/office/powerpoint/2010/main" val="1672469234"/>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D6F7E-413A-234B-8F65-EC75D8F0773F}"/>
              </a:ext>
            </a:extLst>
          </p:cNvPr>
          <p:cNvSpPr>
            <a:spLocks noGrp="1"/>
          </p:cNvSpPr>
          <p:nvPr>
            <p:ph type="title"/>
          </p:nvPr>
        </p:nvSpPr>
        <p:spPr>
          <a:xfrm>
            <a:off x="457200" y="76200"/>
            <a:ext cx="8229600" cy="475488"/>
          </a:xfrm>
        </p:spPr>
        <p:txBody>
          <a:bodyPr>
            <a:noAutofit/>
          </a:bodyPr>
          <a:lstStyle/>
          <a:p>
            <a:r>
              <a:rPr lang="en-US" dirty="0"/>
              <a:t>The Object Class – Important Methods (2)</a:t>
            </a:r>
          </a:p>
        </p:txBody>
      </p:sp>
      <p:sp>
        <p:nvSpPr>
          <p:cNvPr id="3" name="Content Placeholder 2">
            <a:extLst>
              <a:ext uri="{FF2B5EF4-FFF2-40B4-BE49-F238E27FC236}">
                <a16:creationId xmlns:a16="http://schemas.microsoft.com/office/drawing/2014/main" id="{D3C02AE3-A077-1D46-8078-42BD52BE89F3}"/>
              </a:ext>
            </a:extLst>
          </p:cNvPr>
          <p:cNvSpPr>
            <a:spLocks noGrp="1"/>
          </p:cNvSpPr>
          <p:nvPr>
            <p:ph idx="1"/>
          </p:nvPr>
        </p:nvSpPr>
        <p:spPr>
          <a:xfrm>
            <a:off x="457200" y="551689"/>
            <a:ext cx="8229600" cy="6169786"/>
          </a:xfrm>
        </p:spPr>
        <p:txBody>
          <a:bodyPr>
            <a:normAutofit fontScale="77500" lnSpcReduction="20000"/>
          </a:bodyPr>
          <a:lstStyle/>
          <a:p>
            <a:r>
              <a:rPr lang="en-US" dirty="0"/>
              <a:t>public int hashCode()</a:t>
            </a:r>
          </a:p>
          <a:p>
            <a:pPr lvl="1"/>
            <a:r>
              <a:rPr lang="en-US" dirty="0"/>
              <a:t>Returns the hash code value associated with the object.</a:t>
            </a:r>
          </a:p>
          <a:p>
            <a:pPr lvl="1"/>
            <a:r>
              <a:rPr lang="en-US" dirty="0"/>
              <a:t>The hashCode() method returns the hash code value associated with the object. Following is the contract specified in the Oracle documentation for the hashCode() method of the Object class:</a:t>
            </a:r>
          </a:p>
          <a:p>
            <a:pPr lvl="1"/>
            <a:r>
              <a:rPr lang="en-US" dirty="0"/>
              <a:t>Whenever it is invoked on the same object more than once during an execution of a Java application, the hashCode() method must consistently return the same integer, provided no information used in equals() comparisons on the object is modified. </a:t>
            </a:r>
          </a:p>
          <a:p>
            <a:pPr lvl="2"/>
            <a:r>
              <a:rPr lang="en-US" dirty="0"/>
              <a:t>This integer need not remain consistent from one execution of an application to another execution of the same application.</a:t>
            </a:r>
          </a:p>
          <a:p>
            <a:pPr lvl="2"/>
            <a:r>
              <a:rPr lang="en-US" dirty="0"/>
              <a:t>If two objects are equal according to the equals(Object) method, then calling the hashCode() method on each of the two objects must produce the same integer result.</a:t>
            </a:r>
          </a:p>
          <a:p>
            <a:pPr lvl="2"/>
            <a:r>
              <a:rPr lang="en-US" dirty="0"/>
              <a:t>It is not required that if two objects are unequal according to the equals(Object) method, then calling the hashCode() method on each of the two objects must produce distinct integer results. </a:t>
            </a:r>
          </a:p>
          <a:p>
            <a:pPr lvl="3"/>
            <a:r>
              <a:rPr lang="en-US" dirty="0"/>
              <a:t>However, the programmer should be aware that producing distinct integer results for unequal objects may improve the performance of hashtables.</a:t>
            </a:r>
          </a:p>
          <a:p>
            <a:pPr lvl="2"/>
            <a:r>
              <a:rPr lang="en-US" dirty="0"/>
              <a:t>From this contract we can see that the hashCode() method of the Object class, relies on the equals() method of the Object class. What this means to us is whenever we override the equals method of the Object class, we should also override the hashCode() method to keep the general contract for the hashCode() method, which states that equal objects must have equal hash codes. </a:t>
            </a:r>
          </a:p>
          <a:p>
            <a:r>
              <a:rPr lang="en-US" dirty="0"/>
              <a:t>There are all final methods notify, notifyAll, wait (three overloaded methods) that will be discussed later this semester</a:t>
            </a:r>
          </a:p>
        </p:txBody>
      </p:sp>
      <p:sp>
        <p:nvSpPr>
          <p:cNvPr id="4" name="Slide Number Placeholder 3">
            <a:extLst>
              <a:ext uri="{FF2B5EF4-FFF2-40B4-BE49-F238E27FC236}">
                <a16:creationId xmlns:a16="http://schemas.microsoft.com/office/drawing/2014/main" id="{F8008198-343B-7546-8C7A-001AD7EEBC23}"/>
              </a:ext>
            </a:extLst>
          </p:cNvPr>
          <p:cNvSpPr>
            <a:spLocks noGrp="1"/>
          </p:cNvSpPr>
          <p:nvPr>
            <p:ph type="sldNum" sz="quarter" idx="12"/>
          </p:nvPr>
        </p:nvSpPr>
        <p:spPr/>
        <p:txBody>
          <a:bodyPr/>
          <a:lstStyle/>
          <a:p>
            <a:fld id="{13977939-A071-43C1-9268-F54CC2756BB5}" type="slidenum">
              <a:rPr lang="en-US" smtClean="0"/>
              <a:pPr/>
              <a:t>145</a:t>
            </a:fld>
            <a:endParaRPr lang="en-US" dirty="0"/>
          </a:p>
        </p:txBody>
      </p:sp>
    </p:spTree>
    <p:extLst>
      <p:ext uri="{BB962C8B-B14F-4D97-AF65-F5344CB8AC3E}">
        <p14:creationId xmlns:p14="http://schemas.microsoft.com/office/powerpoint/2010/main" val="1197780425"/>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D6F7E-413A-234B-8F65-EC75D8F0773F}"/>
              </a:ext>
            </a:extLst>
          </p:cNvPr>
          <p:cNvSpPr>
            <a:spLocks noGrp="1"/>
          </p:cNvSpPr>
          <p:nvPr>
            <p:ph type="title"/>
          </p:nvPr>
        </p:nvSpPr>
        <p:spPr>
          <a:xfrm>
            <a:off x="457200" y="76200"/>
            <a:ext cx="8229600" cy="475488"/>
          </a:xfrm>
        </p:spPr>
        <p:txBody>
          <a:bodyPr>
            <a:noAutofit/>
          </a:bodyPr>
          <a:lstStyle/>
          <a:p>
            <a:r>
              <a:rPr lang="en-US" dirty="0"/>
              <a:t>The Object</a:t>
            </a:r>
            <a:r>
              <a:rPr lang="en-US" dirty="0">
                <a:solidFill>
                  <a:srgbClr val="FF0000"/>
                </a:solidFill>
              </a:rPr>
              <a:t>s</a:t>
            </a:r>
            <a:r>
              <a:rPr lang="en-US" dirty="0"/>
              <a:t> Class (1)</a:t>
            </a:r>
          </a:p>
        </p:txBody>
      </p:sp>
      <p:sp>
        <p:nvSpPr>
          <p:cNvPr id="3" name="Content Placeholder 2">
            <a:extLst>
              <a:ext uri="{FF2B5EF4-FFF2-40B4-BE49-F238E27FC236}">
                <a16:creationId xmlns:a16="http://schemas.microsoft.com/office/drawing/2014/main" id="{D3C02AE3-A077-1D46-8078-42BD52BE89F3}"/>
              </a:ext>
            </a:extLst>
          </p:cNvPr>
          <p:cNvSpPr>
            <a:spLocks noGrp="1"/>
          </p:cNvSpPr>
          <p:nvPr>
            <p:ph idx="1"/>
          </p:nvPr>
        </p:nvSpPr>
        <p:spPr>
          <a:xfrm>
            <a:off x="457200" y="551689"/>
            <a:ext cx="8229600" cy="6169786"/>
          </a:xfrm>
        </p:spPr>
        <p:txBody>
          <a:bodyPr>
            <a:normAutofit/>
          </a:bodyPr>
          <a:lstStyle/>
          <a:p>
            <a:r>
              <a:rPr lang="en-US" dirty="0"/>
              <a:t>Starting with Java 7 there was a new class </a:t>
            </a:r>
            <a:r>
              <a:rPr lang="en-US" dirty="0">
                <a:solidFill>
                  <a:srgbClr val="FF0000"/>
                </a:solidFill>
              </a:rPr>
              <a:t>Objects</a:t>
            </a:r>
            <a:r>
              <a:rPr lang="en-US" dirty="0"/>
              <a:t> that have 9 static utility methods for operating on objects. </a:t>
            </a:r>
          </a:p>
          <a:p>
            <a:r>
              <a:rPr lang="en-US" dirty="0"/>
              <a:t>These utilities include null-safe methods for computing the hash code of an object, returning a String for an object, and comparing two objects.</a:t>
            </a:r>
          </a:p>
          <a:p>
            <a:pPr lvl="1"/>
            <a:r>
              <a:rPr lang="en-US" dirty="0"/>
              <a:t>Using Objects class methods, one can smartly handle NullPointerException and can also show customized NullPointerException message(if an Exception occur).</a:t>
            </a:r>
          </a:p>
        </p:txBody>
      </p:sp>
      <p:sp>
        <p:nvSpPr>
          <p:cNvPr id="4" name="Slide Number Placeholder 3">
            <a:extLst>
              <a:ext uri="{FF2B5EF4-FFF2-40B4-BE49-F238E27FC236}">
                <a16:creationId xmlns:a16="http://schemas.microsoft.com/office/drawing/2014/main" id="{F8008198-343B-7546-8C7A-001AD7EEBC23}"/>
              </a:ext>
            </a:extLst>
          </p:cNvPr>
          <p:cNvSpPr>
            <a:spLocks noGrp="1"/>
          </p:cNvSpPr>
          <p:nvPr>
            <p:ph type="sldNum" sz="quarter" idx="12"/>
          </p:nvPr>
        </p:nvSpPr>
        <p:spPr/>
        <p:txBody>
          <a:bodyPr/>
          <a:lstStyle/>
          <a:p>
            <a:fld id="{13977939-A071-43C1-9268-F54CC2756BB5}" type="slidenum">
              <a:rPr lang="en-US" smtClean="0"/>
              <a:pPr/>
              <a:t>146</a:t>
            </a:fld>
            <a:endParaRPr lang="en-US" dirty="0"/>
          </a:p>
        </p:txBody>
      </p:sp>
    </p:spTree>
    <p:extLst>
      <p:ext uri="{BB962C8B-B14F-4D97-AF65-F5344CB8AC3E}">
        <p14:creationId xmlns:p14="http://schemas.microsoft.com/office/powerpoint/2010/main" val="2189560620"/>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D6F7E-413A-234B-8F65-EC75D8F0773F}"/>
              </a:ext>
            </a:extLst>
          </p:cNvPr>
          <p:cNvSpPr>
            <a:spLocks noGrp="1"/>
          </p:cNvSpPr>
          <p:nvPr>
            <p:ph type="title"/>
          </p:nvPr>
        </p:nvSpPr>
        <p:spPr>
          <a:xfrm>
            <a:off x="457200" y="76200"/>
            <a:ext cx="8229600" cy="475488"/>
          </a:xfrm>
        </p:spPr>
        <p:txBody>
          <a:bodyPr>
            <a:noAutofit/>
          </a:bodyPr>
          <a:lstStyle/>
          <a:p>
            <a:r>
              <a:rPr lang="en-US" dirty="0"/>
              <a:t>The Object</a:t>
            </a:r>
            <a:r>
              <a:rPr lang="en-US" dirty="0">
                <a:solidFill>
                  <a:srgbClr val="FF0000"/>
                </a:solidFill>
              </a:rPr>
              <a:t>s</a:t>
            </a:r>
            <a:r>
              <a:rPr lang="en-US" dirty="0"/>
              <a:t> Class (2)</a:t>
            </a:r>
          </a:p>
        </p:txBody>
      </p:sp>
      <p:sp>
        <p:nvSpPr>
          <p:cNvPr id="4" name="Slide Number Placeholder 3">
            <a:extLst>
              <a:ext uri="{FF2B5EF4-FFF2-40B4-BE49-F238E27FC236}">
                <a16:creationId xmlns:a16="http://schemas.microsoft.com/office/drawing/2014/main" id="{F8008198-343B-7546-8C7A-001AD7EEBC23}"/>
              </a:ext>
            </a:extLst>
          </p:cNvPr>
          <p:cNvSpPr>
            <a:spLocks noGrp="1"/>
          </p:cNvSpPr>
          <p:nvPr>
            <p:ph type="sldNum" sz="quarter" idx="12"/>
          </p:nvPr>
        </p:nvSpPr>
        <p:spPr/>
        <p:txBody>
          <a:bodyPr/>
          <a:lstStyle/>
          <a:p>
            <a:fld id="{13977939-A071-43C1-9268-F54CC2756BB5}" type="slidenum">
              <a:rPr lang="en-US" smtClean="0"/>
              <a:pPr/>
              <a:t>147</a:t>
            </a:fld>
            <a:endParaRPr lang="en-US" dirty="0"/>
          </a:p>
        </p:txBody>
      </p:sp>
      <p:graphicFrame>
        <p:nvGraphicFramePr>
          <p:cNvPr id="7" name="Table 7">
            <a:extLst>
              <a:ext uri="{FF2B5EF4-FFF2-40B4-BE49-F238E27FC236}">
                <a16:creationId xmlns:a16="http://schemas.microsoft.com/office/drawing/2014/main" id="{2354865B-68D4-7347-96D9-4C5E69A88AAF}"/>
              </a:ext>
            </a:extLst>
          </p:cNvPr>
          <p:cNvGraphicFramePr>
            <a:graphicFrameLocks noGrp="1"/>
          </p:cNvGraphicFramePr>
          <p:nvPr>
            <p:ph idx="1"/>
            <p:extLst>
              <p:ext uri="{D42A27DB-BD31-4B8C-83A1-F6EECF244321}">
                <p14:modId xmlns:p14="http://schemas.microsoft.com/office/powerpoint/2010/main" val="30665030"/>
              </p:ext>
            </p:extLst>
          </p:nvPr>
        </p:nvGraphicFramePr>
        <p:xfrm>
          <a:off x="457200" y="685800"/>
          <a:ext cx="8229600" cy="5999480"/>
        </p:xfrm>
        <a:graphic>
          <a:graphicData uri="http://schemas.openxmlformats.org/drawingml/2006/table">
            <a:tbl>
              <a:tblPr firstRow="1" bandRow="1">
                <a:tableStyleId>{5C22544A-7EE6-4342-B048-85BDC9FD1C3A}</a:tableStyleId>
              </a:tblPr>
              <a:tblGrid>
                <a:gridCol w="2819400">
                  <a:extLst>
                    <a:ext uri="{9D8B030D-6E8A-4147-A177-3AD203B41FA5}">
                      <a16:colId xmlns:a16="http://schemas.microsoft.com/office/drawing/2014/main" val="3362789980"/>
                    </a:ext>
                  </a:extLst>
                </a:gridCol>
                <a:gridCol w="5410200">
                  <a:extLst>
                    <a:ext uri="{9D8B030D-6E8A-4147-A177-3AD203B41FA5}">
                      <a16:colId xmlns:a16="http://schemas.microsoft.com/office/drawing/2014/main" val="3739899103"/>
                    </a:ext>
                  </a:extLst>
                </a:gridCol>
              </a:tblGrid>
              <a:tr h="370840">
                <a:tc>
                  <a:txBody>
                    <a:bodyPr/>
                    <a:lstStyle/>
                    <a:p>
                      <a:r>
                        <a:rPr lang="en-US" sz="1400" dirty="0"/>
                        <a:t>Methods (all are Static)</a:t>
                      </a:r>
                    </a:p>
                  </a:txBody>
                  <a:tcPr/>
                </a:tc>
                <a:tc>
                  <a:txBody>
                    <a:bodyPr/>
                    <a:lstStyle/>
                    <a:p>
                      <a:r>
                        <a:rPr lang="en-US" sz="1400" dirty="0"/>
                        <a:t>Description</a:t>
                      </a:r>
                    </a:p>
                  </a:txBody>
                  <a:tcPr/>
                </a:tc>
                <a:extLst>
                  <a:ext uri="{0D108BD9-81ED-4DB2-BD59-A6C34878D82A}">
                    <a16:rowId xmlns:a16="http://schemas.microsoft.com/office/drawing/2014/main" val="3798193171"/>
                  </a:ext>
                </a:extLst>
              </a:tr>
              <a:tr h="370840">
                <a:tc>
                  <a:txBody>
                    <a:bodyPr/>
                    <a:lstStyle/>
                    <a:p>
                      <a:r>
                        <a:rPr lang="en-US" sz="1100" dirty="0">
                          <a:latin typeface="Arial" panose="020B0604020202020204" pitchFamily="34" charset="0"/>
                          <a:cs typeface="Arial" panose="020B0604020202020204" pitchFamily="34" charset="0"/>
                        </a:rPr>
                        <a:t>String toString(Object o) </a:t>
                      </a:r>
                    </a:p>
                  </a:txBody>
                  <a:tcPr/>
                </a:tc>
                <a:tc>
                  <a:txBody>
                    <a:bodyPr/>
                    <a:lstStyle/>
                    <a:p>
                      <a:r>
                        <a:rPr lang="en-US" sz="1100" dirty="0">
                          <a:latin typeface="Arial" panose="020B0604020202020204" pitchFamily="34" charset="0"/>
                          <a:cs typeface="Arial" panose="020B0604020202020204" pitchFamily="34" charset="0"/>
                        </a:rPr>
                        <a:t>This method returns the result of calling toString() method for a non-null argument and “null” for a null argument.</a:t>
                      </a:r>
                    </a:p>
                  </a:txBody>
                  <a:tcPr/>
                </a:tc>
                <a:extLst>
                  <a:ext uri="{0D108BD9-81ED-4DB2-BD59-A6C34878D82A}">
                    <a16:rowId xmlns:a16="http://schemas.microsoft.com/office/drawing/2014/main" val="1738475540"/>
                  </a:ext>
                </a:extLst>
              </a:tr>
              <a:tr h="370840">
                <a:tc>
                  <a:txBody>
                    <a:bodyPr/>
                    <a:lstStyle/>
                    <a:p>
                      <a:r>
                        <a:rPr lang="en-US" sz="1100" dirty="0">
                          <a:latin typeface="Arial" panose="020B0604020202020204" pitchFamily="34" charset="0"/>
                          <a:cs typeface="Arial" panose="020B0604020202020204" pitchFamily="34" charset="0"/>
                        </a:rPr>
                        <a:t>String toString(Object o, String nullDefault) </a:t>
                      </a:r>
                    </a:p>
                  </a:txBody>
                  <a:tcPr/>
                </a:tc>
                <a:tc>
                  <a:txBody>
                    <a:bodyPr/>
                    <a:lstStyle/>
                    <a:p>
                      <a:r>
                        <a:rPr lang="en-US" sz="1100" dirty="0">
                          <a:latin typeface="Arial" panose="020B0604020202020204" pitchFamily="34" charset="0"/>
                          <a:cs typeface="Arial" panose="020B0604020202020204" pitchFamily="34" charset="0"/>
                        </a:rPr>
                        <a:t>This method is overloaded version of above method. It returns the result of calling toString() method on the first argument if the first argument is not null and returns the second argument otherwise.</a:t>
                      </a:r>
                    </a:p>
                  </a:txBody>
                  <a:tcPr/>
                </a:tc>
                <a:extLst>
                  <a:ext uri="{0D108BD9-81ED-4DB2-BD59-A6C34878D82A}">
                    <a16:rowId xmlns:a16="http://schemas.microsoft.com/office/drawing/2014/main" val="3689905468"/>
                  </a:ext>
                </a:extLst>
              </a:tr>
              <a:tr h="370840">
                <a:tc>
                  <a:txBody>
                    <a:bodyPr/>
                    <a:lstStyle/>
                    <a:p>
                      <a:r>
                        <a:rPr lang="en-US" sz="1100" dirty="0">
                          <a:latin typeface="Arial" panose="020B0604020202020204" pitchFamily="34" charset="0"/>
                          <a:cs typeface="Arial" panose="020B0604020202020204" pitchFamily="34" charset="0"/>
                        </a:rPr>
                        <a:t>boolean equals(Object a,Object b)</a:t>
                      </a:r>
                    </a:p>
                  </a:txBody>
                  <a:tcPr/>
                </a:tc>
                <a:tc>
                  <a:txBody>
                    <a:bodyPr/>
                    <a:lstStyle/>
                    <a:p>
                      <a:r>
                        <a:rPr lang="en-US" sz="1100" dirty="0">
                          <a:latin typeface="Arial" panose="020B0604020202020204" pitchFamily="34" charset="0"/>
                          <a:cs typeface="Arial" panose="020B0604020202020204" pitchFamily="34" charset="0"/>
                        </a:rPr>
                        <a:t>This method true if the arguments are equal to each other and false otherwise. Consequently, if both arguments are null, true is returned and if exactly one argument is null, false is returned. Otherwise, equality is determined by using the equals() method of the first argument.</a:t>
                      </a:r>
                    </a:p>
                  </a:txBody>
                  <a:tcPr/>
                </a:tc>
                <a:extLst>
                  <a:ext uri="{0D108BD9-81ED-4DB2-BD59-A6C34878D82A}">
                    <a16:rowId xmlns:a16="http://schemas.microsoft.com/office/drawing/2014/main" val="2284697667"/>
                  </a:ext>
                </a:extLst>
              </a:tr>
              <a:tr h="370840">
                <a:tc>
                  <a:txBody>
                    <a:bodyPr/>
                    <a:lstStyle/>
                    <a:p>
                      <a:r>
                        <a:rPr lang="en-US" sz="1100" dirty="0">
                          <a:latin typeface="Arial" panose="020B0604020202020204" pitchFamily="34" charset="0"/>
                          <a:cs typeface="Arial" panose="020B0604020202020204" pitchFamily="34" charset="0"/>
                        </a:rPr>
                        <a:t>boolean deepEquals(Object a,Object b)</a:t>
                      </a:r>
                    </a:p>
                  </a:txBody>
                  <a:tcPr/>
                </a:tc>
                <a:tc>
                  <a:txBody>
                    <a:bodyPr/>
                    <a:lstStyle/>
                    <a:p>
                      <a:r>
                        <a:rPr lang="en-US" sz="1100" dirty="0">
                          <a:latin typeface="Arial" panose="020B0604020202020204" pitchFamily="34" charset="0"/>
                          <a:cs typeface="Arial" panose="020B0604020202020204" pitchFamily="34" charset="0"/>
                        </a:rPr>
                        <a:t>This method returns true if the arguments are deeply equal to each other and false otherwise. Two null values are deeply equal. If both arguments are arrays, the algorithm in Arrays.deepEquals is used to determine equality. Otherwise, equality is determined by using the equals method of the first argument.</a:t>
                      </a:r>
                    </a:p>
                  </a:txBody>
                  <a:tcPr/>
                </a:tc>
                <a:extLst>
                  <a:ext uri="{0D108BD9-81ED-4DB2-BD59-A6C34878D82A}">
                    <a16:rowId xmlns:a16="http://schemas.microsoft.com/office/drawing/2014/main" val="4004702137"/>
                  </a:ext>
                </a:extLst>
              </a:tr>
              <a:tr h="370840">
                <a:tc>
                  <a:txBody>
                    <a:bodyPr/>
                    <a:lstStyle/>
                    <a:p>
                      <a:r>
                        <a:rPr lang="en-US" sz="1100" dirty="0">
                          <a:latin typeface="Arial" panose="020B0604020202020204" pitchFamily="34" charset="0"/>
                          <a:cs typeface="Arial" panose="020B0604020202020204" pitchFamily="34" charset="0"/>
                        </a:rPr>
                        <a:t>T requireNonNull(T obj)</a:t>
                      </a:r>
                    </a:p>
                  </a:txBody>
                  <a:tcPr/>
                </a:tc>
                <a:tc>
                  <a:txBody>
                    <a:bodyPr/>
                    <a:lstStyle/>
                    <a:p>
                      <a:r>
                        <a:rPr lang="en-US" sz="1100" dirty="0">
                          <a:latin typeface="Arial" panose="020B0604020202020204" pitchFamily="34" charset="0"/>
                          <a:cs typeface="Arial" panose="020B0604020202020204" pitchFamily="34" charset="0"/>
                        </a:rPr>
                        <a:t>This method checks that the specified object reference is not null. This method is designed primarily for doing parameter validation in methods and constructors.</a:t>
                      </a:r>
                    </a:p>
                  </a:txBody>
                  <a:tcPr/>
                </a:tc>
                <a:extLst>
                  <a:ext uri="{0D108BD9-81ED-4DB2-BD59-A6C34878D82A}">
                    <a16:rowId xmlns:a16="http://schemas.microsoft.com/office/drawing/2014/main" val="3409478555"/>
                  </a:ext>
                </a:extLst>
              </a:tr>
              <a:tr h="370840">
                <a:tc>
                  <a:txBody>
                    <a:bodyPr/>
                    <a:lstStyle/>
                    <a:p>
                      <a:r>
                        <a:rPr lang="en-US" sz="1100" dirty="0">
                          <a:latin typeface="Arial" panose="020B0604020202020204" pitchFamily="34" charset="0"/>
                          <a:cs typeface="Arial" panose="020B0604020202020204" pitchFamily="34" charset="0"/>
                        </a:rPr>
                        <a:t>T requireNonNull(T obj,String message)</a:t>
                      </a:r>
                    </a:p>
                  </a:txBody>
                  <a:tcPr/>
                </a:tc>
                <a:tc>
                  <a:txBody>
                    <a:bodyPr/>
                    <a:lstStyle/>
                    <a:p>
                      <a:r>
                        <a:rPr lang="en-US" sz="1100" dirty="0">
                          <a:latin typeface="Arial" panose="020B0604020202020204" pitchFamily="34" charset="0"/>
                          <a:cs typeface="Arial" panose="020B0604020202020204" pitchFamily="34" charset="0"/>
                        </a:rPr>
                        <a:t>This method is overloaded version of above method with customized message printing if obj is null </a:t>
                      </a:r>
                    </a:p>
                  </a:txBody>
                  <a:tcPr/>
                </a:tc>
                <a:extLst>
                  <a:ext uri="{0D108BD9-81ED-4DB2-BD59-A6C34878D82A}">
                    <a16:rowId xmlns:a16="http://schemas.microsoft.com/office/drawing/2014/main" val="3925553326"/>
                  </a:ext>
                </a:extLst>
              </a:tr>
              <a:tr h="370840">
                <a:tc>
                  <a:txBody>
                    <a:bodyPr/>
                    <a:lstStyle/>
                    <a:p>
                      <a:r>
                        <a:rPr lang="en-US" sz="1100" dirty="0">
                          <a:latin typeface="Arial" panose="020B0604020202020204" pitchFamily="34" charset="0"/>
                          <a:cs typeface="Arial" panose="020B0604020202020204" pitchFamily="34" charset="0"/>
                        </a:rPr>
                        <a:t>int hashCode(Object o)</a:t>
                      </a:r>
                    </a:p>
                  </a:txBody>
                  <a:tcPr/>
                </a:tc>
                <a:tc>
                  <a:txBody>
                    <a:bodyPr/>
                    <a:lstStyle/>
                    <a:p>
                      <a:r>
                        <a:rPr lang="en-US" sz="1100" dirty="0">
                          <a:latin typeface="Arial" panose="020B0604020202020204" pitchFamily="34" charset="0"/>
                          <a:cs typeface="Arial" panose="020B0604020202020204" pitchFamily="34" charset="0"/>
                        </a:rPr>
                        <a:t>This method returns the hash code of a non-null argument and 0 for a null argument.</a:t>
                      </a:r>
                    </a:p>
                  </a:txBody>
                  <a:tcPr/>
                </a:tc>
                <a:extLst>
                  <a:ext uri="{0D108BD9-81ED-4DB2-BD59-A6C34878D82A}">
                    <a16:rowId xmlns:a16="http://schemas.microsoft.com/office/drawing/2014/main" val="853502264"/>
                  </a:ext>
                </a:extLst>
              </a:tr>
              <a:tr h="370840">
                <a:tc>
                  <a:txBody>
                    <a:bodyPr/>
                    <a:lstStyle/>
                    <a:p>
                      <a:r>
                        <a:rPr lang="en-US" sz="1100" dirty="0">
                          <a:latin typeface="Arial" panose="020B0604020202020204" pitchFamily="34" charset="0"/>
                          <a:cs typeface="Arial" panose="020B0604020202020204" pitchFamily="34" charset="0"/>
                        </a:rPr>
                        <a:t>int hash(Object… values)</a:t>
                      </a:r>
                    </a:p>
                  </a:txBody>
                  <a:tcPr/>
                </a:tc>
                <a:tc>
                  <a:txBody>
                    <a:bodyPr/>
                    <a:lstStyle/>
                    <a:p>
                      <a:r>
                        <a:rPr lang="en-US" sz="1100" dirty="0">
                          <a:latin typeface="Arial" panose="020B0604020202020204" pitchFamily="34" charset="0"/>
                          <a:cs typeface="Arial" panose="020B0604020202020204" pitchFamily="34" charset="0"/>
                        </a:rPr>
                        <a:t>This method generates a hash code for a sequence of input values. The hash code is generated as if all the input values were placed into an array, and that array were hashed by calling Arrays.hashCode(Object[]).</a:t>
                      </a:r>
                    </a:p>
                    <a:p>
                      <a:r>
                        <a:rPr lang="en-US" sz="1100" dirty="0">
                          <a:latin typeface="Arial" panose="020B0604020202020204" pitchFamily="34" charset="0"/>
                          <a:cs typeface="Arial" panose="020B0604020202020204" pitchFamily="34" charset="0"/>
                        </a:rPr>
                        <a:t>This method is useful for implementing Object.hashCode() on objects containing multiple fields.</a:t>
                      </a:r>
                    </a:p>
                  </a:txBody>
                  <a:tcPr/>
                </a:tc>
                <a:extLst>
                  <a:ext uri="{0D108BD9-81ED-4DB2-BD59-A6C34878D82A}">
                    <a16:rowId xmlns:a16="http://schemas.microsoft.com/office/drawing/2014/main" val="3987572251"/>
                  </a:ext>
                </a:extLst>
              </a:tr>
              <a:tr h="370840">
                <a:tc>
                  <a:txBody>
                    <a:bodyPr/>
                    <a:lstStyle/>
                    <a:p>
                      <a:r>
                        <a:rPr lang="en-US" sz="1100" dirty="0">
                          <a:latin typeface="Arial" panose="020B0604020202020204" pitchFamily="34" charset="0"/>
                          <a:cs typeface="Arial" panose="020B0604020202020204" pitchFamily="34" charset="0"/>
                        </a:rPr>
                        <a:t>int compare(T a,T b,Comparator c) :</a:t>
                      </a:r>
                    </a:p>
                  </a:txBody>
                  <a:tcPr/>
                </a:tc>
                <a:tc>
                  <a:txBody>
                    <a:bodyPr/>
                    <a:lstStyle/>
                    <a:p>
                      <a:r>
                        <a:rPr lang="en-US" sz="1100" dirty="0">
                          <a:latin typeface="Arial" panose="020B0604020202020204" pitchFamily="34" charset="0"/>
                          <a:cs typeface="Arial" panose="020B0604020202020204" pitchFamily="34" charset="0"/>
                        </a:rPr>
                        <a:t>As usual, this method returns 0 if the arguments are identical and c.compare(a, b) otherwise. Consequently, if both arguments are null 0 is returned.</a:t>
                      </a:r>
                    </a:p>
                    <a:p>
                      <a:r>
                        <a:rPr lang="en-US" sz="1100" dirty="0">
                          <a:latin typeface="Arial" panose="020B0604020202020204" pitchFamily="34" charset="0"/>
                          <a:cs typeface="Arial" panose="020B0604020202020204" pitchFamily="34" charset="0"/>
                        </a:rPr>
                        <a:t>Note that if one of the arguments is null, a NullPointerException may or may not be thrown depending on what ordering policy, if any, the Comparator chooses to have for null values.</a:t>
                      </a:r>
                    </a:p>
                  </a:txBody>
                  <a:tcPr/>
                </a:tc>
                <a:extLst>
                  <a:ext uri="{0D108BD9-81ED-4DB2-BD59-A6C34878D82A}">
                    <a16:rowId xmlns:a16="http://schemas.microsoft.com/office/drawing/2014/main" val="140699595"/>
                  </a:ext>
                </a:extLst>
              </a:tr>
            </a:tbl>
          </a:graphicData>
        </a:graphic>
      </p:graphicFrame>
    </p:spTree>
    <p:extLst>
      <p:ext uri="{BB962C8B-B14F-4D97-AF65-F5344CB8AC3E}">
        <p14:creationId xmlns:p14="http://schemas.microsoft.com/office/powerpoint/2010/main" val="3909580966"/>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D4A9209-0C5B-A04C-AE6D-8A589A42ADD6}"/>
              </a:ext>
            </a:extLst>
          </p:cNvPr>
          <p:cNvSpPr>
            <a:spLocks noGrp="1"/>
          </p:cNvSpPr>
          <p:nvPr>
            <p:ph type="title" idx="4294967295"/>
          </p:nvPr>
        </p:nvSpPr>
        <p:spPr>
          <a:xfrm>
            <a:off x="530225" y="2705100"/>
            <a:ext cx="7772400" cy="1509713"/>
          </a:xfrm>
          <a:prstGeom prst="rect">
            <a:avLst/>
          </a:prstGeom>
          <a:noFill/>
          <a:ln>
            <a:noFill/>
            <a:prstDash/>
          </a:ln>
          <a:effectLst/>
        </p:spPr>
        <p:txBody>
          <a:bodyPr rot="0" spcFirstLastPara="0" vertOverflow="overflow" horzOverflow="overflow" vert="horz" wrap="square" lIns="45720" tIns="45720" rIns="45720" bIns="45720" numCol="1" spcCol="0" rtlCol="0" fromWordArt="0" anchor="t" anchorCtr="0" forceAA="0" compatLnSpc="1">
            <a:prstTxWarp prst="textNoShape">
              <a:avLst/>
            </a:prstTxWarp>
            <a:normAutofit/>
          </a:bodyPr>
          <a:lstStyle/>
          <a:p>
            <a:pPr marL="0" marR="0" lvl="0" indent="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200" b="0" i="0" u="none" strike="noStrike" kern="1200" cap="none" spc="0" normalizeH="0" baseline="0" noProof="0">
                <a:ln>
                  <a:noFill/>
                </a:ln>
                <a:solidFill>
                  <a:schemeClr val="tx1"/>
                </a:solidFill>
                <a:effectLst/>
                <a:uLnTx/>
                <a:uFillTx/>
                <a:latin typeface="+mn-lt"/>
                <a:ea typeface="+mn-ea"/>
                <a:cs typeface="+mn-cs"/>
              </a:rPr>
              <a:t>A Few Extra Problems – Not reviewed in class</a:t>
            </a:r>
            <a:endParaRPr kumimoji="0" lang="en-US" sz="2200" b="0" i="0" u="none" strike="noStrike" kern="1200" cap="none" spc="0" normalizeH="0" baseline="0" noProof="0" dirty="0">
              <a:ln>
                <a:noFill/>
              </a:ln>
              <a:solidFill>
                <a:schemeClr val="tx1"/>
              </a:solidFill>
              <a:effectLst/>
              <a:uLnTx/>
              <a:uFillTx/>
              <a:latin typeface="+mn-lt"/>
              <a:ea typeface="+mn-ea"/>
              <a:cs typeface="+mn-cs"/>
            </a:endParaRPr>
          </a:p>
        </p:txBody>
      </p:sp>
      <p:sp>
        <p:nvSpPr>
          <p:cNvPr id="4" name="Slide Number Placeholder 3">
            <a:extLst>
              <a:ext uri="{FF2B5EF4-FFF2-40B4-BE49-F238E27FC236}">
                <a16:creationId xmlns:a16="http://schemas.microsoft.com/office/drawing/2014/main" id="{6601E8D5-E994-B243-95B8-FA660B3713FE}"/>
              </a:ext>
            </a:extLst>
          </p:cNvPr>
          <p:cNvSpPr>
            <a:spLocks noGrp="1"/>
          </p:cNvSpPr>
          <p:nvPr>
            <p:ph type="sldNum" sz="quarter" idx="12"/>
          </p:nvPr>
        </p:nvSpPr>
        <p:spPr/>
        <p:txBody>
          <a:bodyPr/>
          <a:lstStyle/>
          <a:p>
            <a:fld id="{13977939-A071-43C1-9268-F54CC2756BB5}" type="slidenum">
              <a:rPr lang="en-US" smtClean="0"/>
              <a:pPr/>
              <a:t>148</a:t>
            </a:fld>
            <a:endParaRPr lang="en-US" dirty="0"/>
          </a:p>
        </p:txBody>
      </p:sp>
    </p:spTree>
    <p:extLst>
      <p:ext uri="{BB962C8B-B14F-4D97-AF65-F5344CB8AC3E}">
        <p14:creationId xmlns:p14="http://schemas.microsoft.com/office/powerpoint/2010/main" val="1625716305"/>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82D81-2B65-BA4F-8B27-4BFB288ECC76}"/>
              </a:ext>
            </a:extLst>
          </p:cNvPr>
          <p:cNvSpPr>
            <a:spLocks noGrp="1"/>
          </p:cNvSpPr>
          <p:nvPr>
            <p:ph type="title"/>
          </p:nvPr>
        </p:nvSpPr>
        <p:spPr>
          <a:xfrm>
            <a:off x="457200" y="76200"/>
            <a:ext cx="8229600" cy="475488"/>
          </a:xfrm>
        </p:spPr>
        <p:txBody>
          <a:bodyPr>
            <a:noAutofit/>
          </a:bodyPr>
          <a:lstStyle/>
          <a:p>
            <a:r>
              <a:rPr lang="en-US" dirty="0"/>
              <a:t>Classes Example</a:t>
            </a:r>
          </a:p>
        </p:txBody>
      </p:sp>
      <p:sp>
        <p:nvSpPr>
          <p:cNvPr id="3" name="Content Placeholder 2">
            <a:extLst>
              <a:ext uri="{FF2B5EF4-FFF2-40B4-BE49-F238E27FC236}">
                <a16:creationId xmlns:a16="http://schemas.microsoft.com/office/drawing/2014/main" id="{D645E283-8ABA-4E42-B052-8D5773E78DA1}"/>
              </a:ext>
            </a:extLst>
          </p:cNvPr>
          <p:cNvSpPr>
            <a:spLocks noGrp="1"/>
          </p:cNvSpPr>
          <p:nvPr>
            <p:ph idx="1"/>
          </p:nvPr>
        </p:nvSpPr>
        <p:spPr>
          <a:xfrm>
            <a:off x="457200" y="685800"/>
            <a:ext cx="8229600" cy="5943600"/>
          </a:xfrm>
        </p:spPr>
        <p:txBody>
          <a:bodyPr>
            <a:normAutofit fontScale="62500" lnSpcReduction="20000"/>
          </a:bodyPr>
          <a:lstStyle/>
          <a:p>
            <a:pPr marL="0" indent="0">
              <a:buNone/>
            </a:pPr>
            <a:r>
              <a:rPr lang="en-US" b="1" dirty="0"/>
              <a:t>CellPhone</a:t>
            </a:r>
            <a:r>
              <a:rPr lang="en-US" dirty="0"/>
              <a:t> and </a:t>
            </a:r>
            <a:r>
              <a:rPr lang="en-US" b="1" dirty="0"/>
              <a:t>CellPhoneTester</a:t>
            </a:r>
          </a:p>
          <a:p>
            <a:r>
              <a:rPr lang="en-US" dirty="0"/>
              <a:t>Wireless Solutions, Inc., is a business that sells cell phones and wireless service. You are a programmer in the company’s information technology (IT) department, and your team is designing a program to manage all of the cell phones that are in inventory. You have been asked to design a class that represents a cell phone. The data that should be kept as fields in the class are as follows:</a:t>
            </a:r>
          </a:p>
          <a:p>
            <a:r>
              <a:rPr lang="en-US" dirty="0"/>
              <a:t>The name of the phone’s manufacturer will be assigned to the manufact field.</a:t>
            </a:r>
          </a:p>
          <a:p>
            <a:r>
              <a:rPr lang="en-US" dirty="0"/>
              <a:t>The phone’s model number will be assigned to the model field.</a:t>
            </a:r>
          </a:p>
          <a:p>
            <a:r>
              <a:rPr lang="en-US" dirty="0"/>
              <a:t>The phone’s retail price will be assigned to the retailPrice field.</a:t>
            </a:r>
          </a:p>
          <a:p>
            <a:r>
              <a:rPr lang="en-US" dirty="0"/>
              <a:t>The class will also have the following methods:</a:t>
            </a:r>
          </a:p>
          <a:p>
            <a:r>
              <a:rPr lang="en-US" dirty="0"/>
              <a:t>A constructor that accepts arguments for the manufacturer, model number and retail price.</a:t>
            </a:r>
          </a:p>
          <a:p>
            <a:r>
              <a:rPr lang="en-US" dirty="0"/>
              <a:t>A setManufact method that accepts an argument for the manufacturer. This method will allow us to change the value of the manufact field after the object has been created, if necessary.</a:t>
            </a:r>
          </a:p>
          <a:p>
            <a:r>
              <a:rPr lang="en-US" dirty="0"/>
              <a:t>A setModel method that accepts an argument for the model. This method will allow</a:t>
            </a:r>
          </a:p>
          <a:p>
            <a:r>
              <a:rPr lang="en-US" dirty="0"/>
              <a:t>us to change the value of the model field after the object has been created, if necessary.</a:t>
            </a:r>
          </a:p>
          <a:p>
            <a:r>
              <a:rPr lang="en-US" dirty="0"/>
              <a:t>A setRetailPrice method that accepts an argument for the retail price. This method will allow us to change the value of the retailPrice field after the object has been</a:t>
            </a:r>
          </a:p>
          <a:p>
            <a:r>
              <a:rPr lang="en-US" dirty="0"/>
              <a:t>created, if necessary.</a:t>
            </a:r>
          </a:p>
          <a:p>
            <a:r>
              <a:rPr lang="en-US" dirty="0"/>
              <a:t>A getManufact method that returns the phone’s manufacturer.</a:t>
            </a:r>
          </a:p>
          <a:p>
            <a:r>
              <a:rPr lang="en-US" dirty="0"/>
              <a:t>A getModel method that returns the phone’s model number.</a:t>
            </a:r>
          </a:p>
          <a:p>
            <a:r>
              <a:rPr lang="en-US" dirty="0"/>
              <a:t>A getRetailPrice method that returns the phone’s retail price.</a:t>
            </a:r>
          </a:p>
          <a:p>
            <a:r>
              <a:rPr lang="en-US" dirty="0"/>
              <a:t>A toString method that prints out the phone’s manufacture, model and price.</a:t>
            </a:r>
          </a:p>
          <a:p>
            <a:r>
              <a:rPr lang="en-US" dirty="0">
                <a:solidFill>
                  <a:srgbClr val="FF0000"/>
                </a:solidFill>
              </a:rPr>
              <a:t>Write a program that creates a CellPhone object and tests all the methods</a:t>
            </a:r>
          </a:p>
        </p:txBody>
      </p:sp>
      <p:sp>
        <p:nvSpPr>
          <p:cNvPr id="4" name="Slide Number Placeholder 3">
            <a:extLst>
              <a:ext uri="{FF2B5EF4-FFF2-40B4-BE49-F238E27FC236}">
                <a16:creationId xmlns:a16="http://schemas.microsoft.com/office/drawing/2014/main" id="{B1A74B48-5DC5-2647-B190-EEDA70586E7E}"/>
              </a:ext>
            </a:extLst>
          </p:cNvPr>
          <p:cNvSpPr>
            <a:spLocks noGrp="1"/>
          </p:cNvSpPr>
          <p:nvPr>
            <p:ph type="sldNum" sz="quarter" idx="12"/>
          </p:nvPr>
        </p:nvSpPr>
        <p:spPr/>
        <p:txBody>
          <a:bodyPr/>
          <a:lstStyle/>
          <a:p>
            <a:fld id="{13977939-A071-43C1-9268-F54CC2756BB5}" type="slidenum">
              <a:rPr lang="en-US" smtClean="0"/>
              <a:pPr/>
              <a:t>149</a:t>
            </a:fld>
            <a:endParaRPr lang="en-US" dirty="0"/>
          </a:p>
        </p:txBody>
      </p:sp>
    </p:spTree>
    <p:extLst>
      <p:ext uri="{BB962C8B-B14F-4D97-AF65-F5344CB8AC3E}">
        <p14:creationId xmlns:p14="http://schemas.microsoft.com/office/powerpoint/2010/main" val="3273013481"/>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82D81-2B65-BA4F-8B27-4BFB288ECC76}"/>
              </a:ext>
            </a:extLst>
          </p:cNvPr>
          <p:cNvSpPr>
            <a:spLocks noGrp="1"/>
          </p:cNvSpPr>
          <p:nvPr>
            <p:ph type="title"/>
          </p:nvPr>
        </p:nvSpPr>
        <p:spPr>
          <a:xfrm>
            <a:off x="457200" y="563880"/>
            <a:ext cx="8229600" cy="426720"/>
          </a:xfrm>
        </p:spPr>
        <p:txBody>
          <a:bodyPr>
            <a:noAutofit/>
          </a:bodyPr>
          <a:lstStyle/>
          <a:p>
            <a:r>
              <a:rPr lang="en-US" dirty="0"/>
              <a:t>Inheritance Example (1)</a:t>
            </a:r>
          </a:p>
        </p:txBody>
      </p:sp>
      <p:sp>
        <p:nvSpPr>
          <p:cNvPr id="3" name="Content Placeholder 2">
            <a:extLst>
              <a:ext uri="{FF2B5EF4-FFF2-40B4-BE49-F238E27FC236}">
                <a16:creationId xmlns:a16="http://schemas.microsoft.com/office/drawing/2014/main" id="{D645E283-8ABA-4E42-B052-8D5773E78DA1}"/>
              </a:ext>
            </a:extLst>
          </p:cNvPr>
          <p:cNvSpPr>
            <a:spLocks noGrp="1"/>
          </p:cNvSpPr>
          <p:nvPr>
            <p:ph idx="1"/>
          </p:nvPr>
        </p:nvSpPr>
        <p:spPr>
          <a:xfrm>
            <a:off x="457200" y="1050926"/>
            <a:ext cx="8229600" cy="5670550"/>
          </a:xfrm>
        </p:spPr>
        <p:txBody>
          <a:bodyPr>
            <a:normAutofit fontScale="70000" lnSpcReduction="20000"/>
          </a:bodyPr>
          <a:lstStyle/>
          <a:p>
            <a:pPr marL="0" indent="0">
              <a:buNone/>
            </a:pPr>
            <a:r>
              <a:rPr lang="en-US" b="1" dirty="0"/>
              <a:t>Extending the Game class</a:t>
            </a:r>
          </a:p>
          <a:p>
            <a:r>
              <a:rPr lang="en-US" dirty="0"/>
              <a:t>Download the Game class from Lesson 2 Classwork and read its structure</a:t>
            </a:r>
          </a:p>
          <a:p>
            <a:r>
              <a:rPr lang="en-US" dirty="0"/>
              <a:t>Create a subclass PCBasedGame</a:t>
            </a:r>
          </a:p>
          <a:p>
            <a:pPr lvl="1"/>
            <a:r>
              <a:rPr lang="en-US" dirty="0"/>
              <a:t>Add three new instance values – minimum megabytes of RAM required, minimum number of disk megabytes required, (both as type int), and required gigahertz speed of processor (as a double)</a:t>
            </a:r>
          </a:p>
          <a:p>
            <a:pPr lvl="1"/>
            <a:r>
              <a:rPr lang="en-US" dirty="0"/>
              <a:t>Create accessors and mutators for each new instance variable</a:t>
            </a:r>
          </a:p>
          <a:p>
            <a:pPr lvl="1"/>
            <a:r>
              <a:rPr lang="en-US" dirty="0"/>
              <a:t>Create an overriding toString() method and equals() method – equals method is true if each pair of instance variables are equal</a:t>
            </a:r>
          </a:p>
          <a:p>
            <a:r>
              <a:rPr lang="en-US" dirty="0"/>
              <a:t>Write a PCBasedClient class with the main program that does the following</a:t>
            </a:r>
          </a:p>
          <a:p>
            <a:pPr lvl="1"/>
            <a:r>
              <a:rPr lang="en-US" dirty="0"/>
              <a:t>Reads in the description, required RAM MBs, disk MBs and Gigahertz speed for a PCBasedGame object pcbg1.</a:t>
            </a:r>
          </a:p>
          <a:p>
            <a:pPr lvl="1"/>
            <a:r>
              <a:rPr lang="en-US" dirty="0"/>
              <a:t>Create a pcbg1 object</a:t>
            </a:r>
          </a:p>
          <a:p>
            <a:pPr lvl="1"/>
            <a:r>
              <a:rPr lang="en-US" dirty="0"/>
              <a:t>Use toString to print out pcbg1</a:t>
            </a:r>
          </a:p>
          <a:p>
            <a:pPr lvl="1"/>
            <a:r>
              <a:rPr lang="en-US" dirty="0"/>
              <a:t>Reads in the description, required RAM MBs, disk MBs and Gigahertz speed for a PCBasedGame object pcbg2.</a:t>
            </a:r>
          </a:p>
          <a:p>
            <a:pPr lvl="1"/>
            <a:r>
              <a:rPr lang="en-US" dirty="0"/>
              <a:t>Create a pcbg2 object</a:t>
            </a:r>
          </a:p>
          <a:p>
            <a:pPr lvl="1"/>
            <a:r>
              <a:rPr lang="en-US" dirty="0"/>
              <a:t>Use toString to print out pcbg2</a:t>
            </a:r>
          </a:p>
          <a:p>
            <a:pPr lvl="1"/>
            <a:r>
              <a:rPr lang="en-US" dirty="0"/>
              <a:t>Use equals to check equality between the two games</a:t>
            </a:r>
          </a:p>
          <a:p>
            <a:pPr lvl="1"/>
            <a:r>
              <a:rPr lang="en-US" dirty="0"/>
              <a:t>Use accessors and mutators to set all pcbg2 instance variable values to pcbg1 values</a:t>
            </a:r>
          </a:p>
          <a:p>
            <a:pPr lvl="1"/>
            <a:r>
              <a:rPr lang="en-US" dirty="0"/>
              <a:t>Now use equals again to check between the two games</a:t>
            </a:r>
          </a:p>
          <a:p>
            <a:pPr lvl="1"/>
            <a:endParaRPr lang="en-US" dirty="0"/>
          </a:p>
          <a:p>
            <a:pPr lvl="1"/>
            <a:endParaRPr lang="en-US" dirty="0"/>
          </a:p>
          <a:p>
            <a:endParaRPr lang="en-US" dirty="0"/>
          </a:p>
        </p:txBody>
      </p:sp>
      <p:sp>
        <p:nvSpPr>
          <p:cNvPr id="4" name="Slide Number Placeholder 3">
            <a:extLst>
              <a:ext uri="{FF2B5EF4-FFF2-40B4-BE49-F238E27FC236}">
                <a16:creationId xmlns:a16="http://schemas.microsoft.com/office/drawing/2014/main" id="{B1A74B48-5DC5-2647-B190-EEDA70586E7E}"/>
              </a:ext>
            </a:extLst>
          </p:cNvPr>
          <p:cNvSpPr>
            <a:spLocks noGrp="1"/>
          </p:cNvSpPr>
          <p:nvPr>
            <p:ph type="sldNum" sz="quarter" idx="12"/>
          </p:nvPr>
        </p:nvSpPr>
        <p:spPr/>
        <p:txBody>
          <a:bodyPr/>
          <a:lstStyle/>
          <a:p>
            <a:fld id="{13977939-A071-43C1-9268-F54CC2756BB5}" type="slidenum">
              <a:rPr lang="en-US" smtClean="0"/>
              <a:pPr/>
              <a:t>150</a:t>
            </a:fld>
            <a:endParaRPr lang="en-US" dirty="0"/>
          </a:p>
        </p:txBody>
      </p:sp>
    </p:spTree>
    <p:extLst>
      <p:ext uri="{BB962C8B-B14F-4D97-AF65-F5344CB8AC3E}">
        <p14:creationId xmlns:p14="http://schemas.microsoft.com/office/powerpoint/2010/main" val="855397642"/>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82D81-2B65-BA4F-8B27-4BFB288ECC76}"/>
              </a:ext>
            </a:extLst>
          </p:cNvPr>
          <p:cNvSpPr>
            <a:spLocks noGrp="1"/>
          </p:cNvSpPr>
          <p:nvPr>
            <p:ph type="title"/>
          </p:nvPr>
        </p:nvSpPr>
        <p:spPr>
          <a:xfrm>
            <a:off x="457200" y="563880"/>
            <a:ext cx="8229600" cy="426720"/>
          </a:xfrm>
        </p:spPr>
        <p:txBody>
          <a:bodyPr>
            <a:noAutofit/>
          </a:bodyPr>
          <a:lstStyle/>
          <a:p>
            <a:r>
              <a:rPr lang="en-US" dirty="0"/>
              <a:t>Inheritance Example (2)</a:t>
            </a:r>
          </a:p>
        </p:txBody>
      </p:sp>
      <p:sp>
        <p:nvSpPr>
          <p:cNvPr id="3" name="Content Placeholder 2">
            <a:extLst>
              <a:ext uri="{FF2B5EF4-FFF2-40B4-BE49-F238E27FC236}">
                <a16:creationId xmlns:a16="http://schemas.microsoft.com/office/drawing/2014/main" id="{D645E283-8ABA-4E42-B052-8D5773E78DA1}"/>
              </a:ext>
            </a:extLst>
          </p:cNvPr>
          <p:cNvSpPr>
            <a:spLocks noGrp="1"/>
          </p:cNvSpPr>
          <p:nvPr>
            <p:ph idx="1"/>
          </p:nvPr>
        </p:nvSpPr>
        <p:spPr>
          <a:xfrm>
            <a:off x="457200" y="838199"/>
            <a:ext cx="8229600" cy="5883275"/>
          </a:xfrm>
        </p:spPr>
        <p:txBody>
          <a:bodyPr>
            <a:normAutofit fontScale="55000" lnSpcReduction="20000"/>
          </a:bodyPr>
          <a:lstStyle/>
          <a:p>
            <a:pPr marL="0" indent="0">
              <a:buNone/>
            </a:pPr>
            <a:endParaRPr lang="en-US" dirty="0"/>
          </a:p>
          <a:p>
            <a:pPr marL="0" indent="0">
              <a:buNone/>
            </a:pPr>
            <a:r>
              <a:rPr lang="en-US" b="1" dirty="0"/>
              <a:t>Sample IO</a:t>
            </a:r>
          </a:p>
          <a:p>
            <a:pPr marL="0" indent="0">
              <a:buNone/>
            </a:pPr>
            <a:r>
              <a:rPr lang="en-US" dirty="0"/>
              <a:t>Please enter the game description for game one: </a:t>
            </a:r>
          </a:p>
          <a:p>
            <a:pPr marL="0" indent="0">
              <a:buNone/>
            </a:pPr>
            <a:r>
              <a:rPr lang="en-US" dirty="0"/>
              <a:t>Monopoly</a:t>
            </a:r>
          </a:p>
          <a:p>
            <a:pPr marL="0" indent="0">
              <a:buNone/>
            </a:pPr>
            <a:r>
              <a:rPr lang="en-US" dirty="0"/>
              <a:t>Please enter the required RAM MBs and Disk Size MBs for game one as type int: </a:t>
            </a:r>
          </a:p>
          <a:p>
            <a:pPr marL="0" indent="0">
              <a:buNone/>
            </a:pPr>
            <a:r>
              <a:rPr lang="en-US" dirty="0"/>
              <a:t>24 120</a:t>
            </a:r>
          </a:p>
          <a:p>
            <a:pPr marL="0" indent="0">
              <a:buNone/>
            </a:pPr>
            <a:r>
              <a:rPr lang="en-US" dirty="0"/>
              <a:t>Please enter the required CPU speed in Gigahertz for game one as a double: </a:t>
            </a:r>
          </a:p>
          <a:p>
            <a:pPr marL="0" indent="0">
              <a:buNone/>
            </a:pPr>
            <a:r>
              <a:rPr lang="en-US" dirty="0"/>
              <a:t>32.7</a:t>
            </a:r>
          </a:p>
          <a:p>
            <a:pPr marL="0" indent="0">
              <a:buNone/>
            </a:pPr>
            <a:r>
              <a:rPr lang="en-US" dirty="0"/>
              <a:t>Game Description: Monopoly</a:t>
            </a:r>
          </a:p>
          <a:p>
            <a:pPr marL="0" indent="0">
              <a:buNone/>
            </a:pPr>
            <a:r>
              <a:rPr lang="en-US" dirty="0"/>
              <a:t>Minimum configuration: RAM: 24 MB; hard disk: 120 MB; CPU 32.70 GHZ</a:t>
            </a:r>
          </a:p>
          <a:p>
            <a:pPr marL="0" indent="0">
              <a:buNone/>
            </a:pPr>
            <a:br>
              <a:rPr lang="en-US" dirty="0"/>
            </a:br>
            <a:endParaRPr lang="en-US" dirty="0"/>
          </a:p>
          <a:p>
            <a:pPr marL="0" indent="0">
              <a:buNone/>
            </a:pPr>
            <a:r>
              <a:rPr lang="en-US" dirty="0"/>
              <a:t>Please enter the game description for game two: </a:t>
            </a:r>
          </a:p>
          <a:p>
            <a:pPr marL="0" indent="0">
              <a:buNone/>
            </a:pPr>
            <a:r>
              <a:rPr lang="en-US" dirty="0"/>
              <a:t>Scrabble</a:t>
            </a:r>
          </a:p>
          <a:p>
            <a:pPr marL="0" indent="0">
              <a:buNone/>
            </a:pPr>
            <a:r>
              <a:rPr lang="en-US" dirty="0"/>
              <a:t>Please enter the required RAM MBs and Disk Size MBs for game two as type int: </a:t>
            </a:r>
          </a:p>
          <a:p>
            <a:pPr marL="0" indent="0">
              <a:buNone/>
            </a:pPr>
            <a:r>
              <a:rPr lang="en-US" dirty="0"/>
              <a:t>36</a:t>
            </a:r>
          </a:p>
          <a:p>
            <a:pPr marL="0" indent="0">
              <a:buNone/>
            </a:pPr>
            <a:r>
              <a:rPr lang="en-US" dirty="0"/>
              <a:t>197</a:t>
            </a:r>
          </a:p>
          <a:p>
            <a:pPr marL="0" indent="0">
              <a:buNone/>
            </a:pPr>
            <a:r>
              <a:rPr lang="en-US" dirty="0"/>
              <a:t>Please enter the required CPU speed in Gigahertz for game two as a double: </a:t>
            </a:r>
          </a:p>
          <a:p>
            <a:pPr marL="0" indent="0">
              <a:buNone/>
            </a:pPr>
            <a:r>
              <a:rPr lang="en-US" dirty="0"/>
              <a:t>45.2</a:t>
            </a:r>
          </a:p>
          <a:p>
            <a:pPr marL="0" indent="0">
              <a:buNone/>
            </a:pPr>
            <a:r>
              <a:rPr lang="en-US" dirty="0"/>
              <a:t>Game Description: Monopoly</a:t>
            </a:r>
          </a:p>
          <a:p>
            <a:pPr marL="0" indent="0">
              <a:buNone/>
            </a:pPr>
            <a:r>
              <a:rPr lang="en-US" dirty="0"/>
              <a:t>Minimum configuration: RAM: 24 MB; hard disk: 120 MB; CPU 32.70 GHZ</a:t>
            </a:r>
          </a:p>
          <a:p>
            <a:pPr marL="0" indent="0">
              <a:buNone/>
            </a:pPr>
            <a:br>
              <a:rPr lang="en-US" dirty="0"/>
            </a:br>
            <a:endParaRPr lang="en-US" dirty="0"/>
          </a:p>
          <a:p>
            <a:pPr marL="0" indent="0">
              <a:buNone/>
            </a:pPr>
            <a:r>
              <a:rPr lang="en-US" dirty="0"/>
              <a:t>pcbg1 and pcbg2 are not equal</a:t>
            </a:r>
          </a:p>
          <a:p>
            <a:pPr marL="0" indent="0">
              <a:buNone/>
            </a:pPr>
            <a:r>
              <a:rPr lang="en-US" dirty="0"/>
              <a:t>pcbg1 and pcbg2 are now equal</a:t>
            </a:r>
          </a:p>
          <a:p>
            <a:pPr lvl="1"/>
            <a:endParaRPr lang="en-US" dirty="0"/>
          </a:p>
          <a:p>
            <a:pPr lvl="1"/>
            <a:endParaRPr lang="en-US" dirty="0"/>
          </a:p>
          <a:p>
            <a:endParaRPr lang="en-US" dirty="0"/>
          </a:p>
        </p:txBody>
      </p:sp>
      <p:sp>
        <p:nvSpPr>
          <p:cNvPr id="4" name="Slide Number Placeholder 3">
            <a:extLst>
              <a:ext uri="{FF2B5EF4-FFF2-40B4-BE49-F238E27FC236}">
                <a16:creationId xmlns:a16="http://schemas.microsoft.com/office/drawing/2014/main" id="{B1A74B48-5DC5-2647-B190-EEDA70586E7E}"/>
              </a:ext>
            </a:extLst>
          </p:cNvPr>
          <p:cNvSpPr>
            <a:spLocks noGrp="1"/>
          </p:cNvSpPr>
          <p:nvPr>
            <p:ph type="sldNum" sz="quarter" idx="12"/>
          </p:nvPr>
        </p:nvSpPr>
        <p:spPr/>
        <p:txBody>
          <a:bodyPr/>
          <a:lstStyle/>
          <a:p>
            <a:fld id="{13977939-A071-43C1-9268-F54CC2756BB5}" type="slidenum">
              <a:rPr lang="en-US" smtClean="0"/>
              <a:pPr/>
              <a:t>151</a:t>
            </a:fld>
            <a:endParaRPr lang="en-US" dirty="0"/>
          </a:p>
        </p:txBody>
      </p:sp>
    </p:spTree>
    <p:extLst>
      <p:ext uri="{BB962C8B-B14F-4D97-AF65-F5344CB8AC3E}">
        <p14:creationId xmlns:p14="http://schemas.microsoft.com/office/powerpoint/2010/main" val="338880532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22680</TotalTime>
  <Words>20457</Words>
  <Application>Microsoft Macintosh PowerPoint</Application>
  <PresentationFormat>On-screen Show (4:3)</PresentationFormat>
  <Paragraphs>1841</Paragraphs>
  <Slides>151</Slides>
  <Notes>22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151</vt:i4>
      </vt:variant>
    </vt:vector>
  </HeadingPairs>
  <TitlesOfParts>
    <vt:vector size="161" baseType="lpstr">
      <vt:lpstr>Arial</vt:lpstr>
      <vt:lpstr>Calibri</vt:lpstr>
      <vt:lpstr>Cambria</vt:lpstr>
      <vt:lpstr>Constantia</vt:lpstr>
      <vt:lpstr>Courier New</vt:lpstr>
      <vt:lpstr>Noto serif</vt:lpstr>
      <vt:lpstr>Times New Roman</vt:lpstr>
      <vt:lpstr>Wingdings</vt:lpstr>
      <vt:lpstr>Wingdings 2</vt:lpstr>
      <vt:lpstr>Flow</vt:lpstr>
      <vt:lpstr>LESSON 3</vt:lpstr>
      <vt:lpstr>Course References</vt:lpstr>
      <vt:lpstr>Links</vt:lpstr>
      <vt:lpstr>Lesson Goals</vt:lpstr>
      <vt:lpstr>Some Basic Principles In Java</vt:lpstr>
      <vt:lpstr>Basic Concepts In Computer Software</vt:lpstr>
      <vt:lpstr>A Layered Computer Architecture</vt:lpstr>
      <vt:lpstr>Agent Architectures</vt:lpstr>
      <vt:lpstr>Java Is Machine Independent</vt:lpstr>
      <vt:lpstr>Java Is Machine Independent – Another View</vt:lpstr>
      <vt:lpstr>What Is Object Oriented Programming</vt:lpstr>
      <vt:lpstr>Basic Concepts In Computer Software – Object Oriented Programming</vt:lpstr>
      <vt:lpstr>What Is Object-Oriented Design?</vt:lpstr>
      <vt:lpstr>Modularity and Classes</vt:lpstr>
      <vt:lpstr>Objects In Java </vt:lpstr>
      <vt:lpstr>Communicating Objects</vt:lpstr>
      <vt:lpstr>Communicating Objects (2)</vt:lpstr>
      <vt:lpstr>Modern Enhancements In Java</vt:lpstr>
      <vt:lpstr>Modernized Java</vt:lpstr>
      <vt:lpstr>Functions In Java</vt:lpstr>
      <vt:lpstr>Behavior Parameterization</vt:lpstr>
      <vt:lpstr>Streaming In Java</vt:lpstr>
      <vt:lpstr>Parallelism and Shared Mutable Data</vt:lpstr>
      <vt:lpstr>Java and AI</vt:lpstr>
      <vt:lpstr>Introduction</vt:lpstr>
      <vt:lpstr>Why Java is Becoming a Strong Contender in AI/ML Development</vt:lpstr>
      <vt:lpstr>AI/ML Frameworks in Java: The Key Players (1)</vt:lpstr>
      <vt:lpstr>AI/ML Frameworks in Java: The Key Players (2)</vt:lpstr>
      <vt:lpstr>AI/ML Frameworks in Java: The Key Players (3)</vt:lpstr>
      <vt:lpstr>Real-World Applications Using Java in AI/ML (1)</vt:lpstr>
      <vt:lpstr>Real-World Applications Using Java in AI/ML (2)</vt:lpstr>
      <vt:lpstr>Classes and Encapsulation</vt:lpstr>
      <vt:lpstr>Encapsulation</vt:lpstr>
      <vt:lpstr>The Syntax Of A Class Definition</vt:lpstr>
      <vt:lpstr>The Driver class</vt:lpstr>
      <vt:lpstr>Reusing Classes From The Java Library</vt:lpstr>
      <vt:lpstr>Basic Terminology</vt:lpstr>
      <vt:lpstr>public vs. private</vt:lpstr>
      <vt:lpstr>Constructors</vt:lpstr>
      <vt:lpstr>The Default Constructor</vt:lpstr>
      <vt:lpstr>Syntax Of The Constructor</vt:lpstr>
      <vt:lpstr>Instance Variables</vt:lpstr>
      <vt:lpstr>The Syntax Of An Instance Variable</vt:lpstr>
      <vt:lpstr>References vs. Pointers In Java (1)</vt:lpstr>
      <vt:lpstr>References vs. Pointers In Java (2)</vt:lpstr>
      <vt:lpstr>Default Instance Variables Values</vt:lpstr>
      <vt:lpstr>Methods In Classes</vt:lpstr>
      <vt:lpstr>A Note About Scope</vt:lpstr>
      <vt:lpstr>Accessor Methods</vt:lpstr>
      <vt:lpstr>Mutator Methods </vt:lpstr>
      <vt:lpstr>The Object Reference this</vt:lpstr>
      <vt:lpstr>Using this (1)</vt:lpstr>
      <vt:lpstr>Using this (2)</vt:lpstr>
      <vt:lpstr>Access Modifiers – A Special Case</vt:lpstr>
      <vt:lpstr>Calling A Constructor From A Constructor (1)</vt:lpstr>
      <vt:lpstr>Calling A Constructor From A Constructor (2)</vt:lpstr>
      <vt:lpstr>A Constructor Checklist (1)</vt:lpstr>
      <vt:lpstr>A Constructor Checklist (2)</vt:lpstr>
      <vt:lpstr>What Does static  Mean In Java?</vt:lpstr>
      <vt:lpstr>static Variables</vt:lpstr>
      <vt:lpstr>Some Uses of static Variables</vt:lpstr>
      <vt:lpstr>static Methods</vt:lpstr>
      <vt:lpstr>Access Restrictions For static Methods</vt:lpstr>
      <vt:lpstr>Some Special Methods</vt:lpstr>
      <vt:lpstr>toString (1)</vt:lpstr>
      <vt:lpstr>toString (2)</vt:lpstr>
      <vt:lpstr>Using equals(Object obj) In Classes</vt:lpstr>
      <vt:lpstr>instanceof Is A Special Binary Operator</vt:lpstr>
      <vt:lpstr>Some Notes On Garbage Collection (1)</vt:lpstr>
      <vt:lpstr>Some Notes On Garbage Collection (2)</vt:lpstr>
      <vt:lpstr>Hospital - A Real World Problem Walkthrough (1)</vt:lpstr>
      <vt:lpstr>Hospital - A Real World Problem Walkthrough (2)</vt:lpstr>
      <vt:lpstr>Hospital - A Real World Problem Walkthrough (3)</vt:lpstr>
      <vt:lpstr>Hospital - A Real World Problem Walkthrough (4)</vt:lpstr>
      <vt:lpstr>Hospital - A Real World Problem Walkthrough (5)</vt:lpstr>
      <vt:lpstr>Hospital - A Real World Problem Walkthrough (6)</vt:lpstr>
      <vt:lpstr>Using the Unified Modeling Language To Represent Classes</vt:lpstr>
      <vt:lpstr>What Is UML</vt:lpstr>
      <vt:lpstr>Graphical Representation Of A Class Using UML</vt:lpstr>
      <vt:lpstr>The UML Notation For a Class</vt:lpstr>
      <vt:lpstr>UML Class Description – Some Examples</vt:lpstr>
      <vt:lpstr>Encapsulation And UML For An  Auto</vt:lpstr>
      <vt:lpstr>Immutable Objects The String Constant Pool</vt:lpstr>
      <vt:lpstr>The Immutable String class</vt:lpstr>
      <vt:lpstr>The String Constant Pool – a.k.a. Cached Pool (1)</vt:lpstr>
      <vt:lpstr>The String Constant Pool – a.k.a. Cached Pool (2)</vt:lpstr>
      <vt:lpstr>The String Constant Pool – a.k.a. Cached Pool (3)</vt:lpstr>
      <vt:lpstr>Creating Immutable Classes</vt:lpstr>
      <vt:lpstr>Aggregation</vt:lpstr>
      <vt:lpstr>Aggregation Allows Us To Build Realistic Models</vt:lpstr>
      <vt:lpstr>A UML Envisioning Of A Course</vt:lpstr>
      <vt:lpstr>The “has-a” Associations in UML</vt:lpstr>
      <vt:lpstr>Discussion On UML For the Instructor class</vt:lpstr>
      <vt:lpstr>Discussion On UML For the Textbook class</vt:lpstr>
      <vt:lpstr>Aggregation Example – The Course class</vt:lpstr>
      <vt:lpstr>Discussion On UML For the Course class</vt:lpstr>
      <vt:lpstr>Security Issues With Aggregate Classes</vt:lpstr>
      <vt:lpstr>Enumerated Types</vt:lpstr>
      <vt:lpstr>Enumerated Types Overview</vt:lpstr>
      <vt:lpstr>The Syntax Of Enumerated Types</vt:lpstr>
      <vt:lpstr>Declaring And Using An Enumerated Variable</vt:lpstr>
      <vt:lpstr>An enum Type Is Really A Class</vt:lpstr>
      <vt:lpstr>The enum May Be declared Inside Or Outside Of The class</vt:lpstr>
      <vt:lpstr>The enum Type Structure</vt:lpstr>
      <vt:lpstr>Common Methods Of The enum Type</vt:lpstr>
      <vt:lpstr>The enum class – Rules summary</vt:lpstr>
      <vt:lpstr>Inheritance</vt:lpstr>
      <vt:lpstr>What Is Inheritance?</vt:lpstr>
      <vt:lpstr>Basic Principles Of Inheritance</vt:lpstr>
      <vt:lpstr>Java and Inheritance</vt:lpstr>
      <vt:lpstr>A Few Common Synonyms</vt:lpstr>
      <vt:lpstr>Specifying Inheritance In Java</vt:lpstr>
      <vt:lpstr>Visualizing A Simple Hierarchy In UML</vt:lpstr>
      <vt:lpstr>UML For The Video and Movie3 classes</vt:lpstr>
      <vt:lpstr>A Simple Example With Inheritance</vt:lpstr>
      <vt:lpstr>Using A super Constructor (1)</vt:lpstr>
      <vt:lpstr>Using A Super Constructor (2)</vt:lpstr>
      <vt:lpstr>A Few Notes About The Default Constructor</vt:lpstr>
      <vt:lpstr>Inheritance Rules for Constructors</vt:lpstr>
      <vt:lpstr>Method Signature</vt:lpstr>
      <vt:lpstr>Overriding A Parent Method</vt:lpstr>
      <vt:lpstr>Rules For Overriding In Java</vt:lpstr>
      <vt:lpstr>Inheritance Rules For Overwritten Methods</vt:lpstr>
      <vt:lpstr>Reminder - Overriding Is Different From Overloading</vt:lpstr>
      <vt:lpstr>private Variables and Methods In A Superclass</vt:lpstr>
      <vt:lpstr>protected Variables and Methods In A Superclass</vt:lpstr>
      <vt:lpstr>A Few More Notes On protected Members</vt:lpstr>
      <vt:lpstr>Inheritance Rules For Classes and Subclasses</vt:lpstr>
      <vt:lpstr>Inheritance Checklist (1)</vt:lpstr>
      <vt:lpstr>Inheritance Checklist (2)</vt:lpstr>
      <vt:lpstr>Inheritance Checklist (3)</vt:lpstr>
      <vt:lpstr>Employees - A Real World Problem Walkthrough (1)</vt:lpstr>
      <vt:lpstr>Employees - A Real World Problem Walkthrough (2)</vt:lpstr>
      <vt:lpstr>Employees - A Real World Problem Walkthrough (3)</vt:lpstr>
      <vt:lpstr>Employees - A Real World Problem Walkthrough (4)</vt:lpstr>
      <vt:lpstr>Employees - A Real World Problem Walkthrough (5)</vt:lpstr>
      <vt:lpstr>Employees - A Real World Problem Walkthrough (6)</vt:lpstr>
      <vt:lpstr>Employees - A Real World Problem Walkthrough (6)</vt:lpstr>
      <vt:lpstr>Employees - A Real World Problem Walkthrough (6)</vt:lpstr>
      <vt:lpstr>The Object Class</vt:lpstr>
      <vt:lpstr>The Object Class Is At The Origin Of The Java Class Hierarchy</vt:lpstr>
      <vt:lpstr>The Java Hierarchy for Video</vt:lpstr>
      <vt:lpstr>The Object Class - Key Points</vt:lpstr>
      <vt:lpstr>The Object Class – Important Methods (1)</vt:lpstr>
      <vt:lpstr>The Object Class – Important Methods (2)</vt:lpstr>
      <vt:lpstr>The Objects Class (1)</vt:lpstr>
      <vt:lpstr>The Objects Class (2)</vt:lpstr>
      <vt:lpstr>A Few Extra Problems – Not reviewed in class</vt:lpstr>
      <vt:lpstr>Classes Example</vt:lpstr>
      <vt:lpstr>Inheritance Example (1)</vt:lpstr>
      <vt:lpstr>Inheritance Example (2)</vt:lpstr>
    </vt:vector>
  </TitlesOfParts>
  <Company>Northrop Grumman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Howard Rosenthal</dc:creator>
  <cp:lastModifiedBy>Howard Rosenthal</cp:lastModifiedBy>
  <cp:revision>1678</cp:revision>
  <cp:lastPrinted>2019-01-04T00:52:31Z</cp:lastPrinted>
  <dcterms:created xsi:type="dcterms:W3CDTF">2013-08-30T21:41:43Z</dcterms:created>
  <dcterms:modified xsi:type="dcterms:W3CDTF">2026-06-13T20:37:04Z</dcterms:modified>
</cp:coreProperties>
</file>