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12344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7089306-BBFA-411D-BF26-5A221E5597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072777-1407-4312-8EE0-CAAEBB4471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156F4DD-F227-45CB-83CE-A2C2593E05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2A0B75-CC2C-4144-90D2-5A0990E0B6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49C704F-B028-4B44-BE94-595748A263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17DA66F-7FE5-4E4E-AD79-BF004E26F0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5D4303-4DAC-47F2-8E9F-4DCCA21173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A04E3C-81CC-4DC0-AB57-0DD7829390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6332144-5478-46F6-9629-A43FF2F988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DBC0A6D-0EBB-4161-9D2F-9543A568EE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0845F7A-0E03-4D52-A4B5-8E9853C5E8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274320" y="109800"/>
            <a:ext cx="85942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University Hierarchy UML Diagram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1828800" y="685800"/>
            <a:ext cx="5485320" cy="2742480"/>
          </a:xfrm>
          <a:prstGeom prst="rect">
            <a:avLst/>
          </a:prstGeom>
          <a:noFill/>
          <a:ln w="1778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61" name="Connector 3"/>
          <p:cNvCxnSpPr/>
          <p:nvPr/>
        </p:nvCxnSpPr>
        <p:spPr>
          <a:xfrm>
            <a:off x="1828800" y="1097280"/>
            <a:ext cx="5487480" cy="1080"/>
          </a:xfrm>
          <a:prstGeom prst="straightConnector1">
            <a:avLst/>
          </a:prstGeom>
          <a:ln w="13335">
            <a:solidFill>
              <a:srgbClr val="000000"/>
            </a:solidFill>
            <a:round/>
          </a:ln>
        </p:spPr>
      </p:cxnSp>
      <p:cxnSp>
        <p:nvCxnSpPr>
          <p:cNvPr id="62" name="Connector 4"/>
          <p:cNvCxnSpPr/>
          <p:nvPr/>
        </p:nvCxnSpPr>
        <p:spPr>
          <a:xfrm>
            <a:off x="1828800" y="2286000"/>
            <a:ext cx="5487480" cy="1080"/>
          </a:xfrm>
          <a:prstGeom prst="straightConnector1">
            <a:avLst/>
          </a:prstGeom>
          <a:ln w="13335">
            <a:solidFill>
              <a:srgbClr val="000000"/>
            </a:solidFill>
            <a:round/>
          </a:ln>
        </p:spPr>
      </p:cxnSp>
      <p:sp>
        <p:nvSpPr>
          <p:cNvPr id="63" name="TextBox 5"/>
          <p:cNvSpPr/>
          <p:nvPr/>
        </p:nvSpPr>
        <p:spPr>
          <a:xfrm>
            <a:off x="1874520" y="713160"/>
            <a:ext cx="5393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University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1901880" y="1143000"/>
            <a:ext cx="5339160" cy="10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-univName:String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-advList:ArrayList&lt;Advisor&gt;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-freshmanStudList:ArrayList&lt;Student&gt;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-sophomoreStudList:ArrayList&lt;Student&gt;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-juniorStudList:ArrayList&lt;Student&gt;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-seniorStudList:ArrayList&lt;Student&gt;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-keyboard:Scanner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1901880" y="2286000"/>
            <a:ext cx="5339160" cy="10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+University()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+University(univName:String)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+setUnivName(univName:String):void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+getUnivName():String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+hireAdvisors():void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+admitStudents():void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+printUniversityCommunity():void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8"/>
          <p:cNvSpPr/>
          <p:nvPr/>
        </p:nvSpPr>
        <p:spPr>
          <a:xfrm>
            <a:off x="2331720" y="3886200"/>
            <a:ext cx="4479480" cy="1964880"/>
          </a:xfrm>
          <a:prstGeom prst="rect">
            <a:avLst/>
          </a:prstGeom>
          <a:noFill/>
          <a:ln w="1778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67" name="Connector 9"/>
          <p:cNvCxnSpPr/>
          <p:nvPr/>
        </p:nvCxnSpPr>
        <p:spPr>
          <a:xfrm>
            <a:off x="2331720" y="4297680"/>
            <a:ext cx="4481640" cy="1080"/>
          </a:xfrm>
          <a:prstGeom prst="straightConnector1">
            <a:avLst/>
          </a:prstGeom>
          <a:ln w="13335">
            <a:solidFill>
              <a:srgbClr val="000000"/>
            </a:solidFill>
            <a:round/>
          </a:ln>
        </p:spPr>
      </p:cxnSp>
      <p:cxnSp>
        <p:nvCxnSpPr>
          <p:cNvPr id="68" name="Connector 10"/>
          <p:cNvCxnSpPr/>
          <p:nvPr/>
        </p:nvCxnSpPr>
        <p:spPr>
          <a:xfrm>
            <a:off x="2331720" y="4864320"/>
            <a:ext cx="4481640" cy="1080"/>
          </a:xfrm>
          <a:prstGeom prst="straightConnector1">
            <a:avLst/>
          </a:prstGeom>
          <a:ln w="13335">
            <a:solidFill>
              <a:srgbClr val="000000"/>
            </a:solidFill>
            <a:round/>
          </a:ln>
        </p:spPr>
      </p:cxnSp>
      <p:sp>
        <p:nvSpPr>
          <p:cNvPr id="69" name="TextBox 11"/>
          <p:cNvSpPr/>
          <p:nvPr/>
        </p:nvSpPr>
        <p:spPr>
          <a:xfrm>
            <a:off x="2377440" y="3913560"/>
            <a:ext cx="4388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UniversityMember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2404800" y="4343400"/>
            <a:ext cx="43333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-memberName:String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3"/>
          <p:cNvSpPr/>
          <p:nvPr/>
        </p:nvSpPr>
        <p:spPr>
          <a:xfrm>
            <a:off x="2404800" y="4910400"/>
            <a:ext cx="433332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6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+UniversityMember()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6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+UniversityMember(memberName:String)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6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+setMemberName(memberName:String):void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6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+getMemberName():String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6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+toString():String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6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+equals(object2:Object):boolean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14"/>
          <p:cNvSpPr/>
          <p:nvPr/>
        </p:nvSpPr>
        <p:spPr>
          <a:xfrm>
            <a:off x="228600" y="6903720"/>
            <a:ext cx="4159440" cy="4159440"/>
          </a:xfrm>
          <a:prstGeom prst="rect">
            <a:avLst/>
          </a:prstGeom>
          <a:noFill/>
          <a:ln w="1778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3" name="Connector 15"/>
          <p:cNvCxnSpPr/>
          <p:nvPr/>
        </p:nvCxnSpPr>
        <p:spPr>
          <a:xfrm>
            <a:off x="228600" y="7315200"/>
            <a:ext cx="4161600" cy="1080"/>
          </a:xfrm>
          <a:prstGeom prst="straightConnector1">
            <a:avLst/>
          </a:prstGeom>
          <a:ln w="13335">
            <a:solidFill>
              <a:srgbClr val="000000"/>
            </a:solidFill>
            <a:round/>
          </a:ln>
        </p:spPr>
      </p:cxnSp>
      <p:cxnSp>
        <p:nvCxnSpPr>
          <p:cNvPr id="74" name="Connector 16"/>
          <p:cNvCxnSpPr/>
          <p:nvPr/>
        </p:nvCxnSpPr>
        <p:spPr>
          <a:xfrm>
            <a:off x="228600" y="7881840"/>
            <a:ext cx="4161600" cy="1080"/>
          </a:xfrm>
          <a:prstGeom prst="straightConnector1">
            <a:avLst/>
          </a:prstGeom>
          <a:ln w="13335">
            <a:solidFill>
              <a:srgbClr val="000000"/>
            </a:solidFill>
            <a:round/>
          </a:ln>
        </p:spPr>
      </p:cxnSp>
      <p:sp>
        <p:nvSpPr>
          <p:cNvPr id="75" name="TextBox 17"/>
          <p:cNvSpPr/>
          <p:nvPr/>
        </p:nvSpPr>
        <p:spPr>
          <a:xfrm>
            <a:off x="274320" y="6931080"/>
            <a:ext cx="4068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Advisor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8"/>
          <p:cNvSpPr/>
          <p:nvPr/>
        </p:nvSpPr>
        <p:spPr>
          <a:xfrm>
            <a:off x="301680" y="7360920"/>
            <a:ext cx="401328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-department:String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9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-advStudentList:ArrayList&lt;Student&gt;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301680" y="7927920"/>
            <a:ext cx="4013280" cy="30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+Advisor()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+Advisor(memberName:String, department:String)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+setDepartment(department:String):void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+getDepartment():String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+addStudentToAdvisor(student:Student):void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+getStudentFromAdvisorList(index:int):Student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+getNumStudentsInAdvisorList():int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+toString():String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+equals(object2:Object):boolean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20"/>
          <p:cNvSpPr/>
          <p:nvPr/>
        </p:nvSpPr>
        <p:spPr>
          <a:xfrm>
            <a:off x="4754880" y="6629400"/>
            <a:ext cx="4159440" cy="4433760"/>
          </a:xfrm>
          <a:prstGeom prst="rect">
            <a:avLst/>
          </a:prstGeom>
          <a:noFill/>
          <a:ln w="1778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9" name="Connector 21"/>
          <p:cNvCxnSpPr/>
          <p:nvPr/>
        </p:nvCxnSpPr>
        <p:spPr>
          <a:xfrm>
            <a:off x="4754880" y="7040880"/>
            <a:ext cx="4161600" cy="1080"/>
          </a:xfrm>
          <a:prstGeom prst="straightConnector1">
            <a:avLst/>
          </a:prstGeom>
          <a:ln w="13335">
            <a:solidFill>
              <a:srgbClr val="000000"/>
            </a:solidFill>
            <a:round/>
          </a:ln>
        </p:spPr>
      </p:cxnSp>
      <p:cxnSp>
        <p:nvCxnSpPr>
          <p:cNvPr id="80" name="Connector 22"/>
          <p:cNvCxnSpPr/>
          <p:nvPr/>
        </p:nvCxnSpPr>
        <p:spPr>
          <a:xfrm>
            <a:off x="4754880" y="8229600"/>
            <a:ext cx="4161600" cy="1080"/>
          </a:xfrm>
          <a:prstGeom prst="straightConnector1">
            <a:avLst/>
          </a:prstGeom>
          <a:ln w="13335">
            <a:solidFill>
              <a:srgbClr val="000000"/>
            </a:solidFill>
            <a:round/>
          </a:ln>
        </p:spPr>
      </p:cxnSp>
      <p:sp>
        <p:nvSpPr>
          <p:cNvPr id="81" name="TextBox 23"/>
          <p:cNvSpPr/>
          <p:nvPr/>
        </p:nvSpPr>
        <p:spPr>
          <a:xfrm>
            <a:off x="4800600" y="6656760"/>
            <a:ext cx="4068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Student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4"/>
          <p:cNvSpPr/>
          <p:nvPr/>
        </p:nvSpPr>
        <p:spPr>
          <a:xfrm>
            <a:off x="4827960" y="7086600"/>
            <a:ext cx="4013280" cy="11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-advisor:Advisor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-year:String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-major:String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-studentNumber:int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8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-IDNUMBER:int {static}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5"/>
          <p:cNvSpPr/>
          <p:nvPr/>
        </p:nvSpPr>
        <p:spPr>
          <a:xfrm>
            <a:off x="4827960" y="8275320"/>
            <a:ext cx="401328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+Student()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+Student(memberName:String, advisor:Advisor, year:String, major:String)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+setAdvisor(advisor:Advisor):void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+getAdvisor():Advisor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+setYear(year:String):void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+getYear():String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+setMajor(major:String):void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+getMajor():String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+setStudentNumber():void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+getStudentNumber():int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+toString():String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7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+equals(object2:Object):boolean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Connector 26"/>
          <p:cNvCxnSpPr/>
          <p:nvPr/>
        </p:nvCxnSpPr>
        <p:spPr>
          <a:xfrm>
            <a:off x="4572000" y="5852160"/>
            <a:ext cx="1080" cy="458280"/>
          </a:xfrm>
          <a:prstGeom prst="straightConnector1">
            <a:avLst/>
          </a:prstGeom>
          <a:ln w="16510">
            <a:solidFill>
              <a:srgbClr val="000000"/>
            </a:solidFill>
            <a:round/>
          </a:ln>
        </p:spPr>
      </p:cxnSp>
      <p:cxnSp>
        <p:nvCxnSpPr>
          <p:cNvPr id="85" name="Connector 27"/>
          <p:cNvCxnSpPr/>
          <p:nvPr/>
        </p:nvCxnSpPr>
        <p:spPr>
          <a:xfrm>
            <a:off x="2304000" y="6309360"/>
            <a:ext cx="4536720" cy="1080"/>
          </a:xfrm>
          <a:prstGeom prst="straightConnector1">
            <a:avLst/>
          </a:prstGeom>
          <a:ln w="16510">
            <a:solidFill>
              <a:srgbClr val="000000"/>
            </a:solidFill>
            <a:round/>
          </a:ln>
        </p:spPr>
      </p:cxnSp>
      <p:cxnSp>
        <p:nvCxnSpPr>
          <p:cNvPr id="86" name="Connector 28"/>
          <p:cNvCxnSpPr/>
          <p:nvPr/>
        </p:nvCxnSpPr>
        <p:spPr>
          <a:xfrm>
            <a:off x="2304000" y="6309360"/>
            <a:ext cx="1080" cy="595440"/>
          </a:xfrm>
          <a:prstGeom prst="straightConnector1">
            <a:avLst/>
          </a:prstGeom>
          <a:ln w="16510">
            <a:solidFill>
              <a:srgbClr val="000000"/>
            </a:solidFill>
            <a:round/>
          </a:ln>
        </p:spPr>
      </p:cxnSp>
      <p:cxnSp>
        <p:nvCxnSpPr>
          <p:cNvPr id="87" name="Connector 29"/>
          <p:cNvCxnSpPr/>
          <p:nvPr/>
        </p:nvCxnSpPr>
        <p:spPr>
          <a:xfrm>
            <a:off x="6839640" y="6309360"/>
            <a:ext cx="1080" cy="321120"/>
          </a:xfrm>
          <a:prstGeom prst="straightConnector1">
            <a:avLst/>
          </a:prstGeom>
          <a:ln w="16510">
            <a:solidFill>
              <a:srgbClr val="000000"/>
            </a:solidFill>
            <a:round/>
          </a:ln>
        </p:spPr>
      </p:cxnSp>
      <p:sp>
        <p:nvSpPr>
          <p:cNvPr id="88" name="Isosceles Triangle 30"/>
          <p:cNvSpPr/>
          <p:nvPr/>
        </p:nvSpPr>
        <p:spPr>
          <a:xfrm>
            <a:off x="4453200" y="5851800"/>
            <a:ext cx="236520" cy="236520"/>
          </a:xfrm>
          <a:prstGeom prst="triangle">
            <a:avLst>
              <a:gd name="adj" fmla="val 50000"/>
            </a:avLst>
          </a:prstGeom>
          <a:noFill/>
          <a:ln w="15875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31"/>
          <p:cNvSpPr/>
          <p:nvPr/>
        </p:nvSpPr>
        <p:spPr>
          <a:xfrm>
            <a:off x="3913560" y="6053400"/>
            <a:ext cx="1324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nector 32"/>
          <p:cNvCxnSpPr/>
          <p:nvPr/>
        </p:nvCxnSpPr>
        <p:spPr>
          <a:xfrm flipH="1">
            <a:off x="1234440" y="2057400"/>
            <a:ext cx="595440" cy="1080"/>
          </a:xfrm>
          <a:prstGeom prst="straightConnector1">
            <a:avLst/>
          </a:prstGeom>
          <a:ln w="16510">
            <a:solidFill>
              <a:srgbClr val="000000"/>
            </a:solidFill>
            <a:round/>
          </a:ln>
        </p:spPr>
      </p:cxnSp>
      <p:cxnSp>
        <p:nvCxnSpPr>
          <p:cNvPr id="91" name="Connector 33"/>
          <p:cNvCxnSpPr>
            <a:endCxn id="92" idx="2"/>
          </p:cNvCxnSpPr>
          <p:nvPr/>
        </p:nvCxnSpPr>
        <p:spPr>
          <a:xfrm flipH="1">
            <a:off x="1212120" y="2057400"/>
            <a:ext cx="23040" cy="1619280"/>
          </a:xfrm>
          <a:prstGeom prst="straightConnector1">
            <a:avLst/>
          </a:prstGeom>
          <a:ln w="16510">
            <a:solidFill>
              <a:srgbClr val="000000"/>
            </a:solidFill>
            <a:round/>
          </a:ln>
        </p:spPr>
      </p:cxnSp>
      <p:cxnSp>
        <p:nvCxnSpPr>
          <p:cNvPr id="92" name="Connector 34"/>
          <p:cNvCxnSpPr>
            <a:endCxn id="94" idx="2"/>
          </p:cNvCxnSpPr>
          <p:nvPr/>
        </p:nvCxnSpPr>
        <p:spPr>
          <a:xfrm flipV="1">
            <a:off x="1212120" y="3655440"/>
            <a:ext cx="3348360" cy="21240"/>
          </a:xfrm>
          <a:prstGeom prst="straightConnector1">
            <a:avLst/>
          </a:prstGeom>
          <a:ln w="16510">
            <a:solidFill>
              <a:srgbClr val="000000"/>
            </a:solidFill>
            <a:round/>
          </a:ln>
        </p:spPr>
      </p:cxnSp>
      <p:cxnSp>
        <p:nvCxnSpPr>
          <p:cNvPr id="94" name="Connector 35"/>
          <p:cNvCxnSpPr/>
          <p:nvPr/>
        </p:nvCxnSpPr>
        <p:spPr>
          <a:xfrm>
            <a:off x="4560120" y="3655440"/>
            <a:ext cx="12960" cy="231840"/>
          </a:xfrm>
          <a:prstGeom prst="straightConnector1">
            <a:avLst/>
          </a:prstGeom>
          <a:ln w="16510">
            <a:solidFill>
              <a:srgbClr val="000000"/>
            </a:solidFill>
            <a:round/>
          </a:ln>
        </p:spPr>
      </p:cxnSp>
      <p:sp>
        <p:nvSpPr>
          <p:cNvPr id="96" name="Diamond 36"/>
          <p:cNvSpPr/>
          <p:nvPr/>
        </p:nvSpPr>
        <p:spPr>
          <a:xfrm>
            <a:off x="1371600" y="1947600"/>
            <a:ext cx="452880" cy="218520"/>
          </a:xfrm>
          <a:prstGeom prst="diamond">
            <a:avLst/>
          </a:prstGeom>
          <a:noFill/>
          <a:ln w="15875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97" name="Connector 44"/>
          <p:cNvCxnSpPr/>
          <p:nvPr/>
        </p:nvCxnSpPr>
        <p:spPr>
          <a:xfrm>
            <a:off x="4389120" y="9646920"/>
            <a:ext cx="366840" cy="1080"/>
          </a:xfrm>
          <a:prstGeom prst="straightConnector1">
            <a:avLst/>
          </a:prstGeom>
          <a:ln w="16510">
            <a:solidFill>
              <a:srgbClr val="000000"/>
            </a:solidFill>
            <a:round/>
          </a:ln>
        </p:spPr>
      </p:cxnSp>
      <p:sp>
        <p:nvSpPr>
          <p:cNvPr id="98" name="Diamond 45"/>
          <p:cNvSpPr/>
          <p:nvPr/>
        </p:nvSpPr>
        <p:spPr>
          <a:xfrm>
            <a:off x="4388760" y="9537120"/>
            <a:ext cx="182520" cy="218520"/>
          </a:xfrm>
          <a:prstGeom prst="diamond">
            <a:avLst/>
          </a:prstGeom>
          <a:noFill/>
          <a:ln w="15875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457200" y="1143000"/>
            <a:ext cx="180720" cy="346320"/>
          </a:xfrm>
          <a:prstGeom prst="rect">
            <a:avLst/>
          </a:prstGeom>
          <a:noFill/>
          <a:ln w="38160">
            <a:noFill/>
          </a:ln>
        </p:spPr>
        <p:txBody>
          <a:bodyPr wrap="none"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LibreOffice/26.8.0.3$Linux_X86_64 LibreOffice_project/e34ffb33db0c92181c79084d759a90d6bf45d9b3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2026-10-04T15:47:50Z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