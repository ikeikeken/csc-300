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84" r:id="rId1"/>
  </p:sldMasterIdLst>
  <p:notesMasterIdLst>
    <p:notesMasterId r:id="rId54"/>
  </p:notesMasterIdLst>
  <p:sldIdLst>
    <p:sldId id="256" r:id="rId2"/>
    <p:sldId id="578" r:id="rId3"/>
    <p:sldId id="617" r:id="rId4"/>
    <p:sldId id="453" r:id="rId5"/>
    <p:sldId id="481" r:id="rId6"/>
    <p:sldId id="497" r:id="rId7"/>
    <p:sldId id="625" r:id="rId8"/>
    <p:sldId id="322" r:id="rId9"/>
    <p:sldId id="417" r:id="rId10"/>
    <p:sldId id="418" r:id="rId11"/>
    <p:sldId id="293" r:id="rId12"/>
    <p:sldId id="409" r:id="rId13"/>
    <p:sldId id="337" r:id="rId14"/>
    <p:sldId id="629" r:id="rId15"/>
    <p:sldId id="630" r:id="rId16"/>
    <p:sldId id="631" r:id="rId17"/>
    <p:sldId id="635" r:id="rId18"/>
    <p:sldId id="636" r:id="rId19"/>
    <p:sldId id="492" r:id="rId20"/>
    <p:sldId id="626" r:id="rId21"/>
    <p:sldId id="467" r:id="rId22"/>
    <p:sldId id="468" r:id="rId23"/>
    <p:sldId id="452" r:id="rId24"/>
    <p:sldId id="469" r:id="rId25"/>
    <p:sldId id="493" r:id="rId26"/>
    <p:sldId id="472" r:id="rId27"/>
    <p:sldId id="473" r:id="rId28"/>
    <p:sldId id="474" r:id="rId29"/>
    <p:sldId id="475" r:id="rId30"/>
    <p:sldId id="476" r:id="rId31"/>
    <p:sldId id="477" r:id="rId32"/>
    <p:sldId id="620" r:id="rId33"/>
    <p:sldId id="470" r:id="rId34"/>
    <p:sldId id="471" r:id="rId35"/>
    <p:sldId id="621" r:id="rId36"/>
    <p:sldId id="622" r:id="rId37"/>
    <p:sldId id="623" r:id="rId38"/>
    <p:sldId id="624" r:id="rId39"/>
    <p:sldId id="573" r:id="rId40"/>
    <p:sldId id="574" r:id="rId41"/>
    <p:sldId id="575" r:id="rId42"/>
    <p:sldId id="576" r:id="rId43"/>
    <p:sldId id="577" r:id="rId44"/>
    <p:sldId id="494" r:id="rId45"/>
    <p:sldId id="463" r:id="rId46"/>
    <p:sldId id="485" r:id="rId47"/>
    <p:sldId id="495" r:id="rId48"/>
    <p:sldId id="464" r:id="rId49"/>
    <p:sldId id="465" r:id="rId50"/>
    <p:sldId id="491" r:id="rId51"/>
    <p:sldId id="486" r:id="rId52"/>
    <p:sldId id="496" r:id="rId53"/>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94726" autoAdjust="0"/>
  </p:normalViewPr>
  <p:slideViewPr>
    <p:cSldViewPr>
      <p:cViewPr varScale="1">
        <p:scale>
          <a:sx n="116" d="100"/>
          <a:sy n="116" d="100"/>
        </p:scale>
        <p:origin x="174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AFED6A0-2A9B-4C82-8258-9F5447D6753D}" type="datetimeFigureOut">
              <a:rPr lang="en-US" smtClean="0"/>
              <a:pPr/>
              <a:t>8/29/26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32193B70-1FBA-4BF1-827B-3C58AADF11E5}" type="slidenum">
              <a:rPr lang="en-US" smtClean="0"/>
              <a:pPr/>
              <a:t>‹#›</a:t>
            </a:fld>
            <a:endParaRPr lang="en-US" dirty="0"/>
          </a:p>
        </p:txBody>
      </p:sp>
    </p:spTree>
    <p:extLst>
      <p:ext uri="{BB962C8B-B14F-4D97-AF65-F5344CB8AC3E}">
        <p14:creationId xmlns:p14="http://schemas.microsoft.com/office/powerpoint/2010/main" val="96225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1</a:t>
            </a:fld>
            <a:endParaRPr lang="en-US" dirty="0"/>
          </a:p>
        </p:txBody>
      </p:sp>
    </p:spTree>
    <p:extLst>
      <p:ext uri="{BB962C8B-B14F-4D97-AF65-F5344CB8AC3E}">
        <p14:creationId xmlns:p14="http://schemas.microsoft.com/office/powerpoint/2010/main" val="2047002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22</a:t>
            </a:fld>
            <a:endParaRPr lang="en-US" dirty="0"/>
          </a:p>
        </p:txBody>
      </p:sp>
    </p:spTree>
    <p:extLst>
      <p:ext uri="{BB962C8B-B14F-4D97-AF65-F5344CB8AC3E}">
        <p14:creationId xmlns:p14="http://schemas.microsoft.com/office/powerpoint/2010/main" val="2022285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36</a:t>
            </a:fld>
            <a:endParaRPr lang="en-US" dirty="0"/>
          </a:p>
        </p:txBody>
      </p:sp>
    </p:spTree>
    <p:extLst>
      <p:ext uri="{BB962C8B-B14F-4D97-AF65-F5344CB8AC3E}">
        <p14:creationId xmlns:p14="http://schemas.microsoft.com/office/powerpoint/2010/main" val="385626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135A08-A941-47E8-980B-0C67B48B8B60}" type="datetime1">
              <a:rPr lang="en-US" smtClean="0"/>
              <a:pPr/>
              <a:t>8/29/26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75488"/>
          </a:xfrm>
        </p:spPr>
        <p:txBody>
          <a:bodyPr>
            <a:normAutofit/>
          </a:bodyPr>
          <a:lstStyle>
            <a:lvl1pPr>
              <a:defRPr sz="3200" b="1"/>
            </a:lvl1pPr>
          </a:lstStyle>
          <a:p>
            <a:r>
              <a:rPr kumimoji="0" lang="en-US" dirty="0"/>
              <a:t>Click to edit Master title style</a:t>
            </a:r>
          </a:p>
        </p:txBody>
      </p:sp>
      <p:sp>
        <p:nvSpPr>
          <p:cNvPr id="3" name="Content Placeholder 2"/>
          <p:cNvSpPr>
            <a:spLocks noGrp="1"/>
          </p:cNvSpPr>
          <p:nvPr>
            <p:ph idx="1"/>
          </p:nvPr>
        </p:nvSpPr>
        <p:spPr>
          <a:xfrm>
            <a:off x="457200" y="1249680"/>
            <a:ext cx="8229600" cy="43891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3530B5F-47C6-4DBB-B756-C623F13B76A5}" type="datetime1">
              <a:rPr lang="en-US" smtClean="0"/>
              <a:pPr/>
              <a:t>8/29/26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FDDC656-64BE-4604-AC2E-086C336BC315}" type="datetime1">
              <a:rPr lang="en-US" smtClean="0"/>
              <a:pPr/>
              <a:t>8/29/26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27888"/>
          </a:xfrm>
        </p:spPr>
        <p:txBody>
          <a:bodyPr/>
          <a:lstStyle/>
          <a:p>
            <a:r>
              <a:rPr kumimoji="0" lang="en-US" dirty="0"/>
              <a:t>Click to edit Master title style</a:t>
            </a:r>
          </a:p>
        </p:txBody>
      </p:sp>
      <p:sp>
        <p:nvSpPr>
          <p:cNvPr id="3" name="Content Placeholder 2"/>
          <p:cNvSpPr>
            <a:spLocks noGrp="1"/>
          </p:cNvSpPr>
          <p:nvPr>
            <p:ph sz="half" idx="1"/>
          </p:nvPr>
        </p:nvSpPr>
        <p:spPr>
          <a:xfrm>
            <a:off x="457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BB0D293-D1DD-4D8D-BA40-016A26FC25B4}" type="datetime1">
              <a:rPr lang="en-US" smtClean="0"/>
              <a:pPr/>
              <a:t>8/29/26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51688"/>
          </a:xfrm>
        </p:spPr>
        <p:txBody>
          <a:bodyPr tIns="45720" anchor="b"/>
          <a:lstStyle>
            <a:lvl1pPr>
              <a:defRPr/>
            </a:lvl1pPr>
          </a:lstStyle>
          <a:p>
            <a:r>
              <a:rPr kumimoji="0" lang="en-US" dirty="0"/>
              <a:t>Click to edit Master title style</a:t>
            </a:r>
          </a:p>
        </p:txBody>
      </p:sp>
      <p:sp>
        <p:nvSpPr>
          <p:cNvPr id="3" name="Text Placeholder 2"/>
          <p:cNvSpPr>
            <a:spLocks noGrp="1"/>
          </p:cNvSpPr>
          <p:nvPr>
            <p:ph type="body" idx="1"/>
          </p:nvPr>
        </p:nvSpPr>
        <p:spPr>
          <a:xfrm>
            <a:off x="457200" y="128612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29063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94548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94548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8DE278D-C272-4A19-90DF-E7B4F1583077}" type="datetime1">
              <a:rPr lang="en-US" smtClean="0"/>
              <a:pPr/>
              <a:t>8/29/26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305800" cy="627888"/>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3200" b="1">
                <a:ln>
                  <a:noFill/>
                </a:ln>
                <a:solidFill>
                  <a:schemeClr val="tx2"/>
                </a:solidFill>
                <a:effectLst/>
                <a:latin typeface="+mj-lt"/>
                <a:ea typeface="+mj-ea"/>
                <a:cs typeface="+mj-cs"/>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fld id="{C906D93A-8790-407E-966B-CDC69F6431C7}" type="datetime1">
              <a:rPr lang="en-US" smtClean="0"/>
              <a:pPr/>
              <a:t>8/29/26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6F31C-6E57-4714-80DB-7584EB32BDBE}" type="datetime1">
              <a:rPr lang="en-US" smtClean="0"/>
              <a:pPr/>
              <a:t>8/29/26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936B705-7618-435E-90A4-10AD478F8AAF}" type="datetime1">
              <a:rPr lang="en-US" smtClean="0"/>
              <a:pPr/>
              <a:t>8/29/26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45BA05-853E-42AE-BF9A-870A1D1380C2}" type="datetime1">
              <a:rPr lang="en-US" smtClean="0"/>
              <a:pPr/>
              <a:t>8/29/26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13977939-A071-43C1-9268-F54CC2756BB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E73A3E9-4B8C-4762-9C73-5016B62FBE4A}" type="datetime1">
              <a:rPr lang="en-US" smtClean="0"/>
              <a:pPr/>
              <a:t>8/29/26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676DFD4-AFF6-4EC4-978D-94617FF7741D}" type="datetime1">
              <a:rPr lang="en-US" smtClean="0"/>
              <a:pPr/>
              <a:t>8/29/26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381000"/>
            <a:ext cx="8229600" cy="627888"/>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57200" y="13258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7758603-0FE5-404F-A08E-0663569AC92D}" type="datetime1">
              <a:rPr lang="en-US" smtClean="0"/>
              <a:pPr/>
              <a:t>8/29/26</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977939-A071-43C1-9268-F54CC2756BB5}"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3200" b="1"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programmedlessons.org/Java9/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8-method-reference" TargetMode="External"/><Relationship Id="rId7" Type="http://schemas.openxmlformats.org/officeDocument/2006/relationships/hyperlink" Target="https://howtodoinjava.com/java8/java-streams-by-examples/" TargetMode="External"/><Relationship Id="rId2" Type="http://schemas.openxmlformats.org/officeDocument/2006/relationships/hyperlink" Target="https://howtodoinjava.com/java8/lambda-expressions/" TargetMode="External"/><Relationship Id="rId1" Type="http://schemas.openxmlformats.org/officeDocument/2006/relationships/slideLayout" Target="../slideLayouts/slideLayout2.xml"/><Relationship Id="rId6" Type="http://schemas.openxmlformats.org/officeDocument/2006/relationships/hyperlink" Target="http://tutorials.jenkov.com/java-functional-programming/streams.html#java-stream-definition" TargetMode="External"/><Relationship Id="rId5" Type="http://schemas.openxmlformats.org/officeDocument/2006/relationships/hyperlink" Target="https://examples.javacodegeeks.com/java-functional-interface-example/" TargetMode="External"/><Relationship Id="rId4" Type="http://schemas.openxmlformats.org/officeDocument/2006/relationships/hyperlink" Target="https://howtodoinjava.com/java8/lambda-method-references-examp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828800"/>
          </a:xfrm>
        </p:spPr>
        <p:txBody>
          <a:bodyPr/>
          <a:lstStyle/>
          <a:p>
            <a:r>
              <a:rPr lang="en-US" dirty="0"/>
              <a:t>LESSON 1</a:t>
            </a:r>
          </a:p>
        </p:txBody>
      </p:sp>
      <p:sp>
        <p:nvSpPr>
          <p:cNvPr id="3" name="Subtitle 2"/>
          <p:cNvSpPr>
            <a:spLocks noGrp="1"/>
          </p:cNvSpPr>
          <p:nvPr>
            <p:ph type="subTitle" idx="1"/>
          </p:nvPr>
        </p:nvSpPr>
        <p:spPr>
          <a:xfrm>
            <a:off x="533400" y="3228536"/>
            <a:ext cx="7854696" cy="2638864"/>
          </a:xfrm>
        </p:spPr>
        <p:txBody>
          <a:bodyPr>
            <a:normAutofit/>
          </a:bodyPr>
          <a:lstStyle/>
          <a:p>
            <a:r>
              <a:rPr lang="en-US" dirty="0">
                <a:latin typeface="+mj-lt"/>
              </a:rPr>
              <a:t>Good Programming Practices</a:t>
            </a:r>
          </a:p>
          <a:p>
            <a:r>
              <a:rPr lang="en-US" dirty="0">
                <a:latin typeface="+mj-lt"/>
              </a:rPr>
              <a:t>CSC  300</a:t>
            </a:r>
          </a:p>
          <a:p>
            <a:r>
              <a:rPr lang="en-US">
                <a:latin typeface="+mj-lt"/>
              </a:rPr>
              <a:t>Fall 2026</a:t>
            </a:r>
            <a:endParaRPr lang="en-US" dirty="0">
              <a:latin typeface="+mj-lt"/>
            </a:endParaRPr>
          </a:p>
          <a:p>
            <a:r>
              <a:rPr lang="en-US" dirty="0">
                <a:latin typeface="+mj-lt"/>
              </a:rPr>
              <a:t>Howard Rosenthal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75488"/>
          </a:xfrm>
        </p:spPr>
        <p:txBody>
          <a:bodyPr>
            <a:noAutofit/>
          </a:bodyPr>
          <a:lstStyle/>
          <a:p>
            <a:r>
              <a:rPr lang="en-US" dirty="0"/>
              <a:t>Course References</a:t>
            </a:r>
          </a:p>
        </p:txBody>
      </p:sp>
      <p:sp>
        <p:nvSpPr>
          <p:cNvPr id="3" name="Content Placeholder 2"/>
          <p:cNvSpPr>
            <a:spLocks noGrp="1"/>
          </p:cNvSpPr>
          <p:nvPr>
            <p:ph idx="1"/>
          </p:nvPr>
        </p:nvSpPr>
        <p:spPr>
          <a:xfrm>
            <a:off x="304800" y="609600"/>
            <a:ext cx="8534400" cy="6106510"/>
          </a:xfrm>
        </p:spPr>
        <p:txBody>
          <a:bodyPr>
            <a:normAutofit fontScale="70000" lnSpcReduction="20000"/>
          </a:bodyPr>
          <a:lstStyle/>
          <a:p>
            <a:r>
              <a:rPr lang="en-US" dirty="0"/>
              <a:t>Materials for this course have utilized materials in the following documents.  Additional materials taken from web sites will be referenced when utilized.</a:t>
            </a:r>
          </a:p>
          <a:p>
            <a:pPr marL="514350" indent="-514350">
              <a:buFont typeface="+mj-lt"/>
              <a:buAutoNum type="arabicPeriod"/>
            </a:pPr>
            <a:r>
              <a:rPr lang="en-US" dirty="0">
                <a:hlinkClick r:id="rId2"/>
              </a:rPr>
              <a:t>http://www.programmedlessons.org/Java9/index.html</a:t>
            </a:r>
            <a:endParaRPr lang="en-US" dirty="0"/>
          </a:p>
          <a:p>
            <a:pPr marL="514350" indent="-514350">
              <a:buFont typeface="+mj-lt"/>
              <a:buAutoNum type="arabicPeriod"/>
            </a:pPr>
            <a:r>
              <a:rPr lang="en-US" dirty="0"/>
              <a:t>Anderson, Julie and Franceschi, Herve, Java Illuminated 5</a:t>
            </a:r>
            <a:r>
              <a:rPr lang="en-US" baseline="30000" dirty="0"/>
              <a:t>TH</a:t>
            </a:r>
            <a:r>
              <a:rPr lang="en-US" dirty="0"/>
              <a:t> Edition,, Jones and Bartlett, 2019</a:t>
            </a:r>
          </a:p>
          <a:p>
            <a:pPr marL="514350" indent="-514350">
              <a:buFont typeface="+mj-lt"/>
              <a:buAutoNum type="arabicPeriod"/>
            </a:pPr>
            <a:r>
              <a:rPr lang="en-US" dirty="0"/>
              <a:t>Bravaco, Ralph and Simonson, Shai, Java Programming From The Ground Up, McGraw Hill, 2010</a:t>
            </a:r>
          </a:p>
          <a:p>
            <a:pPr marL="514350" indent="-514350">
              <a:buFont typeface="+mj-lt"/>
              <a:buAutoNum type="arabicPeriod"/>
            </a:pPr>
            <a:r>
              <a:rPr lang="en-US" dirty="0"/>
              <a:t>Deitel, Paul and Deitel, Harvey, Java, How To Program, Early Objects, Eleventh Edition, Pearson Publishing, 2018</a:t>
            </a:r>
          </a:p>
          <a:p>
            <a:pPr marL="514350" indent="-514350">
              <a:buFont typeface="+mj-lt"/>
              <a:buAutoNum type="arabicPeriod"/>
            </a:pPr>
            <a:r>
              <a:rPr lang="en-US" dirty="0"/>
              <a:t>Gaddis, Tony, Starting Out With Objects From Control Structures Through Objects, Seventh Edition, Pearson Publishing, 2019</a:t>
            </a:r>
          </a:p>
          <a:p>
            <a:pPr marL="514350" indent="-514350">
              <a:buFont typeface="+mj-lt"/>
              <a:buAutoNum type="arabicPeriod"/>
            </a:pPr>
            <a:r>
              <a:rPr lang="en-US" dirty="0"/>
              <a:t>Horstmann, Cay, Core Java For The Impatient, Addison Wesley- Pearson Education, 2015</a:t>
            </a:r>
          </a:p>
          <a:p>
            <a:pPr marL="514350" indent="-514350">
              <a:buFont typeface="+mj-lt"/>
              <a:buAutoNum type="arabicPeriod"/>
            </a:pPr>
            <a:r>
              <a:rPr lang="en-US" dirty="0"/>
              <a:t>Lecessi, Ralph, Functional Interfaces In Java, Apress, 2019</a:t>
            </a:r>
          </a:p>
          <a:p>
            <a:pPr marL="514350" indent="-514350">
              <a:buFont typeface="+mj-lt"/>
              <a:buAutoNum type="arabicPeriod"/>
            </a:pPr>
            <a:r>
              <a:rPr lang="en-US" dirty="0"/>
              <a:t>Naftalin, Maurice and Wadler, Philip, Java Generics and Collections, O’Reilly Media, 2007</a:t>
            </a:r>
          </a:p>
          <a:p>
            <a:pPr marL="514350" indent="-514350">
              <a:buFont typeface="+mj-lt"/>
              <a:buAutoNum type="arabicPeriod"/>
            </a:pPr>
            <a:r>
              <a:rPr lang="en-US" dirty="0"/>
              <a:t>Schmuller, Joseph, Teach Yourself UML In 24 Hours Second Edition, SAMS Publishing, 2002</a:t>
            </a:r>
          </a:p>
          <a:p>
            <a:pPr marL="514350" indent="-514350">
              <a:buFont typeface="+mj-lt"/>
              <a:buAutoNum type="arabicPeriod"/>
            </a:pPr>
            <a:r>
              <a:rPr lang="en-US" dirty="0"/>
              <a:t>Urma, Raoul-Gabriel, Fusco, Mario and Mycroft, Alan, Java 8 in Action: Lambdas, Streams, and Functional-Style Programming, Manning Publishing, Second Edition 2019</a:t>
            </a:r>
          </a:p>
          <a:p>
            <a:pPr marL="514350" indent="-514350">
              <a:buFont typeface="+mj-lt"/>
              <a:buAutoNum type="arabicPeriod"/>
            </a:pPr>
            <a:r>
              <a:rPr lang="en-US" dirty="0"/>
              <a:t>Wirfs-Brock, Rebecca, Wilkerson, Brian and Wiener, Laura, Designing Object-Oriented Software, Prentice Hall, 1990</a:t>
            </a:r>
          </a:p>
          <a:p>
            <a:pPr marL="514350" indent="-514350">
              <a:buFont typeface="+mj-lt"/>
              <a:buAutoNum type="arabicPeriod"/>
            </a:pPr>
            <a:r>
              <a:rPr lang="en-US" dirty="0"/>
              <a:t>Oracle On-Line Documentation and Tutorials, https://docs.oracle.com</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a:t>
            </a:fld>
            <a:endParaRPr lang="en-US" dirty="0"/>
          </a:p>
        </p:txBody>
      </p:sp>
    </p:spTree>
    <p:extLst>
      <p:ext uri="{BB962C8B-B14F-4D97-AF65-F5344CB8AC3E}">
        <p14:creationId xmlns:p14="http://schemas.microsoft.com/office/powerpoint/2010/main" val="4165428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Links</a:t>
            </a:r>
          </a:p>
        </p:txBody>
      </p:sp>
      <p:sp>
        <p:nvSpPr>
          <p:cNvPr id="3" name="Content Placeholder 2"/>
          <p:cNvSpPr>
            <a:spLocks noGrp="1"/>
          </p:cNvSpPr>
          <p:nvPr>
            <p:ph idx="1"/>
          </p:nvPr>
        </p:nvSpPr>
        <p:spPr>
          <a:xfrm>
            <a:off x="457200" y="1249680"/>
            <a:ext cx="8382000" cy="5151120"/>
          </a:xfrm>
        </p:spPr>
        <p:txBody>
          <a:bodyPr>
            <a:normAutofit fontScale="85000" lnSpcReduction="20000"/>
          </a:bodyPr>
          <a:lstStyle/>
          <a:p>
            <a:r>
              <a:rPr lang="en-US" dirty="0">
                <a:hlinkClick r:id="rId2">
                  <a:extLst>
                    <a:ext uri="{A12FA001-AC4F-418D-AE19-62706E023703}">
                      <ahyp:hlinkClr xmlns:ahyp="http://schemas.microsoft.com/office/drawing/2018/hyperlinkcolor" val="tx"/>
                    </a:ext>
                  </a:extLst>
                </a:hlinkClick>
              </a:rPr>
              <a:t>https://howtodoinjava.com/java8/lambda-expressions/</a:t>
            </a:r>
            <a:endParaRPr lang="en-US" dirty="0"/>
          </a:p>
          <a:p>
            <a:r>
              <a:rPr lang="en-US" dirty="0">
                <a:hlinkClick r:id="rId3">
                  <a:extLst>
                    <a:ext uri="{A12FA001-AC4F-418D-AE19-62706E023703}">
                      <ahyp:hlinkClr xmlns:ahyp="http://schemas.microsoft.com/office/drawing/2018/hyperlinkcolor" val="tx"/>
                    </a:ext>
                  </a:extLst>
                </a:hlinkClick>
              </a:rPr>
              <a:t>https://www.javatpoint.com/java-8-method-reference</a:t>
            </a:r>
            <a:endParaRPr lang="en-US" dirty="0"/>
          </a:p>
          <a:p>
            <a:r>
              <a:rPr lang="en-US" dirty="0">
                <a:hlinkClick r:id="rId4">
                  <a:extLst>
                    <a:ext uri="{A12FA001-AC4F-418D-AE19-62706E023703}">
                      <ahyp:hlinkClr xmlns:ahyp="http://schemas.microsoft.com/office/drawing/2018/hyperlinkcolor" val="tx"/>
                    </a:ext>
                  </a:extLst>
                </a:hlinkClick>
              </a:rPr>
              <a:t>https://howtodoinjava.com/java8/lambda-method-references-example/</a:t>
            </a:r>
            <a:endParaRPr lang="en-US" dirty="0"/>
          </a:p>
          <a:p>
            <a:r>
              <a:rPr lang="en-US" dirty="0">
                <a:hlinkClick r:id="rId5">
                  <a:extLst>
                    <a:ext uri="{A12FA001-AC4F-418D-AE19-62706E023703}">
                      <ahyp:hlinkClr xmlns:ahyp="http://schemas.microsoft.com/office/drawing/2018/hyperlinkcolor" val="tx"/>
                    </a:ext>
                  </a:extLst>
                </a:hlinkClick>
              </a:rPr>
              <a:t>https://examples.javacodegeeks.com/java-functional-interface-example/</a:t>
            </a:r>
            <a:endParaRPr lang="en-US" dirty="0"/>
          </a:p>
          <a:p>
            <a:r>
              <a:rPr lang="en-US" dirty="0">
                <a:hlinkClick r:id="rId6">
                  <a:extLst>
                    <a:ext uri="{A12FA001-AC4F-418D-AE19-62706E023703}">
                      <ahyp:hlinkClr xmlns:ahyp="http://schemas.microsoft.com/office/drawing/2018/hyperlinkcolor" val="tx"/>
                    </a:ext>
                  </a:extLst>
                </a:hlinkClick>
              </a:rPr>
              <a:t>http://tutorials.jenkov.com/java-functional-programming/streams.html#java-stream-definition</a:t>
            </a:r>
            <a:endParaRPr lang="en-US" dirty="0"/>
          </a:p>
          <a:p>
            <a:r>
              <a:rPr lang="en-US" dirty="0">
                <a:hlinkClick r:id="rId7">
                  <a:extLst>
                    <a:ext uri="{A12FA001-AC4F-418D-AE19-62706E023703}">
                      <ahyp:hlinkClr xmlns:ahyp="http://schemas.microsoft.com/office/drawing/2018/hyperlinkcolor" val="tx"/>
                    </a:ext>
                  </a:extLst>
                </a:hlinkClick>
              </a:rPr>
              <a:t>https://howtodoinjava.com/java8/java-streams-by-examples/</a:t>
            </a:r>
            <a:endParaRPr lang="en-US" dirty="0"/>
          </a:p>
          <a:p>
            <a:pPr marL="0" indent="0">
              <a:buNone/>
            </a:pPr>
            <a:endParaRPr lang="en-US" dirty="0"/>
          </a:p>
          <a:p>
            <a:pPr marL="0" indent="0">
              <a:buNone/>
            </a:pPr>
            <a:endParaRPr lang="en-US" dirty="0"/>
          </a:p>
          <a:p>
            <a:pPr marL="0" indent="0">
              <a:buNone/>
            </a:pPr>
            <a:r>
              <a:rPr lang="en-US" dirty="0"/>
              <a:t>Significant Portions of  the following reference are used in this lesson:</a:t>
            </a:r>
          </a:p>
          <a:p>
            <a:pPr marL="0" indent="0">
              <a:buNone/>
            </a:pPr>
            <a:r>
              <a:rPr lang="en-US" dirty="0"/>
              <a:t>Urma, Raoul-Gabriel, Fusco, Mario and Mycroft, Alan, Java 8 in Action: Lambdas, Streams, and Functional-Style Programming, Manning Publishing, Second Edition 2019</a:t>
            </a:r>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a:t>
            </a:fld>
            <a:endParaRPr lang="en-US" dirty="0"/>
          </a:p>
        </p:txBody>
      </p:sp>
    </p:spTree>
    <p:extLst>
      <p:ext uri="{BB962C8B-B14F-4D97-AF65-F5344CB8AC3E}">
        <p14:creationId xmlns:p14="http://schemas.microsoft.com/office/powerpoint/2010/main" val="365053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Lesson Goals</a:t>
            </a:r>
          </a:p>
        </p:txBody>
      </p:sp>
      <p:sp>
        <p:nvSpPr>
          <p:cNvPr id="3" name="Content Placeholder 2"/>
          <p:cNvSpPr>
            <a:spLocks noGrp="1"/>
          </p:cNvSpPr>
          <p:nvPr>
            <p:ph idx="1"/>
          </p:nvPr>
        </p:nvSpPr>
        <p:spPr/>
        <p:txBody>
          <a:bodyPr>
            <a:normAutofit/>
          </a:bodyPr>
          <a:lstStyle/>
          <a:p>
            <a:r>
              <a:rPr lang="en-US" altLang="en-US" dirty="0"/>
              <a:t>Project Management Approaches</a:t>
            </a:r>
          </a:p>
          <a:p>
            <a:r>
              <a:rPr lang="en-US" altLang="en-US" dirty="0"/>
              <a:t>Drivers in designing software</a:t>
            </a:r>
          </a:p>
          <a:p>
            <a:r>
              <a:rPr lang="en-US" altLang="en-US" dirty="0"/>
              <a:t>Discuss key software development practices</a:t>
            </a:r>
          </a:p>
          <a:p>
            <a:r>
              <a:rPr lang="en-US" altLang="en-US" dirty="0"/>
              <a:t>Describe good coding and testing practices</a:t>
            </a:r>
          </a:p>
          <a:p>
            <a:r>
              <a:rPr lang="en-US" altLang="en-US" dirty="0"/>
              <a:t>Describe Static Program Analysis</a:t>
            </a:r>
          </a:p>
          <a:p>
            <a:r>
              <a:rPr lang="en-US" altLang="en-US" dirty="0"/>
              <a:t>Describe Describe cyclomatic software complexity and how to calculate it</a:t>
            </a:r>
          </a:p>
          <a:p>
            <a:r>
              <a:rPr lang="en-US" altLang="en-US" dirty="0"/>
              <a:t>Describe imperative (object-oriented) versus declarative (Functional) programming</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a:t>
            </a:fld>
            <a:endParaRPr lang="en-US" dirty="0"/>
          </a:p>
        </p:txBody>
      </p:sp>
    </p:spTree>
    <p:extLst>
      <p:ext uri="{BB962C8B-B14F-4D97-AF65-F5344CB8AC3E}">
        <p14:creationId xmlns:p14="http://schemas.microsoft.com/office/powerpoint/2010/main" val="56077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17C9-9F7D-C045-AEED-328A2451CDF5}"/>
              </a:ext>
            </a:extLst>
          </p:cNvPr>
          <p:cNvSpPr>
            <a:spLocks noGrp="1"/>
          </p:cNvSpPr>
          <p:nvPr>
            <p:ph type="title"/>
          </p:nvPr>
        </p:nvSpPr>
        <p:spPr>
          <a:xfrm>
            <a:off x="457200" y="152400"/>
            <a:ext cx="8229600" cy="475488"/>
          </a:xfrm>
        </p:spPr>
        <p:txBody>
          <a:bodyPr>
            <a:noAutofit/>
          </a:bodyPr>
          <a:lstStyle/>
          <a:p>
            <a:r>
              <a:rPr lang="en-US" dirty="0"/>
              <a:t>Purpose And Goals Of This Course (1)</a:t>
            </a:r>
          </a:p>
        </p:txBody>
      </p:sp>
      <p:sp>
        <p:nvSpPr>
          <p:cNvPr id="3" name="Content Placeholder 2">
            <a:extLst>
              <a:ext uri="{FF2B5EF4-FFF2-40B4-BE49-F238E27FC236}">
                <a16:creationId xmlns:a16="http://schemas.microsoft.com/office/drawing/2014/main" id="{FA2E1A4E-877E-B343-971A-46AEDB2AFDF4}"/>
              </a:ext>
            </a:extLst>
          </p:cNvPr>
          <p:cNvSpPr>
            <a:spLocks noGrp="1"/>
          </p:cNvSpPr>
          <p:nvPr>
            <p:ph idx="1"/>
          </p:nvPr>
        </p:nvSpPr>
        <p:spPr>
          <a:xfrm>
            <a:off x="457200" y="685800"/>
            <a:ext cx="8229600" cy="6035675"/>
          </a:xfrm>
        </p:spPr>
        <p:txBody>
          <a:bodyPr>
            <a:normAutofit/>
          </a:bodyPr>
          <a:lstStyle/>
          <a:p>
            <a:r>
              <a:rPr lang="en-US" dirty="0"/>
              <a:t>The purpose of this class is to improve your programming skills </a:t>
            </a:r>
          </a:p>
          <a:p>
            <a:r>
              <a:rPr lang="en-US" dirty="0"/>
              <a:t>As Computer Science majors the professors in your upper division classes will expect you to be able to produce programs that solve the problems in many of their classes</a:t>
            </a:r>
          </a:p>
          <a:p>
            <a:r>
              <a:rPr lang="en-US" dirty="0"/>
              <a:t>In addition, many interviews for internships and full-time jobs include testing your programming skills and problem-solving approaches</a:t>
            </a:r>
          </a:p>
          <a:p>
            <a:r>
              <a:rPr lang="en-US" dirty="0"/>
              <a:t>Therefore, we want to teach you ways to improve your efficiency, your ability to design and then code and test the solutions to complex problems.</a:t>
            </a:r>
          </a:p>
        </p:txBody>
      </p:sp>
      <p:sp>
        <p:nvSpPr>
          <p:cNvPr id="4" name="Slide Number Placeholder 3">
            <a:extLst>
              <a:ext uri="{FF2B5EF4-FFF2-40B4-BE49-F238E27FC236}">
                <a16:creationId xmlns:a16="http://schemas.microsoft.com/office/drawing/2014/main" id="{0503A868-623E-5845-91FB-EE8E91710FF9}"/>
              </a:ext>
            </a:extLst>
          </p:cNvPr>
          <p:cNvSpPr>
            <a:spLocks noGrp="1"/>
          </p:cNvSpPr>
          <p:nvPr>
            <p:ph type="sldNum" sz="quarter" idx="12"/>
          </p:nvPr>
        </p:nvSpPr>
        <p:spPr/>
        <p:txBody>
          <a:bodyPr/>
          <a:lstStyle/>
          <a:p>
            <a:fld id="{13977939-A071-43C1-9268-F54CC2756BB5}" type="slidenum">
              <a:rPr lang="en-US" smtClean="0"/>
              <a:pPr/>
              <a:t>5</a:t>
            </a:fld>
            <a:endParaRPr lang="en-US" dirty="0"/>
          </a:p>
        </p:txBody>
      </p:sp>
    </p:spTree>
    <p:extLst>
      <p:ext uri="{BB962C8B-B14F-4D97-AF65-F5344CB8AC3E}">
        <p14:creationId xmlns:p14="http://schemas.microsoft.com/office/powerpoint/2010/main" val="201649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017C9-9F7D-C045-AEED-328A2451CDF5}"/>
              </a:ext>
            </a:extLst>
          </p:cNvPr>
          <p:cNvSpPr>
            <a:spLocks noGrp="1"/>
          </p:cNvSpPr>
          <p:nvPr>
            <p:ph type="title"/>
          </p:nvPr>
        </p:nvSpPr>
        <p:spPr>
          <a:xfrm>
            <a:off x="457200" y="152400"/>
            <a:ext cx="8229600" cy="475488"/>
          </a:xfrm>
        </p:spPr>
        <p:txBody>
          <a:bodyPr>
            <a:noAutofit/>
          </a:bodyPr>
          <a:lstStyle/>
          <a:p>
            <a:r>
              <a:rPr lang="en-US" dirty="0"/>
              <a:t>Purpose And Goals Of This Course (2)</a:t>
            </a:r>
          </a:p>
        </p:txBody>
      </p:sp>
      <p:sp>
        <p:nvSpPr>
          <p:cNvPr id="3" name="Content Placeholder 2">
            <a:extLst>
              <a:ext uri="{FF2B5EF4-FFF2-40B4-BE49-F238E27FC236}">
                <a16:creationId xmlns:a16="http://schemas.microsoft.com/office/drawing/2014/main" id="{FA2E1A4E-877E-B343-971A-46AEDB2AFDF4}"/>
              </a:ext>
            </a:extLst>
          </p:cNvPr>
          <p:cNvSpPr>
            <a:spLocks noGrp="1"/>
          </p:cNvSpPr>
          <p:nvPr>
            <p:ph idx="1"/>
          </p:nvPr>
        </p:nvSpPr>
        <p:spPr>
          <a:xfrm>
            <a:off x="457200" y="685800"/>
            <a:ext cx="8382000" cy="6172200"/>
          </a:xfrm>
        </p:spPr>
        <p:txBody>
          <a:bodyPr>
            <a:normAutofit/>
          </a:bodyPr>
          <a:lstStyle/>
          <a:p>
            <a:r>
              <a:rPr lang="en-US" dirty="0"/>
              <a:t>Understanding basic object-oriented principles including inheritance, polymorphism and interfaces.</a:t>
            </a:r>
          </a:p>
          <a:p>
            <a:r>
              <a:rPr lang="en-US" dirty="0"/>
              <a:t>Learning how to read and use language documentation (in particular applied to Oracle documentation).</a:t>
            </a:r>
          </a:p>
          <a:p>
            <a:r>
              <a:rPr lang="en-US" dirty="0"/>
              <a:t>We will show you how to create and use generics</a:t>
            </a:r>
          </a:p>
          <a:p>
            <a:r>
              <a:rPr lang="en-US" dirty="0"/>
              <a:t>We will study Collections and the collection framework</a:t>
            </a:r>
          </a:p>
          <a:p>
            <a:r>
              <a:rPr lang="en-US" dirty="0"/>
              <a:t>We will learn some newer Java features including Lambdas, Functional Programming within Java, and if possible Streaming and Multitasking/Multithreading</a:t>
            </a:r>
          </a:p>
          <a:p>
            <a:r>
              <a:rPr lang="en-US" dirty="0"/>
              <a:t>The best online starting point is:</a:t>
            </a:r>
          </a:p>
          <a:p>
            <a:pPr marL="0" indent="0">
              <a:buNone/>
            </a:pPr>
            <a:r>
              <a:rPr lang="en-US" dirty="0"/>
              <a:t>    https://docs.oracle.com/en/java/javase/21/</a:t>
            </a:r>
          </a:p>
        </p:txBody>
      </p:sp>
      <p:sp>
        <p:nvSpPr>
          <p:cNvPr id="4" name="Slide Number Placeholder 3">
            <a:extLst>
              <a:ext uri="{FF2B5EF4-FFF2-40B4-BE49-F238E27FC236}">
                <a16:creationId xmlns:a16="http://schemas.microsoft.com/office/drawing/2014/main" id="{0503A868-623E-5845-91FB-EE8E91710FF9}"/>
              </a:ext>
            </a:extLst>
          </p:cNvPr>
          <p:cNvSpPr>
            <a:spLocks noGrp="1"/>
          </p:cNvSpPr>
          <p:nvPr>
            <p:ph type="sldNum" sz="quarter" idx="12"/>
          </p:nvPr>
        </p:nvSpPr>
        <p:spPr/>
        <p:txBody>
          <a:bodyPr/>
          <a:lstStyle/>
          <a:p>
            <a:fld id="{13977939-A071-43C1-9268-F54CC2756BB5}" type="slidenum">
              <a:rPr lang="en-US" smtClean="0"/>
              <a:pPr/>
              <a:t>6</a:t>
            </a:fld>
            <a:endParaRPr lang="en-US" dirty="0"/>
          </a:p>
        </p:txBody>
      </p:sp>
    </p:spTree>
    <p:extLst>
      <p:ext uri="{BB962C8B-B14F-4D97-AF65-F5344CB8AC3E}">
        <p14:creationId xmlns:p14="http://schemas.microsoft.com/office/powerpoint/2010/main" val="1347928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2FC4-6EAF-DF4A-3E0F-FB4E43B3C7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4C5F14F-90D1-9675-D81D-22412AF3DD11}"/>
              </a:ext>
            </a:extLst>
          </p:cNvPr>
          <p:cNvSpPr>
            <a:spLocks noGrp="1"/>
          </p:cNvSpPr>
          <p:nvPr>
            <p:ph type="body" idx="1"/>
          </p:nvPr>
        </p:nvSpPr>
        <p:spPr/>
        <p:txBody>
          <a:bodyPr/>
          <a:lstStyle/>
          <a:p>
            <a:r>
              <a:rPr lang="en-US" dirty="0"/>
              <a:t>Project Management Approaches</a:t>
            </a:r>
          </a:p>
        </p:txBody>
      </p:sp>
      <p:sp>
        <p:nvSpPr>
          <p:cNvPr id="4" name="Slide Number Placeholder 3">
            <a:extLst>
              <a:ext uri="{FF2B5EF4-FFF2-40B4-BE49-F238E27FC236}">
                <a16:creationId xmlns:a16="http://schemas.microsoft.com/office/drawing/2014/main" id="{27428AB1-CFF9-9BBD-8186-0DB951B1444F}"/>
              </a:ext>
            </a:extLst>
          </p:cNvPr>
          <p:cNvSpPr>
            <a:spLocks noGrp="1"/>
          </p:cNvSpPr>
          <p:nvPr>
            <p:ph type="sldNum" sz="quarter" idx="12"/>
          </p:nvPr>
        </p:nvSpPr>
        <p:spPr/>
        <p:txBody>
          <a:bodyPr/>
          <a:lstStyle/>
          <a:p>
            <a:fld id="{13977939-A071-43C1-9268-F54CC2756BB5}" type="slidenum">
              <a:rPr lang="en-US" smtClean="0"/>
              <a:pPr/>
              <a:t>7</a:t>
            </a:fld>
            <a:endParaRPr lang="en-US" dirty="0"/>
          </a:p>
        </p:txBody>
      </p:sp>
    </p:spTree>
    <p:extLst>
      <p:ext uri="{BB962C8B-B14F-4D97-AF65-F5344CB8AC3E}">
        <p14:creationId xmlns:p14="http://schemas.microsoft.com/office/powerpoint/2010/main" val="3879597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91600" cy="462018"/>
          </a:xfrm>
        </p:spPr>
        <p:txBody>
          <a:bodyPr>
            <a:noAutofit/>
          </a:bodyPr>
          <a:lstStyle/>
          <a:p>
            <a:r>
              <a:rPr lang="en-US" sz="3200" dirty="0"/>
              <a:t>Project Management Types and Their Life Cycles</a:t>
            </a:r>
          </a:p>
        </p:txBody>
      </p:sp>
      <p:sp>
        <p:nvSpPr>
          <p:cNvPr id="3" name="Content Placeholder 2"/>
          <p:cNvSpPr>
            <a:spLocks noGrp="1"/>
          </p:cNvSpPr>
          <p:nvPr>
            <p:ph idx="1"/>
          </p:nvPr>
        </p:nvSpPr>
        <p:spPr>
          <a:xfrm>
            <a:off x="457200" y="685800"/>
            <a:ext cx="8229600" cy="6096000"/>
          </a:xfrm>
        </p:spPr>
        <p:txBody>
          <a:bodyPr>
            <a:normAutofit fontScale="92500" lnSpcReduction="10000"/>
          </a:bodyPr>
          <a:lstStyle/>
          <a:p>
            <a:r>
              <a:rPr lang="en-US" dirty="0"/>
              <a:t>There are two different Project Management Types that employ different life cycle models</a:t>
            </a:r>
          </a:p>
          <a:p>
            <a:pPr lvl="1"/>
            <a:r>
              <a:rPr lang="en-US" dirty="0"/>
              <a:t>Tradition Program Management (TPM) —Predictive and Iterative Life Cycle Models</a:t>
            </a:r>
          </a:p>
          <a:p>
            <a:pPr lvl="2"/>
            <a:r>
              <a:rPr lang="en-US" dirty="0"/>
              <a:t>Used when the goal and solution are clear</a:t>
            </a:r>
          </a:p>
          <a:p>
            <a:pPr lvl="2"/>
            <a:r>
              <a:rPr lang="en-US" dirty="0"/>
              <a:t>20% of all projects</a:t>
            </a:r>
          </a:p>
          <a:p>
            <a:pPr lvl="2"/>
            <a:r>
              <a:rPr lang="en-US" dirty="0"/>
              <a:t>Example </a:t>
            </a:r>
            <a:r>
              <a:rPr lang="mr-IN" dirty="0"/>
              <a:t>–</a:t>
            </a:r>
            <a:r>
              <a:rPr lang="en-US" dirty="0"/>
              <a:t> Install a network in a building</a:t>
            </a:r>
          </a:p>
          <a:p>
            <a:pPr lvl="1"/>
            <a:r>
              <a:rPr lang="en-US" dirty="0"/>
              <a:t>Agile Program Management </a:t>
            </a:r>
            <a:r>
              <a:rPr lang="mr-IN" dirty="0"/>
              <a:t>–</a:t>
            </a:r>
            <a:r>
              <a:rPr lang="en-US" dirty="0"/>
              <a:t> Incremental and Adaptive Life Cycles Models</a:t>
            </a:r>
          </a:p>
          <a:p>
            <a:pPr lvl="2"/>
            <a:r>
              <a:rPr lang="en-US" dirty="0"/>
              <a:t>Used when the goal is clear but the solution is not</a:t>
            </a:r>
          </a:p>
          <a:p>
            <a:pPr lvl="2"/>
            <a:r>
              <a:rPr lang="en-US" dirty="0"/>
              <a:t>Used when the final goal is changing so that the solution must evolve due to market changes, technological advancement, business needs, etc.</a:t>
            </a:r>
          </a:p>
          <a:p>
            <a:pPr lvl="2"/>
            <a:r>
              <a:rPr lang="en-US" dirty="0"/>
              <a:t>80% of all projects</a:t>
            </a:r>
          </a:p>
          <a:p>
            <a:pPr lvl="2"/>
            <a:r>
              <a:rPr lang="en-US" dirty="0"/>
              <a:t>Example </a:t>
            </a:r>
            <a:r>
              <a:rPr lang="mr-IN" dirty="0"/>
              <a:t>–</a:t>
            </a:r>
            <a:r>
              <a:rPr lang="en-US" dirty="0"/>
              <a:t> Send a crew of 5 to Mars and return them safely to Earth before 2030</a:t>
            </a:r>
          </a:p>
          <a:p>
            <a:pPr lvl="3"/>
            <a:r>
              <a:rPr lang="en-US" dirty="0"/>
              <a:t>In the past a waterfall approach would be used, usually leading to massive cost over runs</a:t>
            </a:r>
          </a:p>
          <a:p>
            <a:pPr lvl="1"/>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8</a:t>
            </a:fld>
            <a:endParaRPr lang="en-US" dirty="0"/>
          </a:p>
        </p:txBody>
      </p:sp>
    </p:spTree>
    <p:extLst>
      <p:ext uri="{BB962C8B-B14F-4D97-AF65-F5344CB8AC3E}">
        <p14:creationId xmlns:p14="http://schemas.microsoft.com/office/powerpoint/2010/main" val="1710487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FE4B-9A56-D74F-BA11-A49C2A0D7973}"/>
              </a:ext>
            </a:extLst>
          </p:cNvPr>
          <p:cNvSpPr>
            <a:spLocks noGrp="1"/>
          </p:cNvSpPr>
          <p:nvPr>
            <p:ph type="title"/>
          </p:nvPr>
        </p:nvSpPr>
        <p:spPr/>
        <p:txBody>
          <a:bodyPr>
            <a:normAutofit fontScale="90000"/>
          </a:bodyPr>
          <a:lstStyle/>
          <a:p>
            <a:r>
              <a:rPr lang="en-US" dirty="0"/>
              <a:t>Characteristics Of Agile Vs. Traditional Processes</a:t>
            </a:r>
          </a:p>
        </p:txBody>
      </p:sp>
      <p:graphicFrame>
        <p:nvGraphicFramePr>
          <p:cNvPr id="5" name="Table 5">
            <a:extLst>
              <a:ext uri="{FF2B5EF4-FFF2-40B4-BE49-F238E27FC236}">
                <a16:creationId xmlns:a16="http://schemas.microsoft.com/office/drawing/2014/main" id="{4769A121-9FEB-5E46-95B3-7F52C7E1B2A4}"/>
              </a:ext>
            </a:extLst>
          </p:cNvPr>
          <p:cNvGraphicFramePr>
            <a:graphicFrameLocks noGrp="1"/>
          </p:cNvGraphicFramePr>
          <p:nvPr>
            <p:ph idx="1"/>
          </p:nvPr>
        </p:nvGraphicFramePr>
        <p:xfrm>
          <a:off x="457200" y="914400"/>
          <a:ext cx="8229600" cy="47650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01753791"/>
                    </a:ext>
                  </a:extLst>
                </a:gridCol>
                <a:gridCol w="3124200">
                  <a:extLst>
                    <a:ext uri="{9D8B030D-6E8A-4147-A177-3AD203B41FA5}">
                      <a16:colId xmlns:a16="http://schemas.microsoft.com/office/drawing/2014/main" val="3678698409"/>
                    </a:ext>
                  </a:extLst>
                </a:gridCol>
                <a:gridCol w="3733800">
                  <a:extLst>
                    <a:ext uri="{9D8B030D-6E8A-4147-A177-3AD203B41FA5}">
                      <a16:colId xmlns:a16="http://schemas.microsoft.com/office/drawing/2014/main" val="963522746"/>
                    </a:ext>
                  </a:extLst>
                </a:gridCol>
              </a:tblGrid>
              <a:tr h="370840">
                <a:tc>
                  <a:txBody>
                    <a:bodyPr/>
                    <a:lstStyle/>
                    <a:p>
                      <a:pPr algn="ctr"/>
                      <a:r>
                        <a:rPr lang="en-US" sz="1400" dirty="0"/>
                        <a:t>Category</a:t>
                      </a:r>
                    </a:p>
                  </a:txBody>
                  <a:tcPr/>
                </a:tc>
                <a:tc>
                  <a:txBody>
                    <a:bodyPr/>
                    <a:lstStyle/>
                    <a:p>
                      <a:pPr algn="ctr"/>
                      <a:r>
                        <a:rPr lang="en-US" sz="1400" dirty="0"/>
                        <a:t>Agile</a:t>
                      </a:r>
                    </a:p>
                  </a:txBody>
                  <a:tcPr/>
                </a:tc>
                <a:tc>
                  <a:txBody>
                    <a:bodyPr/>
                    <a:lstStyle/>
                    <a:p>
                      <a:pPr algn="ctr"/>
                      <a:r>
                        <a:rPr lang="en-US" sz="1400" dirty="0"/>
                        <a:t>Traditional</a:t>
                      </a:r>
                    </a:p>
                  </a:txBody>
                  <a:tcPr/>
                </a:tc>
                <a:extLst>
                  <a:ext uri="{0D108BD9-81ED-4DB2-BD59-A6C34878D82A}">
                    <a16:rowId xmlns:a16="http://schemas.microsoft.com/office/drawing/2014/main" val="1639844059"/>
                  </a:ext>
                </a:extLst>
              </a:tr>
              <a:tr h="370840">
                <a:tc>
                  <a:txBody>
                    <a:bodyPr/>
                    <a:lstStyle/>
                    <a:p>
                      <a:r>
                        <a:rPr lang="en-US" sz="1200" dirty="0">
                          <a:latin typeface="Arial" panose="020B0604020202020204" pitchFamily="34" charset="0"/>
                          <a:cs typeface="Arial" panose="020B0604020202020204" pitchFamily="34" charset="0"/>
                        </a:rPr>
                        <a:t>Requirements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kern="1200" dirty="0">
                          <a:solidFill>
                            <a:schemeClr val="dk1"/>
                          </a:solidFill>
                          <a:effectLst/>
                          <a:latin typeface="Arial" panose="020B0604020202020204" pitchFamily="34" charset="0"/>
                          <a:ea typeface="+mn-ea"/>
                          <a:cs typeface="Arial" panose="020B0604020202020204" pitchFamily="34" charset="0"/>
                        </a:rPr>
                        <a:t>Assumes they will change; requirements are collected informally at the beginning of the project, and then at the beginning of each iteration. Uses constant user interaction instead of formal requirements. </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Assumes they will not change during the project. A complete, detailed formal requirements document is necessary for success. Any changes in requirements after the design or implementation has started will be costly.</a:t>
                      </a:r>
                    </a:p>
                  </a:txBody>
                  <a:tcPr/>
                </a:tc>
                <a:extLst>
                  <a:ext uri="{0D108BD9-81ED-4DB2-BD59-A6C34878D82A}">
                    <a16:rowId xmlns:a16="http://schemas.microsoft.com/office/drawing/2014/main" val="1028338359"/>
                  </a:ext>
                </a:extLst>
              </a:tr>
              <a:tr h="370840">
                <a:tc>
                  <a:txBody>
                    <a:bodyPr/>
                    <a:lstStyle/>
                    <a:p>
                      <a:r>
                        <a:rPr lang="en-US" sz="1200" dirty="0">
                          <a:latin typeface="Arial" panose="020B0604020202020204" pitchFamily="34" charset="0"/>
                          <a:cs typeface="Arial" panose="020B0604020202020204" pitchFamily="34" charset="0"/>
                        </a:rPr>
                        <a:t>Planning</a:t>
                      </a:r>
                    </a:p>
                  </a:txBody>
                  <a:tcPr/>
                </a:tc>
                <a:tc>
                  <a:txBody>
                    <a:bodyPr/>
                    <a:lstStyle/>
                    <a:p>
                      <a:r>
                        <a:rPr lang="en-US" sz="1200" dirty="0">
                          <a:latin typeface="Arial" panose="020B0604020202020204" pitchFamily="34" charset="0"/>
                          <a:cs typeface="Arial" panose="020B0604020202020204" pitchFamily="34" charset="0"/>
                        </a:rPr>
                        <a:t>Not much planning up front. Planning done in small increments throughout development.</a:t>
                      </a:r>
                    </a:p>
                  </a:txBody>
                  <a:tcPr/>
                </a:tc>
                <a:tc>
                  <a:txBody>
                    <a:bodyPr/>
                    <a:lstStyle/>
                    <a:p>
                      <a:r>
                        <a:rPr lang="en-US" sz="1200" dirty="0">
                          <a:latin typeface="Arial" panose="020B0604020202020204" pitchFamily="34" charset="0"/>
                          <a:cs typeface="Arial" panose="020B0604020202020204" pitchFamily="34" charset="0"/>
                        </a:rPr>
                        <a:t>Most activities planned up front.</a:t>
                      </a:r>
                    </a:p>
                  </a:txBody>
                  <a:tcPr/>
                </a:tc>
                <a:extLst>
                  <a:ext uri="{0D108BD9-81ED-4DB2-BD59-A6C34878D82A}">
                    <a16:rowId xmlns:a16="http://schemas.microsoft.com/office/drawing/2014/main" val="1082503777"/>
                  </a:ext>
                </a:extLst>
              </a:tr>
              <a:tr h="370840">
                <a:tc>
                  <a:txBody>
                    <a:bodyPr/>
                    <a:lstStyle/>
                    <a:p>
                      <a:r>
                        <a:rPr lang="en-US" sz="1200" dirty="0">
                          <a:latin typeface="Arial" panose="020B0604020202020204" pitchFamily="34" charset="0"/>
                          <a:cs typeface="Arial" panose="020B0604020202020204" pitchFamily="34" charset="0"/>
                        </a:rPr>
                        <a:t>Scheduling</a:t>
                      </a:r>
                    </a:p>
                  </a:txBody>
                  <a:tcPr/>
                </a:tc>
                <a:tc>
                  <a:txBody>
                    <a:bodyPr/>
                    <a:lstStyle/>
                    <a:p>
                      <a:r>
                        <a:rPr lang="en-US" sz="1200" dirty="0">
                          <a:latin typeface="Arial" panose="020B0604020202020204" pitchFamily="34" charset="0"/>
                          <a:cs typeface="Arial" panose="020B0604020202020204" pitchFamily="34" charset="0"/>
                        </a:rPr>
                        <a:t>Only the next few activities are scheduled. Schedule may change if scope needs to be adjusted.</a:t>
                      </a:r>
                    </a:p>
                  </a:txBody>
                  <a:tcPr/>
                </a:tc>
                <a:tc>
                  <a:txBody>
                    <a:bodyPr/>
                    <a:lstStyle/>
                    <a:p>
                      <a:r>
                        <a:rPr lang="en-US" sz="1200" dirty="0">
                          <a:latin typeface="Arial" panose="020B0604020202020204" pitchFamily="34" charset="0"/>
                          <a:cs typeface="Arial" panose="020B0604020202020204" pitchFamily="34" charset="0"/>
                        </a:rPr>
                        <a:t>Schedules are relatively inflexible and should be adhered to.</a:t>
                      </a:r>
                    </a:p>
                  </a:txBody>
                  <a:tcPr/>
                </a:tc>
                <a:extLst>
                  <a:ext uri="{0D108BD9-81ED-4DB2-BD59-A6C34878D82A}">
                    <a16:rowId xmlns:a16="http://schemas.microsoft.com/office/drawing/2014/main" val="2379998120"/>
                  </a:ext>
                </a:extLst>
              </a:tr>
              <a:tr h="370840">
                <a:tc>
                  <a:txBody>
                    <a:bodyPr/>
                    <a:lstStyle/>
                    <a:p>
                      <a:r>
                        <a:rPr lang="en-US" sz="1200" dirty="0">
                          <a:latin typeface="Arial" panose="020B0604020202020204" pitchFamily="34" charset="0"/>
                          <a:cs typeface="Arial" panose="020B0604020202020204" pitchFamily="34" charset="0"/>
                        </a:rPr>
                        <a:t>Design</a:t>
                      </a:r>
                    </a:p>
                  </a:txBody>
                  <a:tcPr/>
                </a:tc>
                <a:tc>
                  <a:txBody>
                    <a:bodyPr/>
                    <a:lstStyle/>
                    <a:p>
                      <a:r>
                        <a:rPr lang="en-US" sz="1200" dirty="0">
                          <a:latin typeface="Arial" panose="020B0604020202020204" pitchFamily="34" charset="0"/>
                          <a:cs typeface="Arial" panose="020B0604020202020204" pitchFamily="34" charset="0"/>
                        </a:rPr>
                        <a:t>Informal and iterative.</a:t>
                      </a:r>
                    </a:p>
                  </a:txBody>
                  <a:tcPr/>
                </a:tc>
                <a:tc>
                  <a:txBody>
                    <a:bodyPr/>
                    <a:lstStyle/>
                    <a:p>
                      <a:r>
                        <a:rPr lang="en-US" sz="1200" dirty="0">
                          <a:latin typeface="Arial" panose="020B0604020202020204" pitchFamily="34" charset="0"/>
                          <a:cs typeface="Arial" panose="020B0604020202020204" pitchFamily="34" charset="0"/>
                        </a:rPr>
                        <a:t>Formal and done up front, after all requirements are known.</a:t>
                      </a:r>
                    </a:p>
                  </a:txBody>
                  <a:tcPr/>
                </a:tc>
                <a:extLst>
                  <a:ext uri="{0D108BD9-81ED-4DB2-BD59-A6C34878D82A}">
                    <a16:rowId xmlns:a16="http://schemas.microsoft.com/office/drawing/2014/main" val="1416279843"/>
                  </a:ext>
                </a:extLst>
              </a:tr>
              <a:tr h="370840">
                <a:tc>
                  <a:txBody>
                    <a:bodyPr/>
                    <a:lstStyle/>
                    <a:p>
                      <a:r>
                        <a:rPr lang="en-US" sz="1200" dirty="0">
                          <a:latin typeface="Arial" panose="020B0604020202020204" pitchFamily="34" charset="0"/>
                          <a:cs typeface="Arial" panose="020B0604020202020204" pitchFamily="34" charset="0"/>
                        </a:rPr>
                        <a:t>User Involvement</a:t>
                      </a:r>
                    </a:p>
                  </a:txBody>
                  <a:tcPr/>
                </a:tc>
                <a:tc>
                  <a:txBody>
                    <a:bodyPr/>
                    <a:lstStyle/>
                    <a:p>
                      <a:r>
                        <a:rPr lang="en-US" sz="1200" dirty="0">
                          <a:latin typeface="Arial" panose="020B0604020202020204" pitchFamily="34" charset="0"/>
                          <a:cs typeface="Arial" panose="020B0604020202020204" pitchFamily="34" charset="0"/>
                        </a:rPr>
                        <a:t>Crucial, frequent, throughout the whole process.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Required only at the beginning (requirements solicitation and analysis) and at the end (acceptance testing). </a:t>
                      </a: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99337404"/>
                  </a:ext>
                </a:extLst>
              </a:tr>
              <a:tr h="370840">
                <a:tc>
                  <a:txBody>
                    <a:bodyPr/>
                    <a:lstStyle/>
                    <a:p>
                      <a:r>
                        <a:rPr lang="en-US" sz="1200" dirty="0">
                          <a:latin typeface="Arial" panose="020B0604020202020204" pitchFamily="34" charset="0"/>
                          <a:cs typeface="Arial" panose="020B0604020202020204" pitchFamily="34" charset="0"/>
                        </a:rPr>
                        <a:t>Documentation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Minimal, only what is necessary; relies on source code as the ultimate documentation.</a:t>
                      </a:r>
                    </a:p>
                  </a:txBody>
                  <a:tcPr/>
                </a:tc>
                <a:tc>
                  <a:txBody>
                    <a:bodyPr/>
                    <a:lstStyle/>
                    <a:p>
                      <a:r>
                        <a:rPr lang="en-US" sz="1200" dirty="0">
                          <a:latin typeface="Arial" panose="020B0604020202020204" pitchFamily="34" charset="0"/>
                          <a:cs typeface="Arial" panose="020B0604020202020204" pitchFamily="34" charset="0"/>
                        </a:rPr>
                        <a:t>Usually requires heavy, formal documentation of every phase of the project.</a:t>
                      </a:r>
                    </a:p>
                  </a:txBody>
                  <a:tcPr/>
                </a:tc>
                <a:extLst>
                  <a:ext uri="{0D108BD9-81ED-4DB2-BD59-A6C34878D82A}">
                    <a16:rowId xmlns:a16="http://schemas.microsoft.com/office/drawing/2014/main" val="1926392202"/>
                  </a:ext>
                </a:extLst>
              </a:tr>
              <a:tr h="370840">
                <a:tc>
                  <a:txBody>
                    <a:bodyPr/>
                    <a:lstStyle/>
                    <a:p>
                      <a:r>
                        <a:rPr lang="en-US" sz="1200" dirty="0">
                          <a:latin typeface="Arial" panose="020B0604020202020204" pitchFamily="34" charset="0"/>
                          <a:cs typeface="Arial" panose="020B0604020202020204" pitchFamily="34" charset="0"/>
                        </a:rPr>
                        <a:t>Communication</a:t>
                      </a:r>
                    </a:p>
                  </a:txBody>
                  <a:tcPr/>
                </a:tc>
                <a:tc>
                  <a:txBody>
                    <a:bodyPr/>
                    <a:lstStyle/>
                    <a:p>
                      <a:r>
                        <a:rPr lang="en-US" sz="1200" dirty="0">
                          <a:latin typeface="Arial" panose="020B0604020202020204" pitchFamily="34" charset="0"/>
                          <a:cs typeface="Arial" panose="020B0604020202020204" pitchFamily="34" charset="0"/>
                        </a:rPr>
                        <a:t>Continual with stakeholders</a:t>
                      </a:r>
                    </a:p>
                  </a:txBody>
                  <a:tcPr/>
                </a:tc>
                <a:tc>
                  <a:txBody>
                    <a:bodyPr/>
                    <a:lstStyle/>
                    <a:p>
                      <a:r>
                        <a:rPr lang="en-US" sz="1200" dirty="0">
                          <a:latin typeface="Arial" panose="020B0604020202020204" pitchFamily="34" charset="0"/>
                          <a:cs typeface="Arial" panose="020B0604020202020204" pitchFamily="34" charset="0"/>
                        </a:rPr>
                        <a:t>Periodic with management and sponsors</a:t>
                      </a:r>
                    </a:p>
                  </a:txBody>
                  <a:tcPr/>
                </a:tc>
                <a:extLst>
                  <a:ext uri="{0D108BD9-81ED-4DB2-BD59-A6C34878D82A}">
                    <a16:rowId xmlns:a16="http://schemas.microsoft.com/office/drawing/2014/main" val="2714089118"/>
                  </a:ext>
                </a:extLst>
              </a:tr>
            </a:tbl>
          </a:graphicData>
        </a:graphic>
      </p:graphicFrame>
      <p:sp>
        <p:nvSpPr>
          <p:cNvPr id="4" name="Slide Number Placeholder 3">
            <a:extLst>
              <a:ext uri="{FF2B5EF4-FFF2-40B4-BE49-F238E27FC236}">
                <a16:creationId xmlns:a16="http://schemas.microsoft.com/office/drawing/2014/main" id="{E2697BD4-A1AA-3440-8837-660BBFACEA7C}"/>
              </a:ext>
            </a:extLst>
          </p:cNvPr>
          <p:cNvSpPr>
            <a:spLocks noGrp="1"/>
          </p:cNvSpPr>
          <p:nvPr>
            <p:ph type="sldNum" sz="quarter" idx="12"/>
          </p:nvPr>
        </p:nvSpPr>
        <p:spPr/>
        <p:txBody>
          <a:bodyPr/>
          <a:lstStyle/>
          <a:p>
            <a:fld id="{13977939-A071-43C1-9268-F54CC2756BB5}" type="slidenum">
              <a:rPr lang="en-US" smtClean="0"/>
              <a:pPr/>
              <a:t>9</a:t>
            </a:fld>
            <a:endParaRPr lang="en-US" dirty="0"/>
          </a:p>
        </p:txBody>
      </p:sp>
    </p:spTree>
    <p:extLst>
      <p:ext uri="{BB962C8B-B14F-4D97-AF65-F5344CB8AC3E}">
        <p14:creationId xmlns:p14="http://schemas.microsoft.com/office/powerpoint/2010/main" val="39836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24A5B-6655-BA41-ABE9-4716BF21744C}"/>
              </a:ext>
            </a:extLst>
          </p:cNvPr>
          <p:cNvSpPr>
            <a:spLocks noGrp="1"/>
          </p:cNvSpPr>
          <p:nvPr>
            <p:ph type="title"/>
          </p:nvPr>
        </p:nvSpPr>
        <p:spPr/>
        <p:txBody>
          <a:bodyPr>
            <a:noAutofit/>
          </a:bodyPr>
          <a:lstStyle/>
          <a:p>
            <a:r>
              <a:rPr lang="en-US" dirty="0"/>
              <a:t>Waterfall vs. Agile</a:t>
            </a:r>
          </a:p>
        </p:txBody>
      </p:sp>
      <p:sp>
        <p:nvSpPr>
          <p:cNvPr id="3" name="Slide Number Placeholder 2">
            <a:extLst>
              <a:ext uri="{FF2B5EF4-FFF2-40B4-BE49-F238E27FC236}">
                <a16:creationId xmlns:a16="http://schemas.microsoft.com/office/drawing/2014/main" id="{CDC877FB-B691-0246-BE22-AF4FE8D7B796}"/>
              </a:ext>
            </a:extLst>
          </p:cNvPr>
          <p:cNvSpPr>
            <a:spLocks noGrp="1"/>
          </p:cNvSpPr>
          <p:nvPr>
            <p:ph type="sldNum" sz="quarter" idx="12"/>
          </p:nvPr>
        </p:nvSpPr>
        <p:spPr/>
        <p:txBody>
          <a:bodyPr/>
          <a:lstStyle/>
          <a:p>
            <a:fld id="{13977939-A071-43C1-9268-F54CC2756BB5}" type="slidenum">
              <a:rPr lang="en-US" smtClean="0"/>
              <a:pPr/>
              <a:t>10</a:t>
            </a:fld>
            <a:endParaRPr lang="en-US" dirty="0"/>
          </a:p>
        </p:txBody>
      </p:sp>
      <p:pic>
        <p:nvPicPr>
          <p:cNvPr id="1026" name="Picture 2" descr="Agile vs Waterfall methodology diagram Software development life cycle diagram Agility stock vector">
            <a:extLst>
              <a:ext uri="{FF2B5EF4-FFF2-40B4-BE49-F238E27FC236}">
                <a16:creationId xmlns:a16="http://schemas.microsoft.com/office/drawing/2014/main" id="{3D639D35-0BAE-B54F-B0E3-8D805C9B22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33" t="18333" r="5833"/>
          <a:stretch/>
        </p:blipFill>
        <p:spPr bwMode="auto">
          <a:xfrm>
            <a:off x="304800" y="1809925"/>
            <a:ext cx="8686800" cy="3905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290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305800" cy="704088"/>
          </a:xfrm>
        </p:spPr>
        <p:txBody>
          <a:bodyPr>
            <a:normAutofit/>
          </a:bodyPr>
          <a:lstStyle/>
          <a:p>
            <a:r>
              <a:rPr lang="en-US" sz="3200" dirty="0"/>
              <a:t>The Waterfall In Reality</a:t>
            </a:r>
          </a:p>
        </p:txBody>
      </p:sp>
      <p:sp>
        <p:nvSpPr>
          <p:cNvPr id="3" name="Slide Number Placeholder 2"/>
          <p:cNvSpPr>
            <a:spLocks noGrp="1"/>
          </p:cNvSpPr>
          <p:nvPr>
            <p:ph type="sldNum" sz="quarter" idx="12"/>
          </p:nvPr>
        </p:nvSpPr>
        <p:spPr/>
        <p:txBody>
          <a:bodyPr/>
          <a:lstStyle/>
          <a:p>
            <a:fld id="{13977939-A071-43C1-9268-F54CC2756BB5}" type="slidenum">
              <a:rPr lang="en-US" smtClean="0"/>
              <a:pPr/>
              <a:t>11</a:t>
            </a:fld>
            <a:endParaRPr lang="en-US" dirty="0"/>
          </a:p>
        </p:txBody>
      </p:sp>
      <p:sp>
        <p:nvSpPr>
          <p:cNvPr id="6" name="TextBox 5"/>
          <p:cNvSpPr txBox="1"/>
          <p:nvPr/>
        </p:nvSpPr>
        <p:spPr>
          <a:xfrm>
            <a:off x="304800" y="5906869"/>
            <a:ext cx="8305800" cy="646331"/>
          </a:xfrm>
          <a:prstGeom prst="rect">
            <a:avLst/>
          </a:prstGeom>
          <a:noFill/>
        </p:spPr>
        <p:txBody>
          <a:bodyPr wrap="square" rtlCol="0">
            <a:spAutoFit/>
          </a:bodyPr>
          <a:lstStyle/>
          <a:p>
            <a:r>
              <a:rPr lang="en-US" dirty="0"/>
              <a:t>In reality there are almost always unknowns and changes</a:t>
            </a:r>
          </a:p>
          <a:p>
            <a:r>
              <a:rPr lang="en-US" dirty="0"/>
              <a:t>This leads to the potential to circle back at any step to a prior step in the life cycle</a:t>
            </a:r>
          </a:p>
        </p:txBody>
      </p:sp>
      <p:pic>
        <p:nvPicPr>
          <p:cNvPr id="7" name="Picture 6">
            <a:extLst>
              <a:ext uri="{FF2B5EF4-FFF2-40B4-BE49-F238E27FC236}">
                <a16:creationId xmlns:a16="http://schemas.microsoft.com/office/drawing/2014/main" id="{013DE3BB-5E33-664E-89BD-CDE3E43A9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150" y="1143000"/>
            <a:ext cx="6743700" cy="4572000"/>
          </a:xfrm>
          <a:prstGeom prst="rect">
            <a:avLst/>
          </a:prstGeom>
        </p:spPr>
      </p:pic>
    </p:spTree>
    <p:extLst>
      <p:ext uri="{BB962C8B-B14F-4D97-AF65-F5344CB8AC3E}">
        <p14:creationId xmlns:p14="http://schemas.microsoft.com/office/powerpoint/2010/main" val="950407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9433A-D259-354B-A106-23B14EF268D4}"/>
              </a:ext>
            </a:extLst>
          </p:cNvPr>
          <p:cNvSpPr>
            <a:spLocks noGrp="1"/>
          </p:cNvSpPr>
          <p:nvPr>
            <p:ph type="title"/>
          </p:nvPr>
        </p:nvSpPr>
        <p:spPr>
          <a:xfrm>
            <a:off x="457200" y="76200"/>
            <a:ext cx="8229600" cy="551688"/>
          </a:xfrm>
        </p:spPr>
        <p:txBody>
          <a:bodyPr>
            <a:normAutofit fontScale="90000"/>
          </a:bodyPr>
          <a:lstStyle/>
          <a:p>
            <a:r>
              <a:rPr lang="en-US" dirty="0"/>
              <a:t>Sample Life Cycle with Incremental Development</a:t>
            </a:r>
          </a:p>
        </p:txBody>
      </p:sp>
      <p:sp>
        <p:nvSpPr>
          <p:cNvPr id="3" name="Content Placeholder 2">
            <a:extLst>
              <a:ext uri="{FF2B5EF4-FFF2-40B4-BE49-F238E27FC236}">
                <a16:creationId xmlns:a16="http://schemas.microsoft.com/office/drawing/2014/main" id="{AED022D3-2B4D-E54B-AA59-1E3E68271242}"/>
              </a:ext>
            </a:extLst>
          </p:cNvPr>
          <p:cNvSpPr>
            <a:spLocks noGrp="1"/>
          </p:cNvSpPr>
          <p:nvPr>
            <p:ph idx="1"/>
          </p:nvPr>
        </p:nvSpPr>
        <p:spPr>
          <a:xfrm>
            <a:off x="457200" y="818293"/>
            <a:ext cx="8229600" cy="655320"/>
          </a:xfrm>
        </p:spPr>
        <p:txBody>
          <a:bodyPr>
            <a:normAutofit fontScale="77500" lnSpcReduction="20000"/>
          </a:bodyPr>
          <a:lstStyle/>
          <a:p>
            <a:r>
              <a:rPr lang="en-US" dirty="0"/>
              <a:t>The figure below has 3 iterations.</a:t>
            </a:r>
          </a:p>
          <a:p>
            <a:pPr lvl="1"/>
            <a:r>
              <a:rPr lang="en-US" dirty="0"/>
              <a:t>Each subsequent iteration adds new functionality to the initial build</a:t>
            </a:r>
          </a:p>
        </p:txBody>
      </p:sp>
      <p:sp>
        <p:nvSpPr>
          <p:cNvPr id="4" name="Slide Number Placeholder 3">
            <a:extLst>
              <a:ext uri="{FF2B5EF4-FFF2-40B4-BE49-F238E27FC236}">
                <a16:creationId xmlns:a16="http://schemas.microsoft.com/office/drawing/2014/main" id="{1F81C628-C28D-4441-8477-7B92007724E4}"/>
              </a:ext>
            </a:extLst>
          </p:cNvPr>
          <p:cNvSpPr>
            <a:spLocks noGrp="1"/>
          </p:cNvSpPr>
          <p:nvPr>
            <p:ph type="sldNum" sz="quarter" idx="12"/>
          </p:nvPr>
        </p:nvSpPr>
        <p:spPr/>
        <p:txBody>
          <a:bodyPr/>
          <a:lstStyle/>
          <a:p>
            <a:fld id="{13977939-A071-43C1-9268-F54CC2756BB5}" type="slidenum">
              <a:rPr lang="en-US" smtClean="0"/>
              <a:pPr/>
              <a:t>12</a:t>
            </a:fld>
            <a:endParaRPr lang="en-US" dirty="0"/>
          </a:p>
        </p:txBody>
      </p:sp>
      <p:pic>
        <p:nvPicPr>
          <p:cNvPr id="5" name="Picture 4">
            <a:extLst>
              <a:ext uri="{FF2B5EF4-FFF2-40B4-BE49-F238E27FC236}">
                <a16:creationId xmlns:a16="http://schemas.microsoft.com/office/drawing/2014/main" id="{C86507C4-3673-E347-927B-21EC5FC3937C}"/>
              </a:ext>
            </a:extLst>
          </p:cNvPr>
          <p:cNvPicPr>
            <a:picLocks noChangeAspect="1"/>
          </p:cNvPicPr>
          <p:nvPr/>
        </p:nvPicPr>
        <p:blipFill>
          <a:blip r:embed="rId2"/>
          <a:stretch>
            <a:fillRect/>
          </a:stretch>
        </p:blipFill>
        <p:spPr>
          <a:xfrm>
            <a:off x="317500" y="1540782"/>
            <a:ext cx="8509000" cy="5092700"/>
          </a:xfrm>
          <a:prstGeom prst="rect">
            <a:avLst/>
          </a:prstGeom>
        </p:spPr>
      </p:pic>
      <p:sp>
        <p:nvSpPr>
          <p:cNvPr id="6" name="TextBox 5">
            <a:extLst>
              <a:ext uri="{FF2B5EF4-FFF2-40B4-BE49-F238E27FC236}">
                <a16:creationId xmlns:a16="http://schemas.microsoft.com/office/drawing/2014/main" id="{A2AB4EE0-16C3-5D45-BDC8-1663B8F7835D}"/>
              </a:ext>
            </a:extLst>
          </p:cNvPr>
          <p:cNvSpPr txBox="1"/>
          <p:nvPr/>
        </p:nvSpPr>
        <p:spPr>
          <a:xfrm>
            <a:off x="6579894" y="6538912"/>
            <a:ext cx="1334020" cy="215444"/>
          </a:xfrm>
          <a:prstGeom prst="rect">
            <a:avLst/>
          </a:prstGeom>
          <a:noFill/>
        </p:spPr>
        <p:txBody>
          <a:bodyPr wrap="none" rtlCol="0">
            <a:spAutoFit/>
          </a:bodyPr>
          <a:lstStyle/>
          <a:p>
            <a:r>
              <a:rPr lang="en-US" sz="800" dirty="0"/>
              <a:t>PMBOK V7 Agile Fig. 2-10</a:t>
            </a:r>
          </a:p>
        </p:txBody>
      </p:sp>
    </p:spTree>
    <p:extLst>
      <p:ext uri="{BB962C8B-B14F-4D97-AF65-F5344CB8AC3E}">
        <p14:creationId xmlns:p14="http://schemas.microsoft.com/office/powerpoint/2010/main" val="588053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05800" cy="475488"/>
          </a:xfrm>
        </p:spPr>
        <p:txBody>
          <a:bodyPr>
            <a:noAutofit/>
          </a:bodyPr>
          <a:lstStyle/>
          <a:p>
            <a:r>
              <a:rPr lang="en-US" sz="3200" dirty="0"/>
              <a:t>Agile Project Management (2)</a:t>
            </a:r>
          </a:p>
        </p:txBody>
      </p:sp>
      <p:sp>
        <p:nvSpPr>
          <p:cNvPr id="3" name="Slide Number Placeholder 2"/>
          <p:cNvSpPr>
            <a:spLocks noGrp="1"/>
          </p:cNvSpPr>
          <p:nvPr>
            <p:ph type="sldNum" sz="quarter" idx="12"/>
          </p:nvPr>
        </p:nvSpPr>
        <p:spPr/>
        <p:txBody>
          <a:bodyPr/>
          <a:lstStyle/>
          <a:p>
            <a:fld id="{13977939-A071-43C1-9268-F54CC2756BB5}" type="slidenum">
              <a:rPr lang="en-US" smtClean="0"/>
              <a:pPr/>
              <a:t>13</a:t>
            </a:fld>
            <a:endParaRPr lang="en-US" dirty="0"/>
          </a:p>
        </p:txBody>
      </p:sp>
      <p:sp>
        <p:nvSpPr>
          <p:cNvPr id="7" name="TextBox 6"/>
          <p:cNvSpPr txBox="1"/>
          <p:nvPr/>
        </p:nvSpPr>
        <p:spPr>
          <a:xfrm>
            <a:off x="1524000" y="990600"/>
            <a:ext cx="3378425" cy="369332"/>
          </a:xfrm>
          <a:prstGeom prst="rect">
            <a:avLst/>
          </a:prstGeom>
          <a:noFill/>
        </p:spPr>
        <p:txBody>
          <a:bodyPr wrap="none" rtlCol="0">
            <a:spAutoFit/>
          </a:bodyPr>
          <a:lstStyle/>
          <a:p>
            <a:r>
              <a:rPr lang="en-US" dirty="0"/>
              <a:t>Agile/Adaptive Life Cycle Model</a:t>
            </a:r>
          </a:p>
        </p:txBody>
      </p:sp>
      <p:graphicFrame>
        <p:nvGraphicFramePr>
          <p:cNvPr id="10" name="Table 9"/>
          <p:cNvGraphicFramePr>
            <a:graphicFrameLocks noGrp="1"/>
          </p:cNvGraphicFramePr>
          <p:nvPr/>
        </p:nvGraphicFramePr>
        <p:xfrm>
          <a:off x="1371600" y="2907268"/>
          <a:ext cx="6096000" cy="2352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gridSpan="2">
                  <a:txBody>
                    <a:bodyPr/>
                    <a:lstStyle/>
                    <a:p>
                      <a:pPr algn="ctr"/>
                      <a:r>
                        <a:rPr lang="en-US" sz="1400" dirty="0">
                          <a:latin typeface="Arial"/>
                          <a:cs typeface="Arial"/>
                        </a:rPr>
                        <a:t>Characteristics</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Really very similar to incremental</a:t>
                      </a:r>
                      <a:endParaRPr lang="en-US" sz="1400" dirty="0">
                        <a:latin typeface="Arial"/>
                        <a:cs typeface="Arial"/>
                      </a:endParaRPr>
                    </a:p>
                  </a:txBody>
                  <a:tcPr/>
                </a:tc>
                <a:tc>
                  <a:txBody>
                    <a:bodyPr/>
                    <a:lstStyle/>
                    <a:p>
                      <a:pPr marL="285750" indent="-285750">
                        <a:buFont typeface="Arial"/>
                        <a:buChar char="•"/>
                        <a:defRPr/>
                      </a:pPr>
                      <a:r>
                        <a:rPr lang="en-US" sz="1400" dirty="0">
                          <a:latin typeface="Arial"/>
                          <a:ea typeface="+mn-ea"/>
                          <a:cs typeface="Arial"/>
                        </a:rPr>
                        <a:t>Requirements not fully understood at outset</a:t>
                      </a:r>
                    </a:p>
                  </a:txBody>
                  <a:tcPr/>
                </a:tc>
                <a:extLst>
                  <a:ext uri="{0D108BD9-81ED-4DB2-BD59-A6C34878D82A}">
                    <a16:rowId xmlns:a16="http://schemas.microsoft.com/office/drawing/2014/main" val="10001"/>
                  </a:ext>
                </a:extLst>
              </a:tr>
              <a:tr h="370840">
                <a:tc>
                  <a:txBody>
                    <a:bodyPr/>
                    <a:lstStyle/>
                    <a:p>
                      <a:pPr marL="285750" indent="-285750">
                        <a:buFont typeface="Arial"/>
                        <a:buChar char="•"/>
                        <a:defRPr/>
                      </a:pPr>
                      <a:r>
                        <a:rPr lang="en-US" sz="1400" dirty="0">
                          <a:latin typeface="Arial"/>
                          <a:ea typeface="+mn-ea"/>
                          <a:cs typeface="Arial"/>
                        </a:rPr>
                        <a:t>Each Agile incremental cycle  helps uncover new requirements</a:t>
                      </a:r>
                    </a:p>
                  </a:txBody>
                  <a:tcPr/>
                </a:tc>
                <a:tc>
                  <a:txBody>
                    <a:bodyPr/>
                    <a:lstStyle/>
                    <a:p>
                      <a:pPr marL="285750" indent="-285750">
                        <a:buFont typeface="Arial"/>
                        <a:buChar char="•"/>
                        <a:defRPr/>
                      </a:pPr>
                      <a:r>
                        <a:rPr lang="en-US" sz="1400" dirty="0">
                          <a:latin typeface="Arial"/>
                          <a:ea typeface="+mn-ea"/>
                          <a:cs typeface="Arial"/>
                        </a:rPr>
                        <a:t>Meaningful client</a:t>
                      </a:r>
                      <a:r>
                        <a:rPr lang="en-US" sz="1400" baseline="0" dirty="0">
                          <a:latin typeface="Arial"/>
                          <a:ea typeface="+mn-ea"/>
                          <a:cs typeface="Arial"/>
                        </a:rPr>
                        <a:t> </a:t>
                      </a:r>
                      <a:r>
                        <a:rPr lang="en-US" sz="1400" dirty="0">
                          <a:latin typeface="Arial"/>
                          <a:ea typeface="+mn-ea"/>
                          <a:cs typeface="Arial"/>
                        </a:rPr>
                        <a:t>involvement is</a:t>
                      </a:r>
                      <a:r>
                        <a:rPr lang="en-US" sz="1400" baseline="0" dirty="0">
                          <a:latin typeface="Arial"/>
                          <a:ea typeface="+mn-ea"/>
                          <a:cs typeface="Arial"/>
                        </a:rPr>
                        <a:t> e</a:t>
                      </a:r>
                      <a:r>
                        <a:rPr lang="en-US" sz="1400" dirty="0">
                          <a:latin typeface="Arial"/>
                          <a:ea typeface="+mn-ea"/>
                          <a:cs typeface="Arial"/>
                        </a:rPr>
                        <a:t>ssential</a:t>
                      </a:r>
                    </a:p>
                  </a:txBody>
                  <a:tcPr/>
                </a:tc>
                <a:extLst>
                  <a:ext uri="{0D108BD9-81ED-4DB2-BD59-A6C34878D82A}">
                    <a16:rowId xmlns:a16="http://schemas.microsoft.com/office/drawing/2014/main" val="10002"/>
                  </a:ext>
                </a:extLst>
              </a:tr>
              <a:tr h="370840">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Fulfills the Agile Manifesto (see next section)</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a:buChar char="•"/>
                        <a:tabLst/>
                        <a:defRPr/>
                      </a:pPr>
                      <a:r>
                        <a:rPr lang="en-US" sz="1400" dirty="0">
                          <a:latin typeface="Arial"/>
                          <a:ea typeface="+mn-ea"/>
                          <a:cs typeface="Arial"/>
                        </a:rPr>
                        <a:t>Customer satisfaction increases with early and continuous delivery of new value – this keeps the project sold</a:t>
                      </a:r>
                    </a:p>
                  </a:txBody>
                  <a:tcPr/>
                </a:tc>
                <a:extLst>
                  <a:ext uri="{0D108BD9-81ED-4DB2-BD59-A6C34878D82A}">
                    <a16:rowId xmlns:a16="http://schemas.microsoft.com/office/drawing/2014/main" val="10003"/>
                  </a:ext>
                </a:extLst>
              </a:tr>
            </a:tbl>
          </a:graphicData>
        </a:graphic>
      </p:graphicFrame>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7972425"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a:extLst>
              <a:ext uri="{FF2B5EF4-FFF2-40B4-BE49-F238E27FC236}">
                <a16:creationId xmlns:a16="http://schemas.microsoft.com/office/drawing/2014/main" id="{CA0E8E2A-57B4-5143-B433-BA9536603D80}"/>
              </a:ext>
            </a:extLst>
          </p:cNvPr>
          <p:cNvSpPr txBox="1"/>
          <p:nvPr/>
        </p:nvSpPr>
        <p:spPr>
          <a:xfrm>
            <a:off x="623887" y="5625850"/>
            <a:ext cx="7972425" cy="646331"/>
          </a:xfrm>
          <a:prstGeom prst="rect">
            <a:avLst/>
          </a:prstGeom>
          <a:noFill/>
        </p:spPr>
        <p:txBody>
          <a:bodyPr wrap="square" rtlCol="0">
            <a:spAutoFit/>
          </a:bodyPr>
          <a:lstStyle/>
          <a:p>
            <a:r>
              <a:rPr lang="en-US" dirty="0"/>
              <a:t>Incremental development is a development approach that slices the product into fully working slices that are called increments. </a:t>
            </a:r>
          </a:p>
        </p:txBody>
      </p:sp>
    </p:spTree>
    <p:extLst>
      <p:ext uri="{BB962C8B-B14F-4D97-AF65-F5344CB8AC3E}">
        <p14:creationId xmlns:p14="http://schemas.microsoft.com/office/powerpoint/2010/main" val="2312148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4C5CA-4FBB-4FDA-ABFC-7D56CC154BA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3822D1-828F-C965-2E76-2806F94AAD8A}"/>
              </a:ext>
            </a:extLst>
          </p:cNvPr>
          <p:cNvSpPr>
            <a:spLocks noGrp="1"/>
          </p:cNvSpPr>
          <p:nvPr>
            <p:ph type="body" idx="1"/>
          </p:nvPr>
        </p:nvSpPr>
        <p:spPr/>
        <p:txBody>
          <a:bodyPr/>
          <a:lstStyle/>
          <a:p>
            <a:r>
              <a:rPr lang="en-US" dirty="0"/>
              <a:t>Software Engineering vs. Software Programming</a:t>
            </a:r>
          </a:p>
        </p:txBody>
      </p:sp>
      <p:sp>
        <p:nvSpPr>
          <p:cNvPr id="4" name="Slide Number Placeholder 3">
            <a:extLst>
              <a:ext uri="{FF2B5EF4-FFF2-40B4-BE49-F238E27FC236}">
                <a16:creationId xmlns:a16="http://schemas.microsoft.com/office/drawing/2014/main" id="{0026EF43-A86B-5022-8AF2-F637A8777AE8}"/>
              </a:ext>
            </a:extLst>
          </p:cNvPr>
          <p:cNvSpPr>
            <a:spLocks noGrp="1"/>
          </p:cNvSpPr>
          <p:nvPr>
            <p:ph type="sldNum" sz="quarter" idx="12"/>
          </p:nvPr>
        </p:nvSpPr>
        <p:spPr/>
        <p:txBody>
          <a:bodyPr/>
          <a:lstStyle/>
          <a:p>
            <a:fld id="{13977939-A071-43C1-9268-F54CC2756BB5}" type="slidenum">
              <a:rPr lang="en-US" smtClean="0"/>
              <a:pPr/>
              <a:t>14</a:t>
            </a:fld>
            <a:endParaRPr lang="en-US" dirty="0"/>
          </a:p>
        </p:txBody>
      </p:sp>
    </p:spTree>
    <p:extLst>
      <p:ext uri="{BB962C8B-B14F-4D97-AF65-F5344CB8AC3E}">
        <p14:creationId xmlns:p14="http://schemas.microsoft.com/office/powerpoint/2010/main" val="3527696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C6708-CFBB-6DC1-33BB-07CAFFF70031}"/>
              </a:ext>
            </a:extLst>
          </p:cNvPr>
          <p:cNvSpPr>
            <a:spLocks noGrp="1"/>
          </p:cNvSpPr>
          <p:nvPr>
            <p:ph type="title"/>
          </p:nvPr>
        </p:nvSpPr>
        <p:spPr/>
        <p:txBody>
          <a:bodyPr/>
          <a:lstStyle/>
          <a:p>
            <a:r>
              <a:rPr lang="en-US" dirty="0"/>
              <a:t>Software Engineers See The Bigger Picture</a:t>
            </a:r>
          </a:p>
        </p:txBody>
      </p:sp>
      <p:sp>
        <p:nvSpPr>
          <p:cNvPr id="3" name="Slide Number Placeholder 2">
            <a:extLst>
              <a:ext uri="{FF2B5EF4-FFF2-40B4-BE49-F238E27FC236}">
                <a16:creationId xmlns:a16="http://schemas.microsoft.com/office/drawing/2014/main" id="{874A7AAD-C0A9-D453-9A84-290EE0479D6A}"/>
              </a:ext>
            </a:extLst>
          </p:cNvPr>
          <p:cNvSpPr>
            <a:spLocks noGrp="1"/>
          </p:cNvSpPr>
          <p:nvPr>
            <p:ph type="sldNum" sz="quarter" idx="12"/>
          </p:nvPr>
        </p:nvSpPr>
        <p:spPr/>
        <p:txBody>
          <a:bodyPr/>
          <a:lstStyle/>
          <a:p>
            <a:fld id="{13977939-A071-43C1-9268-F54CC2756BB5}" type="slidenum">
              <a:rPr lang="en-US" smtClean="0"/>
              <a:pPr/>
              <a:t>15</a:t>
            </a:fld>
            <a:endParaRPr lang="en-US" dirty="0"/>
          </a:p>
        </p:txBody>
      </p:sp>
      <p:pic>
        <p:nvPicPr>
          <p:cNvPr id="1028" name="Picture 4" descr="Differences Between Software Developers and Software Engineers">
            <a:extLst>
              <a:ext uri="{FF2B5EF4-FFF2-40B4-BE49-F238E27FC236}">
                <a16:creationId xmlns:a16="http://schemas.microsoft.com/office/drawing/2014/main" id="{0DECA9D5-54CC-125B-36AE-D75E44E5D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174749"/>
            <a:ext cx="7086600" cy="5307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91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C93AF-00A6-6DF5-C6FD-FAFB2550272A}"/>
              </a:ext>
            </a:extLst>
          </p:cNvPr>
          <p:cNvSpPr>
            <a:spLocks noGrp="1"/>
          </p:cNvSpPr>
          <p:nvPr>
            <p:ph type="title"/>
          </p:nvPr>
        </p:nvSpPr>
        <p:spPr/>
        <p:txBody>
          <a:bodyPr>
            <a:noAutofit/>
          </a:bodyPr>
          <a:lstStyle/>
          <a:p>
            <a:r>
              <a:rPr lang="en-US" dirty="0"/>
              <a:t>What Is A Software Engineer</a:t>
            </a:r>
          </a:p>
        </p:txBody>
      </p:sp>
      <p:sp>
        <p:nvSpPr>
          <p:cNvPr id="3" name="Content Placeholder 2">
            <a:extLst>
              <a:ext uri="{FF2B5EF4-FFF2-40B4-BE49-F238E27FC236}">
                <a16:creationId xmlns:a16="http://schemas.microsoft.com/office/drawing/2014/main" id="{BE164AD6-8526-55DC-8830-3E2C2F3B5773}"/>
              </a:ext>
            </a:extLst>
          </p:cNvPr>
          <p:cNvSpPr>
            <a:spLocks noGrp="1"/>
          </p:cNvSpPr>
          <p:nvPr>
            <p:ph idx="1"/>
          </p:nvPr>
        </p:nvSpPr>
        <p:spPr>
          <a:xfrm>
            <a:off x="457200" y="1112705"/>
            <a:ext cx="8229600" cy="5673686"/>
          </a:xfrm>
        </p:spPr>
        <p:txBody>
          <a:bodyPr>
            <a:normAutofit fontScale="70000" lnSpcReduction="20000"/>
          </a:bodyPr>
          <a:lstStyle/>
          <a:p>
            <a:r>
              <a:rPr lang="en-US" dirty="0"/>
              <a:t>Key Responsibilities of a Software Engineer:</a:t>
            </a:r>
          </a:p>
          <a:p>
            <a:pPr lvl="1"/>
            <a:r>
              <a:rPr lang="en-US" dirty="0"/>
              <a:t>Design and develop software systems with scalability, security, and performance in mind.</a:t>
            </a:r>
          </a:p>
          <a:p>
            <a:pPr lvl="1"/>
            <a:r>
              <a:rPr lang="en-US" dirty="0"/>
              <a:t>Create and maintain software architecture diagrams and documentation.</a:t>
            </a:r>
          </a:p>
          <a:p>
            <a:pPr lvl="1"/>
            <a:r>
              <a:rPr lang="en-US" dirty="0"/>
              <a:t>Choose appropriate development tools and technologies for a project.</a:t>
            </a:r>
          </a:p>
          <a:p>
            <a:pPr lvl="1"/>
            <a:r>
              <a:rPr lang="en-US" dirty="0"/>
              <a:t>Analyze system requirements and translate them into technical specifications.</a:t>
            </a:r>
          </a:p>
          <a:p>
            <a:pPr lvl="1"/>
            <a:r>
              <a:rPr lang="en-US" dirty="0"/>
              <a:t>Oversee the development process, ensuring adherence to deadlines and quality standards.</a:t>
            </a:r>
          </a:p>
          <a:p>
            <a:pPr lvl="1"/>
            <a:r>
              <a:rPr lang="en-US" dirty="0"/>
              <a:t>Collaborate with stakeholders, including developers, testers, and clients.</a:t>
            </a:r>
          </a:p>
          <a:p>
            <a:endParaRPr lang="en-US" dirty="0"/>
          </a:p>
          <a:p>
            <a:r>
              <a:rPr lang="en-US" dirty="0"/>
              <a:t>Skills for Software Engineers:</a:t>
            </a:r>
          </a:p>
          <a:p>
            <a:pPr lvl="1"/>
            <a:r>
              <a:rPr lang="en-US" dirty="0"/>
              <a:t>Software Design Patterns and Architecture</a:t>
            </a:r>
          </a:p>
          <a:p>
            <a:pPr lvl="1"/>
            <a:r>
              <a:rPr lang="en-US" dirty="0"/>
              <a:t>Algorithms and Data Structures</a:t>
            </a:r>
          </a:p>
          <a:p>
            <a:pPr lvl="1"/>
            <a:r>
              <a:rPr lang="en-US" dirty="0"/>
              <a:t>System Design and Analysis</a:t>
            </a:r>
          </a:p>
          <a:p>
            <a:pPr lvl="1"/>
            <a:r>
              <a:rPr lang="en-US" dirty="0"/>
              <a:t>Software Development Methodologies (e.g., Agile, Waterfall)</a:t>
            </a:r>
          </a:p>
          <a:p>
            <a:pPr lvl="1"/>
            <a:r>
              <a:rPr lang="en-US" dirty="0"/>
              <a:t>Database Management Systems</a:t>
            </a:r>
          </a:p>
          <a:p>
            <a:pPr lvl="1"/>
            <a:r>
              <a:rPr lang="en-US" dirty="0"/>
              <a:t>Strong Collaboration and Communication Skills</a:t>
            </a:r>
          </a:p>
          <a:p>
            <a:pPr lvl="1"/>
            <a:r>
              <a:rPr lang="en-US" dirty="0"/>
              <a:t>All of the skills mentioned for Software Developers</a:t>
            </a:r>
          </a:p>
        </p:txBody>
      </p:sp>
      <p:sp>
        <p:nvSpPr>
          <p:cNvPr id="4" name="Slide Number Placeholder 3">
            <a:extLst>
              <a:ext uri="{FF2B5EF4-FFF2-40B4-BE49-F238E27FC236}">
                <a16:creationId xmlns:a16="http://schemas.microsoft.com/office/drawing/2014/main" id="{42870786-DD60-FF7B-C067-F8CB8C081165}"/>
              </a:ext>
            </a:extLst>
          </p:cNvPr>
          <p:cNvSpPr>
            <a:spLocks noGrp="1"/>
          </p:cNvSpPr>
          <p:nvPr>
            <p:ph type="sldNum" sz="quarter" idx="12"/>
          </p:nvPr>
        </p:nvSpPr>
        <p:spPr/>
        <p:txBody>
          <a:bodyPr/>
          <a:lstStyle/>
          <a:p>
            <a:fld id="{13977939-A071-43C1-9268-F54CC2756BB5}" type="slidenum">
              <a:rPr lang="en-US" smtClean="0"/>
              <a:pPr/>
              <a:t>16</a:t>
            </a:fld>
            <a:endParaRPr lang="en-US" dirty="0"/>
          </a:p>
        </p:txBody>
      </p:sp>
    </p:spTree>
    <p:extLst>
      <p:ext uri="{BB962C8B-B14F-4D97-AF65-F5344CB8AC3E}">
        <p14:creationId xmlns:p14="http://schemas.microsoft.com/office/powerpoint/2010/main" val="201526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7E58-6148-FEA8-4106-9C03E6B74DF0}"/>
              </a:ext>
            </a:extLst>
          </p:cNvPr>
          <p:cNvSpPr>
            <a:spLocks noGrp="1"/>
          </p:cNvSpPr>
          <p:nvPr>
            <p:ph type="title"/>
          </p:nvPr>
        </p:nvSpPr>
        <p:spPr>
          <a:xfrm>
            <a:off x="457200" y="76200"/>
            <a:ext cx="8229600" cy="475488"/>
          </a:xfrm>
        </p:spPr>
        <p:txBody>
          <a:bodyPr>
            <a:noAutofit/>
          </a:bodyPr>
          <a:lstStyle/>
          <a:p>
            <a:r>
              <a:rPr lang="en-US" dirty="0"/>
              <a:t>Considerations In Software Engineering (1)</a:t>
            </a:r>
          </a:p>
        </p:txBody>
      </p:sp>
      <p:sp>
        <p:nvSpPr>
          <p:cNvPr id="3" name="Content Placeholder 2">
            <a:extLst>
              <a:ext uri="{FF2B5EF4-FFF2-40B4-BE49-F238E27FC236}">
                <a16:creationId xmlns:a16="http://schemas.microsoft.com/office/drawing/2014/main" id="{8ACFDF69-AF10-E40F-9CBF-66DA479726A8}"/>
              </a:ext>
            </a:extLst>
          </p:cNvPr>
          <p:cNvSpPr>
            <a:spLocks noGrp="1"/>
          </p:cNvSpPr>
          <p:nvPr>
            <p:ph idx="1"/>
          </p:nvPr>
        </p:nvSpPr>
        <p:spPr>
          <a:xfrm>
            <a:off x="304800" y="704089"/>
            <a:ext cx="8610600" cy="6306311"/>
          </a:xfrm>
        </p:spPr>
        <p:txBody>
          <a:bodyPr>
            <a:normAutofit fontScale="55000" lnSpcReduction="20000"/>
          </a:bodyPr>
          <a:lstStyle/>
          <a:p>
            <a:pPr marL="0" indent="0">
              <a:buNone/>
            </a:pPr>
            <a:r>
              <a:rPr lang="en-US" dirty="0"/>
              <a:t>There are many aspects to consider in the design of software. The importance of each should reflect the goals and expectations to which the software is being created. The extent to which these factors are important impacts the overall cost of the software</a:t>
            </a:r>
          </a:p>
          <a:p>
            <a:r>
              <a:rPr lang="en-US" b="1" dirty="0"/>
              <a:t>Abstraction</a:t>
            </a:r>
          </a:p>
          <a:p>
            <a:pPr lvl="1"/>
            <a:r>
              <a:rPr lang="en-US" dirty="0"/>
              <a:t>Hiding complex implementation details behind simple interfaces or APIs.</a:t>
            </a:r>
            <a:endParaRPr lang="en-US" b="1" dirty="0"/>
          </a:p>
          <a:p>
            <a:r>
              <a:rPr lang="en-US" b="1" dirty="0"/>
              <a:t>Compatibility</a:t>
            </a:r>
          </a:p>
          <a:p>
            <a:pPr lvl="1"/>
            <a:r>
              <a:rPr lang="en-US" dirty="0"/>
              <a:t>The software is able to operate with other products that are designed for interoperability with another product. For example, a piece of software may be backward-compatible with an older version of itself.</a:t>
            </a:r>
          </a:p>
          <a:p>
            <a:r>
              <a:rPr lang="en-US" b="1" dirty="0"/>
              <a:t>Cost and Time</a:t>
            </a:r>
          </a:p>
          <a:p>
            <a:pPr lvl="1"/>
            <a:r>
              <a:rPr lang="en-US" dirty="0"/>
              <a:t>Contractual requirements</a:t>
            </a:r>
          </a:p>
          <a:p>
            <a:pPr lvl="1"/>
            <a:r>
              <a:rPr lang="en-US" dirty="0"/>
              <a:t>Internal dependencies</a:t>
            </a:r>
          </a:p>
          <a:p>
            <a:pPr lvl="1"/>
            <a:r>
              <a:rPr lang="en-US" dirty="0"/>
              <a:t>Market timing</a:t>
            </a:r>
          </a:p>
          <a:p>
            <a:r>
              <a:rPr lang="en-US" b="1" dirty="0"/>
              <a:t>Coupling &amp; Cohesion</a:t>
            </a:r>
          </a:p>
          <a:p>
            <a:pPr lvl="1"/>
            <a:r>
              <a:rPr lang="en-US" dirty="0"/>
              <a:t>Coupling: Degree of dependency between modules. Low coupling is ideal — changes in one module minimally impact others.</a:t>
            </a:r>
          </a:p>
          <a:p>
            <a:pPr lvl="1"/>
            <a:r>
              <a:rPr lang="en-US" dirty="0"/>
              <a:t>Cohesion: How closely related a module’s responsibilities are. High cohesion is desirable — each module has a clear, focused purpose.</a:t>
            </a:r>
          </a:p>
          <a:p>
            <a:r>
              <a:rPr lang="en-US" b="1" dirty="0"/>
              <a:t>Extensibility</a:t>
            </a:r>
          </a:p>
          <a:p>
            <a:pPr lvl="1"/>
            <a:r>
              <a:rPr lang="en-US" dirty="0"/>
              <a:t>New capabilities can be added to the software without major changes to the underlying architecture.</a:t>
            </a:r>
          </a:p>
          <a:p>
            <a:r>
              <a:rPr lang="en-US" b="1" dirty="0"/>
              <a:t>Fault-tolerance and Robustness</a:t>
            </a:r>
          </a:p>
          <a:p>
            <a:pPr lvl="1"/>
            <a:r>
              <a:rPr lang="en-US" dirty="0"/>
              <a:t>The software is resistant to and able to recover from component failure.</a:t>
            </a:r>
          </a:p>
          <a:p>
            <a:pPr lvl="1"/>
            <a:r>
              <a:rPr lang="en-US" dirty="0"/>
              <a:t>The software is able to operate under stress or tolerate unpredictable or invalid input. For example, it can be designed with resilience to low memory conditions.</a:t>
            </a:r>
          </a:p>
          <a:p>
            <a:r>
              <a:rPr lang="en-US" b="1" dirty="0"/>
              <a:t>Maintainability and Testability</a:t>
            </a:r>
          </a:p>
          <a:p>
            <a:pPr lvl="1"/>
            <a:r>
              <a:rPr lang="en-US" dirty="0"/>
              <a:t>A measure of how easily bug fixes or functional modifications can be accomplished. High maintainability can be the product of modularity and extensibility.</a:t>
            </a:r>
          </a:p>
          <a:p>
            <a:pPr lvl="1"/>
            <a:r>
              <a:rPr lang="en-US" dirty="0"/>
              <a:t>Designing software that can be easily verified with automated tests. </a:t>
            </a:r>
          </a:p>
          <a:p>
            <a:pPr lvl="1"/>
            <a:r>
              <a:rPr lang="en-US" dirty="0"/>
              <a:t>Reduces bugs and regression issues</a:t>
            </a:r>
          </a:p>
          <a:p>
            <a:pPr lvl="1"/>
            <a:r>
              <a:rPr lang="en-US" dirty="0"/>
              <a:t>Supports TDD (Test-Driven Development) and BDD (Behavior-Driven Development)</a:t>
            </a:r>
          </a:p>
        </p:txBody>
      </p:sp>
      <p:sp>
        <p:nvSpPr>
          <p:cNvPr id="4" name="Slide Number Placeholder 3">
            <a:extLst>
              <a:ext uri="{FF2B5EF4-FFF2-40B4-BE49-F238E27FC236}">
                <a16:creationId xmlns:a16="http://schemas.microsoft.com/office/drawing/2014/main" id="{6AA7F4DC-1F23-3FFF-3CA7-B92775609461}"/>
              </a:ext>
            </a:extLst>
          </p:cNvPr>
          <p:cNvSpPr>
            <a:spLocks noGrp="1"/>
          </p:cNvSpPr>
          <p:nvPr>
            <p:ph type="sldNum" sz="quarter" idx="12"/>
          </p:nvPr>
        </p:nvSpPr>
        <p:spPr/>
        <p:txBody>
          <a:bodyPr/>
          <a:lstStyle/>
          <a:p>
            <a:fld id="{13977939-A071-43C1-9268-F54CC2756BB5}" type="slidenum">
              <a:rPr lang="en-US" smtClean="0"/>
              <a:pPr/>
              <a:t>17</a:t>
            </a:fld>
            <a:endParaRPr lang="en-US" dirty="0"/>
          </a:p>
        </p:txBody>
      </p:sp>
    </p:spTree>
    <p:extLst>
      <p:ext uri="{BB962C8B-B14F-4D97-AF65-F5344CB8AC3E}">
        <p14:creationId xmlns:p14="http://schemas.microsoft.com/office/powerpoint/2010/main" val="1071341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B288-8D85-3C02-A0BD-FA2846470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3146E-3FA5-2B09-131A-391D53A9571B}"/>
              </a:ext>
            </a:extLst>
          </p:cNvPr>
          <p:cNvSpPr>
            <a:spLocks noGrp="1"/>
          </p:cNvSpPr>
          <p:nvPr>
            <p:ph type="title"/>
          </p:nvPr>
        </p:nvSpPr>
        <p:spPr>
          <a:xfrm>
            <a:off x="457200" y="228600"/>
            <a:ext cx="8229600" cy="475488"/>
          </a:xfrm>
        </p:spPr>
        <p:txBody>
          <a:bodyPr>
            <a:noAutofit/>
          </a:bodyPr>
          <a:lstStyle/>
          <a:p>
            <a:r>
              <a:rPr lang="en-US" dirty="0"/>
              <a:t>Considerations In Software Engineering (2)</a:t>
            </a:r>
          </a:p>
        </p:txBody>
      </p:sp>
      <p:sp>
        <p:nvSpPr>
          <p:cNvPr id="3" name="Content Placeholder 2">
            <a:extLst>
              <a:ext uri="{FF2B5EF4-FFF2-40B4-BE49-F238E27FC236}">
                <a16:creationId xmlns:a16="http://schemas.microsoft.com/office/drawing/2014/main" id="{EFD96C77-8C8B-4CA6-25ED-59CAD6636550}"/>
              </a:ext>
            </a:extLst>
          </p:cNvPr>
          <p:cNvSpPr>
            <a:spLocks noGrp="1"/>
          </p:cNvSpPr>
          <p:nvPr>
            <p:ph idx="1"/>
          </p:nvPr>
        </p:nvSpPr>
        <p:spPr>
          <a:xfrm>
            <a:off x="304800" y="685800"/>
            <a:ext cx="8382000" cy="6172199"/>
          </a:xfrm>
        </p:spPr>
        <p:txBody>
          <a:bodyPr>
            <a:normAutofit fontScale="55000" lnSpcReduction="20000"/>
          </a:bodyPr>
          <a:lstStyle/>
          <a:p>
            <a:r>
              <a:rPr lang="en-US" b="1" dirty="0"/>
              <a:t>Modularity</a:t>
            </a:r>
          </a:p>
          <a:p>
            <a:pPr lvl="1"/>
            <a:r>
              <a:rPr lang="en-US" dirty="0"/>
              <a:t>Breaking the system into smaller, self-contained units or modules. Easier to maintain and test individual modules</a:t>
            </a:r>
          </a:p>
          <a:p>
            <a:pPr lvl="1"/>
            <a:r>
              <a:rPr lang="en-US" dirty="0"/>
              <a:t>Supports parallel development by multiple teams</a:t>
            </a:r>
          </a:p>
          <a:p>
            <a:pPr lvl="1"/>
            <a:r>
              <a:rPr lang="en-US" dirty="0"/>
              <a:t>The resulting software comprises well defined, independent components which leads to better maintainability. </a:t>
            </a:r>
            <a:endParaRPr lang="en-US" b="1" dirty="0"/>
          </a:p>
          <a:p>
            <a:r>
              <a:rPr lang="en-US" b="1" dirty="0"/>
              <a:t>Performance</a:t>
            </a:r>
          </a:p>
          <a:p>
            <a:pPr lvl="1"/>
            <a:r>
              <a:rPr lang="en-US" dirty="0"/>
              <a:t>The software performs its tasks within a time-frame that is acceptable for the user</a:t>
            </a:r>
          </a:p>
          <a:p>
            <a:r>
              <a:rPr lang="en-US" b="1" dirty="0"/>
              <a:t>Portability</a:t>
            </a:r>
          </a:p>
          <a:p>
            <a:pPr lvl="1"/>
            <a:r>
              <a:rPr lang="en-US" dirty="0"/>
              <a:t>The software should be usable across a number of different conditions and environments.</a:t>
            </a:r>
          </a:p>
          <a:p>
            <a:r>
              <a:rPr lang="en-US" b="1" dirty="0"/>
              <a:t>Reliability</a:t>
            </a:r>
          </a:p>
          <a:p>
            <a:pPr lvl="1"/>
            <a:r>
              <a:rPr lang="en-US" dirty="0"/>
              <a:t>The software is able to perform a required function under stated conditions for a specified period of time.</a:t>
            </a:r>
          </a:p>
          <a:p>
            <a:pPr lvl="1"/>
            <a:r>
              <a:rPr lang="en-US" dirty="0"/>
              <a:t>MTBF (Mean Time Between Failures): The average amount of time a system operates without a failure. Higher MTBF indicates higher reliability.</a:t>
            </a:r>
          </a:p>
          <a:p>
            <a:pPr lvl="1"/>
            <a:r>
              <a:rPr lang="en-US" dirty="0"/>
              <a:t>MTTR (Mean Time to Repair): The average time it takes to recover from a failure.</a:t>
            </a:r>
          </a:p>
          <a:p>
            <a:r>
              <a:rPr lang="en-US" b="1" dirty="0"/>
              <a:t>Resource Utilization</a:t>
            </a:r>
          </a:p>
          <a:p>
            <a:pPr lvl="1"/>
            <a:r>
              <a:rPr lang="en-US" dirty="0"/>
              <a:t>Remaining within required resource specifications including processor utilization, memory and storage</a:t>
            </a:r>
          </a:p>
          <a:p>
            <a:r>
              <a:rPr lang="en-US" b="1" dirty="0"/>
              <a:t>Scalability and Reusability</a:t>
            </a:r>
          </a:p>
          <a:p>
            <a:pPr lvl="1"/>
            <a:r>
              <a:rPr lang="en-US" dirty="0"/>
              <a:t>Ability to grow and adapt the system as requirements evolve. Future-proofs the design</a:t>
            </a:r>
          </a:p>
          <a:p>
            <a:pPr lvl="1"/>
            <a:r>
              <a:rPr lang="en-US" dirty="0"/>
              <a:t>The ability to use some or all of the aspects of the preexisting software in other projects with little to no modification.</a:t>
            </a:r>
          </a:p>
          <a:p>
            <a:pPr lvl="1"/>
            <a:r>
              <a:rPr lang="en-US" dirty="0"/>
              <a:t>Supports adding new features without rewriting existing code </a:t>
            </a:r>
          </a:p>
          <a:p>
            <a:pPr lvl="1"/>
            <a:r>
              <a:rPr lang="en-US" dirty="0"/>
              <a:t>The software adapts well to increasing data or added features or number of users. </a:t>
            </a:r>
          </a:p>
          <a:p>
            <a:r>
              <a:rPr lang="en-US" b="1" dirty="0"/>
              <a:t>Security</a:t>
            </a:r>
          </a:p>
          <a:p>
            <a:pPr lvl="1"/>
            <a:r>
              <a:rPr lang="en-US" dirty="0"/>
              <a:t>The software is able to withstand and resist hostile acts and influences.</a:t>
            </a:r>
          </a:p>
          <a:p>
            <a:r>
              <a:rPr lang="en-US" b="1" dirty="0"/>
              <a:t>Usability</a:t>
            </a:r>
          </a:p>
          <a:p>
            <a:pPr lvl="1"/>
            <a:r>
              <a:rPr lang="en-US" dirty="0"/>
              <a:t>The software user interface must be usable for its target user/audience.</a:t>
            </a:r>
          </a:p>
          <a:p>
            <a:pPr lvl="1"/>
            <a:r>
              <a:rPr lang="en-US" dirty="0"/>
              <a:t>Include the end-users in your design</a:t>
            </a:r>
          </a:p>
        </p:txBody>
      </p:sp>
      <p:sp>
        <p:nvSpPr>
          <p:cNvPr id="4" name="Slide Number Placeholder 3">
            <a:extLst>
              <a:ext uri="{FF2B5EF4-FFF2-40B4-BE49-F238E27FC236}">
                <a16:creationId xmlns:a16="http://schemas.microsoft.com/office/drawing/2014/main" id="{2A6FCC4A-FE69-31DA-8968-C2E077E04676}"/>
              </a:ext>
            </a:extLst>
          </p:cNvPr>
          <p:cNvSpPr>
            <a:spLocks noGrp="1"/>
          </p:cNvSpPr>
          <p:nvPr>
            <p:ph type="sldNum" sz="quarter" idx="12"/>
          </p:nvPr>
        </p:nvSpPr>
        <p:spPr/>
        <p:txBody>
          <a:bodyPr/>
          <a:lstStyle/>
          <a:p>
            <a:fld id="{13977939-A071-43C1-9268-F54CC2756BB5}" type="slidenum">
              <a:rPr lang="en-US" smtClean="0"/>
              <a:pPr/>
              <a:t>18</a:t>
            </a:fld>
            <a:endParaRPr lang="en-US" dirty="0"/>
          </a:p>
        </p:txBody>
      </p:sp>
    </p:spTree>
    <p:extLst>
      <p:ext uri="{BB962C8B-B14F-4D97-AF65-F5344CB8AC3E}">
        <p14:creationId xmlns:p14="http://schemas.microsoft.com/office/powerpoint/2010/main" val="1163078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C147B4-1B8D-6443-B711-69F4BDA7AE88}"/>
              </a:ext>
            </a:extLst>
          </p:cNvPr>
          <p:cNvSpPr>
            <a:spLocks noGrp="1"/>
          </p:cNvSpPr>
          <p:nvPr>
            <p:ph type="body" idx="1"/>
          </p:nvPr>
        </p:nvSpPr>
        <p:spPr/>
        <p:txBody>
          <a:bodyPr/>
          <a:lstStyle/>
          <a:p>
            <a:r>
              <a:rPr lang="en-US" dirty="0"/>
              <a:t>Good And Popular Software Design Practices</a:t>
            </a:r>
          </a:p>
        </p:txBody>
      </p:sp>
      <p:sp>
        <p:nvSpPr>
          <p:cNvPr id="4" name="Slide Number Placeholder 3">
            <a:extLst>
              <a:ext uri="{FF2B5EF4-FFF2-40B4-BE49-F238E27FC236}">
                <a16:creationId xmlns:a16="http://schemas.microsoft.com/office/drawing/2014/main" id="{0C21DC0F-317E-8F42-823E-9B4A01A6942A}"/>
              </a:ext>
            </a:extLst>
          </p:cNvPr>
          <p:cNvSpPr>
            <a:spLocks noGrp="1"/>
          </p:cNvSpPr>
          <p:nvPr>
            <p:ph type="sldNum" sz="quarter" idx="12"/>
          </p:nvPr>
        </p:nvSpPr>
        <p:spPr/>
        <p:txBody>
          <a:bodyPr/>
          <a:lstStyle/>
          <a:p>
            <a:fld id="{13977939-A071-43C1-9268-F54CC2756BB5}" type="slidenum">
              <a:rPr lang="en-US" smtClean="0"/>
              <a:pPr/>
              <a:t>19</a:t>
            </a:fld>
            <a:endParaRPr lang="en-US" dirty="0"/>
          </a:p>
        </p:txBody>
      </p:sp>
    </p:spTree>
    <p:extLst>
      <p:ext uri="{BB962C8B-B14F-4D97-AF65-F5344CB8AC3E}">
        <p14:creationId xmlns:p14="http://schemas.microsoft.com/office/powerpoint/2010/main" val="1434587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9188-ADD1-5924-3D03-60B2C7767B4F}"/>
              </a:ext>
            </a:extLst>
          </p:cNvPr>
          <p:cNvSpPr>
            <a:spLocks noGrp="1"/>
          </p:cNvSpPr>
          <p:nvPr>
            <p:ph type="title"/>
          </p:nvPr>
        </p:nvSpPr>
        <p:spPr>
          <a:xfrm>
            <a:off x="457200" y="381000"/>
            <a:ext cx="8229600" cy="475488"/>
          </a:xfrm>
        </p:spPr>
        <p:txBody>
          <a:bodyPr>
            <a:normAutofit fontScale="90000"/>
          </a:bodyPr>
          <a:lstStyle/>
          <a:p>
            <a:r>
              <a:rPr lang="en-US" dirty="0"/>
              <a:t>Designing Software – A Typical Interview Question</a:t>
            </a:r>
          </a:p>
        </p:txBody>
      </p:sp>
      <p:sp>
        <p:nvSpPr>
          <p:cNvPr id="3" name="Content Placeholder 2">
            <a:extLst>
              <a:ext uri="{FF2B5EF4-FFF2-40B4-BE49-F238E27FC236}">
                <a16:creationId xmlns:a16="http://schemas.microsoft.com/office/drawing/2014/main" id="{21FAD43E-97E8-3309-EA5F-3D11565D5256}"/>
              </a:ext>
            </a:extLst>
          </p:cNvPr>
          <p:cNvSpPr>
            <a:spLocks noGrp="1"/>
          </p:cNvSpPr>
          <p:nvPr>
            <p:ph idx="1"/>
          </p:nvPr>
        </p:nvSpPr>
        <p:spPr>
          <a:xfrm>
            <a:off x="457200" y="932688"/>
            <a:ext cx="8229600" cy="5925312"/>
          </a:xfrm>
        </p:spPr>
        <p:txBody>
          <a:bodyPr>
            <a:normAutofit fontScale="77500" lnSpcReduction="20000"/>
          </a:bodyPr>
          <a:lstStyle/>
          <a:p>
            <a:r>
              <a:rPr lang="en-US" dirty="0"/>
              <a:t>Students are often asked during interviews – “How would you go about designing software?”</a:t>
            </a:r>
          </a:p>
          <a:p>
            <a:r>
              <a:rPr lang="en-US" dirty="0"/>
              <a:t>Requirements drive the design</a:t>
            </a:r>
          </a:p>
          <a:p>
            <a:r>
              <a:rPr lang="en-US" dirty="0"/>
              <a:t>Are you part of a bigger system</a:t>
            </a:r>
          </a:p>
          <a:p>
            <a:pPr lvl="1"/>
            <a:r>
              <a:rPr lang="en-US" dirty="0"/>
              <a:t>Must understand and define interfaces</a:t>
            </a:r>
          </a:p>
          <a:p>
            <a:pPr lvl="1"/>
            <a:r>
              <a:rPr lang="en-US" dirty="0"/>
              <a:t>What is the environment – OS, languages used, etc.  Must the SW run on multiple platforms</a:t>
            </a:r>
          </a:p>
          <a:p>
            <a:pPr lvl="1"/>
            <a:r>
              <a:rPr lang="en-US" dirty="0"/>
              <a:t>Are there memory or other physical constraints</a:t>
            </a:r>
          </a:p>
          <a:p>
            <a:r>
              <a:rPr lang="en-US" dirty="0"/>
              <a:t>Who are the end users (if the software requires human interface</a:t>
            </a:r>
          </a:p>
          <a:p>
            <a:r>
              <a:rPr lang="en-US" dirty="0"/>
              <a:t>Must understand their sophistication</a:t>
            </a:r>
          </a:p>
          <a:p>
            <a:r>
              <a:rPr lang="en-US" dirty="0"/>
              <a:t>What are the security requirements</a:t>
            </a:r>
          </a:p>
          <a:p>
            <a:pPr lvl="1"/>
            <a:r>
              <a:rPr lang="en-US" dirty="0"/>
              <a:t>How hardened must the system be</a:t>
            </a:r>
          </a:p>
          <a:p>
            <a:r>
              <a:rPr lang="en-US" dirty="0"/>
              <a:t>Are you operating in a classified environment</a:t>
            </a:r>
          </a:p>
          <a:p>
            <a:r>
              <a:rPr lang="en-US" dirty="0"/>
              <a:t>What are the performance and reliability requirements</a:t>
            </a:r>
          </a:p>
          <a:p>
            <a:pPr lvl="1"/>
            <a:r>
              <a:rPr lang="en-US" dirty="0"/>
              <a:t>Performance, efficiency and energy use are again becoming significant design drivers.</a:t>
            </a:r>
          </a:p>
          <a:p>
            <a:pPr lvl="1"/>
            <a:r>
              <a:rPr lang="en-US" dirty="0"/>
              <a:t>New data centers for AI are energy hogs</a:t>
            </a:r>
          </a:p>
          <a:p>
            <a:r>
              <a:rPr lang="en-US" dirty="0"/>
              <a:t>Are there time/schedule constraints</a:t>
            </a:r>
          </a:p>
          <a:p>
            <a:pPr lvl="1"/>
            <a:r>
              <a:rPr lang="en-US" dirty="0"/>
              <a:t>Can the software be delivered in increments</a:t>
            </a:r>
          </a:p>
          <a:p>
            <a:r>
              <a:rPr lang="en-US" dirty="0"/>
              <a:t>Are there cost constraints?</a:t>
            </a:r>
          </a:p>
        </p:txBody>
      </p:sp>
      <p:sp>
        <p:nvSpPr>
          <p:cNvPr id="4" name="Slide Number Placeholder 3">
            <a:extLst>
              <a:ext uri="{FF2B5EF4-FFF2-40B4-BE49-F238E27FC236}">
                <a16:creationId xmlns:a16="http://schemas.microsoft.com/office/drawing/2014/main" id="{3E0689D0-64F1-9141-1630-AB223686026C}"/>
              </a:ext>
            </a:extLst>
          </p:cNvPr>
          <p:cNvSpPr>
            <a:spLocks noGrp="1"/>
          </p:cNvSpPr>
          <p:nvPr>
            <p:ph type="sldNum" sz="quarter" idx="12"/>
          </p:nvPr>
        </p:nvSpPr>
        <p:spPr/>
        <p:txBody>
          <a:bodyPr/>
          <a:lstStyle/>
          <a:p>
            <a:fld id="{13977939-A071-43C1-9268-F54CC2756BB5}" type="slidenum">
              <a:rPr lang="en-US" smtClean="0"/>
              <a:pPr/>
              <a:t>20</a:t>
            </a:fld>
            <a:endParaRPr lang="en-US" dirty="0"/>
          </a:p>
        </p:txBody>
      </p:sp>
    </p:spTree>
    <p:extLst>
      <p:ext uri="{BB962C8B-B14F-4D97-AF65-F5344CB8AC3E}">
        <p14:creationId xmlns:p14="http://schemas.microsoft.com/office/powerpoint/2010/main" val="1348458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4656-1202-F442-8EF8-85CD36F89E6A}"/>
              </a:ext>
            </a:extLst>
          </p:cNvPr>
          <p:cNvSpPr>
            <a:spLocks noGrp="1"/>
          </p:cNvSpPr>
          <p:nvPr>
            <p:ph type="title"/>
          </p:nvPr>
        </p:nvSpPr>
        <p:spPr>
          <a:xfrm>
            <a:off x="457200" y="609599"/>
            <a:ext cx="8229600" cy="475488"/>
          </a:xfrm>
        </p:spPr>
        <p:txBody>
          <a:bodyPr>
            <a:noAutofit/>
          </a:bodyPr>
          <a:lstStyle/>
          <a:p>
            <a:r>
              <a:rPr lang="en-US" dirty="0"/>
              <a:t>Some Key Practices In Software Development That Are Widely Agreed Upon (1)</a:t>
            </a:r>
          </a:p>
        </p:txBody>
      </p:sp>
      <p:sp>
        <p:nvSpPr>
          <p:cNvPr id="3" name="Content Placeholder 2">
            <a:extLst>
              <a:ext uri="{FF2B5EF4-FFF2-40B4-BE49-F238E27FC236}">
                <a16:creationId xmlns:a16="http://schemas.microsoft.com/office/drawing/2014/main" id="{D650F0FF-1EE7-7341-970F-1E4A0134CAA1}"/>
              </a:ext>
            </a:extLst>
          </p:cNvPr>
          <p:cNvSpPr>
            <a:spLocks noGrp="1"/>
          </p:cNvSpPr>
          <p:nvPr>
            <p:ph idx="1"/>
          </p:nvPr>
        </p:nvSpPr>
        <p:spPr>
          <a:xfrm>
            <a:off x="457200" y="1127125"/>
            <a:ext cx="8534400" cy="5730875"/>
          </a:xfrm>
        </p:spPr>
        <p:txBody>
          <a:bodyPr>
            <a:normAutofit fontScale="77500" lnSpcReduction="20000"/>
          </a:bodyPr>
          <a:lstStyle/>
          <a:p>
            <a:r>
              <a:rPr lang="en-US" b="1" dirty="0">
                <a:solidFill>
                  <a:srgbClr val="FF0000"/>
                </a:solidFill>
              </a:rPr>
              <a:t>Good design and definition of interfaces</a:t>
            </a:r>
          </a:p>
          <a:p>
            <a:pPr lvl="1"/>
            <a:r>
              <a:rPr lang="en-US" dirty="0"/>
              <a:t>Interfaces allow us to encapsulate and then hide implementation details</a:t>
            </a:r>
          </a:p>
          <a:p>
            <a:pPr lvl="1"/>
            <a:r>
              <a:rPr lang="en-US" dirty="0"/>
              <a:t>Well-defined interfaces between software objects is important to ensure that the code is usable</a:t>
            </a:r>
          </a:p>
          <a:p>
            <a:r>
              <a:rPr lang="en-US" b="1" dirty="0">
                <a:solidFill>
                  <a:srgbClr val="FF0000"/>
                </a:solidFill>
              </a:rPr>
              <a:t>Automated testing </a:t>
            </a:r>
            <a:r>
              <a:rPr lang="en-US" dirty="0"/>
              <a:t>is something almost universally agreed upon as a laudable goal.</a:t>
            </a:r>
          </a:p>
          <a:p>
            <a:pPr lvl="1"/>
            <a:r>
              <a:rPr lang="en-US" dirty="0"/>
              <a:t>Tools capture test scenarios for playback so that they can be run multiple times.</a:t>
            </a:r>
          </a:p>
          <a:p>
            <a:r>
              <a:rPr lang="en-US" b="1" dirty="0">
                <a:solidFill>
                  <a:srgbClr val="FF0000"/>
                </a:solidFill>
              </a:rPr>
              <a:t>Continuous integration</a:t>
            </a:r>
            <a:r>
              <a:rPr lang="en-US" dirty="0"/>
              <a:t>, as opposed to developing in silo branches and then having extensive merging efforts, is also largely viewed as a benefit.</a:t>
            </a:r>
          </a:p>
          <a:p>
            <a:pPr lvl="1"/>
            <a:r>
              <a:rPr lang="en-US" dirty="0"/>
              <a:t>Helps find any problems or disconnects between developers early in the process</a:t>
            </a:r>
          </a:p>
          <a:p>
            <a:r>
              <a:rPr lang="en-US" dirty="0"/>
              <a:t>Use of object-oriented </a:t>
            </a:r>
            <a:r>
              <a:rPr lang="en-US" b="1" dirty="0">
                <a:solidFill>
                  <a:srgbClr val="FF0000"/>
                </a:solidFill>
              </a:rPr>
              <a:t>design patterns</a:t>
            </a:r>
          </a:p>
          <a:p>
            <a:pPr lvl="1"/>
            <a:r>
              <a:rPr lang="en-US" dirty="0"/>
              <a:t>Software Patterns describe how to solve typical problems that appear in many application scenarios in similar ways. – An abstract class has patterns that may be applied to multiple child classes</a:t>
            </a:r>
          </a:p>
          <a:p>
            <a:pPr lvl="1"/>
            <a:r>
              <a:rPr lang="en-US" dirty="0"/>
              <a:t>These patterns can be seen as abstracted knowledge, that guides you in better solving your concrete problems</a:t>
            </a:r>
          </a:p>
          <a:p>
            <a:pPr lvl="1"/>
            <a:r>
              <a:rPr lang="en-US" dirty="0"/>
              <a:t>For instance, all polygons have their perimeters calculated in a similar way.</a:t>
            </a:r>
          </a:p>
          <a:p>
            <a:pPr lvl="1"/>
            <a:r>
              <a:rPr lang="en-US" dirty="0"/>
              <a:t>A more complex example – all cars start in a similar way.</a:t>
            </a:r>
          </a:p>
        </p:txBody>
      </p:sp>
      <p:sp>
        <p:nvSpPr>
          <p:cNvPr id="4" name="Slide Number Placeholder 3">
            <a:extLst>
              <a:ext uri="{FF2B5EF4-FFF2-40B4-BE49-F238E27FC236}">
                <a16:creationId xmlns:a16="http://schemas.microsoft.com/office/drawing/2014/main" id="{B596E160-F37D-4547-9ED3-6DCA2A1D5FE5}"/>
              </a:ext>
            </a:extLst>
          </p:cNvPr>
          <p:cNvSpPr>
            <a:spLocks noGrp="1"/>
          </p:cNvSpPr>
          <p:nvPr>
            <p:ph type="sldNum" sz="quarter" idx="12"/>
          </p:nvPr>
        </p:nvSpPr>
        <p:spPr/>
        <p:txBody>
          <a:bodyPr/>
          <a:lstStyle/>
          <a:p>
            <a:fld id="{13977939-A071-43C1-9268-F54CC2756BB5}" type="slidenum">
              <a:rPr lang="en-US" smtClean="0"/>
              <a:pPr/>
              <a:t>21</a:t>
            </a:fld>
            <a:endParaRPr lang="en-US" dirty="0"/>
          </a:p>
        </p:txBody>
      </p:sp>
    </p:spTree>
    <p:extLst>
      <p:ext uri="{BB962C8B-B14F-4D97-AF65-F5344CB8AC3E}">
        <p14:creationId xmlns:p14="http://schemas.microsoft.com/office/powerpoint/2010/main" val="1689184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4656-1202-F442-8EF8-85CD36F89E6A}"/>
              </a:ext>
            </a:extLst>
          </p:cNvPr>
          <p:cNvSpPr>
            <a:spLocks noGrp="1"/>
          </p:cNvSpPr>
          <p:nvPr>
            <p:ph type="title"/>
          </p:nvPr>
        </p:nvSpPr>
        <p:spPr>
          <a:xfrm>
            <a:off x="457200" y="533401"/>
            <a:ext cx="8229600" cy="475488"/>
          </a:xfrm>
        </p:spPr>
        <p:txBody>
          <a:bodyPr>
            <a:noAutofit/>
          </a:bodyPr>
          <a:lstStyle/>
          <a:p>
            <a:r>
              <a:rPr lang="en-US" dirty="0"/>
              <a:t>Some Key Practices In Software Development That Are Widely Agreed Upon (2)</a:t>
            </a:r>
          </a:p>
        </p:txBody>
      </p:sp>
      <p:sp>
        <p:nvSpPr>
          <p:cNvPr id="3" name="Content Placeholder 2">
            <a:extLst>
              <a:ext uri="{FF2B5EF4-FFF2-40B4-BE49-F238E27FC236}">
                <a16:creationId xmlns:a16="http://schemas.microsoft.com/office/drawing/2014/main" id="{D650F0FF-1EE7-7341-970F-1E4A0134CAA1}"/>
              </a:ext>
            </a:extLst>
          </p:cNvPr>
          <p:cNvSpPr>
            <a:spLocks noGrp="1"/>
          </p:cNvSpPr>
          <p:nvPr>
            <p:ph idx="1"/>
          </p:nvPr>
        </p:nvSpPr>
        <p:spPr>
          <a:xfrm>
            <a:off x="457200" y="1066802"/>
            <a:ext cx="8229600" cy="5791198"/>
          </a:xfrm>
        </p:spPr>
        <p:txBody>
          <a:bodyPr>
            <a:normAutofit fontScale="77500" lnSpcReduction="20000"/>
          </a:bodyPr>
          <a:lstStyle/>
          <a:p>
            <a:r>
              <a:rPr lang="en-US" b="1" dirty="0">
                <a:solidFill>
                  <a:srgbClr val="FF0000"/>
                </a:solidFill>
              </a:rPr>
              <a:t>Code reviews </a:t>
            </a:r>
            <a:r>
              <a:rPr lang="en-US" dirty="0"/>
              <a:t>are widely considered to be indispensable ways of promoting code quality.</a:t>
            </a:r>
          </a:p>
          <a:p>
            <a:pPr lvl="1"/>
            <a:r>
              <a:rPr lang="en-US" dirty="0"/>
              <a:t>Usually done by peers as well as management to ensure that software is correct and meeting requirements</a:t>
            </a:r>
          </a:p>
          <a:p>
            <a:pPr lvl="1"/>
            <a:r>
              <a:rPr lang="en-US" dirty="0"/>
              <a:t>Avoids fudging by programmers</a:t>
            </a:r>
          </a:p>
          <a:p>
            <a:r>
              <a:rPr lang="en-US" b="1" dirty="0">
                <a:solidFill>
                  <a:srgbClr val="FF0000"/>
                </a:solidFill>
              </a:rPr>
              <a:t>Pair programming </a:t>
            </a:r>
            <a:r>
              <a:rPr lang="en-US" dirty="0"/>
              <a:t>takes code reviews to the next level and has development performed in a constant state of review. </a:t>
            </a:r>
          </a:p>
          <a:p>
            <a:pPr lvl="1"/>
            <a:r>
              <a:rPr lang="en-US" dirty="0"/>
              <a:t>Two persons teams continuously review and consult on each other’s code.</a:t>
            </a:r>
          </a:p>
          <a:p>
            <a:pPr lvl="1"/>
            <a:r>
              <a:rPr lang="en-US" dirty="0"/>
              <a:t>Also provides backup in case of sickness, person switching jobs, …</a:t>
            </a:r>
          </a:p>
          <a:p>
            <a:r>
              <a:rPr lang="en-US" b="1" dirty="0">
                <a:solidFill>
                  <a:srgbClr val="FF0000"/>
                </a:solidFill>
              </a:rPr>
              <a:t>One click, automated builds </a:t>
            </a:r>
            <a:r>
              <a:rPr lang="en-US" dirty="0"/>
              <a:t>are considered an important goal for most organizations </a:t>
            </a:r>
          </a:p>
          <a:p>
            <a:pPr lvl="1"/>
            <a:r>
              <a:rPr lang="en-US" dirty="0"/>
              <a:t>Eliminates the practice of having someone labor for half a day to get the software into a deployable state.</a:t>
            </a:r>
          </a:p>
          <a:p>
            <a:r>
              <a:rPr lang="en-US" b="1" dirty="0">
                <a:solidFill>
                  <a:srgbClr val="FF0000"/>
                </a:solidFill>
              </a:rPr>
              <a:t>Low complexity </a:t>
            </a:r>
            <a:r>
              <a:rPr lang="en-US" dirty="0"/>
              <a:t>makes the code much easier to test and maintain</a:t>
            </a:r>
          </a:p>
          <a:p>
            <a:pPr lvl="1"/>
            <a:r>
              <a:rPr lang="en-US" dirty="0"/>
              <a:t>High complexity in code geometrically increases the number of tests</a:t>
            </a:r>
          </a:p>
          <a:p>
            <a:pPr lvl="1"/>
            <a:r>
              <a:rPr lang="en-US" dirty="0"/>
              <a:t>The higher the complexity the more difficult it is to maintain the code</a:t>
            </a:r>
          </a:p>
          <a:p>
            <a:r>
              <a:rPr lang="en-US" b="1" dirty="0">
                <a:solidFill>
                  <a:srgbClr val="FF0000"/>
                </a:solidFill>
              </a:rPr>
              <a:t>Good documentation </a:t>
            </a:r>
            <a:r>
              <a:rPr lang="en-US" dirty="0"/>
              <a:t>is essential unless you want to own the same piece of code for its entire lifetime</a:t>
            </a:r>
          </a:p>
          <a:p>
            <a:pPr lvl="1"/>
            <a:r>
              <a:rPr lang="en-US" dirty="0"/>
              <a:t>Need to be able to turn over code to a new developer or maintainer</a:t>
            </a:r>
          </a:p>
        </p:txBody>
      </p:sp>
      <p:sp>
        <p:nvSpPr>
          <p:cNvPr id="4" name="Slide Number Placeholder 3">
            <a:extLst>
              <a:ext uri="{FF2B5EF4-FFF2-40B4-BE49-F238E27FC236}">
                <a16:creationId xmlns:a16="http://schemas.microsoft.com/office/drawing/2014/main" id="{B596E160-F37D-4547-9ED3-6DCA2A1D5FE5}"/>
              </a:ext>
            </a:extLst>
          </p:cNvPr>
          <p:cNvSpPr>
            <a:spLocks noGrp="1"/>
          </p:cNvSpPr>
          <p:nvPr>
            <p:ph type="sldNum" sz="quarter" idx="12"/>
          </p:nvPr>
        </p:nvSpPr>
        <p:spPr/>
        <p:txBody>
          <a:bodyPr/>
          <a:lstStyle/>
          <a:p>
            <a:fld id="{13977939-A071-43C1-9268-F54CC2756BB5}" type="slidenum">
              <a:rPr lang="en-US" smtClean="0"/>
              <a:pPr/>
              <a:t>22</a:t>
            </a:fld>
            <a:endParaRPr lang="en-US" dirty="0"/>
          </a:p>
        </p:txBody>
      </p:sp>
    </p:spTree>
    <p:extLst>
      <p:ext uri="{BB962C8B-B14F-4D97-AF65-F5344CB8AC3E}">
        <p14:creationId xmlns:p14="http://schemas.microsoft.com/office/powerpoint/2010/main" val="1110291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3CAF-EAF4-4440-BAC9-2D0CD401F05D}"/>
              </a:ext>
            </a:extLst>
          </p:cNvPr>
          <p:cNvSpPr>
            <a:spLocks noGrp="1"/>
          </p:cNvSpPr>
          <p:nvPr>
            <p:ph type="title"/>
          </p:nvPr>
        </p:nvSpPr>
        <p:spPr>
          <a:xfrm>
            <a:off x="304800" y="228600"/>
            <a:ext cx="8534400" cy="475488"/>
          </a:xfrm>
        </p:spPr>
        <p:txBody>
          <a:bodyPr>
            <a:noAutofit/>
          </a:bodyPr>
          <a:lstStyle/>
          <a:p>
            <a:r>
              <a:rPr lang="en-US" dirty="0"/>
              <a:t>Good Software Development</a:t>
            </a:r>
          </a:p>
        </p:txBody>
      </p:sp>
      <p:sp>
        <p:nvSpPr>
          <p:cNvPr id="3" name="Content Placeholder 2">
            <a:extLst>
              <a:ext uri="{FF2B5EF4-FFF2-40B4-BE49-F238E27FC236}">
                <a16:creationId xmlns:a16="http://schemas.microsoft.com/office/drawing/2014/main" id="{964CCDFD-4078-9D43-9C59-ABD51D28E595}"/>
              </a:ext>
            </a:extLst>
          </p:cNvPr>
          <p:cNvSpPr>
            <a:spLocks noGrp="1"/>
          </p:cNvSpPr>
          <p:nvPr>
            <p:ph idx="1"/>
          </p:nvPr>
        </p:nvSpPr>
        <p:spPr>
          <a:xfrm>
            <a:off x="457200" y="761999"/>
            <a:ext cx="8382000" cy="6096001"/>
          </a:xfrm>
        </p:spPr>
        <p:txBody>
          <a:bodyPr>
            <a:normAutofit fontScale="77500" lnSpcReduction="20000"/>
          </a:bodyPr>
          <a:lstStyle/>
          <a:p>
            <a:r>
              <a:rPr lang="en-US" dirty="0"/>
              <a:t>Writing good software is much more than sitting down and starting to code</a:t>
            </a:r>
          </a:p>
          <a:p>
            <a:pPr lvl="1"/>
            <a:r>
              <a:rPr lang="en-US" dirty="0"/>
              <a:t>You need a </a:t>
            </a:r>
            <a:r>
              <a:rPr lang="en-US" b="1" dirty="0">
                <a:solidFill>
                  <a:srgbClr val="FF0000"/>
                </a:solidFill>
              </a:rPr>
              <a:t>methodology</a:t>
            </a:r>
          </a:p>
          <a:p>
            <a:pPr lvl="1"/>
            <a:r>
              <a:rPr lang="en-US" dirty="0"/>
              <a:t>You need a </a:t>
            </a:r>
            <a:r>
              <a:rPr lang="en-US" dirty="0">
                <a:solidFill>
                  <a:srgbClr val="FF0000"/>
                </a:solidFill>
              </a:rPr>
              <a:t>structure</a:t>
            </a:r>
          </a:p>
          <a:p>
            <a:pPr lvl="1"/>
            <a:r>
              <a:rPr lang="en-US" dirty="0"/>
              <a:t>You need to </a:t>
            </a:r>
            <a:r>
              <a:rPr lang="en-US" dirty="0">
                <a:solidFill>
                  <a:srgbClr val="FF0000"/>
                </a:solidFill>
              </a:rPr>
              <a:t>thoroughly test</a:t>
            </a:r>
          </a:p>
          <a:p>
            <a:pPr lvl="2"/>
            <a:r>
              <a:rPr lang="en-US" dirty="0"/>
              <a:t>Every loop and branch must be thoroughly tested</a:t>
            </a:r>
          </a:p>
          <a:p>
            <a:pPr lvl="2"/>
            <a:r>
              <a:rPr lang="en-US" dirty="0"/>
              <a:t>Handing in software that compiles but then doesn’t produce correct results is not really acceptable</a:t>
            </a:r>
          </a:p>
          <a:p>
            <a:pPr lvl="1"/>
            <a:r>
              <a:rPr lang="en-US" dirty="0"/>
              <a:t>You need to strive towards </a:t>
            </a:r>
            <a:r>
              <a:rPr lang="en-US" dirty="0">
                <a:solidFill>
                  <a:srgbClr val="FF0000"/>
                </a:solidFill>
              </a:rPr>
              <a:t>simplicity</a:t>
            </a:r>
          </a:p>
          <a:p>
            <a:pPr lvl="2"/>
            <a:r>
              <a:rPr lang="en-US" dirty="0"/>
              <a:t>This makes testing easier</a:t>
            </a:r>
          </a:p>
          <a:p>
            <a:pPr lvl="1"/>
            <a:r>
              <a:rPr lang="en-US" dirty="0"/>
              <a:t>You need to </a:t>
            </a:r>
            <a:r>
              <a:rPr lang="en-US" dirty="0">
                <a:solidFill>
                  <a:srgbClr val="FF0000"/>
                </a:solidFill>
              </a:rPr>
              <a:t>refactor</a:t>
            </a:r>
            <a:r>
              <a:rPr lang="en-US" dirty="0"/>
              <a:t> on a regular basis</a:t>
            </a:r>
          </a:p>
          <a:p>
            <a:pPr lvl="2"/>
            <a:r>
              <a:rPr lang="en-US" dirty="0"/>
              <a:t>Refactoring is improving the software </a:t>
            </a:r>
            <a:r>
              <a:rPr lang="en-US" b="1" dirty="0"/>
              <a:t>without</a:t>
            </a:r>
            <a:r>
              <a:rPr lang="en-US" dirty="0"/>
              <a:t> adding new functionality</a:t>
            </a:r>
          </a:p>
          <a:p>
            <a:pPr lvl="2"/>
            <a:r>
              <a:rPr lang="en-US" dirty="0"/>
              <a:t>Improvements can include modernizing the code, performance improvement, bug fixes, etc.</a:t>
            </a:r>
          </a:p>
          <a:p>
            <a:pPr lvl="2"/>
            <a:r>
              <a:rPr lang="en-US" dirty="0"/>
              <a:t>Usually incorporated in interim releases</a:t>
            </a:r>
          </a:p>
          <a:p>
            <a:pPr lvl="1"/>
            <a:r>
              <a:rPr lang="en-US" dirty="0"/>
              <a:t>You need </a:t>
            </a:r>
            <a:r>
              <a:rPr lang="en-US" dirty="0">
                <a:solidFill>
                  <a:srgbClr val="FF0000"/>
                </a:solidFill>
              </a:rPr>
              <a:t>well-documented software </a:t>
            </a:r>
            <a:r>
              <a:rPr lang="en-US" dirty="0"/>
              <a:t>(see reference SoftwareDocumentation.pdf)</a:t>
            </a:r>
          </a:p>
          <a:p>
            <a:pPr lvl="2"/>
            <a:r>
              <a:rPr lang="en-US" dirty="0"/>
              <a:t>You must document all logic, parameters, and test results</a:t>
            </a:r>
          </a:p>
          <a:p>
            <a:pPr lvl="1"/>
            <a:r>
              <a:rPr lang="en-US" dirty="0"/>
              <a:t>You would like to develop </a:t>
            </a:r>
            <a:r>
              <a:rPr lang="en-US" dirty="0">
                <a:solidFill>
                  <a:srgbClr val="FF0000"/>
                </a:solidFill>
              </a:rPr>
              <a:t>reusable software </a:t>
            </a:r>
            <a:r>
              <a:rPr lang="en-US" dirty="0"/>
              <a:t>whenever possible</a:t>
            </a:r>
          </a:p>
          <a:p>
            <a:pPr lvl="2"/>
            <a:r>
              <a:rPr lang="en-US" dirty="0"/>
              <a:t>This requires data-driven software that can serve multiple similar purposes</a:t>
            </a:r>
          </a:p>
          <a:p>
            <a:pPr lvl="2"/>
            <a:r>
              <a:rPr lang="en-US" dirty="0"/>
              <a:t>As we will see this also includes code parameterization</a:t>
            </a:r>
          </a:p>
        </p:txBody>
      </p:sp>
      <p:sp>
        <p:nvSpPr>
          <p:cNvPr id="4" name="Slide Number Placeholder 3">
            <a:extLst>
              <a:ext uri="{FF2B5EF4-FFF2-40B4-BE49-F238E27FC236}">
                <a16:creationId xmlns:a16="http://schemas.microsoft.com/office/drawing/2014/main" id="{59E7B822-1DD2-FF4A-B637-E6A6CAB3B308}"/>
              </a:ext>
            </a:extLst>
          </p:cNvPr>
          <p:cNvSpPr>
            <a:spLocks noGrp="1"/>
          </p:cNvSpPr>
          <p:nvPr>
            <p:ph type="sldNum" sz="quarter" idx="12"/>
          </p:nvPr>
        </p:nvSpPr>
        <p:spPr/>
        <p:txBody>
          <a:bodyPr/>
          <a:lstStyle/>
          <a:p>
            <a:fld id="{13977939-A071-43C1-9268-F54CC2756BB5}" type="slidenum">
              <a:rPr lang="en-US" smtClean="0"/>
              <a:pPr/>
              <a:t>23</a:t>
            </a:fld>
            <a:endParaRPr lang="en-US" dirty="0"/>
          </a:p>
        </p:txBody>
      </p:sp>
    </p:spTree>
    <p:extLst>
      <p:ext uri="{BB962C8B-B14F-4D97-AF65-F5344CB8AC3E}">
        <p14:creationId xmlns:p14="http://schemas.microsoft.com/office/powerpoint/2010/main" val="2581799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ACB2-88EA-0F40-BED8-1DBE1E2A9ADC}"/>
              </a:ext>
            </a:extLst>
          </p:cNvPr>
          <p:cNvSpPr>
            <a:spLocks noGrp="1"/>
          </p:cNvSpPr>
          <p:nvPr>
            <p:ph type="title"/>
          </p:nvPr>
        </p:nvSpPr>
        <p:spPr>
          <a:xfrm>
            <a:off x="457200" y="304800"/>
            <a:ext cx="8229600" cy="475488"/>
          </a:xfrm>
        </p:spPr>
        <p:txBody>
          <a:bodyPr>
            <a:noAutofit/>
          </a:bodyPr>
          <a:lstStyle/>
          <a:p>
            <a:r>
              <a:rPr lang="en-US" dirty="0"/>
              <a:t>Good Basic Software Development Practices</a:t>
            </a:r>
          </a:p>
        </p:txBody>
      </p:sp>
      <p:sp>
        <p:nvSpPr>
          <p:cNvPr id="3" name="Content Placeholder 2">
            <a:extLst>
              <a:ext uri="{FF2B5EF4-FFF2-40B4-BE49-F238E27FC236}">
                <a16:creationId xmlns:a16="http://schemas.microsoft.com/office/drawing/2014/main" id="{79E50982-70CD-7B4D-A74E-E82777B11B1A}"/>
              </a:ext>
            </a:extLst>
          </p:cNvPr>
          <p:cNvSpPr>
            <a:spLocks noGrp="1"/>
          </p:cNvSpPr>
          <p:nvPr>
            <p:ph idx="1"/>
          </p:nvPr>
        </p:nvSpPr>
        <p:spPr>
          <a:xfrm>
            <a:off x="457200" y="932688"/>
            <a:ext cx="8610600" cy="5788787"/>
          </a:xfrm>
        </p:spPr>
        <p:txBody>
          <a:bodyPr>
            <a:normAutofit fontScale="92500"/>
          </a:bodyPr>
          <a:lstStyle/>
          <a:p>
            <a:r>
              <a:rPr lang="en-US" dirty="0"/>
              <a:t>Build the framework of classes first using UML class diagrams.</a:t>
            </a:r>
          </a:p>
          <a:p>
            <a:r>
              <a:rPr lang="en-US" dirty="0"/>
              <a:t>Keep code simple </a:t>
            </a:r>
          </a:p>
          <a:p>
            <a:pPr lvl="1"/>
            <a:r>
              <a:rPr lang="en-US" dirty="0"/>
              <a:t>This means that you don’t want to nest too deeply.</a:t>
            </a:r>
          </a:p>
          <a:p>
            <a:r>
              <a:rPr lang="en-US" dirty="0"/>
              <a:t>Compile each class as you write it.</a:t>
            </a:r>
          </a:p>
          <a:p>
            <a:r>
              <a:rPr lang="en-US" dirty="0"/>
              <a:t>Write data driven software</a:t>
            </a:r>
          </a:p>
          <a:p>
            <a:pPr lvl="1"/>
            <a:r>
              <a:rPr lang="en-US" dirty="0"/>
              <a:t>If all the data is hardcoded the software isn’t very useful.</a:t>
            </a:r>
          </a:p>
          <a:p>
            <a:pPr lvl="1"/>
            <a:r>
              <a:rPr lang="en-US" dirty="0"/>
              <a:t>Data may be input from either the terminal or from files, dependent on instructions in the homework</a:t>
            </a:r>
          </a:p>
          <a:p>
            <a:pPr lvl="2"/>
            <a:r>
              <a:rPr lang="en-US" dirty="0"/>
              <a:t>I usually provide the answers when you test with my inputs</a:t>
            </a:r>
          </a:p>
          <a:p>
            <a:r>
              <a:rPr lang="en-US" dirty="0"/>
              <a:t>Test thoroughly, first by unit, and then for the program as a whole. </a:t>
            </a:r>
          </a:p>
          <a:p>
            <a:pPr lvl="1"/>
            <a:r>
              <a:rPr lang="en-US" dirty="0"/>
              <a:t> Start building test matrices.</a:t>
            </a:r>
          </a:p>
          <a:p>
            <a:r>
              <a:rPr lang="en-US" dirty="0"/>
              <a:t>Document, especially the external interfaces</a:t>
            </a:r>
          </a:p>
          <a:p>
            <a:r>
              <a:rPr lang="en-US" dirty="0"/>
              <a:t>Review and refactor the software to improve the code.</a:t>
            </a:r>
          </a:p>
        </p:txBody>
      </p:sp>
      <p:sp>
        <p:nvSpPr>
          <p:cNvPr id="4" name="Slide Number Placeholder 3">
            <a:extLst>
              <a:ext uri="{FF2B5EF4-FFF2-40B4-BE49-F238E27FC236}">
                <a16:creationId xmlns:a16="http://schemas.microsoft.com/office/drawing/2014/main" id="{F99DA29F-09E8-9140-8564-B8D1C661FEC0}"/>
              </a:ext>
            </a:extLst>
          </p:cNvPr>
          <p:cNvSpPr>
            <a:spLocks noGrp="1"/>
          </p:cNvSpPr>
          <p:nvPr>
            <p:ph type="sldNum" sz="quarter" idx="12"/>
          </p:nvPr>
        </p:nvSpPr>
        <p:spPr/>
        <p:txBody>
          <a:bodyPr/>
          <a:lstStyle/>
          <a:p>
            <a:fld id="{13977939-A071-43C1-9268-F54CC2756BB5}" type="slidenum">
              <a:rPr lang="en-US" smtClean="0"/>
              <a:pPr/>
              <a:t>24</a:t>
            </a:fld>
            <a:endParaRPr lang="en-US" dirty="0"/>
          </a:p>
        </p:txBody>
      </p:sp>
    </p:spTree>
    <p:extLst>
      <p:ext uri="{BB962C8B-B14F-4D97-AF65-F5344CB8AC3E}">
        <p14:creationId xmlns:p14="http://schemas.microsoft.com/office/powerpoint/2010/main" val="267650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8DB93A-132F-D943-A0AA-FD677E419434}"/>
              </a:ext>
            </a:extLst>
          </p:cNvPr>
          <p:cNvSpPr>
            <a:spLocks noGrp="1"/>
          </p:cNvSpPr>
          <p:nvPr>
            <p:ph type="body" idx="1"/>
          </p:nvPr>
        </p:nvSpPr>
        <p:spPr/>
        <p:txBody>
          <a:bodyPr/>
          <a:lstStyle/>
          <a:p>
            <a:r>
              <a:rPr lang="en-US" dirty="0"/>
              <a:t>Good Practices For Software Coding and Testing</a:t>
            </a:r>
          </a:p>
        </p:txBody>
      </p:sp>
      <p:sp>
        <p:nvSpPr>
          <p:cNvPr id="4" name="Slide Number Placeholder 3">
            <a:extLst>
              <a:ext uri="{FF2B5EF4-FFF2-40B4-BE49-F238E27FC236}">
                <a16:creationId xmlns:a16="http://schemas.microsoft.com/office/drawing/2014/main" id="{6C6BD514-06FD-7C47-B99F-D28788A14E2A}"/>
              </a:ext>
            </a:extLst>
          </p:cNvPr>
          <p:cNvSpPr>
            <a:spLocks noGrp="1"/>
          </p:cNvSpPr>
          <p:nvPr>
            <p:ph type="sldNum" sz="quarter" idx="12"/>
          </p:nvPr>
        </p:nvSpPr>
        <p:spPr/>
        <p:txBody>
          <a:bodyPr/>
          <a:lstStyle/>
          <a:p>
            <a:fld id="{13977939-A071-43C1-9268-F54CC2756BB5}" type="slidenum">
              <a:rPr lang="en-US" smtClean="0"/>
              <a:pPr/>
              <a:t>25</a:t>
            </a:fld>
            <a:endParaRPr lang="en-US" dirty="0"/>
          </a:p>
        </p:txBody>
      </p:sp>
    </p:spTree>
    <p:extLst>
      <p:ext uri="{BB962C8B-B14F-4D97-AF65-F5344CB8AC3E}">
        <p14:creationId xmlns:p14="http://schemas.microsoft.com/office/powerpoint/2010/main" val="3833091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p:txBody>
          <a:bodyPr>
            <a:noAutofit/>
          </a:bodyPr>
          <a:lstStyle/>
          <a:p>
            <a:r>
              <a:rPr lang="en-US" dirty="0"/>
              <a:t>Good Coding Practices For Java Programmers (1)</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932688"/>
            <a:ext cx="8229600" cy="5925312"/>
          </a:xfrm>
        </p:spPr>
        <p:txBody>
          <a:bodyPr>
            <a:normAutofit fontScale="85000" lnSpcReduction="20000"/>
          </a:bodyPr>
          <a:lstStyle/>
          <a:p>
            <a:pPr marL="0" indent="0">
              <a:buNone/>
            </a:pPr>
            <a:r>
              <a:rPr lang="en-US" dirty="0"/>
              <a:t>1. </a:t>
            </a:r>
            <a:r>
              <a:rPr lang="en-US" dirty="0">
                <a:solidFill>
                  <a:srgbClr val="FF0000"/>
                </a:solidFill>
              </a:rPr>
              <a:t>Defining and Adhering to Naming Conventions</a:t>
            </a:r>
          </a:p>
          <a:p>
            <a:r>
              <a:rPr lang="en-US" dirty="0"/>
              <a:t>Before writing any code you should specify a set of naming conventions for your Java (or other) project, such as how to name classes and interfaces, how to name methods, how to name variables, how to name constants, etc. These conventions must be obeyed by all programmers in your team.</a:t>
            </a:r>
          </a:p>
          <a:p>
            <a:r>
              <a:rPr lang="en-US" dirty="0"/>
              <a:t>According to </a:t>
            </a:r>
            <a:r>
              <a:rPr lang="en-US" dirty="0">
                <a:solidFill>
                  <a:srgbClr val="FF0000"/>
                </a:solidFill>
              </a:rPr>
              <a:t>Robert Martin </a:t>
            </a:r>
            <a:r>
              <a:rPr lang="en-US" dirty="0"/>
              <a:t>(the author of Clean Code), an identifier (a class, a method, and a variable) should have the following characteristics:</a:t>
            </a:r>
          </a:p>
          <a:p>
            <a:pPr lvl="1"/>
            <a:r>
              <a:rPr lang="en-US" dirty="0"/>
              <a:t>Self-explanatory: a name must reveal its intention so everyone can understand and change the code easily. For example the names daysToExpire or inputText do reveal their intention clearly. </a:t>
            </a:r>
          </a:p>
          <a:p>
            <a:pPr lvl="2"/>
            <a:r>
              <a:rPr lang="en-US" dirty="0">
                <a:solidFill>
                  <a:srgbClr val="FF0000"/>
                </a:solidFill>
              </a:rPr>
              <a:t>If a name requires a comment to describe itself, then the name is not self-explanatory</a:t>
            </a:r>
            <a:r>
              <a:rPr lang="en-US" dirty="0"/>
              <a:t>.</a:t>
            </a:r>
          </a:p>
          <a:p>
            <a:pPr lvl="1"/>
            <a:r>
              <a:rPr lang="en-US" dirty="0"/>
              <a:t>Meaningful distinctions</a:t>
            </a:r>
          </a:p>
          <a:p>
            <a:pPr lvl="2"/>
            <a:r>
              <a:rPr lang="en-US" dirty="0"/>
              <a:t>If names must be different, then they should also mean something different. For example, the names a1 and a2 have a meaningless distinction; while the names source and destination may be meaningful distinction.  </a:t>
            </a:r>
          </a:p>
          <a:p>
            <a:pPr lvl="1"/>
            <a:r>
              <a:rPr lang="en-US" dirty="0"/>
              <a:t>Pronounceable - Names should be pronounceable as naturally as spoken language because we are humans - very good at words. </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26</a:t>
            </a:fld>
            <a:endParaRPr lang="en-US" dirty="0"/>
          </a:p>
        </p:txBody>
      </p:sp>
    </p:spTree>
    <p:extLst>
      <p:ext uri="{BB962C8B-B14F-4D97-AF65-F5344CB8AC3E}">
        <p14:creationId xmlns:p14="http://schemas.microsoft.com/office/powerpoint/2010/main" val="439513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76200"/>
            <a:ext cx="8229600" cy="475488"/>
          </a:xfrm>
        </p:spPr>
        <p:txBody>
          <a:bodyPr>
            <a:noAutofit/>
          </a:bodyPr>
          <a:lstStyle/>
          <a:p>
            <a:r>
              <a:rPr lang="en-US" dirty="0"/>
              <a:t>Good Coding Practices For Java Programmers (2)</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152400" y="551688"/>
            <a:ext cx="8686800" cy="6230112"/>
          </a:xfrm>
        </p:spPr>
        <p:txBody>
          <a:bodyPr>
            <a:normAutofit fontScale="70000" lnSpcReduction="20000"/>
          </a:bodyPr>
          <a:lstStyle/>
          <a:p>
            <a:pPr marL="0" indent="0">
              <a:buNone/>
            </a:pPr>
            <a:r>
              <a:rPr lang="en-US" sz="2900" dirty="0"/>
              <a:t>Here are some general naming rules:</a:t>
            </a:r>
          </a:p>
          <a:p>
            <a:r>
              <a:rPr lang="en-US" dirty="0"/>
              <a:t>Class and interface names should be nouns, starting with an uppercase letter. </a:t>
            </a:r>
          </a:p>
          <a:p>
            <a:pPr lvl="1"/>
            <a:r>
              <a:rPr lang="en-US" sz="2600" dirty="0"/>
              <a:t>For example: Student, Car, Rectangle, Painter, etc.  </a:t>
            </a:r>
          </a:p>
          <a:p>
            <a:pPr lvl="1"/>
            <a:r>
              <a:rPr lang="en-US" sz="2600" b="1" dirty="0">
                <a:solidFill>
                  <a:srgbClr val="FF0000"/>
                </a:solidFill>
              </a:rPr>
              <a:t>Don’t call any class Main – despite what some tool might do</a:t>
            </a:r>
          </a:p>
          <a:p>
            <a:pPr lvl="2"/>
            <a:r>
              <a:rPr lang="en-US" sz="2300" b="1" dirty="0">
                <a:solidFill>
                  <a:srgbClr val="FF0000"/>
                </a:solidFill>
              </a:rPr>
              <a:t>If you do there will be a deduction of several points in the homework</a:t>
            </a:r>
          </a:p>
          <a:p>
            <a:r>
              <a:rPr lang="en-US" sz="2900" dirty="0"/>
              <a:t>Variable names should be nouns, starting with a lowercase letter. </a:t>
            </a:r>
          </a:p>
          <a:p>
            <a:pPr lvl="1"/>
            <a:r>
              <a:rPr lang="en-US" sz="2600" dirty="0"/>
              <a:t>For example: number, counter, birthday, gender, etc.  </a:t>
            </a:r>
          </a:p>
          <a:p>
            <a:r>
              <a:rPr lang="en-US" sz="2900" dirty="0"/>
              <a:t>Method names should be verbs, starting with a lowercase letter. </a:t>
            </a:r>
          </a:p>
          <a:p>
            <a:pPr lvl="1"/>
            <a:r>
              <a:rPr lang="en-US" sz="2300" dirty="0"/>
              <a:t>For example: run, start, stop, execute, etc.  </a:t>
            </a:r>
          </a:p>
          <a:p>
            <a:r>
              <a:rPr lang="en-US" sz="2900" dirty="0"/>
              <a:t>Constant names should have all UPPERCASE letters and words are separated by underscores. For example: MAX_SIZE, MIN_WIDTH, MIN_HEIGHT, etc.  </a:t>
            </a:r>
          </a:p>
          <a:p>
            <a:r>
              <a:rPr lang="en-US" sz="2900" dirty="0"/>
              <a:t>Using camelCase notation for variable and method names. </a:t>
            </a:r>
          </a:p>
          <a:p>
            <a:pPr lvl="1"/>
            <a:r>
              <a:rPr lang="en-US" sz="2600" dirty="0"/>
              <a:t>For example: studentManager, carController, numberOfStudents, runAnalysis, </a:t>
            </a:r>
          </a:p>
          <a:p>
            <a:pPr lvl="1"/>
            <a:r>
              <a:rPr lang="en-US" sz="2600" dirty="0"/>
              <a:t>A good reference for naming conventions is an Oracle’s publication: Java Code Conventions. Build your own naming conventions using this document</a:t>
            </a:r>
            <a:r>
              <a:rPr lang="en-US" dirty="0"/>
              <a:t>.</a:t>
            </a:r>
          </a:p>
          <a:p>
            <a:r>
              <a:rPr lang="en-US" sz="2900" dirty="0"/>
              <a:t>Remember, naming is very important in programming as we name everything from classes to interfaces to methods to variables to constants, etc. </a:t>
            </a:r>
          </a:p>
          <a:p>
            <a:pPr lvl="1"/>
            <a:r>
              <a:rPr lang="en-US" sz="2600" dirty="0"/>
              <a:t>So do not write code just to satisfy the compiler, </a:t>
            </a:r>
            <a:r>
              <a:rPr lang="en-US" sz="2600" dirty="0">
                <a:solidFill>
                  <a:srgbClr val="FF0000"/>
                </a:solidFill>
              </a:rPr>
              <a:t>write code so that it is readable and can be understood by humans</a:t>
            </a:r>
            <a:r>
              <a:rPr lang="en-US" sz="2600" dirty="0"/>
              <a:t> - for yourself, for your teammates, and for other guys who end up maintaining your project.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27</a:t>
            </a:fld>
            <a:endParaRPr lang="en-US" dirty="0"/>
          </a:p>
        </p:txBody>
      </p:sp>
    </p:spTree>
    <p:extLst>
      <p:ext uri="{BB962C8B-B14F-4D97-AF65-F5344CB8AC3E}">
        <p14:creationId xmlns:p14="http://schemas.microsoft.com/office/powerpoint/2010/main" val="3430159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(3)</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172200"/>
          </a:xfrm>
        </p:spPr>
        <p:txBody>
          <a:bodyPr>
            <a:normAutofit fontScale="55000" lnSpcReduction="20000"/>
          </a:bodyPr>
          <a:lstStyle/>
          <a:p>
            <a:pPr marL="0" indent="0">
              <a:buNone/>
            </a:pPr>
            <a:r>
              <a:rPr lang="en-US" dirty="0"/>
              <a:t>2. </a:t>
            </a:r>
            <a:r>
              <a:rPr lang="en-US" dirty="0">
                <a:solidFill>
                  <a:srgbClr val="FF0000"/>
                </a:solidFill>
              </a:rPr>
              <a:t>Ordering Class Members by Scopes</a:t>
            </a:r>
          </a:p>
          <a:p>
            <a:r>
              <a:rPr lang="en-US" dirty="0"/>
              <a:t>The best practice to organize member variables of a class by their scopes from most restrictive to least restrictive. </a:t>
            </a:r>
          </a:p>
          <a:p>
            <a:pPr lvl="1"/>
            <a:r>
              <a:rPr lang="en-US" dirty="0"/>
              <a:t>That means we should sort the members by the visibility of the access modifiers: private, default (package), protected, and public. And each group separated by a blank line.</a:t>
            </a:r>
          </a:p>
          <a:p>
            <a:pPr lvl="1"/>
            <a:r>
              <a:rPr lang="en-US" dirty="0"/>
              <a:t>For example, the following members declaration looks quite messy:</a:t>
            </a:r>
          </a:p>
          <a:p>
            <a:pPr marL="365760" lvl="1" indent="0">
              <a:buNone/>
            </a:pPr>
            <a:r>
              <a:rPr lang="en-US" dirty="0"/>
              <a:t>public class StudentManager </a:t>
            </a:r>
          </a:p>
          <a:p>
            <a:pPr marL="365760" lvl="1" indent="0">
              <a:buNone/>
            </a:pPr>
            <a:r>
              <a:rPr lang="en-US" dirty="0"/>
              <a:t>{</a:t>
            </a:r>
          </a:p>
          <a:p>
            <a:pPr marL="365760" lvl="1" indent="0">
              <a:buNone/>
            </a:pPr>
            <a:r>
              <a:rPr lang="en-US" dirty="0"/>
              <a:t>    protected List&lt;Student&gt; listStudents;</a:t>
            </a:r>
          </a:p>
          <a:p>
            <a:pPr marL="365760" lvl="1" indent="0">
              <a:buNone/>
            </a:pPr>
            <a:r>
              <a:rPr lang="en-US" dirty="0"/>
              <a:t>    public int numberOfStudents;</a:t>
            </a:r>
          </a:p>
          <a:p>
            <a:pPr marL="365760" lvl="1" indent="0">
              <a:buNone/>
            </a:pPr>
            <a:r>
              <a:rPr lang="en-US" dirty="0"/>
              <a:t>    private String errorMessage;</a:t>
            </a:r>
          </a:p>
          <a:p>
            <a:pPr marL="365760" lvl="1" indent="0">
              <a:buNone/>
            </a:pPr>
            <a:r>
              <a:rPr lang="en-US" dirty="0"/>
              <a:t>    float rowHeight;</a:t>
            </a:r>
          </a:p>
          <a:p>
            <a:pPr marL="365760" lvl="1" indent="0">
              <a:buNone/>
            </a:pPr>
            <a:r>
              <a:rPr lang="en-US" dirty="0"/>
              <a:t>    float columnWidth;</a:t>
            </a:r>
          </a:p>
          <a:p>
            <a:pPr marL="365760" lvl="1" indent="0">
              <a:buNone/>
            </a:pPr>
            <a:r>
              <a:rPr lang="en-US" dirty="0"/>
              <a:t>    protected String[] columnNames;</a:t>
            </a:r>
          </a:p>
          <a:p>
            <a:pPr marL="365760" lvl="1" indent="0">
              <a:buNone/>
            </a:pPr>
            <a:r>
              <a:rPr lang="en-US" dirty="0"/>
              <a:t>    private int numberOfRows;</a:t>
            </a:r>
          </a:p>
          <a:p>
            <a:pPr marL="365760" lvl="1" indent="0">
              <a:buNone/>
            </a:pPr>
            <a:r>
              <a:rPr lang="en-US" dirty="0"/>
              <a:t>    private int numberOfColumns;</a:t>
            </a:r>
          </a:p>
          <a:p>
            <a:pPr marL="365760" lvl="1" indent="0">
              <a:buNone/>
            </a:pPr>
            <a:r>
              <a:rPr lang="en-US" dirty="0"/>
              <a:t>    public String title;</a:t>
            </a:r>
          </a:p>
          <a:p>
            <a:pPr marL="365760" lvl="1" indent="0">
              <a:buNone/>
            </a:pPr>
            <a:r>
              <a:rPr lang="en-US" dirty="0"/>
              <a:t>}</a:t>
            </a:r>
          </a:p>
          <a:p>
            <a:pPr marL="708660" lvl="1" indent="-342900"/>
            <a:r>
              <a:rPr lang="en-US" dirty="0"/>
              <a:t>This is better:</a:t>
            </a:r>
          </a:p>
          <a:p>
            <a:pPr marL="365760" lvl="1" indent="0">
              <a:buNone/>
            </a:pPr>
            <a:r>
              <a:rPr lang="en-US" dirty="0"/>
              <a:t>public class StudentManager</a:t>
            </a:r>
          </a:p>
          <a:p>
            <a:pPr marL="365760" lvl="1" indent="0">
              <a:buNone/>
            </a:pPr>
            <a:r>
              <a:rPr lang="en-US" dirty="0"/>
              <a:t> {</a:t>
            </a:r>
          </a:p>
          <a:p>
            <a:pPr marL="365760" lvl="1" indent="0">
              <a:buNone/>
            </a:pPr>
            <a:r>
              <a:rPr lang="en-US" dirty="0"/>
              <a:t>    private String errorMessage;</a:t>
            </a:r>
          </a:p>
          <a:p>
            <a:pPr marL="365760" lvl="1" indent="0">
              <a:buNone/>
            </a:pPr>
            <a:r>
              <a:rPr lang="en-US" dirty="0"/>
              <a:t>    private int numberOfColumns;</a:t>
            </a:r>
          </a:p>
          <a:p>
            <a:pPr marL="365760" lvl="1" indent="0">
              <a:buNone/>
            </a:pPr>
            <a:r>
              <a:rPr lang="en-US" dirty="0"/>
              <a:t>    private int numberOfRows;</a:t>
            </a:r>
          </a:p>
          <a:p>
            <a:pPr marL="365760" lvl="1" indent="0">
              <a:buNone/>
            </a:pPr>
            <a:r>
              <a:rPr lang="en-US" dirty="0"/>
              <a:t>    private float columnWidth;</a:t>
            </a:r>
          </a:p>
          <a:p>
            <a:pPr marL="365760" lvl="1" indent="0">
              <a:buNone/>
            </a:pPr>
            <a:r>
              <a:rPr lang="en-US" dirty="0"/>
              <a:t>    private float rowHeight;</a:t>
            </a:r>
          </a:p>
          <a:p>
            <a:pPr marL="365760" lvl="1" indent="0">
              <a:buNone/>
            </a:pPr>
            <a:r>
              <a:rPr lang="en-US" dirty="0"/>
              <a:t>    protected String[] columnNames;</a:t>
            </a:r>
          </a:p>
          <a:p>
            <a:pPr marL="365760" lvl="1" indent="0">
              <a:buNone/>
            </a:pPr>
            <a:r>
              <a:rPr lang="en-US" dirty="0"/>
              <a:t>    protected List&lt;Student&gt; listStudents;</a:t>
            </a:r>
          </a:p>
          <a:p>
            <a:pPr marL="365760" lvl="1" indent="0">
              <a:buNone/>
            </a:pPr>
            <a:r>
              <a:rPr lang="en-US" dirty="0"/>
              <a:t>    public int numberOfStudents;</a:t>
            </a:r>
          </a:p>
          <a:p>
            <a:pPr marL="365760" lvl="1" indent="0">
              <a:buNone/>
            </a:pPr>
            <a:r>
              <a:rPr lang="en-US" dirty="0"/>
              <a:t>    public String title; </a:t>
            </a:r>
          </a:p>
          <a:p>
            <a:pPr marL="365760" lvl="1" indent="0">
              <a:buNone/>
            </a:pPr>
            <a:r>
              <a:rPr lang="en-US" dirty="0"/>
              <a: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28</a:t>
            </a:fld>
            <a:endParaRPr lang="en-US" dirty="0"/>
          </a:p>
        </p:txBody>
      </p:sp>
    </p:spTree>
    <p:extLst>
      <p:ext uri="{BB962C8B-B14F-4D97-AF65-F5344CB8AC3E}">
        <p14:creationId xmlns:p14="http://schemas.microsoft.com/office/powerpoint/2010/main" val="736766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(4)</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172200"/>
          </a:xfrm>
        </p:spPr>
        <p:txBody>
          <a:bodyPr>
            <a:normAutofit fontScale="77500" lnSpcReduction="20000"/>
          </a:bodyPr>
          <a:lstStyle/>
          <a:p>
            <a:pPr marL="0" indent="0">
              <a:buNone/>
            </a:pPr>
            <a:r>
              <a:rPr lang="en-US" dirty="0"/>
              <a:t>3. </a:t>
            </a:r>
            <a:r>
              <a:rPr lang="en-US" dirty="0">
                <a:solidFill>
                  <a:srgbClr val="FF0000"/>
                </a:solidFill>
              </a:rPr>
              <a:t>Class Member Instance Variables Should Be Private</a:t>
            </a:r>
          </a:p>
          <a:p>
            <a:r>
              <a:rPr lang="en-US" dirty="0"/>
              <a:t>We should minimize the accessibility of class members fields (the instance variables)  </a:t>
            </a:r>
          </a:p>
          <a:p>
            <a:pPr lvl="1"/>
            <a:r>
              <a:rPr lang="en-US" dirty="0"/>
              <a:t>That means we should use the lowest possible access modifier (hence the private modifier) to protect the fields. This practice is recommended in order to enforce information hiding or encapsulation in software design.</a:t>
            </a:r>
          </a:p>
          <a:p>
            <a:r>
              <a:rPr lang="en-US" dirty="0"/>
              <a:t>Use mutator methods to change these variables.</a:t>
            </a:r>
          </a:p>
          <a:p>
            <a:pPr lvl="1"/>
            <a:r>
              <a:rPr lang="en-US" dirty="0"/>
              <a:t>The added benefit is that you check for the validity of a value only once</a:t>
            </a:r>
          </a:p>
          <a:p>
            <a:pPr marL="0" indent="0">
              <a:buNone/>
            </a:pPr>
            <a:r>
              <a:rPr lang="en-US" dirty="0"/>
              <a:t>4. </a:t>
            </a:r>
            <a:r>
              <a:rPr lang="en-US" dirty="0">
                <a:solidFill>
                  <a:srgbClr val="FF0000"/>
                </a:solidFill>
              </a:rPr>
              <a:t>Avoid Empty Catch Blocks</a:t>
            </a:r>
          </a:p>
          <a:p>
            <a:r>
              <a:rPr lang="en-US" dirty="0"/>
              <a:t>It’s a very bad habit to leave catch blocks empty, as when the exception is caught by the empty catch block, the program fails in silence, which makes debugging harder. </a:t>
            </a:r>
          </a:p>
          <a:p>
            <a:pPr marL="0" indent="0">
              <a:buNone/>
            </a:pPr>
            <a:r>
              <a:rPr lang="en-US" dirty="0"/>
              <a:t>5. </a:t>
            </a:r>
            <a:r>
              <a:rPr lang="en-US" dirty="0">
                <a:solidFill>
                  <a:srgbClr val="FF0000"/>
                </a:solidFill>
              </a:rPr>
              <a:t>Using StringBuilder or StringBuffer (for parallel/multithreaded programming) instead of String Concatenation</a:t>
            </a:r>
          </a:p>
          <a:p>
            <a:r>
              <a:rPr lang="en-US" dirty="0"/>
              <a:t>In Java, an immutable class is a class whose state cannot be changed once an object of that class is created. This means that the values of its instance variables cannot be modified after initialization. </a:t>
            </a:r>
          </a:p>
          <a:p>
            <a:r>
              <a:rPr lang="en-US" dirty="0"/>
              <a:t>The String class is immutable, so each time we do a concatenation we create a whole new object</a:t>
            </a:r>
          </a:p>
          <a:p>
            <a:pPr lvl="1"/>
            <a:r>
              <a:rPr lang="en-US" dirty="0"/>
              <a:t>This is not the case with StringBuilder objects</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29</a:t>
            </a:fld>
            <a:endParaRPr lang="en-US" dirty="0"/>
          </a:p>
        </p:txBody>
      </p:sp>
    </p:spTree>
    <p:extLst>
      <p:ext uri="{BB962C8B-B14F-4D97-AF65-F5344CB8AC3E}">
        <p14:creationId xmlns:p14="http://schemas.microsoft.com/office/powerpoint/2010/main" val="2546616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(5)</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800"/>
            <a:ext cx="8229600" cy="6019800"/>
          </a:xfrm>
        </p:spPr>
        <p:txBody>
          <a:bodyPr>
            <a:normAutofit fontScale="70000" lnSpcReduction="20000"/>
          </a:bodyPr>
          <a:lstStyle/>
          <a:p>
            <a:pPr marL="0" indent="0">
              <a:buNone/>
            </a:pPr>
            <a:r>
              <a:rPr lang="en-US" dirty="0"/>
              <a:t>6. </a:t>
            </a:r>
            <a:r>
              <a:rPr lang="en-US" dirty="0">
                <a:solidFill>
                  <a:srgbClr val="FF0000"/>
                </a:solidFill>
              </a:rPr>
              <a:t>Use enum or Constant class instead of Constant interface</a:t>
            </a:r>
          </a:p>
          <a:p>
            <a:r>
              <a:rPr lang="en-US" dirty="0"/>
              <a:t>It’s a very bad idea to create an interface which is solely for declaring some constants without any methods. Here’s such a poor interface (some of the qualifiers are not necessary, but we will discuss that in the Lesson 3):</a:t>
            </a:r>
          </a:p>
          <a:p>
            <a:pPr marL="365760" lvl="1" indent="0">
              <a:buNone/>
            </a:pPr>
            <a:r>
              <a:rPr lang="en-US" dirty="0"/>
              <a:t>public interface Color </a:t>
            </a:r>
          </a:p>
          <a:p>
            <a:pPr marL="365760" lvl="1" indent="0">
              <a:buNone/>
            </a:pPr>
            <a:r>
              <a:rPr lang="en-US" dirty="0"/>
              <a:t>{</a:t>
            </a:r>
          </a:p>
          <a:p>
            <a:pPr marL="365760" lvl="1" indent="0">
              <a:buNone/>
            </a:pPr>
            <a:r>
              <a:rPr lang="en-US" dirty="0"/>
              <a:t>    public static final int RED = 0xff0000;</a:t>
            </a:r>
          </a:p>
          <a:p>
            <a:pPr marL="365760" lvl="1" indent="0">
              <a:buNone/>
            </a:pPr>
            <a:r>
              <a:rPr lang="en-US" dirty="0"/>
              <a:t>    public static final int BLACK = 0x000000;</a:t>
            </a:r>
          </a:p>
          <a:p>
            <a:pPr marL="365760" lvl="1" indent="0">
              <a:buNone/>
            </a:pPr>
            <a:r>
              <a:rPr lang="en-US" dirty="0"/>
              <a:t>    public static final int WHITE = 0xffffff;</a:t>
            </a:r>
          </a:p>
          <a:p>
            <a:pPr marL="365760" lvl="1" indent="0">
              <a:buNone/>
            </a:pPr>
            <a:r>
              <a:rPr lang="en-US" dirty="0"/>
              <a:t>}</a:t>
            </a:r>
          </a:p>
          <a:p>
            <a:r>
              <a:rPr lang="en-US" dirty="0"/>
              <a:t>This is because the purpose of interfaces is for inheritance and polymorphism, not for static variables. So the best practice recommends us to use an enum instead. For example:</a:t>
            </a:r>
          </a:p>
          <a:p>
            <a:pPr marL="365760" lvl="1" indent="0">
              <a:buNone/>
            </a:pPr>
            <a:r>
              <a:rPr lang="en-US" dirty="0"/>
              <a:t>public enum Color {BLACK, WHITE, RED}</a:t>
            </a:r>
          </a:p>
          <a:p>
            <a:pPr marL="0" indent="0">
              <a:buNone/>
            </a:pPr>
            <a:r>
              <a:rPr lang="en-US" dirty="0"/>
              <a:t>7. </a:t>
            </a:r>
            <a:r>
              <a:rPr lang="en-US" dirty="0">
                <a:solidFill>
                  <a:srgbClr val="FF0000"/>
                </a:solidFill>
              </a:rPr>
              <a:t>Avoid Redundant Initialization (</a:t>
            </a:r>
            <a:r>
              <a:rPr lang="en-US" dirty="0">
                <a:solidFill>
                  <a:srgbClr val="FF0000"/>
                </a:solidFill>
                <a:latin typeface="Arial" panose="020B0604020202020204" pitchFamily="34" charset="0"/>
                <a:cs typeface="Arial" panose="020B0604020202020204" pitchFamily="34" charset="0"/>
              </a:rPr>
              <a:t>0</a:t>
            </a:r>
            <a:r>
              <a:rPr lang="en-US" dirty="0">
                <a:solidFill>
                  <a:srgbClr val="FF0000"/>
                </a:solidFill>
              </a:rPr>
              <a:t>-false-null char - null)</a:t>
            </a:r>
          </a:p>
          <a:p>
            <a:r>
              <a:rPr lang="en-US" dirty="0"/>
              <a:t>It’s unnecessary to initialize member variables to the following values: </a:t>
            </a:r>
            <a:r>
              <a:rPr lang="en-US" dirty="0">
                <a:latin typeface="Arial" panose="020B0604020202020204" pitchFamily="34" charset="0"/>
                <a:cs typeface="Arial" panose="020B0604020202020204" pitchFamily="34" charset="0"/>
              </a:rPr>
              <a:t>0 (for primitive numerics)</a:t>
            </a:r>
            <a:r>
              <a:rPr lang="en-US" dirty="0"/>
              <a:t>, false (for Boolean), null character (for char) and null (for objects). </a:t>
            </a:r>
          </a:p>
          <a:p>
            <a:pPr lvl="1"/>
            <a:r>
              <a:rPr lang="en-US" dirty="0"/>
              <a:t>Just as is the case with arrays these values are the default initialization values of member variables in Java.</a:t>
            </a:r>
          </a:p>
          <a:p>
            <a:pPr lvl="1"/>
            <a:r>
              <a:rPr lang="en-US" dirty="0"/>
              <a:t>Of course, local variables in general must be assigned a value(No defaults). </a:t>
            </a:r>
          </a:p>
          <a:p>
            <a:pPr lvl="1"/>
            <a:r>
              <a:rPr lang="en-US" dirty="0"/>
              <a:t>Arrays have all cells initialized to their types default</a:t>
            </a:r>
          </a:p>
          <a:p>
            <a:pPr lvl="2"/>
            <a:r>
              <a:rPr lang="en-US" dirty="0"/>
              <a:t>Primitives to 0, 0.0 , false or for char the null character </a:t>
            </a:r>
          </a:p>
          <a:p>
            <a:pPr lvl="2"/>
            <a:r>
              <a:rPr lang="en-US" dirty="0"/>
              <a:t>All cells of any class type are initialized to Null</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30</a:t>
            </a:fld>
            <a:endParaRPr lang="en-US" dirty="0"/>
          </a:p>
        </p:txBody>
      </p:sp>
    </p:spTree>
    <p:extLst>
      <p:ext uri="{BB962C8B-B14F-4D97-AF65-F5344CB8AC3E}">
        <p14:creationId xmlns:p14="http://schemas.microsoft.com/office/powerpoint/2010/main" val="399949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40D2-E6C7-394D-BFE1-E589513D06F7}"/>
              </a:ext>
            </a:extLst>
          </p:cNvPr>
          <p:cNvSpPr>
            <a:spLocks noGrp="1"/>
          </p:cNvSpPr>
          <p:nvPr>
            <p:ph type="title"/>
          </p:nvPr>
        </p:nvSpPr>
        <p:spPr>
          <a:xfrm>
            <a:off x="457200" y="152400"/>
            <a:ext cx="8229600" cy="475488"/>
          </a:xfrm>
        </p:spPr>
        <p:txBody>
          <a:bodyPr>
            <a:noAutofit/>
          </a:bodyPr>
          <a:lstStyle/>
          <a:p>
            <a:r>
              <a:rPr lang="en-US" dirty="0"/>
              <a:t>Good Coding Practices For Java Programmers (6)</a:t>
            </a:r>
          </a:p>
        </p:txBody>
      </p:sp>
      <p:sp>
        <p:nvSpPr>
          <p:cNvPr id="3" name="Content Placeholder 2">
            <a:extLst>
              <a:ext uri="{FF2B5EF4-FFF2-40B4-BE49-F238E27FC236}">
                <a16:creationId xmlns:a16="http://schemas.microsoft.com/office/drawing/2014/main" id="{68F1FFAF-9582-6F4D-A249-E12A9799C6F5}"/>
              </a:ext>
            </a:extLst>
          </p:cNvPr>
          <p:cNvSpPr>
            <a:spLocks noGrp="1"/>
          </p:cNvSpPr>
          <p:nvPr>
            <p:ph idx="1"/>
          </p:nvPr>
        </p:nvSpPr>
        <p:spPr>
          <a:xfrm>
            <a:off x="457200" y="685799"/>
            <a:ext cx="8229600" cy="6035675"/>
          </a:xfrm>
        </p:spPr>
        <p:txBody>
          <a:bodyPr>
            <a:normAutofit fontScale="77500" lnSpcReduction="20000"/>
          </a:bodyPr>
          <a:lstStyle/>
          <a:p>
            <a:pPr marL="0" indent="0">
              <a:buNone/>
            </a:pPr>
            <a:r>
              <a:rPr lang="en-US" dirty="0"/>
              <a:t>8. </a:t>
            </a:r>
            <a:r>
              <a:rPr lang="en-US" dirty="0">
                <a:solidFill>
                  <a:srgbClr val="FF0000"/>
                </a:solidFill>
              </a:rPr>
              <a:t>Use Interface References to Collections</a:t>
            </a:r>
          </a:p>
          <a:p>
            <a:r>
              <a:rPr lang="en-US" dirty="0"/>
              <a:t>When declaring collection objects, references to the objects should be as generic as possible. </a:t>
            </a:r>
          </a:p>
          <a:p>
            <a:pPr lvl="1"/>
            <a:r>
              <a:rPr lang="en-US" dirty="0"/>
              <a:t>This is to maximize the flexibility and protect the code from possible changes in the underlying collection implementations class. </a:t>
            </a:r>
          </a:p>
          <a:p>
            <a:pPr lvl="1"/>
            <a:r>
              <a:rPr lang="en-US" dirty="0"/>
              <a:t>It allows us to use the methods of the interface in any of the classes implementing the Interface</a:t>
            </a:r>
          </a:p>
          <a:p>
            <a:pPr lvl="1"/>
            <a:r>
              <a:rPr lang="en-US" dirty="0"/>
              <a:t>That means we should declare collection objects using their interfaces List, Set, Map, Queue and Deque. </a:t>
            </a:r>
          </a:p>
          <a:p>
            <a:pPr lvl="1"/>
            <a:r>
              <a:rPr lang="en-US" dirty="0"/>
              <a:t>We will demonstrate this when we discuss Generics and then the  Collection Framework </a:t>
            </a:r>
          </a:p>
          <a:p>
            <a:pPr lvl="1"/>
            <a:r>
              <a:rPr lang="en-US" dirty="0"/>
              <a:t>List &lt;MyClass&gt; myNewlist = new ArrayList&lt;&gt;();</a:t>
            </a:r>
          </a:p>
          <a:p>
            <a:pPr marL="0" indent="0">
              <a:buNone/>
            </a:pPr>
            <a:r>
              <a:rPr lang="en-US" dirty="0"/>
              <a:t>9. </a:t>
            </a:r>
            <a:r>
              <a:rPr lang="en-US" dirty="0">
                <a:solidFill>
                  <a:srgbClr val="FF0000"/>
                </a:solidFill>
              </a:rPr>
              <a:t>Avoid Using for Loops With Indexes</a:t>
            </a:r>
          </a:p>
          <a:p>
            <a:r>
              <a:rPr lang="en-US" dirty="0"/>
              <a:t>Don’t use a for loop with an index (or counter) variable if you can replace it with the enhanced for loop, an iterator,  or forEach (since Java 8). </a:t>
            </a:r>
          </a:p>
          <a:p>
            <a:pPr lvl="1"/>
            <a:r>
              <a:rPr lang="en-US" dirty="0"/>
              <a:t>It’s because the index variable is error-prone, as we may alter it incidentally in the loop’s body, or we may start the index from 1 instead of </a:t>
            </a:r>
            <a:r>
              <a:rPr lang="en-US" dirty="0">
                <a:latin typeface="Arial" panose="020B0604020202020204" pitchFamily="34" charset="0"/>
                <a:cs typeface="Arial" panose="020B0604020202020204" pitchFamily="34" charset="0"/>
              </a:rPr>
              <a:t>0</a:t>
            </a:r>
            <a:r>
              <a:rPr lang="en-US" dirty="0"/>
              <a:t>.</a:t>
            </a:r>
          </a:p>
          <a:p>
            <a:r>
              <a:rPr lang="en-US" dirty="0">
                <a:solidFill>
                  <a:srgbClr val="FF0000"/>
                </a:solidFill>
              </a:rPr>
              <a:t>Remember: Using good programming practices will help you win that job you really want.</a:t>
            </a:r>
          </a:p>
        </p:txBody>
      </p:sp>
      <p:sp>
        <p:nvSpPr>
          <p:cNvPr id="4" name="Slide Number Placeholder 3">
            <a:extLst>
              <a:ext uri="{FF2B5EF4-FFF2-40B4-BE49-F238E27FC236}">
                <a16:creationId xmlns:a16="http://schemas.microsoft.com/office/drawing/2014/main" id="{221ED601-C769-514E-9968-1C75AC8F69B9}"/>
              </a:ext>
            </a:extLst>
          </p:cNvPr>
          <p:cNvSpPr>
            <a:spLocks noGrp="1"/>
          </p:cNvSpPr>
          <p:nvPr>
            <p:ph type="sldNum" sz="quarter" idx="12"/>
          </p:nvPr>
        </p:nvSpPr>
        <p:spPr/>
        <p:txBody>
          <a:bodyPr/>
          <a:lstStyle/>
          <a:p>
            <a:fld id="{13977939-A071-43C1-9268-F54CC2756BB5}" type="slidenum">
              <a:rPr lang="en-US" smtClean="0"/>
              <a:pPr/>
              <a:t>31</a:t>
            </a:fld>
            <a:endParaRPr lang="en-US" dirty="0"/>
          </a:p>
        </p:txBody>
      </p:sp>
    </p:spTree>
    <p:extLst>
      <p:ext uri="{BB962C8B-B14F-4D97-AF65-F5344CB8AC3E}">
        <p14:creationId xmlns:p14="http://schemas.microsoft.com/office/powerpoint/2010/main" val="2930191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Software Testing Methodologies</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32</a:t>
            </a:fld>
            <a:endParaRPr lang="en-US" dirty="0"/>
          </a:p>
        </p:txBody>
      </p:sp>
    </p:spTree>
    <p:extLst>
      <p:ext uri="{BB962C8B-B14F-4D97-AF65-F5344CB8AC3E}">
        <p14:creationId xmlns:p14="http://schemas.microsoft.com/office/powerpoint/2010/main" val="348534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Good Practices For Unit Testing (1)</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791200"/>
          </a:xfrm>
        </p:spPr>
        <p:txBody>
          <a:bodyPr>
            <a:normAutofit fontScale="77500" lnSpcReduction="20000"/>
          </a:bodyPr>
          <a:lstStyle/>
          <a:p>
            <a:r>
              <a:rPr lang="en-US" dirty="0">
                <a:solidFill>
                  <a:srgbClr val="FF0000"/>
                </a:solidFill>
              </a:rPr>
              <a:t>Test only one code unit at a time</a:t>
            </a:r>
          </a:p>
          <a:p>
            <a:pPr lvl="1"/>
            <a:r>
              <a:rPr lang="en-US" dirty="0"/>
              <a:t>When we try to test a unit of code, this unit can have multiple use cases. We should always test each use case in a separate test case. </a:t>
            </a:r>
          </a:p>
          <a:p>
            <a:pPr lvl="1"/>
            <a:r>
              <a:rPr lang="en-US" dirty="0"/>
              <a:t>For example, if we are writing the test case for a function which is supposed to take two parameters and should return a value after doing some processing, then different use cases might be:</a:t>
            </a:r>
          </a:p>
          <a:p>
            <a:pPr lvl="2"/>
            <a:r>
              <a:rPr lang="en-US" dirty="0"/>
              <a:t>First parameter can be null. It should throw Invalid parameter exception.</a:t>
            </a:r>
          </a:p>
          <a:p>
            <a:pPr lvl="2"/>
            <a:r>
              <a:rPr lang="en-US" dirty="0"/>
              <a:t>Second parameter can be null. It should throw Invalid parameter exception.</a:t>
            </a:r>
          </a:p>
          <a:p>
            <a:pPr lvl="2"/>
            <a:r>
              <a:rPr lang="en-US" dirty="0"/>
              <a:t>Both can be null. It should throw Invalid parameter exception.</a:t>
            </a:r>
          </a:p>
          <a:p>
            <a:pPr lvl="2"/>
            <a:r>
              <a:rPr lang="en-US" dirty="0"/>
              <a:t>Finally, test the valid output of function. It should return valid pre-determined output.</a:t>
            </a:r>
          </a:p>
          <a:p>
            <a:pPr lvl="2"/>
            <a:r>
              <a:rPr lang="en-US" dirty="0"/>
              <a:t>This helps when you do some code changes or do refactoring then to test that functionality has not broken, running the test cases should be enough. Also, if you change any behavior then you need to change single or least number of test cases.</a:t>
            </a:r>
          </a:p>
          <a:p>
            <a:r>
              <a:rPr lang="en-US" dirty="0">
                <a:solidFill>
                  <a:srgbClr val="FF0000"/>
                </a:solidFill>
              </a:rPr>
              <a:t>Make each test independent of all the others</a:t>
            </a:r>
          </a:p>
          <a:p>
            <a:pPr lvl="1"/>
            <a:r>
              <a:rPr lang="en-US" dirty="0"/>
              <a:t>Do not make a chain of unit test cases. It will prevent you from identifying the root cause of test case failures and you will have to debug the code. </a:t>
            </a:r>
          </a:p>
          <a:p>
            <a:pPr lvl="1"/>
            <a:r>
              <a:rPr lang="en-US" dirty="0"/>
              <a:t>Also, it creates dependency, which means that changing one test case then you need to make changes in multiple test cases unnecessarily.</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33</a:t>
            </a:fld>
            <a:endParaRPr lang="en-US" dirty="0"/>
          </a:p>
        </p:txBody>
      </p:sp>
    </p:spTree>
    <p:extLst>
      <p:ext uri="{BB962C8B-B14F-4D97-AF65-F5344CB8AC3E}">
        <p14:creationId xmlns:p14="http://schemas.microsoft.com/office/powerpoint/2010/main" val="3622334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Good Practices For Unit Testing (2)</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791200"/>
          </a:xfrm>
        </p:spPr>
        <p:txBody>
          <a:bodyPr>
            <a:normAutofit/>
          </a:bodyPr>
          <a:lstStyle/>
          <a:p>
            <a:r>
              <a:rPr lang="en-US" dirty="0">
                <a:solidFill>
                  <a:srgbClr val="FF0000"/>
                </a:solidFill>
              </a:rPr>
              <a:t>Emulate all external services and states</a:t>
            </a:r>
          </a:p>
          <a:p>
            <a:pPr lvl="1"/>
            <a:r>
              <a:rPr lang="en-US" dirty="0"/>
              <a:t>Otherwise, behavior in those external services overlaps multiple tests, and state data means that different unit tests can influence each other’s outcome. </a:t>
            </a:r>
          </a:p>
          <a:p>
            <a:pPr lvl="1"/>
            <a:r>
              <a:rPr lang="en-US" dirty="0"/>
              <a:t>You’ve definitely taken a wrong turn if you have to run your tests in a specific order, or if they only work when your database or network connection is active.</a:t>
            </a:r>
          </a:p>
          <a:p>
            <a:pPr lvl="1"/>
            <a:r>
              <a:rPr lang="en-US" dirty="0"/>
              <a:t>This is important because you would not love to debug the test cases which are actually failing due to bugs in some external system.</a:t>
            </a:r>
          </a:p>
          <a:p>
            <a:pPr lvl="1"/>
            <a:r>
              <a:rPr lang="en-US" dirty="0"/>
              <a:t>Note: You will have a chance to test for these interfacing problems during integration testing</a:t>
            </a:r>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34</a:t>
            </a:fld>
            <a:endParaRPr lang="en-US" dirty="0"/>
          </a:p>
        </p:txBody>
      </p:sp>
    </p:spTree>
    <p:extLst>
      <p:ext uri="{BB962C8B-B14F-4D97-AF65-F5344CB8AC3E}">
        <p14:creationId xmlns:p14="http://schemas.microsoft.com/office/powerpoint/2010/main" val="6168292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131786"/>
            <a:ext cx="8305800" cy="627888"/>
          </a:xfrm>
        </p:spPr>
        <p:txBody>
          <a:bodyPr/>
          <a:lstStyle/>
          <a:p>
            <a:r>
              <a:rPr lang="en-US" dirty="0"/>
              <a:t>Testing Methodologies (1)</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35</a:t>
            </a:fld>
            <a:endParaRPr lang="en-US" dirty="0"/>
          </a:p>
        </p:txBody>
      </p:sp>
      <p:pic>
        <p:nvPicPr>
          <p:cNvPr id="4" name="Picture 3">
            <a:extLst>
              <a:ext uri="{FF2B5EF4-FFF2-40B4-BE49-F238E27FC236}">
                <a16:creationId xmlns:a16="http://schemas.microsoft.com/office/drawing/2014/main" id="{24A3157D-2762-B8BE-BDB1-61F9F7B18CF4}"/>
              </a:ext>
            </a:extLst>
          </p:cNvPr>
          <p:cNvPicPr>
            <a:picLocks noChangeAspect="1"/>
          </p:cNvPicPr>
          <p:nvPr/>
        </p:nvPicPr>
        <p:blipFill>
          <a:blip r:embed="rId2"/>
          <a:stretch>
            <a:fillRect/>
          </a:stretch>
        </p:blipFill>
        <p:spPr>
          <a:xfrm>
            <a:off x="457200" y="762000"/>
            <a:ext cx="8559635" cy="5749984"/>
          </a:xfrm>
          <a:prstGeom prst="rect">
            <a:avLst/>
          </a:prstGeom>
        </p:spPr>
      </p:pic>
      <p:sp>
        <p:nvSpPr>
          <p:cNvPr id="5" name="TextBox 4">
            <a:extLst>
              <a:ext uri="{FF2B5EF4-FFF2-40B4-BE49-F238E27FC236}">
                <a16:creationId xmlns:a16="http://schemas.microsoft.com/office/drawing/2014/main" id="{08297847-0F41-A336-1EA0-1D28EBDBA9A1}"/>
              </a:ext>
            </a:extLst>
          </p:cNvPr>
          <p:cNvSpPr txBox="1"/>
          <p:nvPr/>
        </p:nvSpPr>
        <p:spPr>
          <a:xfrm>
            <a:off x="1524000" y="6477000"/>
            <a:ext cx="5512728" cy="369332"/>
          </a:xfrm>
          <a:prstGeom prst="rect">
            <a:avLst/>
          </a:prstGeom>
          <a:noFill/>
        </p:spPr>
        <p:txBody>
          <a:bodyPr wrap="none" rtlCol="0">
            <a:spAutoFit/>
          </a:bodyPr>
          <a:lstStyle/>
          <a:p>
            <a:r>
              <a:rPr lang="en-US" dirty="0"/>
              <a:t>See The TestingTable.PDF Version For Easier Viewing</a:t>
            </a:r>
          </a:p>
        </p:txBody>
      </p:sp>
    </p:spTree>
    <p:extLst>
      <p:ext uri="{BB962C8B-B14F-4D97-AF65-F5344CB8AC3E}">
        <p14:creationId xmlns:p14="http://schemas.microsoft.com/office/powerpoint/2010/main" val="1146824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131786"/>
            <a:ext cx="8305800" cy="627888"/>
          </a:xfrm>
        </p:spPr>
        <p:txBody>
          <a:bodyPr/>
          <a:lstStyle/>
          <a:p>
            <a:r>
              <a:rPr lang="en-US" dirty="0"/>
              <a:t>Testing Methodologies (2)</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36</a:t>
            </a:fld>
            <a:endParaRPr lang="en-US" dirty="0"/>
          </a:p>
        </p:txBody>
      </p:sp>
      <p:pic>
        <p:nvPicPr>
          <p:cNvPr id="5" name="Picture 4">
            <a:extLst>
              <a:ext uri="{FF2B5EF4-FFF2-40B4-BE49-F238E27FC236}">
                <a16:creationId xmlns:a16="http://schemas.microsoft.com/office/drawing/2014/main" id="{D7ACD9A2-2AE8-8619-D28E-2442A1DE311B}"/>
              </a:ext>
            </a:extLst>
          </p:cNvPr>
          <p:cNvPicPr>
            <a:picLocks noChangeAspect="1"/>
          </p:cNvPicPr>
          <p:nvPr/>
        </p:nvPicPr>
        <p:blipFill>
          <a:blip r:embed="rId3"/>
          <a:stretch>
            <a:fillRect/>
          </a:stretch>
        </p:blipFill>
        <p:spPr>
          <a:xfrm>
            <a:off x="228601" y="800450"/>
            <a:ext cx="8671364" cy="5865139"/>
          </a:xfrm>
          <a:prstGeom prst="rect">
            <a:avLst/>
          </a:prstGeom>
        </p:spPr>
      </p:pic>
    </p:spTree>
    <p:extLst>
      <p:ext uri="{BB962C8B-B14F-4D97-AF65-F5344CB8AC3E}">
        <p14:creationId xmlns:p14="http://schemas.microsoft.com/office/powerpoint/2010/main" val="2095644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76200"/>
            <a:ext cx="8305800" cy="627888"/>
          </a:xfrm>
        </p:spPr>
        <p:txBody>
          <a:bodyPr/>
          <a:lstStyle/>
          <a:p>
            <a:r>
              <a:rPr lang="en-US" dirty="0"/>
              <a:t>Testing Methodologies (3)</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37</a:t>
            </a:fld>
            <a:endParaRPr lang="en-US" dirty="0"/>
          </a:p>
        </p:txBody>
      </p:sp>
      <p:pic>
        <p:nvPicPr>
          <p:cNvPr id="4" name="Picture 3">
            <a:extLst>
              <a:ext uri="{FF2B5EF4-FFF2-40B4-BE49-F238E27FC236}">
                <a16:creationId xmlns:a16="http://schemas.microsoft.com/office/drawing/2014/main" id="{96423306-9021-098D-220C-189530FC92F8}"/>
              </a:ext>
            </a:extLst>
          </p:cNvPr>
          <p:cNvPicPr>
            <a:picLocks noChangeAspect="1"/>
          </p:cNvPicPr>
          <p:nvPr/>
        </p:nvPicPr>
        <p:blipFill rotWithShape="1">
          <a:blip r:embed="rId2"/>
          <a:srcRect b="7792"/>
          <a:stretch/>
        </p:blipFill>
        <p:spPr>
          <a:xfrm>
            <a:off x="174822" y="946150"/>
            <a:ext cx="8794356" cy="5410200"/>
          </a:xfrm>
          <a:prstGeom prst="rect">
            <a:avLst/>
          </a:prstGeom>
        </p:spPr>
      </p:pic>
    </p:spTree>
    <p:extLst>
      <p:ext uri="{BB962C8B-B14F-4D97-AF65-F5344CB8AC3E}">
        <p14:creationId xmlns:p14="http://schemas.microsoft.com/office/powerpoint/2010/main" val="2066931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0F54-00DC-4B75-47E8-8657D0CAB180}"/>
              </a:ext>
            </a:extLst>
          </p:cNvPr>
          <p:cNvSpPr>
            <a:spLocks noGrp="1"/>
          </p:cNvSpPr>
          <p:nvPr>
            <p:ph type="title"/>
          </p:nvPr>
        </p:nvSpPr>
        <p:spPr>
          <a:xfrm>
            <a:off x="460664" y="76200"/>
            <a:ext cx="8305800" cy="627888"/>
          </a:xfrm>
        </p:spPr>
        <p:txBody>
          <a:bodyPr/>
          <a:lstStyle/>
          <a:p>
            <a:r>
              <a:rPr lang="en-US" dirty="0"/>
              <a:t>Testing Methodologies (4)</a:t>
            </a:r>
          </a:p>
        </p:txBody>
      </p:sp>
      <p:sp>
        <p:nvSpPr>
          <p:cNvPr id="3" name="Slide Number Placeholder 2">
            <a:extLst>
              <a:ext uri="{FF2B5EF4-FFF2-40B4-BE49-F238E27FC236}">
                <a16:creationId xmlns:a16="http://schemas.microsoft.com/office/drawing/2014/main" id="{0EB93BB3-A33C-C949-B679-9C3FCD78BE62}"/>
              </a:ext>
            </a:extLst>
          </p:cNvPr>
          <p:cNvSpPr>
            <a:spLocks noGrp="1"/>
          </p:cNvSpPr>
          <p:nvPr>
            <p:ph type="sldNum" sz="quarter" idx="12"/>
          </p:nvPr>
        </p:nvSpPr>
        <p:spPr/>
        <p:txBody>
          <a:bodyPr/>
          <a:lstStyle/>
          <a:p>
            <a:fld id="{13977939-A071-43C1-9268-F54CC2756BB5}" type="slidenum">
              <a:rPr lang="en-US" smtClean="0"/>
              <a:pPr/>
              <a:t>38</a:t>
            </a:fld>
            <a:endParaRPr lang="en-US" dirty="0"/>
          </a:p>
        </p:txBody>
      </p:sp>
      <p:pic>
        <p:nvPicPr>
          <p:cNvPr id="5" name="Picture 4">
            <a:extLst>
              <a:ext uri="{FF2B5EF4-FFF2-40B4-BE49-F238E27FC236}">
                <a16:creationId xmlns:a16="http://schemas.microsoft.com/office/drawing/2014/main" id="{EF3286AE-9E9B-3A36-6760-C47E2C3C7674}"/>
              </a:ext>
            </a:extLst>
          </p:cNvPr>
          <p:cNvPicPr>
            <a:picLocks noChangeAspect="1"/>
          </p:cNvPicPr>
          <p:nvPr/>
        </p:nvPicPr>
        <p:blipFill>
          <a:blip r:embed="rId2"/>
          <a:stretch>
            <a:fillRect/>
          </a:stretch>
        </p:blipFill>
        <p:spPr>
          <a:xfrm>
            <a:off x="304800" y="1270547"/>
            <a:ext cx="8723116" cy="3435565"/>
          </a:xfrm>
          <a:prstGeom prst="rect">
            <a:avLst/>
          </a:prstGeom>
        </p:spPr>
      </p:pic>
    </p:spTree>
    <p:extLst>
      <p:ext uri="{BB962C8B-B14F-4D97-AF65-F5344CB8AC3E}">
        <p14:creationId xmlns:p14="http://schemas.microsoft.com/office/powerpoint/2010/main" val="974434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Static Program Analysis</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39</a:t>
            </a:fld>
            <a:endParaRPr lang="en-US" dirty="0"/>
          </a:p>
        </p:txBody>
      </p:sp>
    </p:spTree>
    <p:extLst>
      <p:ext uri="{BB962C8B-B14F-4D97-AF65-F5344CB8AC3E}">
        <p14:creationId xmlns:p14="http://schemas.microsoft.com/office/powerpoint/2010/main" val="3327988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5954486"/>
          </a:xfrm>
        </p:spPr>
        <p:txBody>
          <a:bodyPr>
            <a:normAutofit fontScale="85000" lnSpcReduction="20000"/>
          </a:bodyPr>
          <a:lstStyle/>
          <a:p>
            <a:r>
              <a:rPr lang="en-US" dirty="0"/>
              <a:t>Static Program Analysis consists of the programs or algorithms designed to extract facts from another program’s source code without executing it</a:t>
            </a:r>
          </a:p>
          <a:p>
            <a:pPr lvl="1"/>
            <a:r>
              <a:rPr lang="en-US" dirty="0"/>
              <a:t>This is distinct from dynamic analysis which extracts facts from a program as it runs, and model checking which verifies the correctness of a separate external specification of the program</a:t>
            </a:r>
          </a:p>
          <a:p>
            <a:r>
              <a:rPr lang="en-US" dirty="0"/>
              <a:t>Due to the complexity of software development, and the problems with ever increasing bug and security issues, these tools are necessary</a:t>
            </a:r>
          </a:p>
          <a:p>
            <a:r>
              <a:rPr lang="en-US" dirty="0"/>
              <a:t>Static analysis is generally good at finding coding issues such as:</a:t>
            </a:r>
          </a:p>
          <a:p>
            <a:pPr lvl="1"/>
            <a:r>
              <a:rPr lang="en-US" dirty="0"/>
              <a:t>Programming errors (Think compilers)</a:t>
            </a:r>
          </a:p>
          <a:p>
            <a:pPr lvl="2"/>
            <a:r>
              <a:rPr lang="en-US" dirty="0"/>
              <a:t>They also issue warnings about potential issues</a:t>
            </a:r>
          </a:p>
          <a:p>
            <a:pPr lvl="1"/>
            <a:r>
              <a:rPr lang="en-US" dirty="0"/>
              <a:t>Coding standard violations</a:t>
            </a:r>
          </a:p>
          <a:p>
            <a:pPr lvl="1"/>
            <a:r>
              <a:rPr lang="en-US" dirty="0"/>
              <a:t>Undefined values</a:t>
            </a:r>
          </a:p>
          <a:p>
            <a:pPr lvl="1"/>
            <a:r>
              <a:rPr lang="en-US" dirty="0"/>
              <a:t>Syntax violations</a:t>
            </a:r>
          </a:p>
          <a:p>
            <a:pPr lvl="1"/>
            <a:r>
              <a:rPr lang="en-US" dirty="0"/>
              <a:t>Security vulnerabilities</a:t>
            </a:r>
          </a:p>
          <a:p>
            <a:pPr lvl="1"/>
            <a:r>
              <a:rPr lang="en-US" dirty="0"/>
              <a:t>Weaknesses in source code that could lead to buffer overflows -- a common software vulnerability.</a:t>
            </a:r>
          </a:p>
          <a:p>
            <a:pPr lvl="1"/>
            <a:r>
              <a:rPr lang="en-US" dirty="0"/>
              <a:t>Inaccessible/unused code (dead code)</a:t>
            </a:r>
          </a:p>
          <a:p>
            <a:endParaRPr lang="en-US" dirty="0"/>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40</a:t>
            </a:fld>
            <a:endParaRPr lang="en-US" dirty="0"/>
          </a:p>
        </p:txBody>
      </p:sp>
    </p:spTree>
    <p:extLst>
      <p:ext uri="{BB962C8B-B14F-4D97-AF65-F5344CB8AC3E}">
        <p14:creationId xmlns:p14="http://schemas.microsoft.com/office/powerpoint/2010/main" val="1462172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304800"/>
            <a:ext cx="8229600" cy="475488"/>
          </a:xfrm>
        </p:spPr>
        <p:txBody>
          <a:bodyPr>
            <a:normAutofit fontScale="90000"/>
          </a:bodyPr>
          <a:lstStyle/>
          <a:p>
            <a:r>
              <a:rPr lang="en-US" dirty="0"/>
              <a:t>How Is Static Program Analysis Done</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838200"/>
            <a:ext cx="8229600" cy="6019800"/>
          </a:xfrm>
        </p:spPr>
        <p:txBody>
          <a:bodyPr>
            <a:normAutofit fontScale="77500" lnSpcReduction="20000"/>
          </a:bodyPr>
          <a:lstStyle/>
          <a:p>
            <a:r>
              <a:rPr lang="en-US" dirty="0"/>
              <a:t>The static analysis process is relatively simple if it's automated. </a:t>
            </a:r>
          </a:p>
          <a:p>
            <a:pPr lvl="1"/>
            <a:r>
              <a:rPr lang="en-US" dirty="0"/>
              <a:t>Generally, static analysis occurs before software testing in early development. In the DevOps development practice, it will occur in the create phases.</a:t>
            </a:r>
          </a:p>
          <a:p>
            <a:r>
              <a:rPr lang="en-US" dirty="0"/>
              <a:t>Once the code is written, a static code analyzer should be run to review the code. </a:t>
            </a:r>
          </a:p>
          <a:p>
            <a:pPr lvl="1"/>
            <a:r>
              <a:rPr lang="en-US" dirty="0"/>
              <a:t>It will check against defined coding rules from standards or custom predefined rules. </a:t>
            </a:r>
          </a:p>
          <a:p>
            <a:pPr lvl="1"/>
            <a:r>
              <a:rPr lang="en-US" dirty="0"/>
              <a:t>Once the code is run through the static code analyzer, the analyzer will have identified whether or not the code complies with the set rules. </a:t>
            </a:r>
          </a:p>
          <a:p>
            <a:pPr lvl="1"/>
            <a:r>
              <a:rPr lang="en-US" dirty="0"/>
              <a:t>It is sometimes possible for the software to flag false positives, so it is important for someone to go through and dismiss any. </a:t>
            </a:r>
          </a:p>
          <a:p>
            <a:pPr lvl="1"/>
            <a:r>
              <a:rPr lang="en-US" dirty="0"/>
              <a:t>Once false positives are waived, developers can begin to fix any apparent mistakes, generally starting from the most critical ones. Once the code issues are resolved, the code can move on to testing through execution.</a:t>
            </a:r>
          </a:p>
          <a:p>
            <a:r>
              <a:rPr lang="en-US" dirty="0"/>
              <a:t>Without having code testing tools, static analysis will take a lot of work, since humans will have to review the code and figure out how it will behave in runtime environments. </a:t>
            </a:r>
          </a:p>
          <a:p>
            <a:pPr lvl="1"/>
            <a:r>
              <a:rPr lang="en-US" dirty="0"/>
              <a:t>Therefore, it's a good idea to find a tool that automates the process. </a:t>
            </a:r>
          </a:p>
          <a:p>
            <a:pPr lvl="1"/>
            <a:r>
              <a:rPr lang="en-US" dirty="0"/>
              <a:t>Getting rid of any lengthy processes will make for a more efficient work environment</a:t>
            </a:r>
          </a:p>
          <a:p>
            <a:endParaRPr lang="en-US" dirty="0"/>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41</a:t>
            </a:fld>
            <a:endParaRPr lang="en-US" dirty="0"/>
          </a:p>
        </p:txBody>
      </p:sp>
    </p:spTree>
    <p:extLst>
      <p:ext uri="{BB962C8B-B14F-4D97-AF65-F5344CB8AC3E}">
        <p14:creationId xmlns:p14="http://schemas.microsoft.com/office/powerpoint/2010/main" val="235035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76200"/>
            <a:ext cx="8229600" cy="475488"/>
          </a:xfrm>
        </p:spPr>
        <p:txBody>
          <a:bodyPr>
            <a:normAutofit fontScale="90000"/>
          </a:bodyPr>
          <a:lstStyle/>
          <a:p>
            <a:r>
              <a:rPr lang="en-US" dirty="0"/>
              <a:t>Types Of 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533400"/>
            <a:ext cx="8229600" cy="6324600"/>
          </a:xfrm>
        </p:spPr>
        <p:txBody>
          <a:bodyPr>
            <a:normAutofit fontScale="77500" lnSpcReduction="20000"/>
          </a:bodyPr>
          <a:lstStyle/>
          <a:p>
            <a:pPr marL="0" indent="0">
              <a:buNone/>
            </a:pPr>
            <a:r>
              <a:rPr lang="en-US" dirty="0"/>
              <a:t>There are several static analysis methods an organization could use, which include:</a:t>
            </a:r>
          </a:p>
          <a:p>
            <a:r>
              <a:rPr lang="en-US" b="1" dirty="0"/>
              <a:t>Control analysis</a:t>
            </a:r>
          </a:p>
          <a:p>
            <a:pPr lvl="1"/>
            <a:r>
              <a:rPr lang="en-US" dirty="0"/>
              <a:t>Focuses on the control flow in a calling structure. For example, a control flow could be a process, function, method or in a subroutine.</a:t>
            </a:r>
          </a:p>
          <a:p>
            <a:r>
              <a:rPr lang="en-US" b="1" dirty="0"/>
              <a:t>Data analysis </a:t>
            </a:r>
          </a:p>
          <a:p>
            <a:pPr lvl="1"/>
            <a:r>
              <a:rPr lang="en-US" dirty="0"/>
              <a:t>Makes sure defined data is properly used while also making sure data objects are properly operating.</a:t>
            </a:r>
          </a:p>
          <a:p>
            <a:r>
              <a:rPr lang="en-US" b="1" dirty="0"/>
              <a:t>Fault/failure analysis</a:t>
            </a:r>
          </a:p>
          <a:p>
            <a:pPr lvl="1"/>
            <a:r>
              <a:rPr lang="en-US" dirty="0"/>
              <a:t>Analyzes faults and failures in model components.</a:t>
            </a:r>
          </a:p>
          <a:p>
            <a:r>
              <a:rPr lang="en-US" b="1" dirty="0"/>
              <a:t>Interface analysis </a:t>
            </a:r>
          </a:p>
          <a:p>
            <a:pPr lvl="1"/>
            <a:r>
              <a:rPr lang="en-US" dirty="0"/>
              <a:t>Verifies simulations to check the code and makes sure the interface fits into the model and simulation.</a:t>
            </a:r>
          </a:p>
          <a:p>
            <a:r>
              <a:rPr lang="en-US" b="1" dirty="0"/>
              <a:t>Complexity Analysis </a:t>
            </a:r>
            <a:r>
              <a:rPr lang="en-US" dirty="0"/>
              <a:t>(described in next section)</a:t>
            </a:r>
          </a:p>
          <a:p>
            <a:pPr lvl="1"/>
            <a:r>
              <a:rPr lang="en-US" dirty="0"/>
              <a:t>Evaluates the complexity of the code and gives it a score</a:t>
            </a:r>
          </a:p>
          <a:p>
            <a:r>
              <a:rPr lang="en-US" dirty="0"/>
              <a:t>In general, static analysis can be broken into formal, cosmetic, design properties, error checking and predictive categories. </a:t>
            </a:r>
          </a:p>
          <a:p>
            <a:pPr lvl="1"/>
            <a:r>
              <a:rPr lang="en-US" dirty="0"/>
              <a:t>Formal meaning if the code is correct</a:t>
            </a:r>
          </a:p>
          <a:p>
            <a:pPr lvl="1"/>
            <a:r>
              <a:rPr lang="en-US" dirty="0"/>
              <a:t>Cosmetic meaning if the code syncs up with style standards</a:t>
            </a:r>
          </a:p>
          <a:p>
            <a:pPr lvl="1"/>
            <a:r>
              <a:rPr lang="en-US" dirty="0"/>
              <a:t>Design properties meaning the level of complexities</a:t>
            </a:r>
          </a:p>
          <a:p>
            <a:pPr lvl="1"/>
            <a:r>
              <a:rPr lang="en-US" dirty="0"/>
              <a:t>Error checking which looks for code violations</a:t>
            </a:r>
          </a:p>
          <a:p>
            <a:pPr lvl="1"/>
            <a:r>
              <a:rPr lang="en-US" dirty="0"/>
              <a:t>Predictive, which asks how code will behave when run.</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42</a:t>
            </a:fld>
            <a:endParaRPr lang="en-US" dirty="0"/>
          </a:p>
        </p:txBody>
      </p:sp>
    </p:spTree>
    <p:extLst>
      <p:ext uri="{BB962C8B-B14F-4D97-AF65-F5344CB8AC3E}">
        <p14:creationId xmlns:p14="http://schemas.microsoft.com/office/powerpoint/2010/main" val="54416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89FF0-82BF-E649-A702-5726E2DDE3F5}"/>
              </a:ext>
            </a:extLst>
          </p:cNvPr>
          <p:cNvSpPr>
            <a:spLocks noGrp="1"/>
          </p:cNvSpPr>
          <p:nvPr>
            <p:ph type="title"/>
          </p:nvPr>
        </p:nvSpPr>
        <p:spPr>
          <a:xfrm>
            <a:off x="457200" y="76200"/>
            <a:ext cx="8229600" cy="475488"/>
          </a:xfrm>
        </p:spPr>
        <p:txBody>
          <a:bodyPr>
            <a:normAutofit fontScale="90000"/>
          </a:bodyPr>
          <a:lstStyle/>
          <a:p>
            <a:r>
              <a:rPr lang="en-US" dirty="0"/>
              <a:t>Benefits and Drawbacks Of Static Program Analysis</a:t>
            </a:r>
          </a:p>
        </p:txBody>
      </p:sp>
      <p:sp>
        <p:nvSpPr>
          <p:cNvPr id="3" name="Content Placeholder 2">
            <a:extLst>
              <a:ext uri="{FF2B5EF4-FFF2-40B4-BE49-F238E27FC236}">
                <a16:creationId xmlns:a16="http://schemas.microsoft.com/office/drawing/2014/main" id="{6EB0DE7D-8F01-144B-89E6-AABBAF95C7B5}"/>
              </a:ext>
            </a:extLst>
          </p:cNvPr>
          <p:cNvSpPr>
            <a:spLocks noGrp="1"/>
          </p:cNvSpPr>
          <p:nvPr>
            <p:ph idx="1"/>
          </p:nvPr>
        </p:nvSpPr>
        <p:spPr>
          <a:xfrm>
            <a:off x="457200" y="533400"/>
            <a:ext cx="8229600" cy="6324600"/>
          </a:xfrm>
        </p:spPr>
        <p:txBody>
          <a:bodyPr>
            <a:normAutofit fontScale="85000" lnSpcReduction="20000"/>
          </a:bodyPr>
          <a:lstStyle/>
          <a:p>
            <a:r>
              <a:rPr lang="en-US" b="1" dirty="0"/>
              <a:t>Benefits</a:t>
            </a:r>
            <a:r>
              <a:rPr lang="en-US" dirty="0"/>
              <a:t> </a:t>
            </a:r>
          </a:p>
          <a:p>
            <a:pPr lvl="1"/>
            <a:r>
              <a:rPr lang="en-US" dirty="0"/>
              <a:t>It can evaluate all the code in an application, increasing code quality.</a:t>
            </a:r>
          </a:p>
          <a:p>
            <a:pPr lvl="1"/>
            <a:r>
              <a:rPr lang="en-US" dirty="0"/>
              <a:t>It provides speed in using automated tools compared to manual code review</a:t>
            </a:r>
          </a:p>
          <a:p>
            <a:pPr lvl="1"/>
            <a:r>
              <a:rPr lang="en-US" dirty="0"/>
              <a:t>Paired with normal testing methods, static testing allows for more depth into debugging code.</a:t>
            </a:r>
          </a:p>
          <a:p>
            <a:pPr lvl="1"/>
            <a:r>
              <a:rPr lang="en-US" dirty="0"/>
              <a:t>Automated tools are less prone to human error.</a:t>
            </a:r>
          </a:p>
          <a:p>
            <a:pPr lvl="1"/>
            <a:r>
              <a:rPr lang="en-US" dirty="0"/>
              <a:t>It will increase the likelihood of finding vulnerabilities in the code, increasing web or application security.</a:t>
            </a:r>
          </a:p>
          <a:p>
            <a:pPr lvl="1"/>
            <a:r>
              <a:rPr lang="en-US" dirty="0"/>
              <a:t>It can be done in an offline development environment.</a:t>
            </a:r>
          </a:p>
          <a:p>
            <a:r>
              <a:rPr lang="en-US" b="1" dirty="0"/>
              <a:t>Drawbacks</a:t>
            </a:r>
            <a:r>
              <a:rPr lang="en-US" dirty="0"/>
              <a:t> </a:t>
            </a:r>
          </a:p>
          <a:p>
            <a:pPr lvl="1"/>
            <a:r>
              <a:rPr lang="en-US" dirty="0"/>
              <a:t>False positives can be detected.</a:t>
            </a:r>
          </a:p>
          <a:p>
            <a:pPr lvl="1"/>
            <a:r>
              <a:rPr lang="en-US" dirty="0"/>
              <a:t>A tool might not indicate what the defect is if there is a defect in the code.</a:t>
            </a:r>
          </a:p>
          <a:p>
            <a:pPr lvl="1"/>
            <a:r>
              <a:rPr lang="en-US" dirty="0"/>
              <a:t>Not all coding rules can always be followed, like rules that need external documentation.</a:t>
            </a:r>
          </a:p>
          <a:p>
            <a:pPr lvl="1"/>
            <a:r>
              <a:rPr lang="en-US" dirty="0"/>
              <a:t>Static analysis may take more time than comparable methods.</a:t>
            </a:r>
          </a:p>
          <a:p>
            <a:pPr lvl="1"/>
            <a:r>
              <a:rPr lang="en-US" dirty="0"/>
              <a:t>Static analysis can't detect how a function will execute.</a:t>
            </a:r>
          </a:p>
          <a:p>
            <a:pPr lvl="1"/>
            <a:r>
              <a:rPr lang="en-US" dirty="0"/>
              <a:t>System and third-party libraries may not be able to be analyzed.</a:t>
            </a:r>
          </a:p>
        </p:txBody>
      </p:sp>
      <p:sp>
        <p:nvSpPr>
          <p:cNvPr id="4" name="Slide Number Placeholder 3">
            <a:extLst>
              <a:ext uri="{FF2B5EF4-FFF2-40B4-BE49-F238E27FC236}">
                <a16:creationId xmlns:a16="http://schemas.microsoft.com/office/drawing/2014/main" id="{2BFF09EA-780C-BC4E-AB7A-7760FC25BD65}"/>
              </a:ext>
            </a:extLst>
          </p:cNvPr>
          <p:cNvSpPr>
            <a:spLocks noGrp="1"/>
          </p:cNvSpPr>
          <p:nvPr>
            <p:ph type="sldNum" sz="quarter" idx="12"/>
          </p:nvPr>
        </p:nvSpPr>
        <p:spPr/>
        <p:txBody>
          <a:bodyPr/>
          <a:lstStyle/>
          <a:p>
            <a:fld id="{13977939-A071-43C1-9268-F54CC2756BB5}" type="slidenum">
              <a:rPr lang="en-US" smtClean="0"/>
              <a:pPr/>
              <a:t>43</a:t>
            </a:fld>
            <a:endParaRPr lang="en-US" dirty="0"/>
          </a:p>
        </p:txBody>
      </p:sp>
    </p:spTree>
    <p:extLst>
      <p:ext uri="{BB962C8B-B14F-4D97-AF65-F5344CB8AC3E}">
        <p14:creationId xmlns:p14="http://schemas.microsoft.com/office/powerpoint/2010/main" val="1492002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1BD049-9BFB-A349-B783-078D153F9651}"/>
              </a:ext>
            </a:extLst>
          </p:cNvPr>
          <p:cNvSpPr>
            <a:spLocks noGrp="1"/>
          </p:cNvSpPr>
          <p:nvPr>
            <p:ph type="body" idx="1"/>
          </p:nvPr>
        </p:nvSpPr>
        <p:spPr/>
        <p:txBody>
          <a:bodyPr/>
          <a:lstStyle/>
          <a:p>
            <a:r>
              <a:rPr lang="en-US" dirty="0"/>
              <a:t>Software Complexity</a:t>
            </a:r>
          </a:p>
        </p:txBody>
      </p:sp>
      <p:sp>
        <p:nvSpPr>
          <p:cNvPr id="4" name="Slide Number Placeholder 3">
            <a:extLst>
              <a:ext uri="{FF2B5EF4-FFF2-40B4-BE49-F238E27FC236}">
                <a16:creationId xmlns:a16="http://schemas.microsoft.com/office/drawing/2014/main" id="{D1918AE1-C96C-494C-8F0C-CA5B7A652D6B}"/>
              </a:ext>
            </a:extLst>
          </p:cNvPr>
          <p:cNvSpPr>
            <a:spLocks noGrp="1"/>
          </p:cNvSpPr>
          <p:nvPr>
            <p:ph type="sldNum" sz="quarter" idx="12"/>
          </p:nvPr>
        </p:nvSpPr>
        <p:spPr/>
        <p:txBody>
          <a:bodyPr/>
          <a:lstStyle/>
          <a:p>
            <a:fld id="{13977939-A071-43C1-9268-F54CC2756BB5}" type="slidenum">
              <a:rPr lang="en-US" smtClean="0"/>
              <a:pPr/>
              <a:t>44</a:t>
            </a:fld>
            <a:endParaRPr lang="en-US" dirty="0"/>
          </a:p>
        </p:txBody>
      </p:sp>
    </p:spTree>
    <p:extLst>
      <p:ext uri="{BB962C8B-B14F-4D97-AF65-F5344CB8AC3E}">
        <p14:creationId xmlns:p14="http://schemas.microsoft.com/office/powerpoint/2010/main" val="16383238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a:xfrm>
            <a:off x="457200" y="76200"/>
            <a:ext cx="8229600" cy="475488"/>
          </a:xfrm>
        </p:spPr>
        <p:txBody>
          <a:bodyPr>
            <a:noAutofit/>
          </a:bodyPr>
          <a:lstStyle/>
          <a:p>
            <a:r>
              <a:rPr lang="en-US" dirty="0"/>
              <a:t>Cyclomatic Software Complexity (1)</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627887"/>
            <a:ext cx="8229600" cy="5925313"/>
          </a:xfrm>
        </p:spPr>
        <p:txBody>
          <a:bodyPr>
            <a:normAutofit fontScale="70000" lnSpcReduction="20000"/>
          </a:bodyPr>
          <a:lstStyle/>
          <a:p>
            <a:r>
              <a:rPr lang="en-US" dirty="0"/>
              <a:t>Every program encompasses statements to execute in order to perform some task and other decision-making statements that decide, what statements need to be executed. </a:t>
            </a:r>
          </a:p>
          <a:p>
            <a:pPr lvl="1"/>
            <a:r>
              <a:rPr lang="en-US" dirty="0"/>
              <a:t>These decision-making constructs change the flow of the program.</a:t>
            </a:r>
          </a:p>
          <a:p>
            <a:r>
              <a:rPr lang="en-US" dirty="0"/>
              <a:t>If we compare two programs of the same size, the one with more decision-making statements will be more complex as the control of program jumps frequently.</a:t>
            </a:r>
          </a:p>
          <a:p>
            <a:r>
              <a:rPr lang="en-US" dirty="0"/>
              <a:t>In 1976, McCabe proposed the Cyclomatic Complexity Measure to quantify complexity of a given software. </a:t>
            </a:r>
          </a:p>
          <a:p>
            <a:pPr lvl="1"/>
            <a:r>
              <a:rPr lang="en-US" dirty="0"/>
              <a:t>It is a quantitative measure of the number of linearly independent paths through program's source code </a:t>
            </a:r>
          </a:p>
          <a:p>
            <a:pPr lvl="1"/>
            <a:r>
              <a:rPr lang="en-US" dirty="0"/>
              <a:t>It is graph driven model that is based on decision-making constructs of program such as if-else, do-while, repeat-until, switch-case and goto statements.</a:t>
            </a:r>
          </a:p>
          <a:p>
            <a:pPr lvl="1"/>
            <a:r>
              <a:rPr lang="en-US" dirty="0"/>
              <a:t>In normal terms, the cyclomatic complexity measure tells how complex your code is.</a:t>
            </a:r>
          </a:p>
          <a:p>
            <a:r>
              <a:rPr lang="en-US" dirty="0"/>
              <a:t>Process to make a flow control graph:</a:t>
            </a:r>
          </a:p>
          <a:p>
            <a:pPr lvl="1"/>
            <a:r>
              <a:rPr lang="en-US" dirty="0"/>
              <a:t>Break program in smaller blocks, delimited by decision-making constructs. </a:t>
            </a:r>
          </a:p>
          <a:p>
            <a:pPr lvl="1"/>
            <a:r>
              <a:rPr lang="en-US" dirty="0"/>
              <a:t>Create nodes representing each of these blocks.</a:t>
            </a:r>
          </a:p>
          <a:p>
            <a:pPr lvl="1"/>
            <a:r>
              <a:rPr lang="en-US" dirty="0"/>
              <a:t>Connect nodes as follows:</a:t>
            </a:r>
          </a:p>
          <a:p>
            <a:pPr lvl="2"/>
            <a:r>
              <a:rPr lang="en-US" dirty="0"/>
              <a:t>If control can branch from block i to block j </a:t>
            </a:r>
          </a:p>
          <a:p>
            <a:pPr lvl="3"/>
            <a:r>
              <a:rPr lang="en-US" dirty="0"/>
              <a:t>Draw an arc</a:t>
            </a:r>
          </a:p>
          <a:p>
            <a:pPr lvl="2"/>
            <a:r>
              <a:rPr lang="en-US" dirty="0">
                <a:solidFill>
                  <a:srgbClr val="FF0000"/>
                </a:solidFill>
              </a:rPr>
              <a:t>Optional</a:t>
            </a:r>
            <a:r>
              <a:rPr lang="en-US" dirty="0"/>
              <a:t>: From each exit node to entry node</a:t>
            </a:r>
          </a:p>
          <a:p>
            <a:pPr lvl="3"/>
            <a:r>
              <a:rPr lang="en-US" dirty="0"/>
              <a:t>Draw an arc</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45</a:t>
            </a:fld>
            <a:endParaRPr lang="en-US" dirty="0"/>
          </a:p>
        </p:txBody>
      </p:sp>
    </p:spTree>
    <p:extLst>
      <p:ext uri="{BB962C8B-B14F-4D97-AF65-F5344CB8AC3E}">
        <p14:creationId xmlns:p14="http://schemas.microsoft.com/office/powerpoint/2010/main" val="3997196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p:txBody>
          <a:bodyPr>
            <a:noAutofit/>
          </a:bodyPr>
          <a:lstStyle/>
          <a:p>
            <a:r>
              <a:rPr lang="en-US" dirty="0"/>
              <a:t>Cyclomatic Software Complexity (2)</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1249680"/>
            <a:ext cx="8229600" cy="5151120"/>
          </a:xfrm>
        </p:spPr>
        <p:txBody>
          <a:bodyPr>
            <a:normAutofit fontScale="92500"/>
          </a:bodyPr>
          <a:lstStyle/>
          <a:p>
            <a:r>
              <a:rPr lang="en-US" dirty="0"/>
              <a:t>Good software design keeps the complexity of any method low, limiting the levels of nesting by creating and invoking new methods.</a:t>
            </a:r>
          </a:p>
          <a:p>
            <a:pPr lvl="1"/>
            <a:r>
              <a:rPr lang="en-US" dirty="0"/>
              <a:t>Note: The government has strong limits on the level of complexity of any individual piece of software that it will accept in a contract deliverable.</a:t>
            </a:r>
          </a:p>
          <a:p>
            <a:pPr lvl="1"/>
            <a:r>
              <a:rPr lang="en-US" dirty="0"/>
              <a:t>These standards have filtered into commercial standards</a:t>
            </a:r>
          </a:p>
          <a:p>
            <a:r>
              <a:rPr lang="en-US" dirty="0"/>
              <a:t>With lowered complexity you may require more methods</a:t>
            </a:r>
          </a:p>
          <a:p>
            <a:pPr lvl="1"/>
            <a:r>
              <a:rPr lang="en-US" dirty="0"/>
              <a:t>Therefore, good and complete documentation of each method, as well as each class, it extremely important</a:t>
            </a:r>
          </a:p>
          <a:p>
            <a:pPr lvl="1"/>
            <a:endParaRPr lang="en-US" dirty="0"/>
          </a:p>
          <a:p>
            <a:r>
              <a:rPr lang="en-US" dirty="0"/>
              <a:t>See </a:t>
            </a:r>
            <a:r>
              <a:rPr lang="en-US" dirty="0">
                <a:solidFill>
                  <a:srgbClr val="FF0000"/>
                </a:solidFill>
              </a:rPr>
              <a:t>SW Complexity SEI Carnegie Mellon.pdf </a:t>
            </a:r>
            <a:r>
              <a:rPr lang="en-US" dirty="0"/>
              <a:t>in references</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46</a:t>
            </a:fld>
            <a:endParaRPr lang="en-US" dirty="0"/>
          </a:p>
        </p:txBody>
      </p:sp>
    </p:spTree>
    <p:extLst>
      <p:ext uri="{BB962C8B-B14F-4D97-AF65-F5344CB8AC3E}">
        <p14:creationId xmlns:p14="http://schemas.microsoft.com/office/powerpoint/2010/main" val="15045788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7BF70-AAF6-7B4A-B16E-CC749F0802DE}"/>
              </a:ext>
            </a:extLst>
          </p:cNvPr>
          <p:cNvSpPr>
            <a:spLocks noGrp="1"/>
          </p:cNvSpPr>
          <p:nvPr>
            <p:ph type="title"/>
          </p:nvPr>
        </p:nvSpPr>
        <p:spPr/>
        <p:txBody>
          <a:bodyPr>
            <a:noAutofit/>
          </a:bodyPr>
          <a:lstStyle/>
          <a:p>
            <a:r>
              <a:rPr lang="en-US" dirty="0"/>
              <a:t>Importance Of Cyclomatic Complexity</a:t>
            </a:r>
          </a:p>
        </p:txBody>
      </p:sp>
      <p:sp>
        <p:nvSpPr>
          <p:cNvPr id="3" name="Content Placeholder 2">
            <a:extLst>
              <a:ext uri="{FF2B5EF4-FFF2-40B4-BE49-F238E27FC236}">
                <a16:creationId xmlns:a16="http://schemas.microsoft.com/office/drawing/2014/main" id="{8936CF78-D6A9-D347-8E54-CA5318285748}"/>
              </a:ext>
            </a:extLst>
          </p:cNvPr>
          <p:cNvSpPr>
            <a:spLocks noGrp="1"/>
          </p:cNvSpPr>
          <p:nvPr>
            <p:ph idx="1"/>
          </p:nvPr>
        </p:nvSpPr>
        <p:spPr>
          <a:xfrm>
            <a:off x="457200" y="1249680"/>
            <a:ext cx="8229600" cy="5151120"/>
          </a:xfrm>
        </p:spPr>
        <p:txBody>
          <a:bodyPr>
            <a:normAutofit/>
          </a:bodyPr>
          <a:lstStyle/>
          <a:p>
            <a:r>
              <a:rPr lang="en-US" dirty="0"/>
              <a:t>It helps in determining the software quality.</a:t>
            </a:r>
          </a:p>
          <a:p>
            <a:r>
              <a:rPr lang="en-US" dirty="0"/>
              <a:t>It is an important indicator of program code’s readability, maintainability and portability.</a:t>
            </a:r>
          </a:p>
          <a:p>
            <a:r>
              <a:rPr lang="en-US" dirty="0"/>
              <a:t>It helps the developers and testers to determine independent path executions.</a:t>
            </a:r>
          </a:p>
          <a:p>
            <a:r>
              <a:rPr lang="en-US" dirty="0"/>
              <a:t>It helps to focus more on the uncovered paths.</a:t>
            </a:r>
          </a:p>
          <a:p>
            <a:r>
              <a:rPr lang="en-US" dirty="0"/>
              <a:t>It evaluates the risk associated with the application or program.</a:t>
            </a:r>
          </a:p>
          <a:p>
            <a:r>
              <a:rPr lang="en-US" dirty="0"/>
              <a:t>It provides assurance to the developers that all the paths have been tested at least once.</a:t>
            </a:r>
          </a:p>
        </p:txBody>
      </p:sp>
      <p:sp>
        <p:nvSpPr>
          <p:cNvPr id="4" name="Slide Number Placeholder 3">
            <a:extLst>
              <a:ext uri="{FF2B5EF4-FFF2-40B4-BE49-F238E27FC236}">
                <a16:creationId xmlns:a16="http://schemas.microsoft.com/office/drawing/2014/main" id="{C102AC0E-9386-6447-A35B-6C635596C033}"/>
              </a:ext>
            </a:extLst>
          </p:cNvPr>
          <p:cNvSpPr>
            <a:spLocks noGrp="1"/>
          </p:cNvSpPr>
          <p:nvPr>
            <p:ph type="sldNum" sz="quarter" idx="12"/>
          </p:nvPr>
        </p:nvSpPr>
        <p:spPr/>
        <p:txBody>
          <a:bodyPr/>
          <a:lstStyle/>
          <a:p>
            <a:fld id="{13977939-A071-43C1-9268-F54CC2756BB5}" type="slidenum">
              <a:rPr lang="en-US" smtClean="0"/>
              <a:pPr/>
              <a:t>47</a:t>
            </a:fld>
            <a:endParaRPr lang="en-US" dirty="0"/>
          </a:p>
        </p:txBody>
      </p:sp>
    </p:spTree>
    <p:extLst>
      <p:ext uri="{BB962C8B-B14F-4D97-AF65-F5344CB8AC3E}">
        <p14:creationId xmlns:p14="http://schemas.microsoft.com/office/powerpoint/2010/main" val="1920130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0A85C-593A-1B49-B2A8-9D49D7B0927F}"/>
              </a:ext>
            </a:extLst>
          </p:cNvPr>
          <p:cNvSpPr>
            <a:spLocks noGrp="1"/>
          </p:cNvSpPr>
          <p:nvPr>
            <p:ph type="title"/>
          </p:nvPr>
        </p:nvSpPr>
        <p:spPr>
          <a:xfrm>
            <a:off x="457200" y="152400"/>
            <a:ext cx="8229600" cy="475488"/>
          </a:xfrm>
        </p:spPr>
        <p:txBody>
          <a:bodyPr>
            <a:noAutofit/>
          </a:bodyPr>
          <a:lstStyle/>
          <a:p>
            <a:r>
              <a:rPr lang="en-US" dirty="0"/>
              <a:t>Calculating Cyclomatic Software Complexity</a:t>
            </a:r>
          </a:p>
        </p:txBody>
      </p:sp>
      <p:sp>
        <p:nvSpPr>
          <p:cNvPr id="3" name="Content Placeholder 2">
            <a:extLst>
              <a:ext uri="{FF2B5EF4-FFF2-40B4-BE49-F238E27FC236}">
                <a16:creationId xmlns:a16="http://schemas.microsoft.com/office/drawing/2014/main" id="{0210152F-FFC4-0048-BB7A-D37151FE3060}"/>
              </a:ext>
            </a:extLst>
          </p:cNvPr>
          <p:cNvSpPr>
            <a:spLocks noGrp="1"/>
          </p:cNvSpPr>
          <p:nvPr>
            <p:ph idx="1"/>
          </p:nvPr>
        </p:nvSpPr>
        <p:spPr>
          <a:xfrm>
            <a:off x="457200" y="762000"/>
            <a:ext cx="8229600" cy="6096000"/>
          </a:xfrm>
        </p:spPr>
        <p:txBody>
          <a:bodyPr>
            <a:normAutofit fontScale="77500" lnSpcReduction="20000"/>
          </a:bodyPr>
          <a:lstStyle/>
          <a:p>
            <a:r>
              <a:rPr lang="en-US" dirty="0"/>
              <a:t>Mathematically, the cyclomatic complexity of a structured program is defined with reference to the control flow graph of the program, a directed graph containing the basic blocks of the program, with an edge between two basic blocks if control may pass from the first to the second. The complexity M is then defined as</a:t>
            </a:r>
          </a:p>
          <a:p>
            <a:endParaRPr lang="en-US" dirty="0"/>
          </a:p>
          <a:p>
            <a:pPr marL="365760" lvl="1" indent="0">
              <a:buNone/>
            </a:pPr>
            <a:r>
              <a:rPr lang="en-US" dirty="0"/>
              <a:t>M = E − N + 2P,</a:t>
            </a:r>
          </a:p>
          <a:p>
            <a:pPr marL="365760" lvl="1" indent="0">
              <a:buNone/>
            </a:pPr>
            <a:r>
              <a:rPr lang="en-US" dirty="0"/>
              <a:t>where</a:t>
            </a:r>
          </a:p>
          <a:p>
            <a:pPr marL="365760" lvl="1" indent="0">
              <a:buNone/>
            </a:pPr>
            <a:endParaRPr lang="en-US" dirty="0"/>
          </a:p>
          <a:p>
            <a:pPr marL="365760" lvl="1" indent="0">
              <a:buNone/>
            </a:pPr>
            <a:r>
              <a:rPr lang="en-US" dirty="0"/>
              <a:t>E = the number of edges of the graph.</a:t>
            </a:r>
          </a:p>
          <a:p>
            <a:pPr marL="365760" lvl="1" indent="0">
              <a:buNone/>
            </a:pPr>
            <a:r>
              <a:rPr lang="en-US" dirty="0"/>
              <a:t>N = the number of nodes of the graph.</a:t>
            </a:r>
          </a:p>
          <a:p>
            <a:pPr marL="365760" lvl="1" indent="0">
              <a:buNone/>
            </a:pPr>
            <a:r>
              <a:rPr lang="en-US" dirty="0"/>
              <a:t>P = represents number of nodes that have exit points in the control flow graph. (or often considered as the number of connected components)</a:t>
            </a:r>
          </a:p>
          <a:p>
            <a:pPr marL="342900" indent="-342900"/>
            <a:r>
              <a:rPr lang="en-US" dirty="0"/>
              <a:t>Key Points:</a:t>
            </a:r>
          </a:p>
          <a:p>
            <a:pPr marL="708660" lvl="1" indent="-342900"/>
            <a:r>
              <a:rPr lang="en-US" dirty="0"/>
              <a:t>It is the maximum number of independent paths through the program code.</a:t>
            </a:r>
          </a:p>
          <a:p>
            <a:pPr marL="708660" lvl="1" indent="-342900"/>
            <a:r>
              <a:rPr lang="en-US" dirty="0"/>
              <a:t>It depends only on the number of decisions in the program code.</a:t>
            </a:r>
          </a:p>
          <a:p>
            <a:pPr marL="708660" lvl="1" indent="-342900"/>
            <a:r>
              <a:rPr lang="en-US" dirty="0"/>
              <a:t>Insertion or deletion of functional statements from the code does not affect its cyclomatic complexity.</a:t>
            </a:r>
          </a:p>
          <a:p>
            <a:pPr marL="708660" lvl="1" indent="-342900"/>
            <a:r>
              <a:rPr lang="en-US" dirty="0"/>
              <a:t>It is always greater than or equal to 1.</a:t>
            </a:r>
          </a:p>
          <a:p>
            <a:pPr marL="342900" indent="-342900"/>
            <a:endParaRPr lang="en-US" dirty="0"/>
          </a:p>
        </p:txBody>
      </p:sp>
      <p:sp>
        <p:nvSpPr>
          <p:cNvPr id="4" name="Slide Number Placeholder 3">
            <a:extLst>
              <a:ext uri="{FF2B5EF4-FFF2-40B4-BE49-F238E27FC236}">
                <a16:creationId xmlns:a16="http://schemas.microsoft.com/office/drawing/2014/main" id="{D761B818-6838-C147-B603-331BC8C41CF7}"/>
              </a:ext>
            </a:extLst>
          </p:cNvPr>
          <p:cNvSpPr>
            <a:spLocks noGrp="1"/>
          </p:cNvSpPr>
          <p:nvPr>
            <p:ph type="sldNum" sz="quarter" idx="12"/>
          </p:nvPr>
        </p:nvSpPr>
        <p:spPr/>
        <p:txBody>
          <a:bodyPr/>
          <a:lstStyle/>
          <a:p>
            <a:fld id="{13977939-A071-43C1-9268-F54CC2756BB5}" type="slidenum">
              <a:rPr lang="en-US" smtClean="0"/>
              <a:pPr/>
              <a:t>48</a:t>
            </a:fld>
            <a:endParaRPr lang="en-US" dirty="0"/>
          </a:p>
        </p:txBody>
      </p:sp>
    </p:spTree>
    <p:extLst>
      <p:ext uri="{BB962C8B-B14F-4D97-AF65-F5344CB8AC3E}">
        <p14:creationId xmlns:p14="http://schemas.microsoft.com/office/powerpoint/2010/main" val="38696781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EB66E-4993-B146-984B-0D251367BEF0}"/>
              </a:ext>
            </a:extLst>
          </p:cNvPr>
          <p:cNvSpPr>
            <a:spLocks noGrp="1"/>
          </p:cNvSpPr>
          <p:nvPr>
            <p:ph type="title"/>
          </p:nvPr>
        </p:nvSpPr>
        <p:spPr/>
        <p:txBody>
          <a:bodyPr>
            <a:noAutofit/>
          </a:bodyPr>
          <a:lstStyle/>
          <a:p>
            <a:r>
              <a:rPr lang="en-US" dirty="0"/>
              <a:t>Example Of Complexity Calculation</a:t>
            </a:r>
          </a:p>
        </p:txBody>
      </p:sp>
      <p:sp>
        <p:nvSpPr>
          <p:cNvPr id="3" name="Content Placeholder 2">
            <a:extLst>
              <a:ext uri="{FF2B5EF4-FFF2-40B4-BE49-F238E27FC236}">
                <a16:creationId xmlns:a16="http://schemas.microsoft.com/office/drawing/2014/main" id="{4FDFE139-E904-794B-995A-8B5F6D5605C9}"/>
              </a:ext>
            </a:extLst>
          </p:cNvPr>
          <p:cNvSpPr>
            <a:spLocks noGrp="1"/>
          </p:cNvSpPr>
          <p:nvPr>
            <p:ph idx="1"/>
          </p:nvPr>
        </p:nvSpPr>
        <p:spPr>
          <a:xfrm>
            <a:off x="152400" y="1234440"/>
            <a:ext cx="6553200" cy="4389120"/>
          </a:xfrm>
        </p:spPr>
        <p:txBody>
          <a:bodyPr>
            <a:normAutofit lnSpcReduction="10000"/>
          </a:bodyPr>
          <a:lstStyle/>
          <a:p>
            <a:r>
              <a:rPr lang="en-US" dirty="0"/>
              <a:t>A control flow graph of a simple program. </a:t>
            </a:r>
          </a:p>
          <a:p>
            <a:pPr lvl="1"/>
            <a:r>
              <a:rPr lang="en-US" dirty="0"/>
              <a:t>The program begins executing at the red node, then enters a loop (group of three nodes immediately below the red node). </a:t>
            </a:r>
          </a:p>
          <a:p>
            <a:pPr lvl="1"/>
            <a:r>
              <a:rPr lang="en-US" dirty="0"/>
              <a:t>On exiting the loop, there is a conditional statement (group below the loop), and finally the program exits at the blue node. </a:t>
            </a:r>
          </a:p>
          <a:p>
            <a:pPr lvl="1"/>
            <a:r>
              <a:rPr lang="en-US" dirty="0"/>
              <a:t>This graph has 9 edges, 8 nodes, and 1 exit point, so the cyclomatic complexity of the program is </a:t>
            </a:r>
          </a:p>
          <a:p>
            <a:pPr marL="393192" lvl="1" indent="0">
              <a:buNone/>
            </a:pPr>
            <a:r>
              <a:rPr lang="en-US" dirty="0"/>
              <a:t>   9 - 8 + 2*1 = 3</a:t>
            </a:r>
          </a:p>
        </p:txBody>
      </p:sp>
      <p:sp>
        <p:nvSpPr>
          <p:cNvPr id="4" name="Slide Number Placeholder 3">
            <a:extLst>
              <a:ext uri="{FF2B5EF4-FFF2-40B4-BE49-F238E27FC236}">
                <a16:creationId xmlns:a16="http://schemas.microsoft.com/office/drawing/2014/main" id="{3C776C54-E60A-154B-9E7C-0882ADA09C4E}"/>
              </a:ext>
            </a:extLst>
          </p:cNvPr>
          <p:cNvSpPr>
            <a:spLocks noGrp="1"/>
          </p:cNvSpPr>
          <p:nvPr>
            <p:ph type="sldNum" sz="quarter" idx="12"/>
          </p:nvPr>
        </p:nvSpPr>
        <p:spPr/>
        <p:txBody>
          <a:bodyPr/>
          <a:lstStyle/>
          <a:p>
            <a:fld id="{13977939-A071-43C1-9268-F54CC2756BB5}" type="slidenum">
              <a:rPr lang="en-US" smtClean="0"/>
              <a:pPr/>
              <a:t>49</a:t>
            </a:fld>
            <a:endParaRPr lang="en-US" dirty="0"/>
          </a:p>
        </p:txBody>
      </p:sp>
      <p:pic>
        <p:nvPicPr>
          <p:cNvPr id="5" name="Picture 4">
            <a:extLst>
              <a:ext uri="{FF2B5EF4-FFF2-40B4-BE49-F238E27FC236}">
                <a16:creationId xmlns:a16="http://schemas.microsoft.com/office/drawing/2014/main" id="{3765199C-E886-664C-B856-ED148B1A69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05600" y="1600200"/>
            <a:ext cx="2365543" cy="3124200"/>
          </a:xfrm>
          <a:prstGeom prst="rect">
            <a:avLst/>
          </a:prstGeom>
        </p:spPr>
      </p:pic>
      <p:sp>
        <p:nvSpPr>
          <p:cNvPr id="6" name="TextBox 5">
            <a:extLst>
              <a:ext uri="{FF2B5EF4-FFF2-40B4-BE49-F238E27FC236}">
                <a16:creationId xmlns:a16="http://schemas.microsoft.com/office/drawing/2014/main" id="{44D0F0C0-F760-F149-909C-2A1C9A6766FB}"/>
              </a:ext>
            </a:extLst>
          </p:cNvPr>
          <p:cNvSpPr txBox="1"/>
          <p:nvPr/>
        </p:nvSpPr>
        <p:spPr>
          <a:xfrm>
            <a:off x="1295400" y="6248400"/>
            <a:ext cx="4191019" cy="276999"/>
          </a:xfrm>
          <a:prstGeom prst="rect">
            <a:avLst/>
          </a:prstGeom>
          <a:noFill/>
        </p:spPr>
        <p:txBody>
          <a:bodyPr wrap="none" rtlCol="0">
            <a:spAutoFit/>
          </a:bodyPr>
          <a:lstStyle/>
          <a:p>
            <a:r>
              <a:rPr lang="en-US" sz="1200" dirty="0"/>
              <a:t>From: https://en.wikipedia.org/wiki/Cyclomatic_complexity</a:t>
            </a:r>
          </a:p>
        </p:txBody>
      </p:sp>
    </p:spTree>
    <p:extLst>
      <p:ext uri="{BB962C8B-B14F-4D97-AF65-F5344CB8AC3E}">
        <p14:creationId xmlns:p14="http://schemas.microsoft.com/office/powerpoint/2010/main" val="7447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48AD0-1D4B-9B44-89CC-BF15820F9AF7}"/>
              </a:ext>
            </a:extLst>
          </p:cNvPr>
          <p:cNvSpPr>
            <a:spLocks noGrp="1"/>
          </p:cNvSpPr>
          <p:nvPr>
            <p:ph type="title"/>
          </p:nvPr>
        </p:nvSpPr>
        <p:spPr/>
        <p:txBody>
          <a:bodyPr>
            <a:noAutofit/>
          </a:bodyPr>
          <a:lstStyle/>
          <a:p>
            <a:r>
              <a:rPr lang="en-US" dirty="0"/>
              <a:t>Alternate Formula (optional)</a:t>
            </a:r>
          </a:p>
        </p:txBody>
      </p:sp>
      <p:sp>
        <p:nvSpPr>
          <p:cNvPr id="3" name="Content Placeholder 2">
            <a:extLst>
              <a:ext uri="{FF2B5EF4-FFF2-40B4-BE49-F238E27FC236}">
                <a16:creationId xmlns:a16="http://schemas.microsoft.com/office/drawing/2014/main" id="{D7F407CA-8173-514E-A1D8-9093C5BFA919}"/>
              </a:ext>
            </a:extLst>
          </p:cNvPr>
          <p:cNvSpPr>
            <a:spLocks noGrp="1"/>
          </p:cNvSpPr>
          <p:nvPr>
            <p:ph idx="1"/>
          </p:nvPr>
        </p:nvSpPr>
        <p:spPr>
          <a:xfrm>
            <a:off x="457200" y="990600"/>
            <a:ext cx="6477000" cy="4998720"/>
          </a:xfrm>
        </p:spPr>
        <p:txBody>
          <a:bodyPr>
            <a:normAutofit fontScale="77500" lnSpcReduction="20000"/>
          </a:bodyPr>
          <a:lstStyle/>
          <a:p>
            <a:r>
              <a:rPr lang="en-US" dirty="0"/>
              <a:t>An alternative formulation is to use a graph in which each exit point is connected back to the entry point. </a:t>
            </a:r>
          </a:p>
          <a:p>
            <a:pPr lvl="1"/>
            <a:r>
              <a:rPr lang="en-US" dirty="0"/>
              <a:t>In this case, the graph is strongly connected, and the cyclomatic complexity of the program is equal to the cyclomatic number of its graph (also known as the first Betti number), which is defined as</a:t>
            </a:r>
          </a:p>
          <a:p>
            <a:pPr marL="640080" lvl="2" indent="0">
              <a:buNone/>
            </a:pPr>
            <a:r>
              <a:rPr lang="en-US" dirty="0"/>
              <a:t>M = E − N + P.</a:t>
            </a:r>
          </a:p>
          <a:p>
            <a:r>
              <a:rPr lang="en-US" dirty="0"/>
              <a:t>This may be seen as calculating the number of linearly independent cycles that exist in the graph, i.e. those cycles that do not contain other cycles within themselves. </a:t>
            </a:r>
          </a:p>
          <a:p>
            <a:pPr lvl="1"/>
            <a:r>
              <a:rPr lang="en-US" dirty="0"/>
              <a:t>Note that because each exit point loops back to the entry point, there is at least one such cycle for each exit point.</a:t>
            </a:r>
          </a:p>
          <a:p>
            <a:pPr lvl="1"/>
            <a:r>
              <a:rPr lang="en-US" dirty="0"/>
              <a:t>If there was more than one exit point we’d need an extra edge back to the start for each one</a:t>
            </a:r>
          </a:p>
          <a:p>
            <a:pPr lvl="1"/>
            <a:r>
              <a:rPr lang="en-US" dirty="0"/>
              <a:t>M = 10 -8 + 1 = 3</a:t>
            </a:r>
          </a:p>
          <a:p>
            <a:r>
              <a:rPr lang="en-US" dirty="0">
                <a:solidFill>
                  <a:srgbClr val="FF0000"/>
                </a:solidFill>
              </a:rPr>
              <a:t>Just stick with the first formula</a:t>
            </a:r>
          </a:p>
        </p:txBody>
      </p:sp>
      <p:sp>
        <p:nvSpPr>
          <p:cNvPr id="4" name="Slide Number Placeholder 3">
            <a:extLst>
              <a:ext uri="{FF2B5EF4-FFF2-40B4-BE49-F238E27FC236}">
                <a16:creationId xmlns:a16="http://schemas.microsoft.com/office/drawing/2014/main" id="{80BA8CB8-2859-5344-AEE7-36331877AA4C}"/>
              </a:ext>
            </a:extLst>
          </p:cNvPr>
          <p:cNvSpPr>
            <a:spLocks noGrp="1"/>
          </p:cNvSpPr>
          <p:nvPr>
            <p:ph type="sldNum" sz="quarter" idx="12"/>
          </p:nvPr>
        </p:nvSpPr>
        <p:spPr/>
        <p:txBody>
          <a:bodyPr/>
          <a:lstStyle/>
          <a:p>
            <a:fld id="{13977939-A071-43C1-9268-F54CC2756BB5}" type="slidenum">
              <a:rPr lang="en-US" smtClean="0"/>
              <a:pPr/>
              <a:t>50</a:t>
            </a:fld>
            <a:endParaRPr lang="en-US" dirty="0"/>
          </a:p>
        </p:txBody>
      </p:sp>
      <p:sp>
        <p:nvSpPr>
          <p:cNvPr id="7" name="TextBox 6">
            <a:extLst>
              <a:ext uri="{FF2B5EF4-FFF2-40B4-BE49-F238E27FC236}">
                <a16:creationId xmlns:a16="http://schemas.microsoft.com/office/drawing/2014/main" id="{9278A6FF-1649-354D-9A80-16ED0F2C65D8}"/>
              </a:ext>
            </a:extLst>
          </p:cNvPr>
          <p:cNvSpPr txBox="1"/>
          <p:nvPr/>
        </p:nvSpPr>
        <p:spPr>
          <a:xfrm>
            <a:off x="1600190" y="6262300"/>
            <a:ext cx="4191019" cy="276999"/>
          </a:xfrm>
          <a:prstGeom prst="rect">
            <a:avLst/>
          </a:prstGeom>
          <a:noFill/>
        </p:spPr>
        <p:txBody>
          <a:bodyPr wrap="none" rtlCol="0">
            <a:spAutoFit/>
          </a:bodyPr>
          <a:lstStyle/>
          <a:p>
            <a:r>
              <a:rPr lang="en-US" sz="1200" dirty="0"/>
              <a:t>From: https://en.wikipedia.org/wiki/Cyclomatic_complexity</a:t>
            </a:r>
          </a:p>
        </p:txBody>
      </p:sp>
      <p:pic>
        <p:nvPicPr>
          <p:cNvPr id="5" name="Picture 4">
            <a:extLst>
              <a:ext uri="{FF2B5EF4-FFF2-40B4-BE49-F238E27FC236}">
                <a16:creationId xmlns:a16="http://schemas.microsoft.com/office/drawing/2014/main" id="{687FF50A-2EF6-2546-AA0B-D0AC788E72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34200" y="1371600"/>
            <a:ext cx="1981200" cy="3962400"/>
          </a:xfrm>
          <a:prstGeom prst="rect">
            <a:avLst/>
          </a:prstGeom>
        </p:spPr>
      </p:pic>
    </p:spTree>
    <p:extLst>
      <p:ext uri="{BB962C8B-B14F-4D97-AF65-F5344CB8AC3E}">
        <p14:creationId xmlns:p14="http://schemas.microsoft.com/office/powerpoint/2010/main" val="38178454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A789-C0F1-1B46-8DD4-43E266D4EF5E}"/>
              </a:ext>
            </a:extLst>
          </p:cNvPr>
          <p:cNvSpPr>
            <a:spLocks noGrp="1"/>
          </p:cNvSpPr>
          <p:nvPr>
            <p:ph type="title"/>
          </p:nvPr>
        </p:nvSpPr>
        <p:spPr/>
        <p:txBody>
          <a:bodyPr>
            <a:noAutofit/>
          </a:bodyPr>
          <a:lstStyle/>
          <a:p>
            <a:r>
              <a:rPr lang="en-US" dirty="0"/>
              <a:t>Another Cyclomatic Complexity Example</a:t>
            </a:r>
          </a:p>
        </p:txBody>
      </p:sp>
      <p:sp>
        <p:nvSpPr>
          <p:cNvPr id="3" name="Content Placeholder 2">
            <a:extLst>
              <a:ext uri="{FF2B5EF4-FFF2-40B4-BE49-F238E27FC236}">
                <a16:creationId xmlns:a16="http://schemas.microsoft.com/office/drawing/2014/main" id="{DBB66161-8713-C942-A4AE-546BECA19CB0}"/>
              </a:ext>
            </a:extLst>
          </p:cNvPr>
          <p:cNvSpPr>
            <a:spLocks noGrp="1"/>
          </p:cNvSpPr>
          <p:nvPr>
            <p:ph idx="1"/>
          </p:nvPr>
        </p:nvSpPr>
        <p:spPr>
          <a:xfrm>
            <a:off x="424543" y="4747840"/>
            <a:ext cx="8229600" cy="1881559"/>
          </a:xfrm>
        </p:spPr>
        <p:txBody>
          <a:bodyPr>
            <a:normAutofit fontScale="62500" lnSpcReduction="20000"/>
          </a:bodyPr>
          <a:lstStyle/>
          <a:p>
            <a:r>
              <a:rPr lang="en-US" dirty="0"/>
              <a:t>In the above example:</a:t>
            </a:r>
          </a:p>
          <a:p>
            <a:pPr marL="0" indent="0">
              <a:buNone/>
            </a:pPr>
            <a:r>
              <a:rPr lang="en-US" dirty="0"/>
              <a:t>e = 10</a:t>
            </a:r>
          </a:p>
          <a:p>
            <a:pPr marL="0" indent="0">
              <a:buNone/>
            </a:pPr>
            <a:r>
              <a:rPr lang="en-US" dirty="0"/>
              <a:t>n=8</a:t>
            </a:r>
          </a:p>
          <a:p>
            <a:pPr marL="0" indent="0">
              <a:buNone/>
            </a:pPr>
            <a:r>
              <a:rPr lang="en-US" dirty="0"/>
              <a:t>Cyclomatic Complexity = 10 - 8 + 1 =3 (using alternate formulation with the e10 connecting arc)</a:t>
            </a:r>
          </a:p>
          <a:p>
            <a:pPr marL="0" indent="0">
              <a:buNone/>
            </a:pPr>
            <a:r>
              <a:rPr lang="en-US" dirty="0"/>
              <a:t>Or </a:t>
            </a:r>
          </a:p>
          <a:p>
            <a:pPr marL="0" indent="0">
              <a:buNone/>
            </a:pPr>
            <a:r>
              <a:rPr lang="en-US" dirty="0"/>
              <a:t>M = 9 -8 +2*1 = 3  (Using basic formula)</a:t>
            </a:r>
          </a:p>
        </p:txBody>
      </p:sp>
      <p:sp>
        <p:nvSpPr>
          <p:cNvPr id="4" name="Slide Number Placeholder 3">
            <a:extLst>
              <a:ext uri="{FF2B5EF4-FFF2-40B4-BE49-F238E27FC236}">
                <a16:creationId xmlns:a16="http://schemas.microsoft.com/office/drawing/2014/main" id="{F9AC7471-1A22-C046-B5EE-39065FAC2D6B}"/>
              </a:ext>
            </a:extLst>
          </p:cNvPr>
          <p:cNvSpPr>
            <a:spLocks noGrp="1"/>
          </p:cNvSpPr>
          <p:nvPr>
            <p:ph type="sldNum" sz="quarter" idx="12"/>
          </p:nvPr>
        </p:nvSpPr>
        <p:spPr/>
        <p:txBody>
          <a:bodyPr/>
          <a:lstStyle/>
          <a:p>
            <a:fld id="{13977939-A071-43C1-9268-F54CC2756BB5}" type="slidenum">
              <a:rPr lang="en-US" smtClean="0"/>
              <a:pPr/>
              <a:t>51</a:t>
            </a:fld>
            <a:endParaRPr lang="en-US" dirty="0"/>
          </a:p>
        </p:txBody>
      </p:sp>
      <p:pic>
        <p:nvPicPr>
          <p:cNvPr id="5" name="Picture 4">
            <a:extLst>
              <a:ext uri="{FF2B5EF4-FFF2-40B4-BE49-F238E27FC236}">
                <a16:creationId xmlns:a16="http://schemas.microsoft.com/office/drawing/2014/main" id="{E2421A19-6D15-5248-8D37-EB28304F97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0100" y="1220180"/>
            <a:ext cx="7124700" cy="3314700"/>
          </a:xfrm>
          <a:prstGeom prst="rect">
            <a:avLst/>
          </a:prstGeom>
        </p:spPr>
      </p:pic>
    </p:spTree>
    <p:extLst>
      <p:ext uri="{BB962C8B-B14F-4D97-AF65-F5344CB8AC3E}">
        <p14:creationId xmlns:p14="http://schemas.microsoft.com/office/powerpoint/2010/main" val="2001845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59A5-F4FC-7441-AB8D-CAD1BADC38CB}"/>
              </a:ext>
            </a:extLst>
          </p:cNvPr>
          <p:cNvSpPr>
            <a:spLocks noGrp="1"/>
          </p:cNvSpPr>
          <p:nvPr>
            <p:ph type="title"/>
          </p:nvPr>
        </p:nvSpPr>
        <p:spPr/>
        <p:txBody>
          <a:bodyPr>
            <a:noAutofit/>
          </a:bodyPr>
          <a:lstStyle/>
          <a:p>
            <a:r>
              <a:rPr lang="en-US" dirty="0"/>
              <a:t>Levels Of Cyclomatic Complexity</a:t>
            </a:r>
          </a:p>
        </p:txBody>
      </p:sp>
      <p:graphicFrame>
        <p:nvGraphicFramePr>
          <p:cNvPr id="5" name="Content Placeholder 4">
            <a:extLst>
              <a:ext uri="{FF2B5EF4-FFF2-40B4-BE49-F238E27FC236}">
                <a16:creationId xmlns:a16="http://schemas.microsoft.com/office/drawing/2014/main" id="{A88A1137-620D-8442-9843-16081B4D64FF}"/>
              </a:ext>
            </a:extLst>
          </p:cNvPr>
          <p:cNvGraphicFramePr>
            <a:graphicFrameLocks noGrp="1"/>
          </p:cNvGraphicFramePr>
          <p:nvPr>
            <p:ph idx="1"/>
            <p:extLst>
              <p:ext uri="{D42A27DB-BD31-4B8C-83A1-F6EECF244321}">
                <p14:modId xmlns:p14="http://schemas.microsoft.com/office/powerpoint/2010/main" val="3963756620"/>
              </p:ext>
            </p:extLst>
          </p:nvPr>
        </p:nvGraphicFramePr>
        <p:xfrm>
          <a:off x="1219200" y="1371600"/>
          <a:ext cx="6237514" cy="3754120"/>
        </p:xfrm>
        <a:graphic>
          <a:graphicData uri="http://schemas.openxmlformats.org/drawingml/2006/table">
            <a:tbl>
              <a:tblPr firstRow="1" bandRow="1">
                <a:tableStyleId>{5C22544A-7EE6-4342-B048-85BDC9FD1C3A}</a:tableStyleId>
              </a:tblPr>
              <a:tblGrid>
                <a:gridCol w="2404940">
                  <a:extLst>
                    <a:ext uri="{9D8B030D-6E8A-4147-A177-3AD203B41FA5}">
                      <a16:colId xmlns:a16="http://schemas.microsoft.com/office/drawing/2014/main" val="2787342354"/>
                    </a:ext>
                  </a:extLst>
                </a:gridCol>
                <a:gridCol w="3832574">
                  <a:extLst>
                    <a:ext uri="{9D8B030D-6E8A-4147-A177-3AD203B41FA5}">
                      <a16:colId xmlns:a16="http://schemas.microsoft.com/office/drawing/2014/main" val="1454302682"/>
                    </a:ext>
                  </a:extLst>
                </a:gridCol>
              </a:tblGrid>
              <a:tr h="370840">
                <a:tc>
                  <a:txBody>
                    <a:bodyPr/>
                    <a:lstStyle/>
                    <a:p>
                      <a:pPr algn="ctr"/>
                      <a:r>
                        <a:rPr lang="en-US" sz="1400" b="1" dirty="0">
                          <a:effectLst/>
                          <a:latin typeface="Arial" panose="020B0604020202020204" pitchFamily="34" charset="0"/>
                          <a:cs typeface="Arial" panose="020B0604020202020204" pitchFamily="34" charset="0"/>
                        </a:rPr>
                        <a:t>Cyclomatic Complexity</a:t>
                      </a:r>
                      <a:endParaRPr lang="en-US" sz="1400" dirty="0">
                        <a:effectLst/>
                        <a:latin typeface="Arial" panose="020B0604020202020204" pitchFamily="34" charset="0"/>
                        <a:cs typeface="Arial" panose="020B0604020202020204" pitchFamily="34" charset="0"/>
                      </a:endParaRPr>
                    </a:p>
                  </a:txBody>
                  <a:tcPr marL="95250" marR="95250" marT="76200" marB="76200" anchor="ctr"/>
                </a:tc>
                <a:tc>
                  <a:txBody>
                    <a:bodyPr/>
                    <a:lstStyle/>
                    <a:p>
                      <a:pPr algn="ctr"/>
                      <a:r>
                        <a:rPr lang="en-US" sz="1400" b="1" dirty="0">
                          <a:effectLst/>
                          <a:latin typeface="Arial" panose="020B0604020202020204" pitchFamily="34" charset="0"/>
                          <a:cs typeface="Arial" panose="020B0604020202020204" pitchFamily="34" charset="0"/>
                        </a:rPr>
                        <a:t>Meaning</a:t>
                      </a:r>
                      <a:endParaRPr lang="en-US" sz="1400" dirty="0">
                        <a:effectLst/>
                        <a:latin typeface="Arial" panose="020B0604020202020204" pitchFamily="34" charset="0"/>
                        <a:cs typeface="Arial" panose="020B0604020202020204" pitchFamily="34" charset="0"/>
                      </a:endParaRPr>
                    </a:p>
                  </a:txBody>
                  <a:tcPr marL="95250" marR="95250" marT="76200" marB="76200" anchor="ctr"/>
                </a:tc>
                <a:extLst>
                  <a:ext uri="{0D108BD9-81ED-4DB2-BD59-A6C34878D82A}">
                    <a16:rowId xmlns:a16="http://schemas.microsoft.com/office/drawing/2014/main" val="3397179125"/>
                  </a:ext>
                </a:extLst>
              </a:tr>
              <a:tr h="370840">
                <a:tc>
                  <a:txBody>
                    <a:bodyPr/>
                    <a:lstStyle/>
                    <a:p>
                      <a:pPr algn="ctr"/>
                      <a:r>
                        <a:rPr lang="en-US" sz="1400" dirty="0">
                          <a:effectLst/>
                          <a:latin typeface="Arial" panose="020B0604020202020204" pitchFamily="34" charset="0"/>
                          <a:cs typeface="Arial" panose="020B0604020202020204" pitchFamily="34" charset="0"/>
                        </a:rPr>
                        <a:t>1 – 10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Structured and Well Written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Less Cost and Effort</a:t>
                      </a:r>
                    </a:p>
                  </a:txBody>
                  <a:tcPr marL="95250" marR="95250" marT="76200" marB="76200" anchor="ctr"/>
                </a:tc>
                <a:extLst>
                  <a:ext uri="{0D108BD9-81ED-4DB2-BD59-A6C34878D82A}">
                    <a16:rowId xmlns:a16="http://schemas.microsoft.com/office/drawing/2014/main" val="2831959278"/>
                  </a:ext>
                </a:extLst>
              </a:tr>
              <a:tr h="370840">
                <a:tc>
                  <a:txBody>
                    <a:bodyPr/>
                    <a:lstStyle/>
                    <a:p>
                      <a:pPr algn="ctr"/>
                      <a:r>
                        <a:rPr lang="en-US" sz="1400" dirty="0">
                          <a:effectLst/>
                          <a:latin typeface="Arial" panose="020B0604020202020204" pitchFamily="34" charset="0"/>
                          <a:cs typeface="Arial" panose="020B0604020202020204" pitchFamily="34" charset="0"/>
                        </a:rPr>
                        <a:t>10 – 20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Medium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Medium Cost and Effort</a:t>
                      </a:r>
                    </a:p>
                  </a:txBody>
                  <a:tcPr marL="95250" marR="95250" marT="76200" marB="76200" anchor="ctr"/>
                </a:tc>
                <a:extLst>
                  <a:ext uri="{0D108BD9-81ED-4DB2-BD59-A6C34878D82A}">
                    <a16:rowId xmlns:a16="http://schemas.microsoft.com/office/drawing/2014/main" val="1282629321"/>
                  </a:ext>
                </a:extLst>
              </a:tr>
              <a:tr h="370840">
                <a:tc>
                  <a:txBody>
                    <a:bodyPr/>
                    <a:lstStyle/>
                    <a:p>
                      <a:pPr algn="ctr"/>
                      <a:r>
                        <a:rPr lang="en-US" sz="1400" dirty="0">
                          <a:effectLst/>
                          <a:latin typeface="Arial" panose="020B0604020202020204" pitchFamily="34" charset="0"/>
                          <a:cs typeface="Arial" panose="020B0604020202020204" pitchFamily="34" charset="0"/>
                        </a:rPr>
                        <a:t>20 – 40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Very 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Low Testability</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 Cost and Effort</a:t>
                      </a:r>
                    </a:p>
                  </a:txBody>
                  <a:tcPr marL="95250" marR="95250" marT="76200" marB="76200" anchor="ctr"/>
                </a:tc>
                <a:extLst>
                  <a:ext uri="{0D108BD9-81ED-4DB2-BD59-A6C34878D82A}">
                    <a16:rowId xmlns:a16="http://schemas.microsoft.com/office/drawing/2014/main" val="2548648945"/>
                  </a:ext>
                </a:extLst>
              </a:tr>
              <a:tr h="370840">
                <a:tc>
                  <a:txBody>
                    <a:bodyPr/>
                    <a:lstStyle/>
                    <a:p>
                      <a:pPr algn="ctr"/>
                      <a:r>
                        <a:rPr lang="en-US" sz="1400" dirty="0">
                          <a:effectLst/>
                          <a:latin typeface="Arial" panose="020B0604020202020204" pitchFamily="34" charset="0"/>
                          <a:cs typeface="Arial" panose="020B0604020202020204" pitchFamily="34" charset="0"/>
                        </a:rPr>
                        <a:t>&gt; 40</a:t>
                      </a:r>
                    </a:p>
                  </a:txBody>
                  <a:tcPr marL="95250" marR="95250" marT="76200" marB="76200" anchor="ctr"/>
                </a:tc>
                <a:tc>
                  <a:txBody>
                    <a:bodyPr/>
                    <a:lstStyle/>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Highly Complex Code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Not at all Testable</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Very High Cost and Effort</a:t>
                      </a:r>
                    </a:p>
                    <a:p>
                      <a:pPr algn="l" fontAlgn="base">
                        <a:buFont typeface="Arial" panose="020B0604020202020204" pitchFamily="34" charset="0"/>
                        <a:buChar char="•"/>
                      </a:pPr>
                      <a:r>
                        <a:rPr lang="en-US" sz="1400" dirty="0">
                          <a:effectLst/>
                          <a:latin typeface="Arial" panose="020B0604020202020204" pitchFamily="34" charset="0"/>
                          <a:cs typeface="Arial" panose="020B0604020202020204" pitchFamily="34" charset="0"/>
                        </a:rPr>
                        <a:t>Much Harder to Maintain</a:t>
                      </a:r>
                    </a:p>
                  </a:txBody>
                  <a:tcPr marL="95250" marR="95250" marT="76200" marB="76200" anchor="ctr"/>
                </a:tc>
                <a:extLst>
                  <a:ext uri="{0D108BD9-81ED-4DB2-BD59-A6C34878D82A}">
                    <a16:rowId xmlns:a16="http://schemas.microsoft.com/office/drawing/2014/main" val="565133128"/>
                  </a:ext>
                </a:extLst>
              </a:tr>
            </a:tbl>
          </a:graphicData>
        </a:graphic>
      </p:graphicFrame>
      <p:sp>
        <p:nvSpPr>
          <p:cNvPr id="4" name="Slide Number Placeholder 3">
            <a:extLst>
              <a:ext uri="{FF2B5EF4-FFF2-40B4-BE49-F238E27FC236}">
                <a16:creationId xmlns:a16="http://schemas.microsoft.com/office/drawing/2014/main" id="{57B6E9FD-CE11-6047-A7D9-28B7C4546452}"/>
              </a:ext>
            </a:extLst>
          </p:cNvPr>
          <p:cNvSpPr>
            <a:spLocks noGrp="1"/>
          </p:cNvSpPr>
          <p:nvPr>
            <p:ph type="sldNum" sz="quarter" idx="12"/>
          </p:nvPr>
        </p:nvSpPr>
        <p:spPr/>
        <p:txBody>
          <a:bodyPr/>
          <a:lstStyle/>
          <a:p>
            <a:fld id="{13977939-A071-43C1-9268-F54CC2756BB5}" type="slidenum">
              <a:rPr lang="en-US" smtClean="0"/>
              <a:pPr/>
              <a:t>52</a:t>
            </a:fld>
            <a:endParaRPr lang="en-US" dirty="0"/>
          </a:p>
        </p:txBody>
      </p:sp>
    </p:spTree>
    <p:extLst>
      <p:ext uri="{BB962C8B-B14F-4D97-AF65-F5344CB8AC3E}">
        <p14:creationId xmlns:p14="http://schemas.microsoft.com/office/powerpoint/2010/main" val="27982448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19971</TotalTime>
  <Words>6043</Words>
  <Application>Microsoft Macintosh PowerPoint</Application>
  <PresentationFormat>On-screen Show (4:3)</PresentationFormat>
  <Paragraphs>575</Paragraphs>
  <Slides>52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Constantia</vt:lpstr>
      <vt:lpstr>Wingdings 2</vt:lpstr>
      <vt:lpstr>Flow</vt:lpstr>
      <vt:lpstr>LESSON 1</vt:lpstr>
      <vt:lpstr>Course References</vt:lpstr>
      <vt:lpstr>Links</vt:lpstr>
      <vt:lpstr>Lesson Goals</vt:lpstr>
      <vt:lpstr>Purpose And Goals Of This Course (1)</vt:lpstr>
      <vt:lpstr>Purpose And Goals Of This Course (2)</vt:lpstr>
      <vt:lpstr>PowerPoint Presentation</vt:lpstr>
      <vt:lpstr>Project Management Types and Their Life Cycles</vt:lpstr>
      <vt:lpstr>Characteristics Of Agile Vs. Traditional Processes</vt:lpstr>
      <vt:lpstr>Waterfall vs. Agile</vt:lpstr>
      <vt:lpstr>The Waterfall In Reality</vt:lpstr>
      <vt:lpstr>Sample Life Cycle with Incremental Development</vt:lpstr>
      <vt:lpstr>Agile Project Management (2)</vt:lpstr>
      <vt:lpstr>PowerPoint Presentation</vt:lpstr>
      <vt:lpstr>Software Engineers See The Bigger Picture</vt:lpstr>
      <vt:lpstr>What Is A Software Engineer</vt:lpstr>
      <vt:lpstr>Considerations In Software Engineering (1)</vt:lpstr>
      <vt:lpstr>Considerations In Software Engineering (2)</vt:lpstr>
      <vt:lpstr>PowerPoint Presentation</vt:lpstr>
      <vt:lpstr>Designing Software – A Typical Interview Question</vt:lpstr>
      <vt:lpstr>Some Key Practices In Software Development That Are Widely Agreed Upon (1)</vt:lpstr>
      <vt:lpstr>Some Key Practices In Software Development That Are Widely Agreed Upon (2)</vt:lpstr>
      <vt:lpstr>Good Software Development</vt:lpstr>
      <vt:lpstr>Good Basic Software Development Practices</vt:lpstr>
      <vt:lpstr>PowerPoint Presentation</vt:lpstr>
      <vt:lpstr>Good Coding Practices For Java Programmers (1)</vt:lpstr>
      <vt:lpstr>Good Coding Practices For Java Programmers (2)</vt:lpstr>
      <vt:lpstr>Good Coding Practices For Java Programmers (3)</vt:lpstr>
      <vt:lpstr>Good Coding Practices For Java Programmers (4)</vt:lpstr>
      <vt:lpstr>Good Coding Practices For Java Programmers (5)</vt:lpstr>
      <vt:lpstr>Good Coding Practices For Java Programmers (6)</vt:lpstr>
      <vt:lpstr>PowerPoint Presentation</vt:lpstr>
      <vt:lpstr>Good Practices For Unit Testing (1)</vt:lpstr>
      <vt:lpstr>Good Practices For Unit Testing (2)</vt:lpstr>
      <vt:lpstr>Testing Methodologies (1)</vt:lpstr>
      <vt:lpstr>Testing Methodologies (2)</vt:lpstr>
      <vt:lpstr>Testing Methodologies (3)</vt:lpstr>
      <vt:lpstr>Testing Methodologies (4)</vt:lpstr>
      <vt:lpstr>PowerPoint Presentation</vt:lpstr>
      <vt:lpstr>Static Program Analysis</vt:lpstr>
      <vt:lpstr>How Is Static Program Analysis Done</vt:lpstr>
      <vt:lpstr>Types Of Static Program Analysis</vt:lpstr>
      <vt:lpstr>Benefits and Drawbacks Of Static Program Analysis</vt:lpstr>
      <vt:lpstr>PowerPoint Presentation</vt:lpstr>
      <vt:lpstr>Cyclomatic Software Complexity (1)</vt:lpstr>
      <vt:lpstr>Cyclomatic Software Complexity (2)</vt:lpstr>
      <vt:lpstr>Importance Of Cyclomatic Complexity</vt:lpstr>
      <vt:lpstr>Calculating Cyclomatic Software Complexity</vt:lpstr>
      <vt:lpstr>Example Of Complexity Calculation</vt:lpstr>
      <vt:lpstr>Alternate Formula (optional)</vt:lpstr>
      <vt:lpstr>Another Cyclomatic Complexity Example</vt:lpstr>
      <vt:lpstr>Levels Of Cyclomatic Complexity</vt:lpstr>
    </vt:vector>
  </TitlesOfParts>
  <Company>Northrop Grumman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Howard Rosenthal</dc:creator>
  <cp:lastModifiedBy>Howard Rosenthal</cp:lastModifiedBy>
  <cp:revision>1505</cp:revision>
  <cp:lastPrinted>2019-02-01T00:56:43Z</cp:lastPrinted>
  <dcterms:created xsi:type="dcterms:W3CDTF">2013-08-30T21:41:43Z</dcterms:created>
  <dcterms:modified xsi:type="dcterms:W3CDTF">2026-08-30T00:09:26Z</dcterms:modified>
</cp:coreProperties>
</file>