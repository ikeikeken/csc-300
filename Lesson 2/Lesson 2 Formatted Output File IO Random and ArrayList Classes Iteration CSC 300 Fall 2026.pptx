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84" r:id="rId1"/>
  </p:sldMasterIdLst>
  <p:notesMasterIdLst>
    <p:notesMasterId r:id="rId85"/>
  </p:notesMasterIdLst>
  <p:sldIdLst>
    <p:sldId id="256" r:id="rId2"/>
    <p:sldId id="545" r:id="rId3"/>
    <p:sldId id="617" r:id="rId4"/>
    <p:sldId id="272" r:id="rId5"/>
    <p:sldId id="621" r:id="rId6"/>
    <p:sldId id="396" r:id="rId7"/>
    <p:sldId id="371" r:id="rId8"/>
    <p:sldId id="397" r:id="rId9"/>
    <p:sldId id="341" r:id="rId10"/>
    <p:sldId id="339" r:id="rId11"/>
    <p:sldId id="640" r:id="rId12"/>
    <p:sldId id="401" r:id="rId13"/>
    <p:sldId id="457" r:id="rId14"/>
    <p:sldId id="292" r:id="rId15"/>
    <p:sldId id="622" r:id="rId16"/>
    <p:sldId id="279" r:id="rId17"/>
    <p:sldId id="271" r:id="rId18"/>
    <p:sldId id="297" r:id="rId19"/>
    <p:sldId id="625" r:id="rId20"/>
    <p:sldId id="633" r:id="rId21"/>
    <p:sldId id="312" r:id="rId22"/>
    <p:sldId id="301" r:id="rId23"/>
    <p:sldId id="303" r:id="rId24"/>
    <p:sldId id="307" r:id="rId25"/>
    <p:sldId id="305" r:id="rId26"/>
    <p:sldId id="304" r:id="rId27"/>
    <p:sldId id="306" r:id="rId28"/>
    <p:sldId id="309" r:id="rId29"/>
    <p:sldId id="302" r:id="rId30"/>
    <p:sldId id="623" r:id="rId31"/>
    <p:sldId id="350" r:id="rId32"/>
    <p:sldId id="353" r:id="rId33"/>
    <p:sldId id="635" r:id="rId34"/>
    <p:sldId id="634" r:id="rId35"/>
    <p:sldId id="452" r:id="rId36"/>
    <p:sldId id="354" r:id="rId37"/>
    <p:sldId id="374" r:id="rId38"/>
    <p:sldId id="626" r:id="rId39"/>
    <p:sldId id="365" r:id="rId40"/>
    <p:sldId id="384" r:id="rId41"/>
    <p:sldId id="376" r:id="rId42"/>
    <p:sldId id="355" r:id="rId43"/>
    <p:sldId id="385" r:id="rId44"/>
    <p:sldId id="386" r:id="rId45"/>
    <p:sldId id="375" r:id="rId46"/>
    <p:sldId id="387" r:id="rId47"/>
    <p:sldId id="369" r:id="rId48"/>
    <p:sldId id="370" r:id="rId49"/>
    <p:sldId id="624" r:id="rId50"/>
    <p:sldId id="327" r:id="rId51"/>
    <p:sldId id="328" r:id="rId52"/>
    <p:sldId id="329" r:id="rId53"/>
    <p:sldId id="330" r:id="rId54"/>
    <p:sldId id="619" r:id="rId55"/>
    <p:sldId id="620" r:id="rId56"/>
    <p:sldId id="627" r:id="rId57"/>
    <p:sldId id="628" r:id="rId58"/>
    <p:sldId id="629" r:id="rId59"/>
    <p:sldId id="553" r:id="rId60"/>
    <p:sldId id="522" r:id="rId61"/>
    <p:sldId id="523" r:id="rId62"/>
    <p:sldId id="554" r:id="rId63"/>
    <p:sldId id="411" r:id="rId64"/>
    <p:sldId id="382" r:id="rId65"/>
    <p:sldId id="412" r:id="rId66"/>
    <p:sldId id="413" r:id="rId67"/>
    <p:sldId id="414" r:id="rId68"/>
    <p:sldId id="425" r:id="rId69"/>
    <p:sldId id="417" r:id="rId70"/>
    <p:sldId id="551" r:id="rId71"/>
    <p:sldId id="429" r:id="rId72"/>
    <p:sldId id="430" r:id="rId73"/>
    <p:sldId id="631" r:id="rId74"/>
    <p:sldId id="637" r:id="rId75"/>
    <p:sldId id="639" r:id="rId76"/>
    <p:sldId id="636" r:id="rId77"/>
    <p:sldId id="638" r:id="rId78"/>
    <p:sldId id="555" r:id="rId79"/>
    <p:sldId id="422" r:id="rId80"/>
    <p:sldId id="423" r:id="rId81"/>
    <p:sldId id="424" r:id="rId82"/>
    <p:sldId id="618" r:id="rId83"/>
    <p:sldId id="360" r:id="rId84"/>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1" autoAdjust="0"/>
    <p:restoredTop sz="94726" autoAdjust="0"/>
  </p:normalViewPr>
  <p:slideViewPr>
    <p:cSldViewPr>
      <p:cViewPr varScale="1">
        <p:scale>
          <a:sx n="116" d="100"/>
          <a:sy n="116" d="100"/>
        </p:scale>
        <p:origin x="2280" y="17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1AFED6A0-2A9B-4C82-8258-9F5447D6753D}" type="datetimeFigureOut">
              <a:rPr lang="en-US" smtClean="0"/>
              <a:pPr/>
              <a:t>6/10/26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32193B70-1FBA-4BF1-827B-3C58AADF11E5}" type="slidenum">
              <a:rPr lang="en-US" smtClean="0"/>
              <a:pPr/>
              <a:t>‹#›</a:t>
            </a:fld>
            <a:endParaRPr lang="en-US" dirty="0"/>
          </a:p>
        </p:txBody>
      </p:sp>
    </p:spTree>
    <p:extLst>
      <p:ext uri="{BB962C8B-B14F-4D97-AF65-F5344CB8AC3E}">
        <p14:creationId xmlns:p14="http://schemas.microsoft.com/office/powerpoint/2010/main" val="96225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6</a:t>
            </a:fld>
            <a:endParaRPr lang="en-US" dirty="0"/>
          </a:p>
        </p:txBody>
      </p:sp>
    </p:spTree>
    <p:extLst>
      <p:ext uri="{BB962C8B-B14F-4D97-AF65-F5344CB8AC3E}">
        <p14:creationId xmlns:p14="http://schemas.microsoft.com/office/powerpoint/2010/main" val="3939492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7</a:t>
            </a:fld>
            <a:endParaRPr lang="en-US" dirty="0"/>
          </a:p>
        </p:txBody>
      </p:sp>
    </p:spTree>
    <p:extLst>
      <p:ext uri="{BB962C8B-B14F-4D97-AF65-F5344CB8AC3E}">
        <p14:creationId xmlns:p14="http://schemas.microsoft.com/office/powerpoint/2010/main" val="4150970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14</a:t>
            </a:fld>
            <a:endParaRPr lang="en-US" dirty="0"/>
          </a:p>
        </p:txBody>
      </p:sp>
    </p:spTree>
    <p:extLst>
      <p:ext uri="{BB962C8B-B14F-4D97-AF65-F5344CB8AC3E}">
        <p14:creationId xmlns:p14="http://schemas.microsoft.com/office/powerpoint/2010/main" val="1639984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16</a:t>
            </a:fld>
            <a:endParaRPr lang="en-US" dirty="0"/>
          </a:p>
        </p:txBody>
      </p:sp>
    </p:spTree>
    <p:extLst>
      <p:ext uri="{BB962C8B-B14F-4D97-AF65-F5344CB8AC3E}">
        <p14:creationId xmlns:p14="http://schemas.microsoft.com/office/powerpoint/2010/main" val="1891300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17</a:t>
            </a:fld>
            <a:endParaRPr lang="en-US" dirty="0"/>
          </a:p>
        </p:txBody>
      </p:sp>
    </p:spTree>
    <p:extLst>
      <p:ext uri="{BB962C8B-B14F-4D97-AF65-F5344CB8AC3E}">
        <p14:creationId xmlns:p14="http://schemas.microsoft.com/office/powerpoint/2010/main" val="577331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18</a:t>
            </a:fld>
            <a:endParaRPr lang="en-US" dirty="0"/>
          </a:p>
        </p:txBody>
      </p:sp>
    </p:spTree>
    <p:extLst>
      <p:ext uri="{BB962C8B-B14F-4D97-AF65-F5344CB8AC3E}">
        <p14:creationId xmlns:p14="http://schemas.microsoft.com/office/powerpoint/2010/main" val="2573023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21</a:t>
            </a:fld>
            <a:endParaRPr lang="en-US" dirty="0"/>
          </a:p>
        </p:txBody>
      </p:sp>
    </p:spTree>
    <p:extLst>
      <p:ext uri="{BB962C8B-B14F-4D97-AF65-F5344CB8AC3E}">
        <p14:creationId xmlns:p14="http://schemas.microsoft.com/office/powerpoint/2010/main" val="2573023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22</a:t>
            </a:fld>
            <a:endParaRPr lang="en-US" dirty="0"/>
          </a:p>
        </p:txBody>
      </p:sp>
    </p:spTree>
    <p:extLst>
      <p:ext uri="{BB962C8B-B14F-4D97-AF65-F5344CB8AC3E}">
        <p14:creationId xmlns:p14="http://schemas.microsoft.com/office/powerpoint/2010/main" val="2573023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193B70-1FBA-4BF1-827B-3C58AADF11E5}" type="slidenum">
              <a:rPr lang="en-US" smtClean="0"/>
              <a:pPr/>
              <a:t>29</a:t>
            </a:fld>
            <a:endParaRPr lang="en-US" dirty="0"/>
          </a:p>
        </p:txBody>
      </p:sp>
    </p:spTree>
    <p:extLst>
      <p:ext uri="{BB962C8B-B14F-4D97-AF65-F5344CB8AC3E}">
        <p14:creationId xmlns:p14="http://schemas.microsoft.com/office/powerpoint/2010/main" val="2573023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40</a:t>
            </a:fld>
            <a:endParaRPr lang="en-US" dirty="0"/>
          </a:p>
        </p:txBody>
      </p:sp>
    </p:spTree>
    <p:extLst>
      <p:ext uri="{BB962C8B-B14F-4D97-AF65-F5344CB8AC3E}">
        <p14:creationId xmlns:p14="http://schemas.microsoft.com/office/powerpoint/2010/main" val="884832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60</a:t>
            </a:fld>
            <a:endParaRPr lang="en-US" dirty="0"/>
          </a:p>
        </p:txBody>
      </p:sp>
    </p:spTree>
    <p:extLst>
      <p:ext uri="{BB962C8B-B14F-4D97-AF65-F5344CB8AC3E}">
        <p14:creationId xmlns:p14="http://schemas.microsoft.com/office/powerpoint/2010/main" val="3614919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62</a:t>
            </a:fld>
            <a:endParaRPr lang="en-US" dirty="0"/>
          </a:p>
        </p:txBody>
      </p:sp>
    </p:spTree>
    <p:extLst>
      <p:ext uri="{BB962C8B-B14F-4D97-AF65-F5344CB8AC3E}">
        <p14:creationId xmlns:p14="http://schemas.microsoft.com/office/powerpoint/2010/main" val="22733222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193B70-1FBA-4BF1-827B-3C58AADF11E5}" type="slidenum">
              <a:rPr lang="en-US" smtClean="0"/>
              <a:pPr/>
              <a:t>79</a:t>
            </a:fld>
            <a:endParaRPr lang="en-US" dirty="0"/>
          </a:p>
        </p:txBody>
      </p:sp>
    </p:spTree>
    <p:extLst>
      <p:ext uri="{BB962C8B-B14F-4D97-AF65-F5344CB8AC3E}">
        <p14:creationId xmlns:p14="http://schemas.microsoft.com/office/powerpoint/2010/main" val="3121058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B135A08-A941-47E8-980B-0C67B48B8B60}" type="datetime1">
              <a:rPr lang="en-US" smtClean="0"/>
              <a:pPr/>
              <a:t>6/10/26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75488"/>
          </a:xfrm>
        </p:spPr>
        <p:txBody>
          <a:bodyPr>
            <a:normAutofit/>
          </a:bodyPr>
          <a:lstStyle>
            <a:lvl1pPr>
              <a:defRPr sz="3200" b="1"/>
            </a:lvl1pPr>
          </a:lstStyle>
          <a:p>
            <a:r>
              <a:rPr kumimoji="0" lang="en-US"/>
              <a:t>Click to edit Master title style</a:t>
            </a:r>
          </a:p>
        </p:txBody>
      </p:sp>
      <p:sp>
        <p:nvSpPr>
          <p:cNvPr id="3" name="Content Placeholder 2"/>
          <p:cNvSpPr>
            <a:spLocks noGrp="1"/>
          </p:cNvSpPr>
          <p:nvPr>
            <p:ph idx="1"/>
          </p:nvPr>
        </p:nvSpPr>
        <p:spPr>
          <a:xfrm>
            <a:off x="457200" y="1249680"/>
            <a:ext cx="8229600" cy="438912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3530B5F-47C6-4DBB-B756-C623F13B76A5}" type="datetime1">
              <a:rPr lang="en-US" smtClean="0"/>
              <a:pPr/>
              <a:t>6/10/26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FDDC656-64BE-4604-AC2E-086C336BC315}" type="datetime1">
              <a:rPr lang="en-US" smtClean="0"/>
              <a:pPr/>
              <a:t>6/10/26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27888"/>
          </a:xfrm>
        </p:spPr>
        <p:txBody>
          <a:bodyPr/>
          <a:lstStyle/>
          <a:p>
            <a:r>
              <a:rPr kumimoji="0" lang="en-US" dirty="0"/>
              <a:t>Click to edit Master title style</a:t>
            </a:r>
          </a:p>
        </p:txBody>
      </p:sp>
      <p:sp>
        <p:nvSpPr>
          <p:cNvPr id="3" name="Content Placeholder 2"/>
          <p:cNvSpPr>
            <a:spLocks noGrp="1"/>
          </p:cNvSpPr>
          <p:nvPr>
            <p:ph sz="half" idx="1"/>
          </p:nvPr>
        </p:nvSpPr>
        <p:spPr>
          <a:xfrm>
            <a:off x="457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356360"/>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BB0D293-D1DD-4D8D-BA40-016A26FC25B4}" type="datetime1">
              <a:rPr lang="en-US" smtClean="0"/>
              <a:pPr/>
              <a:t>6/10/26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51688"/>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28612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29063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94548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94548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8DE278D-C272-4A19-90DF-E7B4F1583077}" type="datetime1">
              <a:rPr lang="en-US" smtClean="0"/>
              <a:pPr/>
              <a:t>6/10/26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C906D93A-8790-407E-966B-CDC69F6431C7}" type="datetime1">
              <a:rPr lang="en-US" smtClean="0"/>
              <a:pPr/>
              <a:t>6/10/26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26F31C-6E57-4714-80DB-7584EB32BDBE}" type="datetime1">
              <a:rPr lang="en-US" smtClean="0"/>
              <a:pPr/>
              <a:t>6/10/26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936B705-7618-435E-90A4-10AD478F8AAF}" type="datetime1">
              <a:rPr lang="en-US" smtClean="0"/>
              <a:pPr/>
              <a:t>6/10/26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B45BA05-853E-42AE-BF9A-870A1D1380C2}" type="datetime1">
              <a:rPr lang="en-US" smtClean="0"/>
              <a:pPr/>
              <a:t>6/10/26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13977939-A071-43C1-9268-F54CC2756BB5}"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E73A3E9-4B8C-4762-9C73-5016B62FBE4A}" type="datetime1">
              <a:rPr lang="en-US" smtClean="0"/>
              <a:pPr/>
              <a:t>6/10/26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676DFD4-AFF6-4EC4-978D-94617FF7741D}" type="datetime1">
              <a:rPr lang="en-US" smtClean="0"/>
              <a:pPr/>
              <a:t>6/10/26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977939-A071-43C1-9268-F54CC2756BB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381000"/>
            <a:ext cx="8229600" cy="627888"/>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3258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7758603-0FE5-404F-A08E-0663569AC92D}" type="datetime1">
              <a:rPr lang="en-US" smtClean="0"/>
              <a:pPr/>
              <a:t>6/10/26</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977939-A071-43C1-9268-F54CC2756BB5}"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3200" b="1"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programmedlessons.org/Java9/index.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javatpoint.com/java-8-method-reference" TargetMode="External"/><Relationship Id="rId7" Type="http://schemas.openxmlformats.org/officeDocument/2006/relationships/hyperlink" Target="https://howtodoinjava.com/java8/java-streams-by-examples/" TargetMode="External"/><Relationship Id="rId2" Type="http://schemas.openxmlformats.org/officeDocument/2006/relationships/hyperlink" Target="https://howtodoinjava.com/java8/lambda-expressions/" TargetMode="External"/><Relationship Id="rId1" Type="http://schemas.openxmlformats.org/officeDocument/2006/relationships/slideLayout" Target="../slideLayouts/slideLayout2.xml"/><Relationship Id="rId6" Type="http://schemas.openxmlformats.org/officeDocument/2006/relationships/hyperlink" Target="http://tutorials.jenkov.com/java-functional-programming/streams.html#java-stream-definition" TargetMode="External"/><Relationship Id="rId5" Type="http://schemas.openxmlformats.org/officeDocument/2006/relationships/hyperlink" Target="https://examples.javacodegeeks.com/java-functional-interface-example/" TargetMode="External"/><Relationship Id="rId4" Type="http://schemas.openxmlformats.org/officeDocument/2006/relationships/hyperlink" Target="https://howtodoinjava.com/java8/lambda-method-references-exampl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java2s.com/Tutorial/Java/0120__Development/UsingJavasprintfMethod.ht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hyperlink" Target="http://www.tutorialspoint.com/java/util/random_nextint.htm" TargetMode="External"/><Relationship Id="rId3" Type="http://schemas.openxmlformats.org/officeDocument/2006/relationships/hyperlink" Target="http://www.tutorialspoint.com/java/util/random_nextbytes.htm" TargetMode="External"/><Relationship Id="rId7" Type="http://schemas.openxmlformats.org/officeDocument/2006/relationships/hyperlink" Target="http://www.javamex.com/tutorials/random_numbers/gaussian_distribution_2.shtml" TargetMode="External"/><Relationship Id="rId2" Type="http://schemas.openxmlformats.org/officeDocument/2006/relationships/hyperlink" Target="http://www.tutorialspoint.com/java/util/random_nextboolean.htm" TargetMode="External"/><Relationship Id="rId1" Type="http://schemas.openxmlformats.org/officeDocument/2006/relationships/slideLayout" Target="../slideLayouts/slideLayout2.xml"/><Relationship Id="rId6" Type="http://schemas.openxmlformats.org/officeDocument/2006/relationships/hyperlink" Target="http://www.tutorialspoint.com/java/util/random_nextgaussian.htm" TargetMode="External"/><Relationship Id="rId11" Type="http://schemas.openxmlformats.org/officeDocument/2006/relationships/hyperlink" Target="http://www.tutorialspoint.com/java/util/timezone_setseed.htm" TargetMode="External"/><Relationship Id="rId5" Type="http://schemas.openxmlformats.org/officeDocument/2006/relationships/hyperlink" Target="http://www.tutorialspoint.com/java/util/random_nextfloat.htm" TargetMode="External"/><Relationship Id="rId10" Type="http://schemas.openxmlformats.org/officeDocument/2006/relationships/hyperlink" Target="http://www.tutorialspoint.com/java/util/random_nextlong.htm" TargetMode="External"/><Relationship Id="rId4" Type="http://schemas.openxmlformats.org/officeDocument/2006/relationships/hyperlink" Target="http://www.tutorialspoint.com/java/util/random_nextdouble.htm" TargetMode="External"/><Relationship Id="rId9" Type="http://schemas.openxmlformats.org/officeDocument/2006/relationships/hyperlink" Target="http://www.tutorialspoint.com/java/util/random_nextint_inc_exc.htm"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828800"/>
          </a:xfrm>
        </p:spPr>
        <p:txBody>
          <a:bodyPr/>
          <a:lstStyle/>
          <a:p>
            <a:r>
              <a:rPr lang="en-US" dirty="0"/>
              <a:t>LESSON 2</a:t>
            </a:r>
          </a:p>
        </p:txBody>
      </p:sp>
      <p:sp>
        <p:nvSpPr>
          <p:cNvPr id="3" name="Subtitle 2"/>
          <p:cNvSpPr>
            <a:spLocks noGrp="1"/>
          </p:cNvSpPr>
          <p:nvPr>
            <p:ph type="subTitle" idx="1"/>
          </p:nvPr>
        </p:nvSpPr>
        <p:spPr>
          <a:xfrm>
            <a:off x="533400" y="3228536"/>
            <a:ext cx="7854696" cy="2943664"/>
          </a:xfrm>
        </p:spPr>
        <p:txBody>
          <a:bodyPr>
            <a:normAutofit fontScale="85000" lnSpcReduction="20000"/>
          </a:bodyPr>
          <a:lstStyle/>
          <a:p>
            <a:r>
              <a:rPr lang="en-US" dirty="0">
                <a:latin typeface="+mj-lt"/>
              </a:rPr>
              <a:t>Formatted Output and File IO</a:t>
            </a:r>
          </a:p>
          <a:p>
            <a:r>
              <a:rPr lang="en-US" dirty="0">
                <a:latin typeface="+mj-lt"/>
              </a:rPr>
              <a:t>Random class</a:t>
            </a:r>
          </a:p>
          <a:p>
            <a:r>
              <a:rPr lang="en-US" dirty="0">
                <a:latin typeface="+mj-lt"/>
              </a:rPr>
              <a:t>The ArrayList – A Generic</a:t>
            </a:r>
          </a:p>
          <a:p>
            <a:r>
              <a:rPr lang="en-US" dirty="0">
                <a:latin typeface="+mj-lt"/>
              </a:rPr>
              <a:t>Iterators</a:t>
            </a:r>
          </a:p>
          <a:p>
            <a:r>
              <a:rPr lang="en-US" dirty="0">
                <a:latin typeface="+mj-lt"/>
              </a:rPr>
              <a:t>  </a:t>
            </a:r>
          </a:p>
          <a:p>
            <a:r>
              <a:rPr lang="en-US" dirty="0">
                <a:latin typeface="+mj-lt"/>
              </a:rPr>
              <a:t>CSC  300</a:t>
            </a:r>
          </a:p>
          <a:p>
            <a:r>
              <a:rPr lang="en-US" dirty="0">
                <a:latin typeface="+mj-lt"/>
              </a:rPr>
              <a:t>Fall 2026</a:t>
            </a:r>
          </a:p>
          <a:p>
            <a:r>
              <a:rPr lang="en-US" dirty="0">
                <a:latin typeface="+mj-lt"/>
              </a:rPr>
              <a:t>Howard Rosenthal</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75488"/>
          </a:xfrm>
        </p:spPr>
        <p:txBody>
          <a:bodyPr>
            <a:noAutofit/>
          </a:bodyPr>
          <a:lstStyle/>
          <a:p>
            <a:r>
              <a:rPr lang="en-US" dirty="0"/>
              <a:t>Course References</a:t>
            </a:r>
          </a:p>
        </p:txBody>
      </p:sp>
      <p:sp>
        <p:nvSpPr>
          <p:cNvPr id="3" name="Content Placeholder 2"/>
          <p:cNvSpPr>
            <a:spLocks noGrp="1"/>
          </p:cNvSpPr>
          <p:nvPr>
            <p:ph idx="1"/>
          </p:nvPr>
        </p:nvSpPr>
        <p:spPr>
          <a:xfrm>
            <a:off x="304800" y="609600"/>
            <a:ext cx="8534400" cy="6106510"/>
          </a:xfrm>
        </p:spPr>
        <p:txBody>
          <a:bodyPr>
            <a:normAutofit fontScale="70000" lnSpcReduction="20000"/>
          </a:bodyPr>
          <a:lstStyle/>
          <a:p>
            <a:r>
              <a:rPr lang="en-US" dirty="0"/>
              <a:t>Materials for this course have utilized materials in the following documents.  Additional materials taken from web sites will be referenced when utilized.</a:t>
            </a:r>
          </a:p>
          <a:p>
            <a:pPr marL="514350" indent="-514350">
              <a:buFont typeface="+mj-lt"/>
              <a:buAutoNum type="arabicPeriod"/>
            </a:pPr>
            <a:r>
              <a:rPr lang="en-US" dirty="0">
                <a:hlinkClick r:id="rId2"/>
              </a:rPr>
              <a:t>http://www.programmedlessons.org/Java9/index.html</a:t>
            </a:r>
            <a:endParaRPr lang="en-US" dirty="0"/>
          </a:p>
          <a:p>
            <a:pPr marL="514350" indent="-514350">
              <a:buFont typeface="+mj-lt"/>
              <a:buAutoNum type="arabicPeriod"/>
            </a:pPr>
            <a:r>
              <a:rPr lang="en-US" dirty="0"/>
              <a:t>Anderson, Julie and Franceschi, Herve, Java Illuminated 5</a:t>
            </a:r>
            <a:r>
              <a:rPr lang="en-US" baseline="30000" dirty="0"/>
              <a:t>TH</a:t>
            </a:r>
            <a:r>
              <a:rPr lang="en-US" dirty="0"/>
              <a:t> Edition,, Jones and Bartlett, 2019</a:t>
            </a:r>
          </a:p>
          <a:p>
            <a:pPr marL="514350" indent="-514350">
              <a:buFont typeface="+mj-lt"/>
              <a:buAutoNum type="arabicPeriod"/>
            </a:pPr>
            <a:r>
              <a:rPr lang="en-US" dirty="0"/>
              <a:t>Bravaco, Ralph and Simonson, Shai, Java Programming From The Ground Up, McGraw Hill, 2010</a:t>
            </a:r>
          </a:p>
          <a:p>
            <a:pPr marL="514350" indent="-514350">
              <a:buFont typeface="+mj-lt"/>
              <a:buAutoNum type="arabicPeriod"/>
            </a:pPr>
            <a:r>
              <a:rPr lang="en-US" dirty="0"/>
              <a:t>Deitel, Paul and Deitel, Harvey, Java, How To Program, Early Objects, Eleventh Edition, Pearson Publishing, 2018</a:t>
            </a:r>
          </a:p>
          <a:p>
            <a:pPr marL="514350" indent="-514350">
              <a:buFont typeface="+mj-lt"/>
              <a:buAutoNum type="arabicPeriod"/>
            </a:pPr>
            <a:r>
              <a:rPr lang="en-US" dirty="0"/>
              <a:t>Gaddis, Tony, Starting Out With Objects From Control Structures Through Objects, Seventh Edition, Pearson Publishing, 2019</a:t>
            </a:r>
          </a:p>
          <a:p>
            <a:pPr marL="514350" indent="-514350">
              <a:buFont typeface="+mj-lt"/>
              <a:buAutoNum type="arabicPeriod"/>
            </a:pPr>
            <a:r>
              <a:rPr lang="en-US" dirty="0"/>
              <a:t>Horstmann, Cay, Core Java For The Impatient, Addison Wesley- Pearson Education, 2015</a:t>
            </a:r>
          </a:p>
          <a:p>
            <a:pPr marL="514350" indent="-514350">
              <a:buFont typeface="+mj-lt"/>
              <a:buAutoNum type="arabicPeriod"/>
            </a:pPr>
            <a:r>
              <a:rPr lang="en-US" dirty="0"/>
              <a:t>Lecessi, Ralph, Functional Interfaces In Java, Apress, 2019</a:t>
            </a:r>
          </a:p>
          <a:p>
            <a:pPr marL="514350" indent="-514350">
              <a:buFont typeface="+mj-lt"/>
              <a:buAutoNum type="arabicPeriod"/>
            </a:pPr>
            <a:r>
              <a:rPr lang="en-US" dirty="0"/>
              <a:t>Naftalin, Maurice and Wadler, Philip, Java Generics and Collections, O’Reilly Media, 2007</a:t>
            </a:r>
          </a:p>
          <a:p>
            <a:pPr marL="514350" indent="-514350">
              <a:buFont typeface="+mj-lt"/>
              <a:buAutoNum type="arabicPeriod"/>
            </a:pPr>
            <a:r>
              <a:rPr lang="en-US" dirty="0"/>
              <a:t>Schmuller, Joseph, Teach Yourself UML In 24 Hours Second Edition, SAMS Publishing, 2002</a:t>
            </a:r>
          </a:p>
          <a:p>
            <a:pPr marL="514350" indent="-514350">
              <a:buFont typeface="+mj-lt"/>
              <a:buAutoNum type="arabicPeriod"/>
            </a:pPr>
            <a:r>
              <a:rPr lang="en-US" dirty="0"/>
              <a:t>Urma, Raoul-Gabriel, Fusco, Mario and Mycroft, Alan, Java 8 in Action: Lambdas, Streams, and Functional-Style Programming, Manning Publishing, Second Edition 2019</a:t>
            </a:r>
          </a:p>
          <a:p>
            <a:pPr marL="514350" indent="-514350">
              <a:buFont typeface="+mj-lt"/>
              <a:buAutoNum type="arabicPeriod"/>
            </a:pPr>
            <a:r>
              <a:rPr lang="en-US" dirty="0"/>
              <a:t>Wirfs-Brock, Rebecca, Wilkerson, Brian and Wiener, Laura, Designing Object-Oriented Software, Prentice Hall, 1990</a:t>
            </a:r>
          </a:p>
          <a:p>
            <a:pPr marL="514350" indent="-514350">
              <a:buFont typeface="+mj-lt"/>
              <a:buAutoNum type="arabicPeriod"/>
            </a:pPr>
            <a:r>
              <a:rPr lang="en-US" dirty="0"/>
              <a:t>Oracle On-Line Documentation and Tutorials, https://docs.oracle.com</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a:t>
            </a:fld>
            <a:endParaRPr lang="en-US" dirty="0"/>
          </a:p>
        </p:txBody>
      </p:sp>
    </p:spTree>
    <p:extLst>
      <p:ext uri="{BB962C8B-B14F-4D97-AF65-F5344CB8AC3E}">
        <p14:creationId xmlns:p14="http://schemas.microsoft.com/office/powerpoint/2010/main" val="62860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Links</a:t>
            </a:r>
          </a:p>
        </p:txBody>
      </p:sp>
      <p:sp>
        <p:nvSpPr>
          <p:cNvPr id="3" name="Content Placeholder 2"/>
          <p:cNvSpPr>
            <a:spLocks noGrp="1"/>
          </p:cNvSpPr>
          <p:nvPr>
            <p:ph idx="1"/>
          </p:nvPr>
        </p:nvSpPr>
        <p:spPr>
          <a:xfrm>
            <a:off x="457200" y="1249680"/>
            <a:ext cx="8382000" cy="5151120"/>
          </a:xfrm>
        </p:spPr>
        <p:txBody>
          <a:bodyPr>
            <a:normAutofit fontScale="85000" lnSpcReduction="20000"/>
          </a:bodyPr>
          <a:lstStyle/>
          <a:p>
            <a:r>
              <a:rPr lang="en-US" dirty="0">
                <a:hlinkClick r:id="rId2">
                  <a:extLst>
                    <a:ext uri="{A12FA001-AC4F-418D-AE19-62706E023703}">
                      <ahyp:hlinkClr xmlns:ahyp="http://schemas.microsoft.com/office/drawing/2018/hyperlinkcolor" val="tx"/>
                    </a:ext>
                  </a:extLst>
                </a:hlinkClick>
              </a:rPr>
              <a:t>https://howtodoinjava.com/java8/lambda-expressions/</a:t>
            </a:r>
            <a:endParaRPr lang="en-US" dirty="0"/>
          </a:p>
          <a:p>
            <a:r>
              <a:rPr lang="en-US" dirty="0">
                <a:hlinkClick r:id="rId3">
                  <a:extLst>
                    <a:ext uri="{A12FA001-AC4F-418D-AE19-62706E023703}">
                      <ahyp:hlinkClr xmlns:ahyp="http://schemas.microsoft.com/office/drawing/2018/hyperlinkcolor" val="tx"/>
                    </a:ext>
                  </a:extLst>
                </a:hlinkClick>
              </a:rPr>
              <a:t>https://www.javatpoint.com/java-8-method-reference</a:t>
            </a:r>
            <a:endParaRPr lang="en-US" dirty="0"/>
          </a:p>
          <a:p>
            <a:r>
              <a:rPr lang="en-US" dirty="0">
                <a:hlinkClick r:id="rId4">
                  <a:extLst>
                    <a:ext uri="{A12FA001-AC4F-418D-AE19-62706E023703}">
                      <ahyp:hlinkClr xmlns:ahyp="http://schemas.microsoft.com/office/drawing/2018/hyperlinkcolor" val="tx"/>
                    </a:ext>
                  </a:extLst>
                </a:hlinkClick>
              </a:rPr>
              <a:t>https://howtodoinjava.com/java8/lambda-method-references-example/</a:t>
            </a:r>
            <a:endParaRPr lang="en-US" dirty="0"/>
          </a:p>
          <a:p>
            <a:r>
              <a:rPr lang="en-US" dirty="0">
                <a:hlinkClick r:id="rId5">
                  <a:extLst>
                    <a:ext uri="{A12FA001-AC4F-418D-AE19-62706E023703}">
                      <ahyp:hlinkClr xmlns:ahyp="http://schemas.microsoft.com/office/drawing/2018/hyperlinkcolor" val="tx"/>
                    </a:ext>
                  </a:extLst>
                </a:hlinkClick>
              </a:rPr>
              <a:t>https://examples.javacodegeeks.com/java-functional-interface-example/</a:t>
            </a:r>
            <a:endParaRPr lang="en-US" dirty="0"/>
          </a:p>
          <a:p>
            <a:r>
              <a:rPr lang="en-US" dirty="0">
                <a:hlinkClick r:id="rId6">
                  <a:extLst>
                    <a:ext uri="{A12FA001-AC4F-418D-AE19-62706E023703}">
                      <ahyp:hlinkClr xmlns:ahyp="http://schemas.microsoft.com/office/drawing/2018/hyperlinkcolor" val="tx"/>
                    </a:ext>
                  </a:extLst>
                </a:hlinkClick>
              </a:rPr>
              <a:t>http://tutorials.jenkov.com/java-functional-programming/streams.html#java-stream-definition</a:t>
            </a:r>
            <a:endParaRPr lang="en-US" dirty="0"/>
          </a:p>
          <a:p>
            <a:r>
              <a:rPr lang="en-US" dirty="0">
                <a:hlinkClick r:id="rId7">
                  <a:extLst>
                    <a:ext uri="{A12FA001-AC4F-418D-AE19-62706E023703}">
                      <ahyp:hlinkClr xmlns:ahyp="http://schemas.microsoft.com/office/drawing/2018/hyperlinkcolor" val="tx"/>
                    </a:ext>
                  </a:extLst>
                </a:hlinkClick>
              </a:rPr>
              <a:t>https://howtodoinjava.com/java8/java-streams-by-examples/</a:t>
            </a:r>
            <a:endParaRPr lang="en-US" dirty="0"/>
          </a:p>
          <a:p>
            <a:pPr marL="0" indent="0">
              <a:buNone/>
            </a:pPr>
            <a:endParaRPr lang="en-US" dirty="0"/>
          </a:p>
          <a:p>
            <a:pPr marL="0" indent="0">
              <a:buNone/>
            </a:pPr>
            <a:endParaRPr lang="en-US" dirty="0"/>
          </a:p>
          <a:p>
            <a:pPr marL="0" indent="0">
              <a:buNone/>
            </a:pPr>
            <a:r>
              <a:rPr lang="en-US" dirty="0"/>
              <a:t>Significant Portions of  the following reference are used in this lesson:</a:t>
            </a:r>
          </a:p>
          <a:p>
            <a:pPr marL="0" indent="0">
              <a:buNone/>
            </a:pPr>
            <a:r>
              <a:rPr lang="en-US" dirty="0"/>
              <a:t>Urma, Raoul-Gabriel, Fusco, Mario and Mycroft, Alan, Java 8 in Action: Lambdas, Streams, and Functional-Style Programming, Manning Publishing, Second Edition 2019</a:t>
            </a:r>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a:t>
            </a:fld>
            <a:endParaRPr lang="en-US" dirty="0"/>
          </a:p>
        </p:txBody>
      </p:sp>
    </p:spTree>
    <p:extLst>
      <p:ext uri="{BB962C8B-B14F-4D97-AF65-F5344CB8AC3E}">
        <p14:creationId xmlns:p14="http://schemas.microsoft.com/office/powerpoint/2010/main" val="365053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Lesson Goals</a:t>
            </a:r>
          </a:p>
        </p:txBody>
      </p:sp>
      <p:sp>
        <p:nvSpPr>
          <p:cNvPr id="3" name="Content Placeholder 2"/>
          <p:cNvSpPr>
            <a:spLocks noGrp="1"/>
          </p:cNvSpPr>
          <p:nvPr>
            <p:ph idx="1"/>
          </p:nvPr>
        </p:nvSpPr>
        <p:spPr>
          <a:xfrm>
            <a:off x="457200" y="1249679"/>
            <a:ext cx="8229600" cy="5471795"/>
          </a:xfrm>
        </p:spPr>
        <p:txBody>
          <a:bodyPr>
            <a:normAutofit lnSpcReduction="10000"/>
          </a:bodyPr>
          <a:lstStyle/>
          <a:p>
            <a:r>
              <a:rPr lang="en-US" dirty="0"/>
              <a:t>Using the Scanner</a:t>
            </a:r>
          </a:p>
          <a:p>
            <a:r>
              <a:rPr lang="en-US" dirty="0"/>
              <a:t>Printing and Formatted Printing</a:t>
            </a:r>
          </a:p>
          <a:p>
            <a:r>
              <a:rPr lang="en-US" dirty="0"/>
              <a:t>Reading and writing from Files</a:t>
            </a:r>
          </a:p>
          <a:p>
            <a:pPr lvl="1"/>
            <a:r>
              <a:rPr lang="en-US" dirty="0"/>
              <a:t>The File Class – creating a File object</a:t>
            </a:r>
          </a:p>
          <a:p>
            <a:pPr lvl="2"/>
            <a:r>
              <a:rPr lang="en-US" dirty="0"/>
              <a:t>Review FileWriter for appending to files</a:t>
            </a:r>
          </a:p>
          <a:p>
            <a:pPr lvl="1"/>
            <a:r>
              <a:rPr lang="en-US" dirty="0"/>
              <a:t>Creating a Scanner object to read from a File Object</a:t>
            </a:r>
          </a:p>
          <a:p>
            <a:pPr lvl="1"/>
            <a:r>
              <a:rPr lang="en-US" dirty="0"/>
              <a:t>Creating a PrintWriter object to write to a File object</a:t>
            </a:r>
          </a:p>
          <a:p>
            <a:pPr lvl="1"/>
            <a:r>
              <a:rPr lang="en-US" dirty="0"/>
              <a:t>Creating a FileWriter object to allow appending to a file</a:t>
            </a:r>
          </a:p>
          <a:p>
            <a:r>
              <a:rPr lang="en-US" dirty="0"/>
              <a:t>Reviewing the Random class</a:t>
            </a:r>
          </a:p>
          <a:p>
            <a:r>
              <a:rPr lang="en-US" altLang="en-US" dirty="0"/>
              <a:t>The ArrayList as a generic class with a type parameter</a:t>
            </a:r>
          </a:p>
          <a:p>
            <a:pPr lvl="1"/>
            <a:r>
              <a:rPr lang="en-US" altLang="en-US" dirty="0"/>
              <a:t>Methods that are useful with an ArrayList</a:t>
            </a:r>
          </a:p>
          <a:p>
            <a:r>
              <a:rPr lang="en-US" altLang="en-US" dirty="0"/>
              <a:t>Understanding the Iterator and the enhanced for loop mechanisms</a:t>
            </a:r>
          </a:p>
          <a:p>
            <a:endParaRPr lang="en-US" dirty="0"/>
          </a:p>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46A5D-59BF-3D2C-BB1E-A24BC8DB11CF}"/>
              </a:ext>
            </a:extLst>
          </p:cNvPr>
          <p:cNvSpPr>
            <a:spLocks noGrp="1"/>
          </p:cNvSpPr>
          <p:nvPr>
            <p:ph type="body" idx="1"/>
          </p:nvPr>
        </p:nvSpPr>
        <p:spPr/>
        <p:txBody>
          <a:bodyPr/>
          <a:lstStyle/>
          <a:p>
            <a:r>
              <a:rPr lang="en-US" dirty="0"/>
              <a:t>Using The Scanner</a:t>
            </a:r>
          </a:p>
        </p:txBody>
      </p:sp>
      <p:sp>
        <p:nvSpPr>
          <p:cNvPr id="4" name="Slide Number Placeholder 3">
            <a:extLst>
              <a:ext uri="{FF2B5EF4-FFF2-40B4-BE49-F238E27FC236}">
                <a16:creationId xmlns:a16="http://schemas.microsoft.com/office/drawing/2014/main" id="{61479339-A475-3028-BA5E-32A42A4B620B}"/>
              </a:ext>
            </a:extLst>
          </p:cNvPr>
          <p:cNvSpPr>
            <a:spLocks noGrp="1"/>
          </p:cNvSpPr>
          <p:nvPr>
            <p:ph type="sldNum" sz="quarter" idx="12"/>
          </p:nvPr>
        </p:nvSpPr>
        <p:spPr/>
        <p:txBody>
          <a:bodyPr/>
          <a:lstStyle/>
          <a:p>
            <a:fld id="{13977939-A071-43C1-9268-F54CC2756BB5}" type="slidenum">
              <a:rPr lang="en-US" smtClean="0"/>
              <a:pPr/>
              <a:t>5</a:t>
            </a:fld>
            <a:endParaRPr lang="en-US" dirty="0"/>
          </a:p>
        </p:txBody>
      </p:sp>
    </p:spTree>
    <p:extLst>
      <p:ext uri="{BB962C8B-B14F-4D97-AF65-F5344CB8AC3E}">
        <p14:creationId xmlns:p14="http://schemas.microsoft.com/office/powerpoint/2010/main" val="460696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704088"/>
          </a:xfrm>
        </p:spPr>
        <p:txBody>
          <a:bodyPr>
            <a:normAutofit/>
          </a:bodyPr>
          <a:lstStyle/>
          <a:p>
            <a:r>
              <a:rPr lang="en-US" sz="3200" dirty="0"/>
              <a:t>Obtaining Input Data Using Scanner</a:t>
            </a:r>
          </a:p>
        </p:txBody>
      </p:sp>
      <p:sp>
        <p:nvSpPr>
          <p:cNvPr id="3" name="Content Placeholder 2"/>
          <p:cNvSpPr>
            <a:spLocks noGrp="1"/>
          </p:cNvSpPr>
          <p:nvPr>
            <p:ph idx="1"/>
          </p:nvPr>
        </p:nvSpPr>
        <p:spPr>
          <a:xfrm>
            <a:off x="457200" y="1313689"/>
            <a:ext cx="8229600" cy="5407786"/>
          </a:xfrm>
        </p:spPr>
        <p:txBody>
          <a:bodyPr>
            <a:normAutofit fontScale="85000" lnSpcReduction="20000"/>
          </a:bodyPr>
          <a:lstStyle/>
          <a:p>
            <a:r>
              <a:rPr lang="en-US" dirty="0"/>
              <a:t>Scanner is a class.</a:t>
            </a:r>
          </a:p>
          <a:p>
            <a:r>
              <a:rPr lang="en-US" dirty="0"/>
              <a:t>You must include the following statement to use the class to create a Scanner object:</a:t>
            </a:r>
          </a:p>
          <a:p>
            <a:pPr>
              <a:buNone/>
            </a:pPr>
            <a:r>
              <a:rPr lang="en-US" dirty="0"/>
              <a:t>	  </a:t>
            </a:r>
            <a:r>
              <a:rPr lang="en-US" dirty="0">
                <a:solidFill>
                  <a:srgbClr val="FF0000"/>
                </a:solidFill>
              </a:rPr>
              <a:t>import java.util.Scanner; </a:t>
            </a:r>
            <a:r>
              <a:rPr lang="en-US" dirty="0"/>
              <a:t>or import java.util.*;</a:t>
            </a:r>
          </a:p>
          <a:p>
            <a:pPr lvl="1"/>
            <a:r>
              <a:rPr lang="en-US" dirty="0"/>
              <a:t>You are importing a class with all it’s methods that can then be used to create objects</a:t>
            </a:r>
          </a:p>
          <a:p>
            <a:r>
              <a:rPr lang="en-US" dirty="0"/>
              <a:t>Declare a Scanner object variable and create an object:</a:t>
            </a:r>
          </a:p>
          <a:p>
            <a:pPr>
              <a:buNone/>
            </a:pPr>
            <a:r>
              <a:rPr lang="en-US" dirty="0"/>
              <a:t>Scanner </a:t>
            </a:r>
            <a:r>
              <a:rPr lang="en-US" i="1" dirty="0"/>
              <a:t>scannerName</a:t>
            </a:r>
            <a:r>
              <a:rPr lang="en-US" dirty="0"/>
              <a:t> = </a:t>
            </a:r>
            <a:r>
              <a:rPr lang="en-US" dirty="0">
                <a:solidFill>
                  <a:srgbClr val="FF0000"/>
                </a:solidFill>
              </a:rPr>
              <a:t>new</a:t>
            </a:r>
            <a:r>
              <a:rPr lang="en-US" dirty="0"/>
              <a:t> Scanner (System.in);</a:t>
            </a:r>
          </a:p>
          <a:p>
            <a:pPr lvl="1"/>
            <a:r>
              <a:rPr lang="en-US" dirty="0"/>
              <a:t>new means you are creating a new object – new is a reserved word</a:t>
            </a:r>
          </a:p>
          <a:p>
            <a:pPr lvl="1"/>
            <a:r>
              <a:rPr lang="en-US" dirty="0"/>
              <a:t>System.in is a variable that tell the Java program that this input stream is coming from the keyboard</a:t>
            </a:r>
          </a:p>
          <a:p>
            <a:r>
              <a:rPr lang="en-US" dirty="0"/>
              <a:t>You can now access seven types of primitive input: byte, short, int, long, double, float and boolean using predefined methods associated with the Scanner class</a:t>
            </a:r>
          </a:p>
          <a:p>
            <a:pPr lvl="1"/>
            <a:r>
              <a:rPr lang="en-US" dirty="0"/>
              <a:t>A Scanner object doesn’t read characters</a:t>
            </a:r>
          </a:p>
          <a:p>
            <a:pPr lvl="1"/>
            <a:r>
              <a:rPr lang="en-US" dirty="0"/>
              <a:t>The </a:t>
            </a:r>
            <a:r>
              <a:rPr lang="en-US" i="1" dirty="0"/>
              <a:t>scannerName </a:t>
            </a:r>
            <a:r>
              <a:rPr lang="en-US" dirty="0"/>
              <a:t>is just another variable name</a:t>
            </a:r>
          </a:p>
          <a:p>
            <a:pPr lvl="2"/>
            <a:r>
              <a:rPr lang="en-US" dirty="0"/>
              <a:t>It contains an address which refers to the Scanner object you have created</a:t>
            </a:r>
          </a:p>
        </p:txBody>
      </p:sp>
      <p:sp>
        <p:nvSpPr>
          <p:cNvPr id="4" name="Slide Number Placeholder 3"/>
          <p:cNvSpPr>
            <a:spLocks noGrp="1"/>
          </p:cNvSpPr>
          <p:nvPr>
            <p:ph type="sldNum" sz="quarter" idx="12"/>
          </p:nvPr>
        </p:nvSpPr>
        <p:spPr/>
        <p:txBody>
          <a:bodyPr/>
          <a:lstStyle/>
          <a:p>
            <a:fld id="{13977939-A071-43C1-9268-F54CC2756BB5}" type="slidenum">
              <a:rPr lang="en-US" smtClean="0"/>
              <a:pPr/>
              <a:t>6</a:t>
            </a:fld>
            <a:endParaRPr lang="en-US" dirty="0"/>
          </a:p>
        </p:txBody>
      </p:sp>
    </p:spTree>
    <p:extLst>
      <p:ext uri="{BB962C8B-B14F-4D97-AF65-F5344CB8AC3E}">
        <p14:creationId xmlns:p14="http://schemas.microsoft.com/office/powerpoint/2010/main" val="29793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704088"/>
          </a:xfrm>
        </p:spPr>
        <p:txBody>
          <a:bodyPr>
            <a:normAutofit fontScale="90000"/>
          </a:bodyPr>
          <a:lstStyle/>
          <a:p>
            <a:r>
              <a:rPr lang="en-US" sz="3200" dirty="0"/>
              <a:t>There are 7 Input Methods Available For Primitive Data Types</a:t>
            </a:r>
          </a:p>
        </p:txBody>
      </p:sp>
      <p:sp>
        <p:nvSpPr>
          <p:cNvPr id="3" name="Content Placeholder 2"/>
          <p:cNvSpPr>
            <a:spLocks noGrp="1"/>
          </p:cNvSpPr>
          <p:nvPr>
            <p:ph idx="1"/>
          </p:nvPr>
        </p:nvSpPr>
        <p:spPr>
          <a:xfrm>
            <a:off x="457200" y="1447800"/>
            <a:ext cx="8229600" cy="4389120"/>
          </a:xfrm>
        </p:spPr>
        <p:txBody>
          <a:bodyPr>
            <a:normAutofit fontScale="70000" lnSpcReduction="20000"/>
          </a:bodyPr>
          <a:lstStyle/>
          <a:p>
            <a:pPr>
              <a:buNone/>
            </a:pPr>
            <a:r>
              <a:rPr lang="en-US" i="1" dirty="0"/>
              <a:t>scannerName.nextByte()</a:t>
            </a:r>
          </a:p>
          <a:p>
            <a:pPr>
              <a:buNone/>
            </a:pPr>
            <a:r>
              <a:rPr lang="en-US" i="1" dirty="0"/>
              <a:t>scannerName</a:t>
            </a:r>
            <a:r>
              <a:rPr lang="en-US" dirty="0"/>
              <a:t>.nextShort()</a:t>
            </a:r>
          </a:p>
          <a:p>
            <a:pPr>
              <a:buNone/>
            </a:pPr>
            <a:r>
              <a:rPr lang="en-US" i="1" dirty="0"/>
              <a:t>scannerName</a:t>
            </a:r>
            <a:r>
              <a:rPr lang="en-US" dirty="0"/>
              <a:t>.nextInt()</a:t>
            </a:r>
          </a:p>
          <a:p>
            <a:pPr>
              <a:buNone/>
            </a:pPr>
            <a:r>
              <a:rPr lang="en-US" i="1" dirty="0"/>
              <a:t>scannerName</a:t>
            </a:r>
            <a:r>
              <a:rPr lang="en-US" dirty="0"/>
              <a:t>.nextLong()</a:t>
            </a:r>
          </a:p>
          <a:p>
            <a:pPr>
              <a:buNone/>
            </a:pPr>
            <a:r>
              <a:rPr lang="en-US" i="1" dirty="0"/>
              <a:t>scannerName</a:t>
            </a:r>
            <a:r>
              <a:rPr lang="en-US" dirty="0"/>
              <a:t>.nextDouble()</a:t>
            </a:r>
          </a:p>
          <a:p>
            <a:pPr>
              <a:buNone/>
            </a:pPr>
            <a:r>
              <a:rPr lang="en-US" i="1" dirty="0"/>
              <a:t>scannerName</a:t>
            </a:r>
            <a:r>
              <a:rPr lang="en-US" dirty="0"/>
              <a:t>.nextFloat()</a:t>
            </a:r>
          </a:p>
          <a:p>
            <a:pPr>
              <a:buNone/>
            </a:pPr>
            <a:r>
              <a:rPr lang="en-US" i="1" dirty="0"/>
              <a:t>scannerName</a:t>
            </a:r>
            <a:r>
              <a:rPr lang="en-US" dirty="0"/>
              <a:t>.nextBoolean()</a:t>
            </a:r>
          </a:p>
          <a:p>
            <a:pPr>
              <a:buNone/>
            </a:pPr>
            <a:endParaRPr lang="en-US" dirty="0"/>
          </a:p>
          <a:p>
            <a:pPr>
              <a:buNone/>
            </a:pPr>
            <a:r>
              <a:rPr lang="en-US" dirty="0"/>
              <a:t>Note: the type names are capitalized in these methods</a:t>
            </a:r>
          </a:p>
          <a:p>
            <a:pPr>
              <a:buNone/>
            </a:pPr>
            <a:r>
              <a:rPr lang="en-US" dirty="0"/>
              <a:t>Note: There is no way to directly input a char with a Scanner object</a:t>
            </a:r>
          </a:p>
          <a:p>
            <a:pPr>
              <a:buNone/>
            </a:pPr>
            <a:endParaRPr lang="en-US" dirty="0"/>
          </a:p>
          <a:p>
            <a:pPr>
              <a:buNone/>
            </a:pPr>
            <a:r>
              <a:rPr lang="en-US" dirty="0"/>
              <a:t>What you are looking at above is the standard way objects access methods:</a:t>
            </a:r>
          </a:p>
          <a:p>
            <a:pPr>
              <a:buNone/>
            </a:pPr>
            <a:endParaRPr lang="en-US" dirty="0"/>
          </a:p>
          <a:p>
            <a:pPr>
              <a:buNone/>
            </a:pPr>
            <a:r>
              <a:rPr lang="en-US" dirty="0"/>
              <a:t>objectname.method(par1, par2, …)</a:t>
            </a:r>
          </a:p>
          <a:p>
            <a:pPr>
              <a:buFontTx/>
              <a:buChar char="-"/>
            </a:pPr>
            <a:r>
              <a:rPr lang="en-US" dirty="0"/>
              <a:t>There are no parameters required for the Scanner methods</a:t>
            </a:r>
          </a:p>
        </p:txBody>
      </p:sp>
      <p:sp>
        <p:nvSpPr>
          <p:cNvPr id="4" name="Slide Number Placeholder 3"/>
          <p:cNvSpPr>
            <a:spLocks noGrp="1"/>
          </p:cNvSpPr>
          <p:nvPr>
            <p:ph type="sldNum" sz="quarter" idx="12"/>
          </p:nvPr>
        </p:nvSpPr>
        <p:spPr/>
        <p:txBody>
          <a:bodyPr/>
          <a:lstStyle/>
          <a:p>
            <a:fld id="{13977939-A071-43C1-9268-F54CC2756BB5}" type="slidenum">
              <a:rPr lang="en-US" smtClean="0"/>
              <a:pPr/>
              <a:t>7</a:t>
            </a:fld>
            <a:endParaRPr lang="en-US" dirty="0"/>
          </a:p>
        </p:txBody>
      </p:sp>
    </p:spTree>
    <p:extLst>
      <p:ext uri="{BB962C8B-B14F-4D97-AF65-F5344CB8AC3E}">
        <p14:creationId xmlns:p14="http://schemas.microsoft.com/office/powerpoint/2010/main" val="428467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915400" cy="780288"/>
          </a:xfrm>
        </p:spPr>
        <p:txBody>
          <a:bodyPr>
            <a:noAutofit/>
          </a:bodyPr>
          <a:lstStyle/>
          <a:p>
            <a:r>
              <a:rPr lang="en-US" sz="3200" b="1" dirty="0"/>
              <a:t>A Scanner Object Is Created From The Scanner Class</a:t>
            </a:r>
          </a:p>
        </p:txBody>
      </p:sp>
      <p:sp>
        <p:nvSpPr>
          <p:cNvPr id="3" name="Slide Number Placeholder 2"/>
          <p:cNvSpPr>
            <a:spLocks noGrp="1"/>
          </p:cNvSpPr>
          <p:nvPr>
            <p:ph type="sldNum" sz="quarter" idx="12"/>
          </p:nvPr>
        </p:nvSpPr>
        <p:spPr/>
        <p:txBody>
          <a:bodyPr/>
          <a:lstStyle/>
          <a:p>
            <a:fld id="{13977939-A071-43C1-9268-F54CC2756BB5}" type="slidenum">
              <a:rPr lang="en-US" smtClean="0"/>
              <a:pPr/>
              <a:t>8</a:t>
            </a:fld>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3511984738"/>
              </p:ext>
            </p:extLst>
          </p:nvPr>
        </p:nvGraphicFramePr>
        <p:xfrm>
          <a:off x="2895600" y="1971041"/>
          <a:ext cx="2286000" cy="45720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tblGrid>
              <a:tr h="370840">
                <a:tc>
                  <a:txBody>
                    <a:bodyPr/>
                    <a:lstStyle/>
                    <a:p>
                      <a:r>
                        <a:rPr lang="en-US" dirty="0"/>
                        <a:t>Name0f</a:t>
                      </a:r>
                      <a:r>
                        <a:rPr lang="en-US" baseline="0" dirty="0"/>
                        <a:t> input file</a:t>
                      </a:r>
                    </a:p>
                    <a:p>
                      <a:r>
                        <a:rPr lang="en-US" baseline="0" dirty="0"/>
                        <a:t>(System.in)</a:t>
                      </a:r>
                      <a:endParaRPr lang="en-US" dirty="0"/>
                    </a:p>
                  </a:txBody>
                  <a:tcPr/>
                </a:tc>
                <a:extLst>
                  <a:ext uri="{0D108BD9-81ED-4DB2-BD59-A6C34878D82A}">
                    <a16:rowId xmlns:a16="http://schemas.microsoft.com/office/drawing/2014/main" val="10000"/>
                  </a:ext>
                </a:extLst>
              </a:tr>
              <a:tr h="370840">
                <a:tc>
                  <a:txBody>
                    <a:bodyPr/>
                    <a:lstStyle/>
                    <a:p>
                      <a:r>
                        <a:rPr lang="en-US" dirty="0"/>
                        <a:t>Constructor</a:t>
                      </a:r>
                      <a:r>
                        <a:rPr lang="en-US" baseline="0" dirty="0"/>
                        <a:t> –used to create object</a:t>
                      </a:r>
                      <a:endParaRPr lang="en-US" dirty="0"/>
                    </a:p>
                  </a:txBody>
                  <a:tcPr/>
                </a:tc>
                <a:extLst>
                  <a:ext uri="{0D108BD9-81ED-4DB2-BD59-A6C34878D82A}">
                    <a16:rowId xmlns:a16="http://schemas.microsoft.com/office/drawing/2014/main" val="10001"/>
                  </a:ext>
                </a:extLst>
              </a:tr>
              <a:tr h="370840">
                <a:tc>
                  <a:txBody>
                    <a:bodyPr/>
                    <a:lstStyle/>
                    <a:p>
                      <a:r>
                        <a:rPr lang="en-US" sz="1400" dirty="0"/>
                        <a:t>Methods</a:t>
                      </a:r>
                    </a:p>
                    <a:p>
                      <a:r>
                        <a:rPr lang="en-US" sz="1400" dirty="0"/>
                        <a:t>nextByte()</a:t>
                      </a:r>
                    </a:p>
                    <a:p>
                      <a:r>
                        <a:rPr lang="en-US" sz="1400" dirty="0"/>
                        <a:t>nextShort()</a:t>
                      </a:r>
                    </a:p>
                    <a:p>
                      <a:r>
                        <a:rPr lang="en-US" sz="1400" dirty="0"/>
                        <a:t>nextInt()</a:t>
                      </a:r>
                    </a:p>
                    <a:p>
                      <a:r>
                        <a:rPr lang="en-US" sz="1400" dirty="0"/>
                        <a:t>nextLong()</a:t>
                      </a:r>
                    </a:p>
                    <a:p>
                      <a:r>
                        <a:rPr lang="en-US" sz="1400" dirty="0"/>
                        <a:t>nextFloat()</a:t>
                      </a:r>
                    </a:p>
                    <a:p>
                      <a:r>
                        <a:rPr lang="en-US" sz="1400" dirty="0"/>
                        <a:t>nextDouble()</a:t>
                      </a:r>
                    </a:p>
                    <a:p>
                      <a:r>
                        <a:rPr lang="en-US" sz="1400" dirty="0"/>
                        <a:t>nextBoolean()</a:t>
                      </a:r>
                    </a:p>
                    <a:p>
                      <a:r>
                        <a:rPr lang="en-US" sz="1400" dirty="0"/>
                        <a:t>next()</a:t>
                      </a:r>
                    </a:p>
                    <a:p>
                      <a:r>
                        <a:rPr lang="en-US" sz="1400" dirty="0"/>
                        <a:t>nextLine()</a:t>
                      </a:r>
                    </a:p>
                    <a:p>
                      <a:r>
                        <a:rPr lang="en-US" sz="1400" dirty="0"/>
                        <a:t>hasNext()</a:t>
                      </a:r>
                    </a:p>
                    <a:p>
                      <a:r>
                        <a:rPr lang="en-US" sz="1400" dirty="0"/>
                        <a:t>hasNextInt()</a:t>
                      </a:r>
                    </a:p>
                    <a:p>
                      <a:r>
                        <a:rPr lang="en-US" sz="1400" dirty="0"/>
                        <a:t>     o</a:t>
                      </a:r>
                    </a:p>
                    <a:p>
                      <a:r>
                        <a:rPr lang="en-US" sz="1400" dirty="0"/>
                        <a:t>     0</a:t>
                      </a:r>
                    </a:p>
                    <a:p>
                      <a:r>
                        <a:rPr lang="en-US" sz="1400" baseline="0" dirty="0"/>
                        <a:t>     0</a:t>
                      </a:r>
                      <a:endParaRPr lang="en-US" sz="1400" dirty="0"/>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1143000" y="1600200"/>
            <a:ext cx="1120820" cy="369332"/>
          </a:xfrm>
          <a:prstGeom prst="rect">
            <a:avLst/>
          </a:prstGeom>
          <a:noFill/>
        </p:spPr>
        <p:txBody>
          <a:bodyPr wrap="none" rtlCol="0">
            <a:spAutoFit/>
          </a:bodyPr>
          <a:lstStyle/>
          <a:p>
            <a:r>
              <a:rPr lang="en-US" dirty="0"/>
              <a:t>keyboard</a:t>
            </a:r>
          </a:p>
        </p:txBody>
      </p:sp>
      <p:sp>
        <p:nvSpPr>
          <p:cNvPr id="6" name="Curved Down Arrow 5"/>
          <p:cNvSpPr/>
          <p:nvPr/>
        </p:nvSpPr>
        <p:spPr>
          <a:xfrm rot="1390793">
            <a:off x="2014955" y="1116345"/>
            <a:ext cx="1155218" cy="629609"/>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870598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704088"/>
          </a:xfrm>
        </p:spPr>
        <p:txBody>
          <a:bodyPr>
            <a:normAutofit/>
          </a:bodyPr>
          <a:lstStyle/>
          <a:p>
            <a:r>
              <a:rPr lang="en-US" sz="3200" b="1" dirty="0"/>
              <a:t>The next() and nextLine() Methods (1)</a:t>
            </a:r>
          </a:p>
        </p:txBody>
      </p:sp>
      <p:sp>
        <p:nvSpPr>
          <p:cNvPr id="3" name="Content Placeholder 2"/>
          <p:cNvSpPr>
            <a:spLocks noGrp="1"/>
          </p:cNvSpPr>
          <p:nvPr>
            <p:ph idx="1"/>
          </p:nvPr>
        </p:nvSpPr>
        <p:spPr>
          <a:xfrm>
            <a:off x="457200" y="1447800"/>
            <a:ext cx="8229600" cy="5105400"/>
          </a:xfrm>
        </p:spPr>
        <p:txBody>
          <a:bodyPr>
            <a:normAutofit fontScale="85000" lnSpcReduction="20000"/>
          </a:bodyPr>
          <a:lstStyle/>
          <a:p>
            <a:r>
              <a:rPr lang="en-US" dirty="0"/>
              <a:t>next() reads in the next contiguous non-blank set of characters as a String</a:t>
            </a:r>
          </a:p>
          <a:p>
            <a:pPr lvl="1"/>
            <a:r>
              <a:rPr lang="en-US" dirty="0"/>
              <a:t>It works like the primitive methods, except that it reads in a String</a:t>
            </a:r>
          </a:p>
          <a:p>
            <a:r>
              <a:rPr lang="en-US" dirty="0"/>
              <a:t>nextLine() </a:t>
            </a:r>
          </a:p>
          <a:p>
            <a:pPr lvl="1"/>
            <a:r>
              <a:rPr lang="en-US" dirty="0"/>
              <a:t>Advances the Scanner to the beginning of the next line and returns a reference to a String object comprised of the characters that were read (or skipped if you wish) in the process, including whitespace, but not including the newline character</a:t>
            </a:r>
          </a:p>
          <a:p>
            <a:pPr marL="0" indent="0">
              <a:buNone/>
            </a:pPr>
            <a:r>
              <a:rPr lang="en-US" dirty="0"/>
              <a:t>   System.out.printf(“Enter message on one line: “);</a:t>
            </a:r>
          </a:p>
          <a:p>
            <a:pPr marL="0" indent="0">
              <a:buNone/>
            </a:pPr>
            <a:r>
              <a:rPr lang="en-US" dirty="0"/>
              <a:t>   String message = keyboard.nextLine();</a:t>
            </a:r>
          </a:p>
          <a:p>
            <a:pPr marL="0" indent="0">
              <a:buNone/>
            </a:pPr>
            <a:r>
              <a:rPr lang="en-US" dirty="0"/>
              <a:t>   System.out.printf(“Enter an integer in the range 0-25: ”);</a:t>
            </a:r>
          </a:p>
          <a:p>
            <a:pPr marL="0" indent="0">
              <a:buNone/>
            </a:pPr>
            <a:r>
              <a:rPr lang="en-US" dirty="0"/>
              <a:t>   int shift = keyboard.nextInt();</a:t>
            </a:r>
          </a:p>
          <a:p>
            <a:pPr marL="0" indent="0">
              <a:buNone/>
            </a:pPr>
            <a:r>
              <a:rPr lang="en-US" dirty="0"/>
              <a:t>If the inputs are:</a:t>
            </a:r>
          </a:p>
          <a:p>
            <a:pPr marL="0" indent="0">
              <a:buNone/>
            </a:pPr>
            <a:r>
              <a:rPr lang="en-US" dirty="0"/>
              <a:t>Cato</a:t>
            </a:r>
          </a:p>
          <a:p>
            <a:pPr marL="0" indent="0">
              <a:buNone/>
            </a:pPr>
            <a:r>
              <a:rPr lang="en-US" dirty="0"/>
              <a:t>8</a:t>
            </a:r>
          </a:p>
          <a:p>
            <a:pPr marL="0" indent="0">
              <a:buNone/>
            </a:pPr>
            <a:r>
              <a:rPr lang="en-US" dirty="0"/>
              <a:t>then message refers to Cato and shift gets the value 8.</a:t>
            </a:r>
          </a:p>
          <a:p>
            <a:endParaRPr lang="en-US" dirty="0"/>
          </a:p>
          <a:p>
            <a:pPr marL="393192" lvl="1"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9</a:t>
            </a:fld>
            <a:endParaRPr lang="en-US" dirty="0"/>
          </a:p>
        </p:txBody>
      </p:sp>
    </p:spTree>
    <p:extLst>
      <p:ext uri="{BB962C8B-B14F-4D97-AF65-F5344CB8AC3E}">
        <p14:creationId xmlns:p14="http://schemas.microsoft.com/office/powerpoint/2010/main" val="71744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04088"/>
          </a:xfrm>
        </p:spPr>
        <p:txBody>
          <a:bodyPr>
            <a:normAutofit/>
          </a:bodyPr>
          <a:lstStyle/>
          <a:p>
            <a:r>
              <a:rPr lang="en-US" sz="3200" b="1" dirty="0"/>
              <a:t>The nextLine() Method (2)</a:t>
            </a:r>
          </a:p>
        </p:txBody>
      </p:sp>
      <p:sp>
        <p:nvSpPr>
          <p:cNvPr id="3" name="Content Placeholder 2"/>
          <p:cNvSpPr>
            <a:spLocks noGrp="1"/>
          </p:cNvSpPr>
          <p:nvPr>
            <p:ph idx="1"/>
          </p:nvPr>
        </p:nvSpPr>
        <p:spPr>
          <a:xfrm>
            <a:off x="457200" y="762000"/>
            <a:ext cx="7848600" cy="6019799"/>
          </a:xfrm>
        </p:spPr>
        <p:txBody>
          <a:bodyPr>
            <a:normAutofit fontScale="92500" lnSpcReduction="10000"/>
          </a:bodyPr>
          <a:lstStyle/>
          <a:p>
            <a:r>
              <a:rPr lang="en-US" dirty="0"/>
              <a:t>However, if you reverse the process:</a:t>
            </a:r>
          </a:p>
          <a:p>
            <a:pPr marL="0" indent="0">
              <a:buNone/>
            </a:pPr>
            <a:r>
              <a:rPr lang="en-US" dirty="0"/>
              <a:t>   </a:t>
            </a:r>
            <a:r>
              <a:rPr lang="en-US" sz="2400" dirty="0"/>
              <a:t>System.out.printf(“Enter an integer in the range 0-25: ”);</a:t>
            </a:r>
          </a:p>
          <a:p>
            <a:pPr marL="0" indent="0">
              <a:buNone/>
            </a:pPr>
            <a:r>
              <a:rPr lang="en-US" sz="2400" dirty="0"/>
              <a:t>   int shift = keyboard.nextInt();</a:t>
            </a:r>
          </a:p>
          <a:p>
            <a:pPr marL="0" indent="0">
              <a:buNone/>
            </a:pPr>
            <a:r>
              <a:rPr lang="en-US" sz="2400" dirty="0"/>
              <a:t>   System.out.printf(“Enter message on one line: ”);</a:t>
            </a:r>
          </a:p>
          <a:p>
            <a:pPr marL="0" indent="0">
              <a:buNone/>
            </a:pPr>
            <a:r>
              <a:rPr lang="en-US" sz="2400" dirty="0"/>
              <a:t>   String message = keyboard.nextLine();</a:t>
            </a:r>
          </a:p>
          <a:p>
            <a:r>
              <a:rPr lang="en-US" dirty="0"/>
              <a:t>  The results are different:</a:t>
            </a:r>
          </a:p>
          <a:p>
            <a:pPr lvl="1"/>
            <a:r>
              <a:rPr lang="en-US" dirty="0"/>
              <a:t>In the second case once you read the 8 the Scanner still hasn’t moved to the next line </a:t>
            </a:r>
            <a:r>
              <a:rPr lang="mr-IN" dirty="0"/>
              <a:t>–</a:t>
            </a:r>
            <a:r>
              <a:rPr lang="en-US" dirty="0"/>
              <a:t> nextInt() doesn’t read one int and move to the next line</a:t>
            </a:r>
          </a:p>
          <a:p>
            <a:pPr lvl="2"/>
            <a:r>
              <a:rPr lang="en-US" dirty="0"/>
              <a:t>The nextLine() then sees nothing prior to the line return and returns an empty String</a:t>
            </a:r>
          </a:p>
          <a:p>
            <a:r>
              <a:rPr lang="en-US" dirty="0"/>
              <a:t>In this case using next instead of nextLine fixes the problem because next looks for a non-blank character</a:t>
            </a:r>
          </a:p>
          <a:p>
            <a:pPr lvl="1"/>
            <a:r>
              <a:rPr lang="en-US" dirty="0"/>
              <a:t>However, you must remember that next only reads from a non-blank character and stops when it hits a blank</a:t>
            </a:r>
          </a:p>
          <a:p>
            <a:pPr marL="0" indent="0">
              <a:buNone/>
            </a:pPr>
            <a:r>
              <a:rPr lang="en-US" dirty="0"/>
              <a:t>See </a:t>
            </a:r>
            <a:r>
              <a:rPr lang="en-US" dirty="0">
                <a:solidFill>
                  <a:srgbClr val="FF0000"/>
                </a:solidFill>
              </a:rPr>
              <a:t>NextLineTester.java</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10</a:t>
            </a:fld>
            <a:endParaRPr lang="en-US" dirty="0"/>
          </a:p>
        </p:txBody>
      </p:sp>
    </p:spTree>
    <p:extLst>
      <p:ext uri="{BB962C8B-B14F-4D97-AF65-F5344CB8AC3E}">
        <p14:creationId xmlns:p14="http://schemas.microsoft.com/office/powerpoint/2010/main" val="376511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04E02-5DEE-4D71-4CD6-FF38D4E7F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039C4C-5264-E040-FB34-A47DA0BA36C0}"/>
              </a:ext>
            </a:extLst>
          </p:cNvPr>
          <p:cNvSpPr>
            <a:spLocks noGrp="1"/>
          </p:cNvSpPr>
          <p:nvPr>
            <p:ph type="title"/>
          </p:nvPr>
        </p:nvSpPr>
        <p:spPr>
          <a:xfrm>
            <a:off x="381000" y="0"/>
            <a:ext cx="8229600" cy="704088"/>
          </a:xfrm>
        </p:spPr>
        <p:txBody>
          <a:bodyPr>
            <a:normAutofit/>
          </a:bodyPr>
          <a:lstStyle/>
          <a:p>
            <a:r>
              <a:rPr lang="en-US" sz="3200" b="1" dirty="0"/>
              <a:t>Using the split() method to parse a String</a:t>
            </a:r>
          </a:p>
        </p:txBody>
      </p:sp>
      <p:sp>
        <p:nvSpPr>
          <p:cNvPr id="3" name="Content Placeholder 2">
            <a:extLst>
              <a:ext uri="{FF2B5EF4-FFF2-40B4-BE49-F238E27FC236}">
                <a16:creationId xmlns:a16="http://schemas.microsoft.com/office/drawing/2014/main" id="{41FA7817-D6C2-AD99-B414-0BE330F7C6D7}"/>
              </a:ext>
            </a:extLst>
          </p:cNvPr>
          <p:cNvSpPr>
            <a:spLocks noGrp="1"/>
          </p:cNvSpPr>
          <p:nvPr>
            <p:ph idx="1"/>
          </p:nvPr>
        </p:nvSpPr>
        <p:spPr>
          <a:xfrm>
            <a:off x="304800" y="762000"/>
            <a:ext cx="8686800" cy="6019799"/>
          </a:xfrm>
        </p:spPr>
        <p:txBody>
          <a:bodyPr>
            <a:normAutofit fontScale="85000" lnSpcReduction="20000"/>
          </a:bodyPr>
          <a:lstStyle/>
          <a:p>
            <a:r>
              <a:rPr lang="en-US" dirty="0"/>
              <a:t>The String [] split(String delimiter(s), </a:t>
            </a:r>
            <a:r>
              <a:rPr lang="en-US" i="1" dirty="0"/>
              <a:t>int limit</a:t>
            </a:r>
            <a:r>
              <a:rPr lang="en-US" dirty="0"/>
              <a:t>) method allows you to split a String into multiple Strings placed into an array with a length equal to the number of splits</a:t>
            </a:r>
          </a:p>
          <a:p>
            <a:r>
              <a:rPr lang="en-US" dirty="0"/>
              <a:t>The pattern if can look like this</a:t>
            </a:r>
          </a:p>
          <a:p>
            <a:pPr lvl="1"/>
            <a:r>
              <a:rPr lang="en-US" dirty="0"/>
              <a:t>“ ” – a single space</a:t>
            </a:r>
          </a:p>
          <a:p>
            <a:pPr lvl="1"/>
            <a:r>
              <a:rPr lang="en-US" dirty="0"/>
              <a:t>“ +” – multiple spaces</a:t>
            </a:r>
          </a:p>
          <a:p>
            <a:pPr lvl="1"/>
            <a:r>
              <a:rPr lang="en-US" dirty="0"/>
              <a:t>“[#,: ]” – any of these works</a:t>
            </a:r>
          </a:p>
          <a:p>
            <a:pPr lvl="1"/>
            <a:r>
              <a:rPr lang="en-US" dirty="0"/>
              <a:t>“[#,:]+” - any of these works in a combination</a:t>
            </a:r>
          </a:p>
          <a:p>
            <a:r>
              <a:rPr lang="en-US" sz="2800" dirty="0">
                <a:cs typeface="Arial" pitchFamily="34" charset="0"/>
              </a:rPr>
              <a:t>Please note that using split with human generated inputs has its dangers</a:t>
            </a:r>
          </a:p>
          <a:p>
            <a:pPr lvl="1"/>
            <a:r>
              <a:rPr lang="en-US" sz="2600" dirty="0">
                <a:cs typeface="Arial" pitchFamily="34" charset="0"/>
              </a:rPr>
              <a:t>Note the use of + outside the characters can mitigate this issue</a:t>
            </a:r>
          </a:p>
          <a:p>
            <a:r>
              <a:rPr lang="en-US" dirty="0"/>
              <a:t>Use of limit</a:t>
            </a:r>
          </a:p>
          <a:p>
            <a:pPr lvl="1"/>
            <a:r>
              <a:rPr lang="en-US" dirty="0"/>
              <a:t>limit = 0 – ignore trailing blanks (most used case)</a:t>
            </a:r>
          </a:p>
          <a:p>
            <a:pPr lvl="1"/>
            <a:r>
              <a:rPr lang="en-US" dirty="0"/>
              <a:t>limit &gt; 0 - Splits at most (limit – 1) times all the rest is placed in the last cell of the array</a:t>
            </a:r>
          </a:p>
          <a:p>
            <a:pPr lvl="1"/>
            <a:r>
              <a:rPr lang="en-US" dirty="0"/>
              <a:t>Limit &lt; 0 - Splits fully, keeps trailing empty Strings</a:t>
            </a:r>
          </a:p>
          <a:p>
            <a:pPr marL="0" indent="0">
              <a:buNone/>
            </a:pPr>
            <a:r>
              <a:rPr lang="en-US" dirty="0"/>
              <a:t>See </a:t>
            </a:r>
            <a:r>
              <a:rPr lang="en-US" dirty="0">
                <a:solidFill>
                  <a:srgbClr val="FF0000"/>
                </a:solidFill>
              </a:rPr>
              <a:t>See CountingWords.java, </a:t>
            </a:r>
            <a:r>
              <a:rPr lang="en-US" dirty="0" err="1">
                <a:solidFill>
                  <a:srgbClr val="FF0000"/>
                </a:solidFill>
              </a:rPr>
              <a:t>CountingWordsParsing.java</a:t>
            </a:r>
            <a:endParaRPr lang="en-US" dirty="0">
              <a:solidFill>
                <a:srgbClr val="FF0000"/>
              </a:solidFill>
            </a:endParaRPr>
          </a:p>
          <a:p>
            <a:pPr marL="0" indent="0">
              <a:buNone/>
            </a:pPr>
            <a:r>
              <a:rPr lang="en-US" dirty="0"/>
              <a:t>More examples at </a:t>
            </a:r>
            <a:r>
              <a:rPr lang="en-US" dirty="0">
                <a:solidFill>
                  <a:srgbClr val="FF0000"/>
                </a:solidFill>
              </a:rPr>
              <a:t>https://</a:t>
            </a:r>
            <a:r>
              <a:rPr lang="en-US" dirty="0" err="1">
                <a:solidFill>
                  <a:srgbClr val="FF0000"/>
                </a:solidFill>
              </a:rPr>
              <a:t>www.geeksforgeeks.org</a:t>
            </a:r>
            <a:r>
              <a:rPr lang="en-US" dirty="0">
                <a:solidFill>
                  <a:srgbClr val="FF0000"/>
                </a:solidFill>
              </a:rPr>
              <a:t>/java/split-string-java-examples/</a:t>
            </a:r>
          </a:p>
          <a:p>
            <a:pPr marL="0" indent="0">
              <a:buNone/>
            </a:pPr>
            <a:endParaRPr lang="en-US" dirty="0">
              <a:solidFill>
                <a:srgbClr val="FF0000"/>
              </a:solidFill>
            </a:endParaRPr>
          </a:p>
        </p:txBody>
      </p:sp>
      <p:sp>
        <p:nvSpPr>
          <p:cNvPr id="4" name="Slide Number Placeholder 3">
            <a:extLst>
              <a:ext uri="{FF2B5EF4-FFF2-40B4-BE49-F238E27FC236}">
                <a16:creationId xmlns:a16="http://schemas.microsoft.com/office/drawing/2014/main" id="{00679C5C-D547-21D2-143E-B55BEE439C75}"/>
              </a:ext>
            </a:extLst>
          </p:cNvPr>
          <p:cNvSpPr>
            <a:spLocks noGrp="1"/>
          </p:cNvSpPr>
          <p:nvPr>
            <p:ph type="sldNum" sz="quarter" idx="12"/>
          </p:nvPr>
        </p:nvSpPr>
        <p:spPr/>
        <p:txBody>
          <a:bodyPr/>
          <a:lstStyle/>
          <a:p>
            <a:fld id="{13977939-A071-43C1-9268-F54CC2756BB5}" type="slidenum">
              <a:rPr lang="en-US" smtClean="0"/>
              <a:pPr/>
              <a:t>11</a:t>
            </a:fld>
            <a:endParaRPr lang="en-US" dirty="0"/>
          </a:p>
        </p:txBody>
      </p:sp>
    </p:spTree>
    <p:extLst>
      <p:ext uri="{BB962C8B-B14F-4D97-AF65-F5344CB8AC3E}">
        <p14:creationId xmlns:p14="http://schemas.microsoft.com/office/powerpoint/2010/main" val="2782765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DA56-6B79-9747-A700-302DFC870B8F}"/>
              </a:ext>
            </a:extLst>
          </p:cNvPr>
          <p:cNvSpPr>
            <a:spLocks noGrp="1"/>
          </p:cNvSpPr>
          <p:nvPr>
            <p:ph type="title"/>
          </p:nvPr>
        </p:nvSpPr>
        <p:spPr/>
        <p:txBody>
          <a:bodyPr>
            <a:noAutofit/>
          </a:bodyPr>
          <a:lstStyle/>
          <a:p>
            <a:r>
              <a:rPr lang="en-US" dirty="0"/>
              <a:t>A String May Be </a:t>
            </a:r>
            <a:r>
              <a:rPr lang="en-US" dirty="0">
                <a:solidFill>
                  <a:srgbClr val="FF0000"/>
                </a:solidFill>
              </a:rPr>
              <a:t>Parsed</a:t>
            </a:r>
            <a:r>
              <a:rPr lang="en-US" dirty="0"/>
              <a:t> To Extract Numeric Data </a:t>
            </a:r>
          </a:p>
        </p:txBody>
      </p:sp>
      <p:sp>
        <p:nvSpPr>
          <p:cNvPr id="3" name="Content Placeholder 2">
            <a:extLst>
              <a:ext uri="{FF2B5EF4-FFF2-40B4-BE49-F238E27FC236}">
                <a16:creationId xmlns:a16="http://schemas.microsoft.com/office/drawing/2014/main" id="{0D212566-DDC5-8E4D-9EA5-23C5434E6A34}"/>
              </a:ext>
            </a:extLst>
          </p:cNvPr>
          <p:cNvSpPr>
            <a:spLocks noGrp="1"/>
          </p:cNvSpPr>
          <p:nvPr>
            <p:ph idx="1"/>
          </p:nvPr>
        </p:nvSpPr>
        <p:spPr>
          <a:xfrm>
            <a:off x="457200" y="1249680"/>
            <a:ext cx="8229600" cy="1950720"/>
          </a:xfrm>
        </p:spPr>
        <p:txBody>
          <a:bodyPr>
            <a:normAutofit fontScale="77500" lnSpcReduction="20000"/>
          </a:bodyPr>
          <a:lstStyle/>
          <a:p>
            <a:r>
              <a:rPr lang="en-US" dirty="0"/>
              <a:t>There are static methods for converting correct String data to the appropriate data types</a:t>
            </a:r>
          </a:p>
          <a:p>
            <a:pPr lvl="1"/>
            <a:r>
              <a:rPr lang="en-US" dirty="0"/>
              <a:t>This will be especially helpful when receiving data from GUI sessions</a:t>
            </a:r>
          </a:p>
          <a:p>
            <a:r>
              <a:rPr lang="en-US" dirty="0"/>
              <a:t>Note that these are class methods (we aren’t creating objects to access these methods – they are all in java.lang package so no import is necessary</a:t>
            </a:r>
          </a:p>
        </p:txBody>
      </p:sp>
      <p:sp>
        <p:nvSpPr>
          <p:cNvPr id="4" name="Slide Number Placeholder 3">
            <a:extLst>
              <a:ext uri="{FF2B5EF4-FFF2-40B4-BE49-F238E27FC236}">
                <a16:creationId xmlns:a16="http://schemas.microsoft.com/office/drawing/2014/main" id="{D272EF5F-6AC1-C840-B64E-992FC73A11D4}"/>
              </a:ext>
            </a:extLst>
          </p:cNvPr>
          <p:cNvSpPr>
            <a:spLocks noGrp="1"/>
          </p:cNvSpPr>
          <p:nvPr>
            <p:ph type="sldNum" sz="quarter" idx="12"/>
          </p:nvPr>
        </p:nvSpPr>
        <p:spPr/>
        <p:txBody>
          <a:bodyPr/>
          <a:lstStyle/>
          <a:p>
            <a:fld id="{13977939-A071-43C1-9268-F54CC2756BB5}" type="slidenum">
              <a:rPr lang="en-US" smtClean="0"/>
              <a:pPr/>
              <a:t>12</a:t>
            </a:fld>
            <a:endParaRPr lang="en-US" dirty="0"/>
          </a:p>
        </p:txBody>
      </p:sp>
      <p:graphicFrame>
        <p:nvGraphicFramePr>
          <p:cNvPr id="6" name="Content Placeholder 4">
            <a:extLst>
              <a:ext uri="{FF2B5EF4-FFF2-40B4-BE49-F238E27FC236}">
                <a16:creationId xmlns:a16="http://schemas.microsoft.com/office/drawing/2014/main" id="{A6537C75-7FEA-A343-9B2A-7863F25C348C}"/>
              </a:ext>
            </a:extLst>
          </p:cNvPr>
          <p:cNvGraphicFramePr>
            <a:graphicFrameLocks/>
          </p:cNvGraphicFramePr>
          <p:nvPr/>
        </p:nvGraphicFramePr>
        <p:xfrm>
          <a:off x="468086" y="3552698"/>
          <a:ext cx="8382000" cy="25958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17397497"/>
                    </a:ext>
                  </a:extLst>
                </a:gridCol>
                <a:gridCol w="1828800">
                  <a:extLst>
                    <a:ext uri="{9D8B030D-6E8A-4147-A177-3AD203B41FA5}">
                      <a16:colId xmlns:a16="http://schemas.microsoft.com/office/drawing/2014/main" val="3615340084"/>
                    </a:ext>
                  </a:extLst>
                </a:gridCol>
                <a:gridCol w="4724400">
                  <a:extLst>
                    <a:ext uri="{9D8B030D-6E8A-4147-A177-3AD203B41FA5}">
                      <a16:colId xmlns:a16="http://schemas.microsoft.com/office/drawing/2014/main" val="1031325671"/>
                    </a:ext>
                  </a:extLst>
                </a:gridCol>
              </a:tblGrid>
              <a:tr h="370840">
                <a:tc>
                  <a:txBody>
                    <a:bodyPr/>
                    <a:lstStyle/>
                    <a:p>
                      <a:pPr algn="ctr"/>
                      <a:r>
                        <a:rPr lang="en-US" dirty="0">
                          <a:latin typeface="Arial" panose="020B0604020202020204" pitchFamily="34" charset="0"/>
                          <a:cs typeface="Arial" panose="020B0604020202020204" pitchFamily="34" charset="0"/>
                        </a:rPr>
                        <a:t>Primitive Type</a:t>
                      </a:r>
                    </a:p>
                  </a:txBody>
                  <a:tcPr/>
                </a:tc>
                <a:tc>
                  <a:txBody>
                    <a:bodyPr/>
                    <a:lstStyle/>
                    <a:p>
                      <a:pPr algn="ctr"/>
                      <a:r>
                        <a:rPr lang="en-US" dirty="0">
                          <a:latin typeface="Arial" panose="020B0604020202020204" pitchFamily="34" charset="0"/>
                          <a:cs typeface="Arial" panose="020B0604020202020204" pitchFamily="34" charset="0"/>
                        </a:rPr>
                        <a:t>Wrapper Type</a:t>
                      </a:r>
                    </a:p>
                  </a:txBody>
                  <a:tcPr/>
                </a:tc>
                <a:tc>
                  <a:txBody>
                    <a:bodyPr/>
                    <a:lstStyle/>
                    <a:p>
                      <a:pPr algn="ctr"/>
                      <a:r>
                        <a:rPr lang="en-US" dirty="0">
                          <a:latin typeface="Arial" panose="020B0604020202020204" pitchFamily="34" charset="0"/>
                          <a:cs typeface="Arial" panose="020B0604020202020204" pitchFamily="34" charset="0"/>
                        </a:rPr>
                        <a:t>Method</a:t>
                      </a:r>
                    </a:p>
                  </a:txBody>
                  <a:tcPr/>
                </a:tc>
                <a:extLst>
                  <a:ext uri="{0D108BD9-81ED-4DB2-BD59-A6C34878D82A}">
                    <a16:rowId xmlns:a16="http://schemas.microsoft.com/office/drawing/2014/main" val="366494021"/>
                  </a:ext>
                </a:extLst>
              </a:tr>
              <a:tr h="370840">
                <a:tc>
                  <a:txBody>
                    <a:bodyPr/>
                    <a:lstStyle/>
                    <a:p>
                      <a:pPr lvl="1"/>
                      <a:r>
                        <a:rPr lang="en-US" dirty="0">
                          <a:latin typeface="Arial" panose="020B0604020202020204" pitchFamily="34" charset="0"/>
                          <a:cs typeface="Arial" panose="020B0604020202020204" pitchFamily="34" charset="0"/>
                        </a:rPr>
                        <a:t>byte</a:t>
                      </a:r>
                    </a:p>
                  </a:txBody>
                  <a:tcPr/>
                </a:tc>
                <a:tc>
                  <a:txBody>
                    <a:bodyPr/>
                    <a:lstStyle/>
                    <a:p>
                      <a:pPr lvl="1"/>
                      <a:r>
                        <a:rPr lang="en-US" dirty="0">
                          <a:latin typeface="Arial" panose="020B0604020202020204" pitchFamily="34" charset="0"/>
                          <a:cs typeface="Arial" panose="020B0604020202020204" pitchFamily="34" charset="0"/>
                        </a:rPr>
                        <a:t>Byte</a:t>
                      </a:r>
                    </a:p>
                  </a:txBody>
                  <a:tcPr/>
                </a:tc>
                <a:tc>
                  <a:txBody>
                    <a:bodyPr/>
                    <a:lstStyle/>
                    <a:p>
                      <a:pPr lvl="1"/>
                      <a:r>
                        <a:rPr lang="en-US" dirty="0">
                          <a:latin typeface="Arial" panose="020B0604020202020204" pitchFamily="34" charset="0"/>
                          <a:cs typeface="Arial" panose="020B0604020202020204" pitchFamily="34" charset="0"/>
                        </a:rPr>
                        <a:t>byte Byte.parseByte(String str)</a:t>
                      </a:r>
                    </a:p>
                  </a:txBody>
                  <a:tcPr/>
                </a:tc>
                <a:extLst>
                  <a:ext uri="{0D108BD9-81ED-4DB2-BD59-A6C34878D82A}">
                    <a16:rowId xmlns:a16="http://schemas.microsoft.com/office/drawing/2014/main" val="1566180632"/>
                  </a:ext>
                </a:extLst>
              </a:tr>
              <a:tr h="370840">
                <a:tc>
                  <a:txBody>
                    <a:bodyPr/>
                    <a:lstStyle/>
                    <a:p>
                      <a:pPr lvl="1"/>
                      <a:r>
                        <a:rPr lang="en-US" dirty="0">
                          <a:latin typeface="Arial" panose="020B0604020202020204" pitchFamily="34" charset="0"/>
                          <a:cs typeface="Arial" panose="020B0604020202020204" pitchFamily="34" charset="0"/>
                        </a:rPr>
                        <a:t>short</a:t>
                      </a:r>
                    </a:p>
                  </a:txBody>
                  <a:tcPr/>
                </a:tc>
                <a:tc>
                  <a:txBody>
                    <a:bodyPr/>
                    <a:lstStyle/>
                    <a:p>
                      <a:pPr lvl="1"/>
                      <a:r>
                        <a:rPr lang="en-US" dirty="0">
                          <a:latin typeface="Arial" panose="020B0604020202020204" pitchFamily="34" charset="0"/>
                          <a:cs typeface="Arial" panose="020B0604020202020204" pitchFamily="34" charset="0"/>
                        </a:rPr>
                        <a:t>Short</a:t>
                      </a:r>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short Short.parseShort(String str)</a:t>
                      </a:r>
                    </a:p>
                  </a:txBody>
                  <a:tcPr/>
                </a:tc>
                <a:extLst>
                  <a:ext uri="{0D108BD9-81ED-4DB2-BD59-A6C34878D82A}">
                    <a16:rowId xmlns:a16="http://schemas.microsoft.com/office/drawing/2014/main" val="699046003"/>
                  </a:ext>
                </a:extLst>
              </a:tr>
              <a:tr h="370840">
                <a:tc>
                  <a:txBody>
                    <a:bodyPr/>
                    <a:lstStyle/>
                    <a:p>
                      <a:pPr lvl="1"/>
                      <a:r>
                        <a:rPr lang="en-US" dirty="0">
                          <a:latin typeface="Arial" panose="020B0604020202020204" pitchFamily="34" charset="0"/>
                          <a:cs typeface="Arial" panose="020B0604020202020204" pitchFamily="34" charset="0"/>
                        </a:rPr>
                        <a:t>int</a:t>
                      </a:r>
                    </a:p>
                  </a:txBody>
                  <a:tcPr/>
                </a:tc>
                <a:tc>
                  <a:txBody>
                    <a:bodyPr/>
                    <a:lstStyle/>
                    <a:p>
                      <a:pPr lvl="1"/>
                      <a:r>
                        <a:rPr lang="en-US" dirty="0">
                          <a:latin typeface="Arial" panose="020B0604020202020204" pitchFamily="34" charset="0"/>
                          <a:cs typeface="Arial" panose="020B0604020202020204" pitchFamily="34" charset="0"/>
                        </a:rPr>
                        <a:t>Integer</a:t>
                      </a:r>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int Integer.parseInt(String str)</a:t>
                      </a:r>
                    </a:p>
                  </a:txBody>
                  <a:tcPr/>
                </a:tc>
                <a:extLst>
                  <a:ext uri="{0D108BD9-81ED-4DB2-BD59-A6C34878D82A}">
                    <a16:rowId xmlns:a16="http://schemas.microsoft.com/office/drawing/2014/main" val="3132598000"/>
                  </a:ext>
                </a:extLst>
              </a:tr>
              <a:tr h="370840">
                <a:tc>
                  <a:txBody>
                    <a:bodyPr/>
                    <a:lstStyle/>
                    <a:p>
                      <a:pPr lvl="1"/>
                      <a:r>
                        <a:rPr lang="en-US" dirty="0">
                          <a:latin typeface="Arial" panose="020B0604020202020204" pitchFamily="34" charset="0"/>
                          <a:cs typeface="Arial" panose="020B0604020202020204" pitchFamily="34" charset="0"/>
                        </a:rPr>
                        <a:t>long</a:t>
                      </a:r>
                    </a:p>
                  </a:txBody>
                  <a:tcPr/>
                </a:tc>
                <a:tc>
                  <a:txBody>
                    <a:bodyPr/>
                    <a:lstStyle/>
                    <a:p>
                      <a:pPr lvl="1"/>
                      <a:r>
                        <a:rPr lang="en-US" dirty="0">
                          <a:latin typeface="Arial" panose="020B0604020202020204" pitchFamily="34" charset="0"/>
                          <a:cs typeface="Arial" panose="020B0604020202020204" pitchFamily="34" charset="0"/>
                        </a:rPr>
                        <a:t>Long</a:t>
                      </a:r>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long Long.parseLong(String str)</a:t>
                      </a:r>
                    </a:p>
                  </a:txBody>
                  <a:tcPr/>
                </a:tc>
                <a:extLst>
                  <a:ext uri="{0D108BD9-81ED-4DB2-BD59-A6C34878D82A}">
                    <a16:rowId xmlns:a16="http://schemas.microsoft.com/office/drawing/2014/main" val="1112668494"/>
                  </a:ext>
                </a:extLst>
              </a:tr>
              <a:tr h="370840">
                <a:tc>
                  <a:txBody>
                    <a:bodyPr/>
                    <a:lstStyle/>
                    <a:p>
                      <a:pPr lvl="1"/>
                      <a:r>
                        <a:rPr lang="en-US" dirty="0">
                          <a:latin typeface="Arial" panose="020B0604020202020204" pitchFamily="34" charset="0"/>
                          <a:cs typeface="Arial" panose="020B0604020202020204" pitchFamily="34" charset="0"/>
                        </a:rPr>
                        <a:t>float</a:t>
                      </a:r>
                    </a:p>
                  </a:txBody>
                  <a:tcPr/>
                </a:tc>
                <a:tc>
                  <a:txBody>
                    <a:bodyPr/>
                    <a:lstStyle/>
                    <a:p>
                      <a:pPr lvl="1"/>
                      <a:r>
                        <a:rPr lang="en-US" dirty="0">
                          <a:latin typeface="Arial" panose="020B0604020202020204" pitchFamily="34" charset="0"/>
                          <a:cs typeface="Arial" panose="020B0604020202020204" pitchFamily="34" charset="0"/>
                        </a:rPr>
                        <a:t>Float</a:t>
                      </a:r>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float Float.parseFloat(String str)</a:t>
                      </a:r>
                    </a:p>
                  </a:txBody>
                  <a:tcPr/>
                </a:tc>
                <a:extLst>
                  <a:ext uri="{0D108BD9-81ED-4DB2-BD59-A6C34878D82A}">
                    <a16:rowId xmlns:a16="http://schemas.microsoft.com/office/drawing/2014/main" val="2703483873"/>
                  </a:ext>
                </a:extLst>
              </a:tr>
              <a:tr h="370840">
                <a:tc>
                  <a:txBody>
                    <a:bodyPr/>
                    <a:lstStyle/>
                    <a:p>
                      <a:pPr lvl="1"/>
                      <a:r>
                        <a:rPr lang="en-US" dirty="0">
                          <a:latin typeface="Arial" panose="020B0604020202020204" pitchFamily="34" charset="0"/>
                          <a:cs typeface="Arial" panose="020B0604020202020204" pitchFamily="34" charset="0"/>
                        </a:rPr>
                        <a:t>double</a:t>
                      </a:r>
                    </a:p>
                  </a:txBody>
                  <a:tcPr/>
                </a:tc>
                <a:tc>
                  <a:txBody>
                    <a:bodyPr/>
                    <a:lstStyle/>
                    <a:p>
                      <a:pPr lvl="1"/>
                      <a:r>
                        <a:rPr lang="en-US" dirty="0">
                          <a:latin typeface="Arial" panose="020B0604020202020204" pitchFamily="34" charset="0"/>
                          <a:cs typeface="Arial" panose="020B0604020202020204" pitchFamily="34" charset="0"/>
                        </a:rPr>
                        <a:t>Double</a:t>
                      </a:r>
                    </a:p>
                  </a:txBody>
                  <a:tcPr/>
                </a:tc>
                <a:tc>
                  <a:txBody>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double Double.parseDouble(String str)</a:t>
                      </a:r>
                    </a:p>
                  </a:txBody>
                  <a:tcPr/>
                </a:tc>
                <a:extLst>
                  <a:ext uri="{0D108BD9-81ED-4DB2-BD59-A6C34878D82A}">
                    <a16:rowId xmlns:a16="http://schemas.microsoft.com/office/drawing/2014/main" val="2262926400"/>
                  </a:ext>
                </a:extLst>
              </a:tr>
            </a:tbl>
          </a:graphicData>
        </a:graphic>
      </p:graphicFrame>
    </p:spTree>
    <p:extLst>
      <p:ext uri="{BB962C8B-B14F-4D97-AF65-F5344CB8AC3E}">
        <p14:creationId xmlns:p14="http://schemas.microsoft.com/office/powerpoint/2010/main" val="1678799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D8EE3-BDB0-9345-852F-AD1695F993F1}"/>
              </a:ext>
            </a:extLst>
          </p:cNvPr>
          <p:cNvSpPr>
            <a:spLocks noGrp="1"/>
          </p:cNvSpPr>
          <p:nvPr>
            <p:ph type="title"/>
          </p:nvPr>
        </p:nvSpPr>
        <p:spPr/>
        <p:txBody>
          <a:bodyPr>
            <a:noAutofit/>
          </a:bodyPr>
          <a:lstStyle/>
          <a:p>
            <a:r>
              <a:rPr lang="en-US" dirty="0"/>
              <a:t>Using A Scanner To Parse A String (2)</a:t>
            </a:r>
          </a:p>
        </p:txBody>
      </p:sp>
      <p:sp>
        <p:nvSpPr>
          <p:cNvPr id="3" name="Content Placeholder 2">
            <a:extLst>
              <a:ext uri="{FF2B5EF4-FFF2-40B4-BE49-F238E27FC236}">
                <a16:creationId xmlns:a16="http://schemas.microsoft.com/office/drawing/2014/main" id="{2E0342C6-8DC1-5441-A595-B61B13B153C0}"/>
              </a:ext>
            </a:extLst>
          </p:cNvPr>
          <p:cNvSpPr>
            <a:spLocks noGrp="1"/>
          </p:cNvSpPr>
          <p:nvPr>
            <p:ph idx="1"/>
          </p:nvPr>
        </p:nvSpPr>
        <p:spPr>
          <a:xfrm>
            <a:off x="457200" y="1249680"/>
            <a:ext cx="8229600" cy="5379720"/>
          </a:xfrm>
        </p:spPr>
        <p:txBody>
          <a:bodyPr>
            <a:normAutofit fontScale="92500"/>
          </a:bodyPr>
          <a:lstStyle/>
          <a:p>
            <a:r>
              <a:rPr lang="en-US" dirty="0"/>
              <a:t>To specify different delimiters, call the useDelimiter method:</a:t>
            </a:r>
          </a:p>
          <a:p>
            <a:pPr marL="393192" lvl="1" indent="0" fontAlgn="t">
              <a:buNone/>
            </a:pPr>
            <a:r>
              <a:rPr lang="en-US" dirty="0"/>
              <a:t>Scanner useDelimiter( String pattern )</a:t>
            </a:r>
          </a:p>
          <a:p>
            <a:pPr lvl="1" fontAlgn="t"/>
            <a:r>
              <a:rPr lang="en-US" dirty="0"/>
              <a:t>sets the delimiter to </a:t>
            </a:r>
            <a:r>
              <a:rPr lang="en-US" i="1" dirty="0"/>
              <a:t>pattern</a:t>
            </a:r>
            <a:r>
              <a:rPr lang="en-US" dirty="0"/>
              <a:t> and returns this </a:t>
            </a:r>
            <a:r>
              <a:rPr lang="en-US" i="1" dirty="0"/>
              <a:t>Scanner </a:t>
            </a:r>
            <a:r>
              <a:rPr lang="en-US" dirty="0"/>
              <a:t>object.</a:t>
            </a:r>
          </a:p>
          <a:p>
            <a:pPr lvl="1" fontAlgn="t"/>
            <a:r>
              <a:rPr lang="en-US" dirty="0"/>
              <a:t>i.e. parse.useDelimiter(“,”);</a:t>
            </a:r>
          </a:p>
          <a:p>
            <a:r>
              <a:rPr lang="en-US" dirty="0"/>
              <a:t>Here, pattern represents a regular expression against which to match sequences of characters using standard characters as well as meta-characters, which have special meanings.</a:t>
            </a:r>
          </a:p>
          <a:p>
            <a:r>
              <a:rPr lang="en-US" dirty="0"/>
              <a:t>We can specify a delimiter consisting of a single character or multiple specific characters as a simple String argument.</a:t>
            </a:r>
          </a:p>
          <a:p>
            <a:pPr marL="0" indent="0">
              <a:buNone/>
            </a:pPr>
            <a:r>
              <a:rPr lang="en-US" dirty="0"/>
              <a:t>See </a:t>
            </a:r>
            <a:r>
              <a:rPr lang="en-US" dirty="0">
                <a:solidFill>
                  <a:srgbClr val="FF0000"/>
                </a:solidFill>
              </a:rPr>
              <a:t>UsingScannerToParseAString.java</a:t>
            </a:r>
          </a:p>
        </p:txBody>
      </p:sp>
      <p:sp>
        <p:nvSpPr>
          <p:cNvPr id="4" name="Slide Number Placeholder 3">
            <a:extLst>
              <a:ext uri="{FF2B5EF4-FFF2-40B4-BE49-F238E27FC236}">
                <a16:creationId xmlns:a16="http://schemas.microsoft.com/office/drawing/2014/main" id="{CFB5DF6A-9645-3240-9A29-CBA45CA5BC61}"/>
              </a:ext>
            </a:extLst>
          </p:cNvPr>
          <p:cNvSpPr>
            <a:spLocks noGrp="1"/>
          </p:cNvSpPr>
          <p:nvPr>
            <p:ph type="sldNum" sz="quarter" idx="12"/>
          </p:nvPr>
        </p:nvSpPr>
        <p:spPr/>
        <p:txBody>
          <a:bodyPr/>
          <a:lstStyle/>
          <a:p>
            <a:fld id="{13977939-A071-43C1-9268-F54CC2756BB5}" type="slidenum">
              <a:rPr lang="en-US" smtClean="0"/>
              <a:pPr/>
              <a:t>13</a:t>
            </a:fld>
            <a:endParaRPr lang="en-US" dirty="0"/>
          </a:p>
        </p:txBody>
      </p:sp>
    </p:spTree>
    <p:extLst>
      <p:ext uri="{BB962C8B-B14F-4D97-AF65-F5344CB8AC3E}">
        <p14:creationId xmlns:p14="http://schemas.microsoft.com/office/powerpoint/2010/main" val="366075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04088"/>
          </a:xfrm>
        </p:spPr>
        <p:txBody>
          <a:bodyPr>
            <a:normAutofit/>
          </a:bodyPr>
          <a:lstStyle/>
          <a:p>
            <a:r>
              <a:rPr lang="en-US" sz="3200" dirty="0"/>
              <a:t>A Practical Example Using Scanner</a:t>
            </a:r>
          </a:p>
        </p:txBody>
      </p:sp>
      <p:sp>
        <p:nvSpPr>
          <p:cNvPr id="3" name="Content Placeholder 2"/>
          <p:cNvSpPr>
            <a:spLocks noGrp="1"/>
          </p:cNvSpPr>
          <p:nvPr>
            <p:ph idx="1"/>
          </p:nvPr>
        </p:nvSpPr>
        <p:spPr>
          <a:xfrm>
            <a:off x="457200" y="932688"/>
            <a:ext cx="8229600" cy="5696712"/>
          </a:xfrm>
        </p:spPr>
        <p:txBody>
          <a:bodyPr>
            <a:normAutofit fontScale="70000" lnSpcReduction="20000"/>
          </a:bodyPr>
          <a:lstStyle/>
          <a:p>
            <a:pPr>
              <a:buNone/>
            </a:pPr>
            <a:r>
              <a:rPr lang="en-US" dirty="0"/>
              <a:t>import java.util.Scanner; // Make the Scanner class available.</a:t>
            </a:r>
          </a:p>
          <a:p>
            <a:pPr>
              <a:buNone/>
            </a:pPr>
            <a:r>
              <a:rPr lang="en-US" dirty="0"/>
              <a:t>public class Interest2WithScanner </a:t>
            </a:r>
          </a:p>
          <a:p>
            <a:pPr>
              <a:buNone/>
            </a:pPr>
            <a:r>
              <a:rPr lang="en-US" dirty="0"/>
              <a:t>{</a:t>
            </a:r>
          </a:p>
          <a:p>
            <a:pPr>
              <a:buNone/>
            </a:pPr>
            <a:r>
              <a:rPr lang="en-US" dirty="0"/>
              <a:t>   public static void main(String[] args) </a:t>
            </a:r>
          </a:p>
          <a:p>
            <a:pPr>
              <a:buNone/>
            </a:pPr>
            <a:r>
              <a:rPr lang="en-US" dirty="0"/>
              <a:t>   {  </a:t>
            </a:r>
          </a:p>
          <a:p>
            <a:pPr>
              <a:buNone/>
            </a:pPr>
            <a:r>
              <a:rPr lang="en-US" dirty="0"/>
              <a:t>	Scanner </a:t>
            </a:r>
            <a:r>
              <a:rPr lang="en-US" b="1" dirty="0"/>
              <a:t>keyboard</a:t>
            </a:r>
            <a:r>
              <a:rPr lang="en-US" dirty="0"/>
              <a:t> = new Scanner( System.in ); // Create the Scanner.    </a:t>
            </a:r>
          </a:p>
          <a:p>
            <a:pPr>
              <a:buNone/>
            </a:pPr>
            <a:r>
              <a:rPr lang="en-US" dirty="0"/>
              <a:t>      double principal; // The value of the investment. </a:t>
            </a:r>
          </a:p>
          <a:p>
            <a:pPr>
              <a:buNone/>
            </a:pPr>
            <a:r>
              <a:rPr lang="en-US" dirty="0"/>
              <a:t>      double rate; // The annual interest rate. </a:t>
            </a:r>
          </a:p>
          <a:p>
            <a:pPr>
              <a:buNone/>
            </a:pPr>
            <a:r>
              <a:rPr lang="en-US" dirty="0"/>
              <a:t>      double interest; // The interest earned during the year.  </a:t>
            </a:r>
          </a:p>
          <a:p>
            <a:pPr>
              <a:buNone/>
            </a:pPr>
            <a:r>
              <a:rPr lang="en-US" dirty="0"/>
              <a:t>      System.out.printf("Enter the initial investment: "); </a:t>
            </a:r>
            <a:r>
              <a:rPr lang="en-US" dirty="0">
                <a:solidFill>
                  <a:srgbClr val="FF0000"/>
                </a:solidFill>
              </a:rPr>
              <a:t>//always ask for an input with a question</a:t>
            </a:r>
          </a:p>
          <a:p>
            <a:pPr>
              <a:buNone/>
            </a:pPr>
            <a:r>
              <a:rPr lang="en-US" dirty="0"/>
              <a:t>      principal = </a:t>
            </a:r>
            <a:r>
              <a:rPr lang="en-US" b="1" dirty="0"/>
              <a:t>keyboard.nextDouble</a:t>
            </a:r>
            <a:r>
              <a:rPr lang="en-US" dirty="0"/>
              <a:t>(); </a:t>
            </a:r>
          </a:p>
          <a:p>
            <a:pPr>
              <a:buNone/>
            </a:pPr>
            <a:r>
              <a:rPr lang="en-US" dirty="0"/>
              <a:t>      System.out.printf("Enter the annual interest rate as a percent"); </a:t>
            </a:r>
          </a:p>
          <a:p>
            <a:pPr>
              <a:buNone/>
            </a:pPr>
            <a:r>
              <a:rPr lang="en-US" dirty="0"/>
              <a:t>      rate = keyboard.nextDouble(); </a:t>
            </a:r>
          </a:p>
          <a:p>
            <a:pPr>
              <a:buNone/>
            </a:pPr>
            <a:r>
              <a:rPr lang="en-US" dirty="0"/>
              <a:t>	rate = rate/100;</a:t>
            </a:r>
          </a:p>
          <a:p>
            <a:pPr>
              <a:buNone/>
            </a:pPr>
            <a:r>
              <a:rPr lang="en-US" dirty="0"/>
              <a:t>      interest = principal * rate; // Compute this year's interest. </a:t>
            </a:r>
          </a:p>
          <a:p>
            <a:pPr>
              <a:buNone/>
            </a:pPr>
            <a:r>
              <a:rPr lang="en-US" dirty="0"/>
              <a:t>      principal = principal + interest; // Add it to principal. </a:t>
            </a:r>
          </a:p>
          <a:p>
            <a:pPr>
              <a:buNone/>
            </a:pPr>
            <a:r>
              <a:rPr lang="en-US" dirty="0"/>
              <a:t>      System.out.printf("The value of the investment after one year is $ %.2f\n”, principal); </a:t>
            </a:r>
          </a:p>
          <a:p>
            <a:pPr>
              <a:buNone/>
            </a:pPr>
            <a:r>
              <a:rPr lang="en-US" dirty="0"/>
              <a:t>    } </a:t>
            </a:r>
          </a:p>
          <a:p>
            <a:pPr>
              <a:buNone/>
            </a:pPr>
            <a:r>
              <a:rPr lang="en-US" dirty="0"/>
              <a:t>}   // end of class Interest2withScanner</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14</a:t>
            </a:fld>
            <a:endParaRPr lang="en-US" dirty="0"/>
          </a:p>
        </p:txBody>
      </p:sp>
    </p:spTree>
    <p:extLst>
      <p:ext uri="{BB962C8B-B14F-4D97-AF65-F5344CB8AC3E}">
        <p14:creationId xmlns:p14="http://schemas.microsoft.com/office/powerpoint/2010/main" val="2937763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46A5D-59BF-3D2C-BB1E-A24BC8DB11CF}"/>
              </a:ext>
            </a:extLst>
          </p:cNvPr>
          <p:cNvSpPr>
            <a:spLocks noGrp="1"/>
          </p:cNvSpPr>
          <p:nvPr>
            <p:ph type="body" idx="1"/>
          </p:nvPr>
        </p:nvSpPr>
        <p:spPr/>
        <p:txBody>
          <a:bodyPr/>
          <a:lstStyle/>
          <a:p>
            <a:r>
              <a:rPr lang="en-US" dirty="0"/>
              <a:t>Printing</a:t>
            </a:r>
          </a:p>
        </p:txBody>
      </p:sp>
      <p:sp>
        <p:nvSpPr>
          <p:cNvPr id="4" name="Slide Number Placeholder 3">
            <a:extLst>
              <a:ext uri="{FF2B5EF4-FFF2-40B4-BE49-F238E27FC236}">
                <a16:creationId xmlns:a16="http://schemas.microsoft.com/office/drawing/2014/main" id="{61479339-A475-3028-BA5E-32A42A4B620B}"/>
              </a:ext>
            </a:extLst>
          </p:cNvPr>
          <p:cNvSpPr>
            <a:spLocks noGrp="1"/>
          </p:cNvSpPr>
          <p:nvPr>
            <p:ph type="sldNum" sz="quarter" idx="12"/>
          </p:nvPr>
        </p:nvSpPr>
        <p:spPr/>
        <p:txBody>
          <a:bodyPr/>
          <a:lstStyle/>
          <a:p>
            <a:fld id="{13977939-A071-43C1-9268-F54CC2756BB5}" type="slidenum">
              <a:rPr lang="en-US" smtClean="0"/>
              <a:pPr/>
              <a:t>15</a:t>
            </a:fld>
            <a:endParaRPr lang="en-US" dirty="0"/>
          </a:p>
        </p:txBody>
      </p:sp>
    </p:spTree>
    <p:extLst>
      <p:ext uri="{BB962C8B-B14F-4D97-AF65-F5344CB8AC3E}">
        <p14:creationId xmlns:p14="http://schemas.microsoft.com/office/powerpoint/2010/main" val="1436065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51688"/>
          </a:xfrm>
        </p:spPr>
        <p:txBody>
          <a:bodyPr>
            <a:normAutofit/>
          </a:bodyPr>
          <a:lstStyle/>
          <a:p>
            <a:pPr algn="ctr"/>
            <a:r>
              <a:rPr lang="en-US" sz="3200" dirty="0"/>
              <a:t>Printing and Special Characters</a:t>
            </a:r>
          </a:p>
        </p:txBody>
      </p:sp>
      <p:sp>
        <p:nvSpPr>
          <p:cNvPr id="3" name="Content Placeholder 2"/>
          <p:cNvSpPr>
            <a:spLocks noGrp="1"/>
          </p:cNvSpPr>
          <p:nvPr>
            <p:ph idx="1"/>
          </p:nvPr>
        </p:nvSpPr>
        <p:spPr>
          <a:xfrm>
            <a:off x="457200" y="762000"/>
            <a:ext cx="8229600" cy="2438400"/>
          </a:xfrm>
        </p:spPr>
        <p:txBody>
          <a:bodyPr>
            <a:normAutofit fontScale="62500" lnSpcReduction="20000"/>
          </a:bodyPr>
          <a:lstStyle/>
          <a:p>
            <a:r>
              <a:rPr lang="en-US" dirty="0"/>
              <a:t>The </a:t>
            </a:r>
            <a:r>
              <a:rPr lang="en-US" dirty="0">
                <a:solidFill>
                  <a:srgbClr val="FF0000"/>
                </a:solidFill>
              </a:rPr>
              <a:t>System.out</a:t>
            </a:r>
            <a:r>
              <a:rPr lang="en-US" dirty="0"/>
              <a:t> object is a predefined instance of a class called PrintStream, and is included with the basic java.lang and package therefore is always available for use without the need for an import statement. </a:t>
            </a:r>
          </a:p>
          <a:p>
            <a:pPr lvl="1"/>
            <a:r>
              <a:rPr lang="en-US" dirty="0"/>
              <a:t>It is called the standard output object, and prints to the terminal</a:t>
            </a:r>
          </a:p>
          <a:p>
            <a:pPr lvl="1"/>
            <a:r>
              <a:rPr lang="en-US" dirty="0"/>
              <a:t>We will learn how to print to other File objects later in this term</a:t>
            </a:r>
          </a:p>
          <a:p>
            <a:r>
              <a:rPr lang="en-US" dirty="0"/>
              <a:t>There are several basic static methods from this class</a:t>
            </a:r>
          </a:p>
          <a:p>
            <a:pPr lvl="1"/>
            <a:r>
              <a:rPr lang="en-US" dirty="0"/>
              <a:t>System.out.print</a:t>
            </a:r>
            <a:r>
              <a:rPr lang="en-US" dirty="0">
                <a:solidFill>
                  <a:srgbClr val="FF0000"/>
                </a:solidFill>
              </a:rPr>
              <a:t>ln</a:t>
            </a:r>
            <a:r>
              <a:rPr lang="en-US" dirty="0"/>
              <a:t>(“abc”) // prints the String and a character return </a:t>
            </a:r>
          </a:p>
          <a:p>
            <a:pPr lvl="1"/>
            <a:r>
              <a:rPr lang="en-US" dirty="0"/>
              <a:t>System.out.print (“abc”) // prints a String without a character return</a:t>
            </a:r>
          </a:p>
          <a:p>
            <a:pPr lvl="1"/>
            <a:r>
              <a:rPr lang="en-US" dirty="0"/>
              <a:t>There is. Printf, which I will be explaining in detail and which I want you to use, shortly</a:t>
            </a:r>
          </a:p>
          <a:p>
            <a:r>
              <a:rPr lang="en-US" dirty="0"/>
              <a:t>Escape sequences inside the String can be used to control printing</a:t>
            </a:r>
          </a:p>
        </p:txBody>
      </p:sp>
      <p:graphicFrame>
        <p:nvGraphicFramePr>
          <p:cNvPr id="4" name="Table 3"/>
          <p:cNvGraphicFramePr>
            <a:graphicFrameLocks noGrp="1"/>
          </p:cNvGraphicFramePr>
          <p:nvPr>
            <p:extLst>
              <p:ext uri="{D42A27DB-BD31-4B8C-83A1-F6EECF244321}">
                <p14:modId xmlns:p14="http://schemas.microsoft.com/office/powerpoint/2010/main" val="3828953062"/>
              </p:ext>
            </p:extLst>
          </p:nvPr>
        </p:nvGraphicFramePr>
        <p:xfrm>
          <a:off x="762000" y="3505640"/>
          <a:ext cx="6781800" cy="2895160"/>
        </p:xfrm>
        <a:graphic>
          <a:graphicData uri="http://schemas.openxmlformats.org/drawingml/2006/table">
            <a:tbl>
              <a:tblPr>
                <a:tableStyleId>{69C7853C-536D-4A76-A0AE-DD22124D55A5}</a:tableStyleId>
              </a:tblPr>
              <a:tblGrid>
                <a:gridCol w="2176874">
                  <a:extLst>
                    <a:ext uri="{9D8B030D-6E8A-4147-A177-3AD203B41FA5}">
                      <a16:colId xmlns:a16="http://schemas.microsoft.com/office/drawing/2014/main" val="20000"/>
                    </a:ext>
                  </a:extLst>
                </a:gridCol>
                <a:gridCol w="4604926">
                  <a:extLst>
                    <a:ext uri="{9D8B030D-6E8A-4147-A177-3AD203B41FA5}">
                      <a16:colId xmlns:a16="http://schemas.microsoft.com/office/drawing/2014/main" val="20001"/>
                    </a:ext>
                  </a:extLst>
                </a:gridCol>
              </a:tblGrid>
              <a:tr h="261094">
                <a:tc>
                  <a:txBody>
                    <a:bodyPr/>
                    <a:lstStyle/>
                    <a:p>
                      <a:pPr marR="0" indent="0">
                        <a:lnSpc>
                          <a:spcPct val="100000"/>
                        </a:lnSpc>
                        <a:spcBef>
                          <a:spcPts val="0"/>
                        </a:spcBef>
                        <a:spcAft>
                          <a:spcPts val="0"/>
                        </a:spcAft>
                      </a:pPr>
                      <a:r>
                        <a:rPr lang="en-US" sz="1200" b="1" dirty="0"/>
                        <a:t>Escape Sequence</a:t>
                      </a:r>
                      <a:endParaRPr lang="en-US" sz="1200" b="1" dirty="0">
                        <a:latin typeface="Arial" pitchFamily="34" charset="0"/>
                        <a:cs typeface="Arial" pitchFamily="34" charset="0"/>
                      </a:endParaRPr>
                    </a:p>
                  </a:txBody>
                  <a:tcPr marL="88348" marR="88348" marT="44174" marB="44174" anchor="ctr"/>
                </a:tc>
                <a:tc>
                  <a:txBody>
                    <a:bodyPr/>
                    <a:lstStyle/>
                    <a:p>
                      <a:pPr marR="0" indent="0">
                        <a:lnSpc>
                          <a:spcPct val="100000"/>
                        </a:lnSpc>
                        <a:spcBef>
                          <a:spcPts val="0"/>
                        </a:spcBef>
                        <a:spcAft>
                          <a:spcPts val="0"/>
                        </a:spcAft>
                      </a:pPr>
                      <a:r>
                        <a:rPr lang="en-US" sz="1200" b="1" dirty="0"/>
                        <a:t>Character</a:t>
                      </a:r>
                      <a:endParaRPr lang="en-US" sz="1200" b="1"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0"/>
                  </a:ext>
                </a:extLst>
              </a:tr>
              <a:tr h="261094">
                <a:tc>
                  <a:txBody>
                    <a:bodyPr/>
                    <a:lstStyle/>
                    <a:p>
                      <a:r>
                        <a:rPr lang="en-US" sz="1200" dirty="0">
                          <a:solidFill>
                            <a:srgbClr val="FF0000"/>
                          </a:solidFill>
                        </a:rPr>
                        <a:t>\n</a:t>
                      </a:r>
                      <a:endParaRPr lang="en-US" sz="1200" dirty="0">
                        <a:solidFill>
                          <a:srgbClr val="FF0000"/>
                        </a:solidFill>
                        <a:latin typeface="Arial" pitchFamily="34" charset="0"/>
                        <a:cs typeface="Arial" pitchFamily="34" charset="0"/>
                      </a:endParaRPr>
                    </a:p>
                  </a:txBody>
                  <a:tcPr marL="88348" marR="88348" marT="44174" marB="44174" anchor="ctr"/>
                </a:tc>
                <a:tc>
                  <a:txBody>
                    <a:bodyPr/>
                    <a:lstStyle/>
                    <a:p>
                      <a:r>
                        <a:rPr lang="en-US" sz="1200" dirty="0"/>
                        <a:t>newline</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1"/>
                  </a:ext>
                </a:extLst>
              </a:tr>
              <a:tr h="261094">
                <a:tc>
                  <a:txBody>
                    <a:bodyPr/>
                    <a:lstStyle/>
                    <a:p>
                      <a:r>
                        <a:rPr lang="en-US" sz="1200" dirty="0">
                          <a:solidFill>
                            <a:srgbClr val="FF0000"/>
                          </a:solidFill>
                        </a:rPr>
                        <a:t>\t</a:t>
                      </a:r>
                      <a:endParaRPr lang="en-US" sz="1200" dirty="0">
                        <a:solidFill>
                          <a:srgbClr val="FF0000"/>
                        </a:solidFill>
                        <a:latin typeface="Arial" pitchFamily="34" charset="0"/>
                        <a:cs typeface="Arial" pitchFamily="34" charset="0"/>
                      </a:endParaRPr>
                    </a:p>
                  </a:txBody>
                  <a:tcPr marL="88348" marR="88348" marT="44174" marB="44174" anchor="ctr"/>
                </a:tc>
                <a:tc>
                  <a:txBody>
                    <a:bodyPr/>
                    <a:lstStyle/>
                    <a:p>
                      <a:r>
                        <a:rPr lang="en-US" sz="1200" dirty="0"/>
                        <a:t>tab</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2"/>
                  </a:ext>
                </a:extLst>
              </a:tr>
              <a:tr h="261094">
                <a:tc>
                  <a:txBody>
                    <a:bodyPr/>
                    <a:lstStyle/>
                    <a:p>
                      <a:r>
                        <a:rPr lang="en-US" sz="1200" dirty="0"/>
                        <a:t>\b</a:t>
                      </a:r>
                      <a:endParaRPr lang="en-US" sz="1200" dirty="0">
                        <a:latin typeface="Arial" pitchFamily="34" charset="0"/>
                        <a:cs typeface="Arial" pitchFamily="34" charset="0"/>
                      </a:endParaRPr>
                    </a:p>
                  </a:txBody>
                  <a:tcPr marL="88348" marR="88348" marT="44174" marB="44174" anchor="ctr"/>
                </a:tc>
                <a:tc>
                  <a:txBody>
                    <a:bodyPr/>
                    <a:lstStyle/>
                    <a:p>
                      <a:r>
                        <a:rPr lang="en-US" sz="1200" dirty="0"/>
                        <a:t>backspace</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3"/>
                  </a:ext>
                </a:extLst>
              </a:tr>
              <a:tr h="261094">
                <a:tc>
                  <a:txBody>
                    <a:bodyPr/>
                    <a:lstStyle/>
                    <a:p>
                      <a:r>
                        <a:rPr lang="en-US" sz="1200" dirty="0"/>
                        <a:t>\f</a:t>
                      </a:r>
                      <a:endParaRPr lang="en-US" sz="1200" dirty="0">
                        <a:latin typeface="Arial" pitchFamily="34" charset="0"/>
                        <a:cs typeface="Arial" pitchFamily="34" charset="0"/>
                      </a:endParaRPr>
                    </a:p>
                  </a:txBody>
                  <a:tcPr marL="88348" marR="88348" marT="44174" marB="44174" anchor="ctr"/>
                </a:tc>
                <a:tc>
                  <a:txBody>
                    <a:bodyPr/>
                    <a:lstStyle/>
                    <a:p>
                      <a:r>
                        <a:rPr lang="en-US" sz="1200" dirty="0"/>
                        <a:t>form feed</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4"/>
                  </a:ext>
                </a:extLst>
              </a:tr>
              <a:tr h="261094">
                <a:tc>
                  <a:txBody>
                    <a:bodyPr/>
                    <a:lstStyle/>
                    <a:p>
                      <a:r>
                        <a:rPr lang="en-US" sz="1200" dirty="0"/>
                        <a:t>\r</a:t>
                      </a:r>
                      <a:endParaRPr lang="en-US" sz="1200" dirty="0">
                        <a:latin typeface="Arial" pitchFamily="34" charset="0"/>
                        <a:cs typeface="Arial" pitchFamily="34" charset="0"/>
                      </a:endParaRPr>
                    </a:p>
                  </a:txBody>
                  <a:tcPr marL="88348" marR="88348" marT="44174" marB="44174" anchor="ctr"/>
                </a:tc>
                <a:tc>
                  <a:txBody>
                    <a:bodyPr/>
                    <a:lstStyle/>
                    <a:p>
                      <a:r>
                        <a:rPr lang="en-US" sz="1200" dirty="0"/>
                        <a:t>return</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5"/>
                  </a:ext>
                </a:extLst>
              </a:tr>
              <a:tr h="261094">
                <a:tc>
                  <a:txBody>
                    <a:bodyPr/>
                    <a:lstStyle/>
                    <a:p>
                      <a:r>
                        <a:rPr lang="en-US" sz="1200" dirty="0">
                          <a:solidFill>
                            <a:srgbClr val="FF0000"/>
                          </a:solidFill>
                        </a:rPr>
                        <a:t>\"</a:t>
                      </a:r>
                      <a:endParaRPr lang="en-US" sz="1200" dirty="0">
                        <a:solidFill>
                          <a:srgbClr val="FF0000"/>
                        </a:solidFill>
                        <a:latin typeface="Arial" pitchFamily="34" charset="0"/>
                        <a:cs typeface="Arial" pitchFamily="34" charset="0"/>
                      </a:endParaRPr>
                    </a:p>
                  </a:txBody>
                  <a:tcPr marL="88348" marR="88348" marT="44174" marB="44174" anchor="ctr"/>
                </a:tc>
                <a:tc>
                  <a:txBody>
                    <a:bodyPr/>
                    <a:lstStyle/>
                    <a:p>
                      <a:r>
                        <a:rPr lang="en-US" sz="1200" dirty="0"/>
                        <a:t>"   (double quote)</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6"/>
                  </a:ext>
                </a:extLst>
              </a:tr>
              <a:tr h="261094">
                <a:tc>
                  <a:txBody>
                    <a:bodyPr/>
                    <a:lstStyle/>
                    <a:p>
                      <a:r>
                        <a:rPr lang="en-US" sz="1200" dirty="0">
                          <a:solidFill>
                            <a:srgbClr val="FF0000"/>
                          </a:solidFill>
                        </a:rPr>
                        <a:t>\'</a:t>
                      </a:r>
                      <a:endParaRPr lang="en-US" sz="1200" dirty="0">
                        <a:solidFill>
                          <a:srgbClr val="FF0000"/>
                        </a:solidFill>
                        <a:latin typeface="Arial" pitchFamily="34" charset="0"/>
                        <a:cs typeface="Arial" pitchFamily="34" charset="0"/>
                      </a:endParaRPr>
                    </a:p>
                  </a:txBody>
                  <a:tcPr marL="88348" marR="88348" marT="44174" marB="44174" anchor="ctr"/>
                </a:tc>
                <a:tc>
                  <a:txBody>
                    <a:bodyPr/>
                    <a:lstStyle/>
                    <a:p>
                      <a:r>
                        <a:rPr lang="en-US" sz="1200" dirty="0"/>
                        <a:t>'    (single quote)</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7"/>
                  </a:ext>
                </a:extLst>
              </a:tr>
              <a:tr h="261094">
                <a:tc>
                  <a:txBody>
                    <a:bodyPr/>
                    <a:lstStyle/>
                    <a:p>
                      <a:r>
                        <a:rPr lang="en-US" sz="1200" dirty="0">
                          <a:solidFill>
                            <a:srgbClr val="FF0000"/>
                          </a:solidFill>
                        </a:rPr>
                        <a:t>\\</a:t>
                      </a:r>
                      <a:endParaRPr lang="en-US" sz="1200" dirty="0">
                        <a:solidFill>
                          <a:srgbClr val="FF0000"/>
                        </a:solidFill>
                        <a:latin typeface="Arial" pitchFamily="34" charset="0"/>
                        <a:cs typeface="Arial" pitchFamily="34" charset="0"/>
                      </a:endParaRPr>
                    </a:p>
                  </a:txBody>
                  <a:tcPr marL="88348" marR="88348" marT="44174" marB="44174" anchor="ctr"/>
                </a:tc>
                <a:tc>
                  <a:txBody>
                    <a:bodyPr/>
                    <a:lstStyle/>
                    <a:p>
                      <a:r>
                        <a:rPr lang="en-US" sz="1200" dirty="0"/>
                        <a:t>\    (back slash)</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8"/>
                  </a:ext>
                </a:extLst>
              </a:tr>
              <a:tr h="301910">
                <a:tc>
                  <a:txBody>
                    <a:bodyPr/>
                    <a:lstStyle/>
                    <a:p>
                      <a:r>
                        <a:rPr lang="en-US" sz="1200" dirty="0"/>
                        <a:t>\uDDDD</a:t>
                      </a:r>
                      <a:endParaRPr lang="en-US" sz="1200" dirty="0">
                        <a:latin typeface="Arial" pitchFamily="34" charset="0"/>
                        <a:cs typeface="Arial" pitchFamily="34" charset="0"/>
                      </a:endParaRPr>
                    </a:p>
                  </a:txBody>
                  <a:tcPr marL="88348" marR="88348" marT="44174" marB="44174" anchor="ctr"/>
                </a:tc>
                <a:tc>
                  <a:txBody>
                    <a:bodyPr/>
                    <a:lstStyle/>
                    <a:p>
                      <a:r>
                        <a:rPr lang="en-US" sz="1200" dirty="0"/>
                        <a:t>character from the Unicode character set (DDDD is four hex digits) – used</a:t>
                      </a:r>
                      <a:r>
                        <a:rPr lang="en-US" sz="1200" baseline="0" dirty="0"/>
                        <a:t> when the character isn’t available during input</a:t>
                      </a:r>
                      <a:endParaRPr lang="en-US" sz="1200" dirty="0">
                        <a:latin typeface="Arial" pitchFamily="34" charset="0"/>
                        <a:cs typeface="Arial" pitchFamily="34" charset="0"/>
                      </a:endParaRPr>
                    </a:p>
                  </a:txBody>
                  <a:tcPr marL="88348" marR="88348" marT="44174" marB="44174" anchor="ctr"/>
                </a:tc>
                <a:extLst>
                  <a:ext uri="{0D108BD9-81ED-4DB2-BD59-A6C34878D82A}">
                    <a16:rowId xmlns:a16="http://schemas.microsoft.com/office/drawing/2014/main" val="10009"/>
                  </a:ext>
                </a:extLst>
              </a:tr>
            </a:tbl>
          </a:graphicData>
        </a:graphic>
      </p:graphicFrame>
      <p:sp>
        <p:nvSpPr>
          <p:cNvPr id="5" name="Slide Number Placeholder 4"/>
          <p:cNvSpPr>
            <a:spLocks noGrp="1"/>
          </p:cNvSpPr>
          <p:nvPr>
            <p:ph type="sldNum" sz="quarter" idx="12"/>
          </p:nvPr>
        </p:nvSpPr>
        <p:spPr/>
        <p:txBody>
          <a:bodyPr/>
          <a:lstStyle/>
          <a:p>
            <a:fld id="{13977939-A071-43C1-9268-F54CC2756BB5}"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551688"/>
          </a:xfrm>
        </p:spPr>
        <p:txBody>
          <a:bodyPr>
            <a:normAutofit/>
          </a:bodyPr>
          <a:lstStyle/>
          <a:p>
            <a:pPr algn="ctr"/>
            <a:r>
              <a:rPr lang="en-US" sz="3200" dirty="0"/>
              <a:t>Printing Example</a:t>
            </a:r>
          </a:p>
        </p:txBody>
      </p:sp>
      <p:sp>
        <p:nvSpPr>
          <p:cNvPr id="3" name="Content Placeholder 2"/>
          <p:cNvSpPr>
            <a:spLocks noGrp="1"/>
          </p:cNvSpPr>
          <p:nvPr>
            <p:ph idx="1"/>
          </p:nvPr>
        </p:nvSpPr>
        <p:spPr>
          <a:xfrm>
            <a:off x="457200" y="1371600"/>
            <a:ext cx="8229600" cy="4114800"/>
          </a:xfrm>
        </p:spPr>
        <p:txBody>
          <a:bodyPr>
            <a:normAutofit lnSpcReduction="10000"/>
          </a:bodyPr>
          <a:lstStyle/>
          <a:p>
            <a:pPr>
              <a:buNone/>
            </a:pPr>
            <a:r>
              <a:rPr lang="en-US" sz="1600" dirty="0"/>
              <a:t>public class  PrintAPoem</a:t>
            </a:r>
          </a:p>
          <a:p>
            <a:pPr>
              <a:buNone/>
            </a:pPr>
            <a:r>
              <a:rPr lang="en-US" sz="1600" dirty="0"/>
              <a:t>{</a:t>
            </a:r>
          </a:p>
          <a:p>
            <a:pPr>
              <a:buNone/>
            </a:pPr>
            <a:r>
              <a:rPr lang="en-US" sz="1600" dirty="0"/>
              <a:t>   public static void main (String[] args)</a:t>
            </a:r>
          </a:p>
          <a:p>
            <a:pPr>
              <a:buNone/>
            </a:pPr>
            <a:r>
              <a:rPr lang="en-US" sz="1600" dirty="0"/>
              <a:t>   {</a:t>
            </a:r>
          </a:p>
          <a:p>
            <a:pPr>
              <a:buNone/>
            </a:pPr>
            <a:r>
              <a:rPr lang="en-US" sz="1600" dirty="0"/>
              <a:t>        System.out.print (“He wrote his code\n”);</a:t>
            </a:r>
          </a:p>
          <a:p>
            <a:pPr>
              <a:buNone/>
            </a:pPr>
            <a:r>
              <a:rPr lang="en-US" sz="1600" dirty="0"/>
              <a:t>        System.out.print(“\tHe indented well\n”);</a:t>
            </a:r>
          </a:p>
          <a:p>
            <a:pPr>
              <a:buNone/>
            </a:pPr>
            <a:r>
              <a:rPr lang="en-US" sz="1600" dirty="0"/>
              <a:t>	   System.out.print(“\tTill he was done\n”);</a:t>
            </a:r>
          </a:p>
          <a:p>
            <a:pPr>
              <a:buNone/>
            </a:pPr>
            <a:r>
              <a:rPr lang="en-US" sz="1600" dirty="0"/>
              <a:t>        System.out.print(“\nThe Author\n”);</a:t>
            </a:r>
          </a:p>
          <a:p>
            <a:pPr>
              <a:buNone/>
            </a:pPr>
            <a:r>
              <a:rPr lang="en-US" sz="1600" dirty="0"/>
              <a:t>    }</a:t>
            </a:r>
          </a:p>
          <a:p>
            <a:pPr>
              <a:buNone/>
            </a:pPr>
            <a:r>
              <a:rPr lang="en-US" sz="1600" dirty="0"/>
              <a:t>}</a:t>
            </a:r>
          </a:p>
          <a:p>
            <a:pPr>
              <a:buNone/>
            </a:pPr>
            <a:r>
              <a:rPr lang="en-US" sz="1600" dirty="0"/>
              <a:t>He wrote his code</a:t>
            </a:r>
          </a:p>
          <a:p>
            <a:pPr>
              <a:buNone/>
            </a:pPr>
            <a:r>
              <a:rPr lang="en-US" sz="1600" dirty="0"/>
              <a:t>	He indented well</a:t>
            </a:r>
          </a:p>
          <a:p>
            <a:pPr>
              <a:buNone/>
            </a:pPr>
            <a:r>
              <a:rPr lang="en-US" sz="1600" dirty="0"/>
              <a:t>	Till he was done</a:t>
            </a:r>
          </a:p>
          <a:p>
            <a:pPr>
              <a:buNone/>
            </a:pPr>
            <a:endParaRPr lang="en-US" sz="1600" dirty="0"/>
          </a:p>
          <a:p>
            <a:pPr>
              <a:buNone/>
            </a:pPr>
            <a:r>
              <a:rPr lang="en-US" sz="1600" dirty="0"/>
              <a:t>The Author</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17</a:t>
            </a:fld>
            <a:endParaRPr lang="en-US" dirty="0"/>
          </a:p>
        </p:txBody>
      </p:sp>
      <p:sp>
        <p:nvSpPr>
          <p:cNvPr id="5" name="TextBox 4"/>
          <p:cNvSpPr txBox="1"/>
          <p:nvPr/>
        </p:nvSpPr>
        <p:spPr>
          <a:xfrm>
            <a:off x="685800" y="5782270"/>
            <a:ext cx="7738016" cy="923330"/>
          </a:xfrm>
          <a:prstGeom prst="rect">
            <a:avLst/>
          </a:prstGeom>
          <a:noFill/>
        </p:spPr>
        <p:txBody>
          <a:bodyPr wrap="none" rtlCol="0">
            <a:spAutoFit/>
          </a:bodyPr>
          <a:lstStyle/>
          <a:p>
            <a:r>
              <a:rPr lang="en-US" dirty="0"/>
              <a:t>System.out.println(concatenated String) – prints and goes to the next line</a:t>
            </a:r>
          </a:p>
          <a:p>
            <a:r>
              <a:rPr lang="en-US" dirty="0"/>
              <a:t>System.out.print(concatenated String) – prints and stays on the same line</a:t>
            </a:r>
          </a:p>
          <a:p>
            <a:r>
              <a:rPr lang="en-US"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551688"/>
          </a:xfrm>
        </p:spPr>
        <p:txBody>
          <a:bodyPr>
            <a:normAutofit fontScale="90000"/>
          </a:bodyPr>
          <a:lstStyle/>
          <a:p>
            <a:pPr algn="ctr"/>
            <a:r>
              <a:rPr lang="en-US" sz="3200" dirty="0"/>
              <a:t>Printing Example – Concatenation in Print Statements</a:t>
            </a:r>
          </a:p>
        </p:txBody>
      </p:sp>
      <p:sp>
        <p:nvSpPr>
          <p:cNvPr id="3" name="Content Placeholder 2"/>
          <p:cNvSpPr>
            <a:spLocks noGrp="1"/>
          </p:cNvSpPr>
          <p:nvPr>
            <p:ph idx="1"/>
          </p:nvPr>
        </p:nvSpPr>
        <p:spPr>
          <a:xfrm>
            <a:off x="457200" y="1371600"/>
            <a:ext cx="8229600" cy="4724400"/>
          </a:xfrm>
        </p:spPr>
        <p:txBody>
          <a:bodyPr>
            <a:normAutofit fontScale="85000" lnSpcReduction="10000"/>
          </a:bodyPr>
          <a:lstStyle/>
          <a:p>
            <a:r>
              <a:rPr lang="en-US" dirty="0"/>
              <a:t>When you write expressions in a System.out.println() statement the expression may or may not be calculated first, depending on if and where you put the parentheses</a:t>
            </a:r>
          </a:p>
          <a:p>
            <a:pPr lvl="1"/>
            <a:r>
              <a:rPr lang="en-US" dirty="0"/>
              <a:t>The rules are exactly the same as used when concatenating String(s)</a:t>
            </a:r>
          </a:p>
          <a:p>
            <a:pPr lvl="1"/>
            <a:r>
              <a:rPr lang="en-US" dirty="0"/>
              <a:t>Ultimately the println method will output a single String</a:t>
            </a:r>
          </a:p>
          <a:p>
            <a:endParaRPr lang="en-US" dirty="0"/>
          </a:p>
          <a:p>
            <a:pPr marL="0" indent="0">
              <a:buNone/>
            </a:pPr>
            <a:r>
              <a:rPr lang="en-US" sz="1900" dirty="0"/>
              <a:t>public class PrintingNumbers  //Class name</a:t>
            </a:r>
          </a:p>
          <a:p>
            <a:pPr marL="0" indent="0">
              <a:buNone/>
            </a:pPr>
            <a:r>
              <a:rPr lang="en-US" sz="1900" dirty="0"/>
              <a:t>{ </a:t>
            </a:r>
          </a:p>
          <a:p>
            <a:pPr marL="0" indent="0">
              <a:buNone/>
            </a:pPr>
            <a:r>
              <a:rPr lang="en-US" sz="1900" dirty="0"/>
              <a:t>	public static void main ( String[] args )  </a:t>
            </a:r>
          </a:p>
          <a:p>
            <a:pPr marL="0" indent="0">
              <a:buNone/>
            </a:pPr>
            <a:r>
              <a:rPr lang="en-US" sz="1900" dirty="0"/>
              <a:t>    { </a:t>
            </a:r>
          </a:p>
          <a:p>
            <a:pPr marL="0" indent="0">
              <a:buNone/>
            </a:pPr>
            <a:r>
              <a:rPr lang="en-US" sz="1900" dirty="0"/>
              <a:t>    	System.out.println("The sum of 5 + 6 is " + (5+6));</a:t>
            </a:r>
          </a:p>
          <a:p>
            <a:pPr marL="0" indent="0">
              <a:buNone/>
            </a:pPr>
            <a:r>
              <a:rPr lang="en-US" sz="1900" dirty="0"/>
              <a:t>	System.out.println("The sum of 5 + 6 is " + 5+6);</a:t>
            </a:r>
          </a:p>
          <a:p>
            <a:pPr marL="0" indent="0">
              <a:buNone/>
            </a:pPr>
            <a:r>
              <a:rPr lang="en-US" sz="1900" dirty="0"/>
              <a:t>    	System.out.println("The sum of " +5 +" + " +6 + " is " +(5 + 6)); </a:t>
            </a:r>
          </a:p>
          <a:p>
            <a:pPr marL="0" indent="0">
              <a:buNone/>
            </a:pPr>
            <a:r>
              <a:rPr lang="en-US" sz="1900" dirty="0"/>
              <a:t>    } </a:t>
            </a:r>
          </a:p>
          <a:p>
            <a:pPr marL="0" indent="0">
              <a:buNone/>
            </a:pPr>
            <a:r>
              <a:rPr lang="en-US" sz="1900" dirty="0"/>
              <a:t>} </a:t>
            </a:r>
          </a:p>
        </p:txBody>
      </p:sp>
      <p:sp>
        <p:nvSpPr>
          <p:cNvPr id="4" name="Slide Number Placeholder 3"/>
          <p:cNvSpPr>
            <a:spLocks noGrp="1"/>
          </p:cNvSpPr>
          <p:nvPr>
            <p:ph type="sldNum" sz="quarter" idx="12"/>
          </p:nvPr>
        </p:nvSpPr>
        <p:spPr/>
        <p:txBody>
          <a:bodyPr/>
          <a:lstStyle/>
          <a:p>
            <a:fld id="{13977939-A071-43C1-9268-F54CC2756BB5}" type="slidenum">
              <a:rPr lang="en-US" smtClean="0"/>
              <a:pPr/>
              <a:t>18</a:t>
            </a:fld>
            <a:endParaRPr lang="en-US" dirty="0"/>
          </a:p>
        </p:txBody>
      </p:sp>
    </p:spTree>
    <p:extLst>
      <p:ext uri="{BB962C8B-B14F-4D97-AF65-F5344CB8AC3E}">
        <p14:creationId xmlns:p14="http://schemas.microsoft.com/office/powerpoint/2010/main" val="11266650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46A5D-59BF-3D2C-BB1E-A24BC8DB11CF}"/>
              </a:ext>
            </a:extLst>
          </p:cNvPr>
          <p:cNvSpPr>
            <a:spLocks noGrp="1"/>
          </p:cNvSpPr>
          <p:nvPr>
            <p:ph type="body" idx="1"/>
          </p:nvPr>
        </p:nvSpPr>
        <p:spPr/>
        <p:txBody>
          <a:bodyPr/>
          <a:lstStyle/>
          <a:p>
            <a:r>
              <a:rPr lang="en-US" dirty="0"/>
              <a:t>Formatted Printing Using The printf Method</a:t>
            </a:r>
          </a:p>
        </p:txBody>
      </p:sp>
      <p:sp>
        <p:nvSpPr>
          <p:cNvPr id="4" name="Slide Number Placeholder 3">
            <a:extLst>
              <a:ext uri="{FF2B5EF4-FFF2-40B4-BE49-F238E27FC236}">
                <a16:creationId xmlns:a16="http://schemas.microsoft.com/office/drawing/2014/main" id="{61479339-A475-3028-BA5E-32A42A4B620B}"/>
              </a:ext>
            </a:extLst>
          </p:cNvPr>
          <p:cNvSpPr>
            <a:spLocks noGrp="1"/>
          </p:cNvSpPr>
          <p:nvPr>
            <p:ph type="sldNum" sz="quarter" idx="12"/>
          </p:nvPr>
        </p:nvSpPr>
        <p:spPr/>
        <p:txBody>
          <a:bodyPr/>
          <a:lstStyle/>
          <a:p>
            <a:fld id="{13977939-A071-43C1-9268-F54CC2756BB5}" type="slidenum">
              <a:rPr lang="en-US" smtClean="0"/>
              <a:pPr/>
              <a:t>19</a:t>
            </a:fld>
            <a:endParaRPr lang="en-US" dirty="0"/>
          </a:p>
        </p:txBody>
      </p:sp>
    </p:spTree>
    <p:extLst>
      <p:ext uri="{BB962C8B-B14F-4D97-AF65-F5344CB8AC3E}">
        <p14:creationId xmlns:p14="http://schemas.microsoft.com/office/powerpoint/2010/main" val="4036445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F1D5C-A77A-5CEF-4F93-64EA7CDFE26B}"/>
              </a:ext>
            </a:extLst>
          </p:cNvPr>
          <p:cNvSpPr>
            <a:spLocks noGrp="1"/>
          </p:cNvSpPr>
          <p:nvPr>
            <p:ph type="title"/>
          </p:nvPr>
        </p:nvSpPr>
        <p:spPr/>
        <p:txBody>
          <a:bodyPr>
            <a:noAutofit/>
          </a:bodyPr>
          <a:lstStyle/>
          <a:p>
            <a:r>
              <a:rPr lang="en-US" dirty="0"/>
              <a:t>Notice And Warning</a:t>
            </a:r>
          </a:p>
        </p:txBody>
      </p:sp>
      <p:sp>
        <p:nvSpPr>
          <p:cNvPr id="3" name="Content Placeholder 2">
            <a:extLst>
              <a:ext uri="{FF2B5EF4-FFF2-40B4-BE49-F238E27FC236}">
                <a16:creationId xmlns:a16="http://schemas.microsoft.com/office/drawing/2014/main" id="{7CA20640-DE00-FD4E-C719-ADBBD84A1E71}"/>
              </a:ext>
            </a:extLst>
          </p:cNvPr>
          <p:cNvSpPr>
            <a:spLocks noGrp="1"/>
          </p:cNvSpPr>
          <p:nvPr>
            <p:ph idx="1"/>
          </p:nvPr>
        </p:nvSpPr>
        <p:spPr/>
        <p:txBody>
          <a:bodyPr/>
          <a:lstStyle/>
          <a:p>
            <a:r>
              <a:rPr lang="en-US" dirty="0"/>
              <a:t>Every Semester There Are Students Who Want To Stick With Their OLD Methods Rather Than Learning How To Use the formatted printing method printf</a:t>
            </a:r>
          </a:p>
          <a:p>
            <a:r>
              <a:rPr lang="en-US" dirty="0"/>
              <a:t>If you do not use this method and your output formatting is incorrect in any way you will lose points on any homework and/or exams</a:t>
            </a:r>
          </a:p>
        </p:txBody>
      </p:sp>
      <p:sp>
        <p:nvSpPr>
          <p:cNvPr id="4" name="Slide Number Placeholder 3">
            <a:extLst>
              <a:ext uri="{FF2B5EF4-FFF2-40B4-BE49-F238E27FC236}">
                <a16:creationId xmlns:a16="http://schemas.microsoft.com/office/drawing/2014/main" id="{8FC2B7F8-019E-A9D1-B1F3-A1B20050C74B}"/>
              </a:ext>
            </a:extLst>
          </p:cNvPr>
          <p:cNvSpPr>
            <a:spLocks noGrp="1"/>
          </p:cNvSpPr>
          <p:nvPr>
            <p:ph type="sldNum" sz="quarter" idx="12"/>
          </p:nvPr>
        </p:nvSpPr>
        <p:spPr/>
        <p:txBody>
          <a:bodyPr/>
          <a:lstStyle/>
          <a:p>
            <a:fld id="{13977939-A071-43C1-9268-F54CC2756BB5}" type="slidenum">
              <a:rPr lang="en-US" smtClean="0"/>
              <a:pPr/>
              <a:t>20</a:t>
            </a:fld>
            <a:endParaRPr lang="en-US" dirty="0"/>
          </a:p>
        </p:txBody>
      </p:sp>
    </p:spTree>
    <p:extLst>
      <p:ext uri="{BB962C8B-B14F-4D97-AF65-F5344CB8AC3E}">
        <p14:creationId xmlns:p14="http://schemas.microsoft.com/office/powerpoint/2010/main" val="3097014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15112"/>
            <a:ext cx="8229600" cy="551688"/>
          </a:xfrm>
        </p:spPr>
        <p:txBody>
          <a:bodyPr>
            <a:normAutofit/>
          </a:bodyPr>
          <a:lstStyle/>
          <a:p>
            <a:pPr algn="ctr"/>
            <a:r>
              <a:rPr lang="en-US" sz="3200" dirty="0"/>
              <a:t>Formatted Printing with printf (1)</a:t>
            </a:r>
          </a:p>
        </p:txBody>
      </p:sp>
      <p:sp>
        <p:nvSpPr>
          <p:cNvPr id="3" name="Content Placeholder 2"/>
          <p:cNvSpPr>
            <a:spLocks noGrp="1"/>
          </p:cNvSpPr>
          <p:nvPr>
            <p:ph idx="1"/>
          </p:nvPr>
        </p:nvSpPr>
        <p:spPr>
          <a:xfrm>
            <a:off x="457200" y="1143000"/>
            <a:ext cx="8229600" cy="5486400"/>
          </a:xfrm>
        </p:spPr>
        <p:txBody>
          <a:bodyPr>
            <a:normAutofit/>
          </a:bodyPr>
          <a:lstStyle/>
          <a:p>
            <a:pPr marL="0" indent="0">
              <a:buNone/>
            </a:pPr>
            <a:r>
              <a:rPr lang="en-US" sz="1200" dirty="0">
                <a:latin typeface="Times New Roman"/>
                <a:cs typeface="Times New Roman"/>
              </a:rPr>
              <a:t>System.out.printf(“ characters </a:t>
            </a:r>
            <a:r>
              <a:rPr lang="en-US" sz="1200" dirty="0">
                <a:solidFill>
                  <a:srgbClr val="FF0000"/>
                </a:solidFill>
                <a:latin typeface="Times New Roman"/>
                <a:cs typeface="Times New Roman"/>
              </a:rPr>
              <a:t>%format1 </a:t>
            </a:r>
            <a:r>
              <a:rPr lang="en-US" sz="1200" dirty="0">
                <a:latin typeface="Times New Roman"/>
                <a:cs typeface="Times New Roman"/>
              </a:rPr>
              <a:t>characters</a:t>
            </a:r>
            <a:r>
              <a:rPr lang="en-US" sz="1200" dirty="0">
                <a:solidFill>
                  <a:srgbClr val="FF0000"/>
                </a:solidFill>
                <a:latin typeface="Times New Roman"/>
                <a:cs typeface="Times New Roman"/>
              </a:rPr>
              <a:t> </a:t>
            </a:r>
            <a:r>
              <a:rPr lang="en-US" sz="1200" dirty="0">
                <a:solidFill>
                  <a:schemeClr val="accent5">
                    <a:lumMod val="75000"/>
                  </a:schemeClr>
                </a:solidFill>
                <a:latin typeface="Times New Roman"/>
                <a:cs typeface="Times New Roman"/>
              </a:rPr>
              <a:t>%format2 </a:t>
            </a:r>
            <a:r>
              <a:rPr lang="en-US" sz="1200" dirty="0">
                <a:latin typeface="Times New Roman"/>
                <a:cs typeface="Times New Roman"/>
              </a:rPr>
              <a:t>characters </a:t>
            </a:r>
            <a:r>
              <a:rPr lang="en-US" sz="1200" dirty="0">
                <a:solidFill>
                  <a:srgbClr val="FF6600"/>
                </a:solidFill>
                <a:latin typeface="Times New Roman"/>
                <a:cs typeface="Times New Roman"/>
              </a:rPr>
              <a:t>%format3</a:t>
            </a:r>
            <a:r>
              <a:rPr lang="en-US" sz="1200" dirty="0">
                <a:latin typeface="Times New Roman"/>
                <a:cs typeface="Times New Roman"/>
              </a:rPr>
              <a:t>”, </a:t>
            </a:r>
            <a:r>
              <a:rPr lang="en-US" sz="1200" dirty="0">
                <a:solidFill>
                  <a:srgbClr val="FF0000"/>
                </a:solidFill>
                <a:latin typeface="Times New Roman"/>
                <a:cs typeface="Times New Roman"/>
              </a:rPr>
              <a:t>varorconst1</a:t>
            </a:r>
            <a:r>
              <a:rPr lang="en-US" sz="1200" dirty="0">
                <a:latin typeface="Times New Roman"/>
                <a:cs typeface="Times New Roman"/>
              </a:rPr>
              <a:t>, </a:t>
            </a:r>
            <a:r>
              <a:rPr lang="en-US" sz="1200" dirty="0">
                <a:solidFill>
                  <a:srgbClr val="55A839"/>
                </a:solidFill>
                <a:latin typeface="Times New Roman"/>
                <a:cs typeface="Times New Roman"/>
              </a:rPr>
              <a:t>varorconst2</a:t>
            </a:r>
            <a:r>
              <a:rPr lang="en-US" sz="1200" dirty="0">
                <a:latin typeface="Times New Roman"/>
                <a:cs typeface="Times New Roman"/>
              </a:rPr>
              <a:t>, </a:t>
            </a:r>
            <a:r>
              <a:rPr lang="en-US" sz="1200" dirty="0">
                <a:solidFill>
                  <a:srgbClr val="FF6600"/>
                </a:solidFill>
                <a:latin typeface="Times New Roman"/>
                <a:cs typeface="Times New Roman"/>
              </a:rPr>
              <a:t>varorconst3</a:t>
            </a:r>
            <a:r>
              <a:rPr lang="en-US" sz="1200" dirty="0">
                <a:latin typeface="Times New Roman"/>
                <a:cs typeface="Times New Roman"/>
              </a:rPr>
              <a:t>); </a:t>
            </a:r>
          </a:p>
          <a:p>
            <a:pPr marL="0" indent="0">
              <a:buNone/>
            </a:pPr>
            <a:endParaRPr lang="en-US" sz="1600" dirty="0">
              <a:latin typeface="Times New Roman"/>
              <a:cs typeface="Times New Roman"/>
            </a:endParaRPr>
          </a:p>
          <a:p>
            <a:r>
              <a:rPr lang="en-US" sz="2000" dirty="0">
                <a:latin typeface="Times New Roman"/>
                <a:cs typeface="Times New Roman"/>
              </a:rPr>
              <a:t>The first parameter is a String (in double quotes) that lays out the sentence and format for each variable, and includes special control characters</a:t>
            </a:r>
          </a:p>
          <a:p>
            <a:r>
              <a:rPr lang="en-US" sz="2000" dirty="0">
                <a:latin typeface="Times New Roman"/>
                <a:cs typeface="Times New Roman"/>
              </a:rPr>
              <a:t>There is a one to one mapping of format to variable</a:t>
            </a:r>
          </a:p>
          <a:p>
            <a:r>
              <a:rPr lang="en-US" sz="2000" dirty="0">
                <a:latin typeface="Times New Roman"/>
                <a:cs typeface="Times New Roman"/>
              </a:rPr>
              <a:t>The variable must match the format type</a:t>
            </a:r>
          </a:p>
          <a:p>
            <a:r>
              <a:rPr lang="en-US" sz="2000" dirty="0">
                <a:latin typeface="Times New Roman"/>
                <a:cs typeface="Times New Roman"/>
              </a:rPr>
              <a:t>Example</a:t>
            </a:r>
          </a:p>
          <a:p>
            <a:r>
              <a:rPr lang="en-US" sz="2000" dirty="0">
                <a:latin typeface="Times New Roman"/>
                <a:cs typeface="Times New Roman"/>
              </a:rPr>
              <a:t>System.out.printf(“The average of %,d students taking %d exams is %3.2f\n”, 1250, 4, 78.655);  // prints out as:</a:t>
            </a:r>
          </a:p>
          <a:p>
            <a:endParaRPr lang="en-US" sz="2000" dirty="0">
              <a:latin typeface="Times New Roman"/>
              <a:cs typeface="Times New Roman"/>
            </a:endParaRPr>
          </a:p>
          <a:p>
            <a:pPr marL="0" indent="0">
              <a:buNone/>
            </a:pPr>
            <a:r>
              <a:rPr lang="en-US" sz="2000" dirty="0"/>
              <a:t>The average of </a:t>
            </a:r>
            <a:r>
              <a:rPr lang="en-US" sz="2000" dirty="0">
                <a:solidFill>
                  <a:srgbClr val="FF0000"/>
                </a:solidFill>
              </a:rPr>
              <a:t>1,250</a:t>
            </a:r>
            <a:r>
              <a:rPr lang="en-US" sz="2000" dirty="0"/>
              <a:t> students taking </a:t>
            </a:r>
            <a:r>
              <a:rPr lang="en-US" sz="2000" dirty="0">
                <a:solidFill>
                  <a:schemeClr val="accent5">
                    <a:lumMod val="75000"/>
                  </a:schemeClr>
                </a:solidFill>
              </a:rPr>
              <a:t>4</a:t>
            </a:r>
            <a:r>
              <a:rPr lang="en-US" sz="2000" dirty="0"/>
              <a:t> exams is </a:t>
            </a:r>
            <a:r>
              <a:rPr lang="en-US" sz="2000" dirty="0">
                <a:solidFill>
                  <a:srgbClr val="FF6600"/>
                </a:solidFill>
              </a:rPr>
              <a:t>78.66</a:t>
            </a:r>
          </a:p>
          <a:p>
            <a:pPr marL="0" indent="0">
              <a:buNone/>
            </a:pPr>
            <a:endParaRPr lang="en-US" sz="1600" dirty="0">
              <a:solidFill>
                <a:srgbClr val="FF6600"/>
              </a:solidFill>
              <a:latin typeface="Times New Roman"/>
              <a:cs typeface="Times New Roman"/>
            </a:endParaRPr>
          </a:p>
          <a:p>
            <a:r>
              <a:rPr lang="en-US" sz="2000" dirty="0">
                <a:solidFill>
                  <a:srgbClr val="FF0000"/>
                </a:solidFill>
                <a:latin typeface="Times New Roman"/>
                <a:cs typeface="Times New Roman"/>
              </a:rPr>
              <a:t>Each format specification begins with </a:t>
            </a:r>
            <a:r>
              <a:rPr lang="en-US" sz="2000" b="1" dirty="0">
                <a:solidFill>
                  <a:srgbClr val="FF0000"/>
                </a:solidFill>
                <a:latin typeface="Times New Roman"/>
                <a:cs typeface="Times New Roman"/>
              </a:rPr>
              <a:t>%</a:t>
            </a:r>
            <a:r>
              <a:rPr lang="en-US" sz="2000" dirty="0">
                <a:solidFill>
                  <a:srgbClr val="FF0000"/>
                </a:solidFill>
                <a:latin typeface="Times New Roman"/>
                <a:cs typeface="Times New Roman"/>
              </a:rPr>
              <a:t> and ends with the </a:t>
            </a:r>
            <a:r>
              <a:rPr lang="en-US" sz="2000" b="1" dirty="0">
                <a:solidFill>
                  <a:srgbClr val="FF0000"/>
                </a:solidFill>
                <a:latin typeface="Times New Roman"/>
                <a:cs typeface="Times New Roman"/>
              </a:rPr>
              <a:t>format specifier</a:t>
            </a:r>
            <a:r>
              <a:rPr lang="en-US" sz="2000" dirty="0">
                <a:solidFill>
                  <a:srgbClr val="FF0000"/>
                </a:solidFill>
                <a:latin typeface="Times New Roman"/>
                <a:cs typeface="Times New Roman"/>
              </a:rPr>
              <a:t> type (see next page)</a:t>
            </a:r>
            <a:endParaRPr lang="en-US" sz="2000" dirty="0">
              <a:solidFill>
                <a:srgbClr val="FF0000"/>
              </a:solidFill>
            </a:endParaRPr>
          </a:p>
          <a:p>
            <a:endParaRPr lang="en-US" sz="16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21</a:t>
            </a:fld>
            <a:endParaRPr lang="en-US" dirty="0"/>
          </a:p>
        </p:txBody>
      </p:sp>
    </p:spTree>
    <p:extLst>
      <p:ext uri="{BB962C8B-B14F-4D97-AF65-F5344CB8AC3E}">
        <p14:creationId xmlns:p14="http://schemas.microsoft.com/office/powerpoint/2010/main" val="1755707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15112"/>
            <a:ext cx="8229600" cy="551688"/>
          </a:xfrm>
        </p:spPr>
        <p:txBody>
          <a:bodyPr>
            <a:normAutofit/>
          </a:bodyPr>
          <a:lstStyle/>
          <a:p>
            <a:pPr algn="ctr"/>
            <a:r>
              <a:rPr lang="en-US" sz="3200" dirty="0"/>
              <a:t>Formatted Printing with printf (2)</a:t>
            </a:r>
          </a:p>
        </p:txBody>
      </p:sp>
      <p:sp>
        <p:nvSpPr>
          <p:cNvPr id="3" name="Content Placeholder 2"/>
          <p:cNvSpPr>
            <a:spLocks noGrp="1"/>
          </p:cNvSpPr>
          <p:nvPr>
            <p:ph idx="1"/>
          </p:nvPr>
        </p:nvSpPr>
        <p:spPr>
          <a:xfrm>
            <a:off x="457200" y="1371600"/>
            <a:ext cx="8229600" cy="4724400"/>
          </a:xfrm>
        </p:spPr>
        <p:txBody>
          <a:bodyPr>
            <a:normAutofit fontScale="85000" lnSpcReduction="10000"/>
          </a:bodyPr>
          <a:lstStyle/>
          <a:p>
            <a:r>
              <a:rPr lang="en-US" sz="2800" dirty="0"/>
              <a:t>For simple formatted outputs, each format parameter aligns to the subsequent variable or constant after the String</a:t>
            </a:r>
            <a:endParaRPr lang="en-US" dirty="0"/>
          </a:p>
          <a:p>
            <a:r>
              <a:rPr lang="en-US" dirty="0"/>
              <a:t>It is possible to more clearly format your output with the printf method</a:t>
            </a:r>
          </a:p>
          <a:p>
            <a:pPr lvl="1"/>
            <a:r>
              <a:rPr lang="en-US" dirty="0"/>
              <a:t>Width, precision, leading blanks, signs, etc. can all be controlled</a:t>
            </a:r>
          </a:p>
          <a:p>
            <a:r>
              <a:rPr lang="en-US" dirty="0"/>
              <a:t>The printf method has a String followed by a number of primitive or object variables to be printed</a:t>
            </a:r>
          </a:p>
          <a:p>
            <a:pPr lvl="1"/>
            <a:r>
              <a:rPr lang="en-US" dirty="0"/>
              <a:t>You can also specify formatting a geographic area, but we’ll ignore that for now</a:t>
            </a:r>
          </a:p>
          <a:p>
            <a:r>
              <a:rPr lang="en-US" dirty="0"/>
              <a:t>Please use printf as opposed to println and print in this class to the greatest extent possible</a:t>
            </a:r>
          </a:p>
          <a:p>
            <a:r>
              <a:rPr lang="en-US" dirty="0"/>
              <a:t>Nice reference</a:t>
            </a:r>
          </a:p>
          <a:p>
            <a:pPr marL="393192" lvl="1" indent="0">
              <a:buNone/>
            </a:pPr>
            <a:r>
              <a:rPr lang="en-US" sz="1500" dirty="0">
                <a:hlinkClick r:id="rId3"/>
              </a:rPr>
              <a:t>http://www.java2s.com/Tutorial/Java/0120__Development/UsingJavasprintfMethod.htm</a:t>
            </a:r>
            <a:endParaRPr lang="en-US" sz="1500" dirty="0"/>
          </a:p>
          <a:p>
            <a:endParaRPr lang="en-US" sz="1900" dirty="0"/>
          </a:p>
          <a:p>
            <a:endParaRPr lang="en-US" sz="19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22</a:t>
            </a:fld>
            <a:endParaRPr lang="en-US" dirty="0"/>
          </a:p>
        </p:txBody>
      </p:sp>
    </p:spTree>
    <p:extLst>
      <p:ext uri="{BB962C8B-B14F-4D97-AF65-F5344CB8AC3E}">
        <p14:creationId xmlns:p14="http://schemas.microsoft.com/office/powerpoint/2010/main" val="4112115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551688"/>
          </a:xfrm>
        </p:spPr>
        <p:txBody>
          <a:bodyPr>
            <a:normAutofit fontScale="90000"/>
          </a:bodyPr>
          <a:lstStyle/>
          <a:p>
            <a:r>
              <a:rPr lang="en-US" sz="3200" dirty="0"/>
              <a:t>Some Key Conversion Character Specifiers For Formatted Output</a:t>
            </a:r>
          </a:p>
        </p:txBody>
      </p:sp>
      <p:graphicFrame>
        <p:nvGraphicFramePr>
          <p:cNvPr id="5" name="Content Placeholder 4"/>
          <p:cNvGraphicFramePr>
            <a:graphicFrameLocks noGrp="1"/>
          </p:cNvGraphicFramePr>
          <p:nvPr>
            <p:ph idx="1"/>
          </p:nvPr>
        </p:nvGraphicFramePr>
        <p:xfrm>
          <a:off x="457200" y="1066800"/>
          <a:ext cx="7010400" cy="3337560"/>
        </p:xfrm>
        <a:graphic>
          <a:graphicData uri="http://schemas.openxmlformats.org/drawingml/2006/table">
            <a:tbl>
              <a:tblPr firstRow="1" bandRow="1">
                <a:tableStyleId>{5C22544A-7EE6-4342-B048-85BDC9FD1C3A}</a:tableStyleId>
              </a:tblPr>
              <a:tblGrid>
                <a:gridCol w="1456707">
                  <a:extLst>
                    <a:ext uri="{9D8B030D-6E8A-4147-A177-3AD203B41FA5}">
                      <a16:colId xmlns:a16="http://schemas.microsoft.com/office/drawing/2014/main" val="20000"/>
                    </a:ext>
                  </a:extLst>
                </a:gridCol>
                <a:gridCol w="2658093">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70840">
                <a:tc>
                  <a:txBody>
                    <a:bodyPr/>
                    <a:lstStyle/>
                    <a:p>
                      <a:r>
                        <a:rPr lang="en-US" dirty="0">
                          <a:latin typeface="Arial"/>
                          <a:cs typeface="Arial"/>
                        </a:rPr>
                        <a:t>Specifier</a:t>
                      </a:r>
                    </a:p>
                  </a:txBody>
                  <a:tcPr/>
                </a:tc>
                <a:tc>
                  <a:txBody>
                    <a:bodyPr/>
                    <a:lstStyle/>
                    <a:p>
                      <a:r>
                        <a:rPr lang="en-US" dirty="0">
                          <a:latin typeface="Arial"/>
                          <a:cs typeface="Arial"/>
                        </a:rPr>
                        <a:t>Name</a:t>
                      </a:r>
                    </a:p>
                  </a:txBody>
                  <a:tcPr/>
                </a:tc>
                <a:tc>
                  <a:txBody>
                    <a:bodyPr/>
                    <a:lstStyle/>
                    <a:p>
                      <a:r>
                        <a:rPr lang="en-US" dirty="0">
                          <a:latin typeface="Arial"/>
                          <a:cs typeface="Arial"/>
                        </a:rPr>
                        <a:t>Example</a:t>
                      </a:r>
                    </a:p>
                  </a:txBody>
                  <a:tcPr/>
                </a:tc>
                <a:extLst>
                  <a:ext uri="{0D108BD9-81ED-4DB2-BD59-A6C34878D82A}">
                    <a16:rowId xmlns:a16="http://schemas.microsoft.com/office/drawing/2014/main" val="10000"/>
                  </a:ext>
                </a:extLst>
              </a:tr>
              <a:tr h="370840">
                <a:tc>
                  <a:txBody>
                    <a:bodyPr/>
                    <a:lstStyle/>
                    <a:p>
                      <a:r>
                        <a:rPr lang="en-US" dirty="0">
                          <a:latin typeface="Arial"/>
                          <a:cs typeface="Arial"/>
                        </a:rPr>
                        <a:t>%b or %B</a:t>
                      </a:r>
                    </a:p>
                  </a:txBody>
                  <a:tcPr/>
                </a:tc>
                <a:tc>
                  <a:txBody>
                    <a:bodyPr/>
                    <a:lstStyle/>
                    <a:p>
                      <a:r>
                        <a:rPr lang="en-US" dirty="0">
                          <a:latin typeface="Arial"/>
                          <a:cs typeface="Arial"/>
                        </a:rPr>
                        <a:t>boolean</a:t>
                      </a:r>
                    </a:p>
                  </a:txBody>
                  <a:tcPr/>
                </a:tc>
                <a:tc>
                  <a:txBody>
                    <a:bodyPr/>
                    <a:lstStyle/>
                    <a:p>
                      <a:r>
                        <a:rPr lang="en-US" dirty="0">
                          <a:latin typeface="Arial"/>
                          <a:cs typeface="Arial"/>
                        </a:rPr>
                        <a:t>false or FALSE</a:t>
                      </a:r>
                    </a:p>
                  </a:txBody>
                  <a:tcPr/>
                </a:tc>
                <a:extLst>
                  <a:ext uri="{0D108BD9-81ED-4DB2-BD59-A6C34878D82A}">
                    <a16:rowId xmlns:a16="http://schemas.microsoft.com/office/drawing/2014/main" val="10001"/>
                  </a:ext>
                </a:extLst>
              </a:tr>
              <a:tr h="370840">
                <a:tc>
                  <a:txBody>
                    <a:bodyPr/>
                    <a:lstStyle/>
                    <a:p>
                      <a:r>
                        <a:rPr lang="en-US" dirty="0">
                          <a:latin typeface="Arial"/>
                          <a:cs typeface="Arial"/>
                        </a:rPr>
                        <a:t>%c or %C</a:t>
                      </a:r>
                    </a:p>
                  </a:txBody>
                  <a:tcPr/>
                </a:tc>
                <a:tc>
                  <a:txBody>
                    <a:bodyPr/>
                    <a:lstStyle/>
                    <a:p>
                      <a:r>
                        <a:rPr lang="en-US" dirty="0">
                          <a:latin typeface="Arial"/>
                          <a:cs typeface="Arial"/>
                        </a:rPr>
                        <a:t>character</a:t>
                      </a:r>
                    </a:p>
                  </a:txBody>
                  <a:tcPr/>
                </a:tc>
                <a:tc>
                  <a:txBody>
                    <a:bodyPr/>
                    <a:lstStyle/>
                    <a:p>
                      <a:r>
                        <a:rPr lang="en-US" dirty="0">
                          <a:latin typeface="Arial"/>
                          <a:cs typeface="Arial"/>
                        </a:rPr>
                        <a:t>f or F</a:t>
                      </a:r>
                    </a:p>
                  </a:txBody>
                  <a:tcPr/>
                </a:tc>
                <a:extLst>
                  <a:ext uri="{0D108BD9-81ED-4DB2-BD59-A6C34878D82A}">
                    <a16:rowId xmlns:a16="http://schemas.microsoft.com/office/drawing/2014/main" val="10002"/>
                  </a:ext>
                </a:extLst>
              </a:tr>
              <a:tr h="370840">
                <a:tc>
                  <a:txBody>
                    <a:bodyPr/>
                    <a:lstStyle/>
                    <a:p>
                      <a:r>
                        <a:rPr lang="en-US" dirty="0">
                          <a:latin typeface="Arial"/>
                          <a:cs typeface="Arial"/>
                        </a:rPr>
                        <a:t>%d</a:t>
                      </a:r>
                    </a:p>
                  </a:txBody>
                  <a:tcPr/>
                </a:tc>
                <a:tc>
                  <a:txBody>
                    <a:bodyPr/>
                    <a:lstStyle/>
                    <a:p>
                      <a:r>
                        <a:rPr lang="en-US" dirty="0">
                          <a:latin typeface="Arial"/>
                          <a:cs typeface="Arial"/>
                        </a:rPr>
                        <a:t>decimal integer</a:t>
                      </a:r>
                    </a:p>
                  </a:txBody>
                  <a:tcPr/>
                </a:tc>
                <a:tc>
                  <a:txBody>
                    <a:bodyPr/>
                    <a:lstStyle/>
                    <a:p>
                      <a:r>
                        <a:rPr lang="en-US" dirty="0">
                          <a:latin typeface="Arial"/>
                          <a:cs typeface="Arial"/>
                        </a:rPr>
                        <a:t>189</a:t>
                      </a:r>
                    </a:p>
                  </a:txBody>
                  <a:tcPr/>
                </a:tc>
                <a:extLst>
                  <a:ext uri="{0D108BD9-81ED-4DB2-BD59-A6C34878D82A}">
                    <a16:rowId xmlns:a16="http://schemas.microsoft.com/office/drawing/2014/main" val="10003"/>
                  </a:ext>
                </a:extLst>
              </a:tr>
              <a:tr h="370840">
                <a:tc>
                  <a:txBody>
                    <a:bodyPr/>
                    <a:lstStyle/>
                    <a:p>
                      <a:r>
                        <a:rPr lang="en-US" dirty="0">
                          <a:latin typeface="Arial"/>
                          <a:cs typeface="Arial"/>
                        </a:rPr>
                        <a:t>%e</a:t>
                      </a:r>
                    </a:p>
                  </a:txBody>
                  <a:tcPr/>
                </a:tc>
                <a:tc>
                  <a:txBody>
                    <a:bodyPr/>
                    <a:lstStyle/>
                    <a:p>
                      <a:r>
                        <a:rPr lang="en-US" dirty="0">
                          <a:latin typeface="Arial"/>
                          <a:cs typeface="Arial"/>
                        </a:rPr>
                        <a:t>exponential floating</a:t>
                      </a:r>
                    </a:p>
                  </a:txBody>
                  <a:tcPr/>
                </a:tc>
                <a:tc>
                  <a:txBody>
                    <a:bodyPr/>
                    <a:lstStyle/>
                    <a:p>
                      <a:r>
                        <a:rPr lang="en-US" dirty="0">
                          <a:latin typeface="Arial"/>
                          <a:cs typeface="Arial"/>
                        </a:rPr>
                        <a:t>1.59e+01</a:t>
                      </a:r>
                    </a:p>
                  </a:txBody>
                  <a:tcPr/>
                </a:tc>
                <a:extLst>
                  <a:ext uri="{0D108BD9-81ED-4DB2-BD59-A6C34878D82A}">
                    <a16:rowId xmlns:a16="http://schemas.microsoft.com/office/drawing/2014/main" val="10004"/>
                  </a:ext>
                </a:extLst>
              </a:tr>
              <a:tr h="370840">
                <a:tc>
                  <a:txBody>
                    <a:bodyPr/>
                    <a:lstStyle/>
                    <a:p>
                      <a:r>
                        <a:rPr lang="en-US" dirty="0">
                          <a:latin typeface="Arial"/>
                          <a:cs typeface="Arial"/>
                        </a:rPr>
                        <a:t>%f</a:t>
                      </a:r>
                    </a:p>
                  </a:txBody>
                  <a:tcPr/>
                </a:tc>
                <a:tc>
                  <a:txBody>
                    <a:bodyPr/>
                    <a:lstStyle/>
                    <a:p>
                      <a:r>
                        <a:rPr lang="en-US" dirty="0">
                          <a:latin typeface="Arial"/>
                          <a:cs typeface="Arial"/>
                        </a:rPr>
                        <a:t>Floating point</a:t>
                      </a:r>
                      <a:r>
                        <a:rPr lang="en-US" baseline="0" dirty="0">
                          <a:latin typeface="Arial"/>
                          <a:cs typeface="Arial"/>
                        </a:rPr>
                        <a:t> number</a:t>
                      </a:r>
                      <a:endParaRPr lang="en-US" dirty="0">
                        <a:latin typeface="Arial"/>
                        <a:cs typeface="Arial"/>
                      </a:endParaRPr>
                    </a:p>
                  </a:txBody>
                  <a:tcPr/>
                </a:tc>
                <a:tc>
                  <a:txBody>
                    <a:bodyPr/>
                    <a:lstStyle/>
                    <a:p>
                      <a:r>
                        <a:rPr lang="en-US" dirty="0">
                          <a:latin typeface="Arial"/>
                          <a:cs typeface="Arial"/>
                        </a:rPr>
                        <a:t>15.9</a:t>
                      </a:r>
                    </a:p>
                  </a:txBody>
                  <a:tcPr/>
                </a:tc>
                <a:extLst>
                  <a:ext uri="{0D108BD9-81ED-4DB2-BD59-A6C34878D82A}">
                    <a16:rowId xmlns:a16="http://schemas.microsoft.com/office/drawing/2014/main" val="10005"/>
                  </a:ext>
                </a:extLst>
              </a:tr>
              <a:tr h="370840">
                <a:tc>
                  <a:txBody>
                    <a:bodyPr/>
                    <a:lstStyle/>
                    <a:p>
                      <a:r>
                        <a:rPr lang="en-US" dirty="0">
                          <a:latin typeface="Arial"/>
                          <a:cs typeface="Arial"/>
                        </a:rPr>
                        <a:t>%s or %S</a:t>
                      </a:r>
                    </a:p>
                  </a:txBody>
                  <a:tcPr/>
                </a:tc>
                <a:tc>
                  <a:txBody>
                    <a:bodyPr/>
                    <a:lstStyle/>
                    <a:p>
                      <a:r>
                        <a:rPr lang="en-US" dirty="0">
                          <a:latin typeface="Arial"/>
                          <a:cs typeface="Arial"/>
                        </a:rPr>
                        <a:t>String if “Java”</a:t>
                      </a:r>
                    </a:p>
                  </a:txBody>
                  <a:tcPr/>
                </a:tc>
                <a:tc>
                  <a:txBody>
                    <a:bodyPr/>
                    <a:lstStyle/>
                    <a:p>
                      <a:r>
                        <a:rPr lang="en-US" dirty="0">
                          <a:latin typeface="Arial"/>
                          <a:cs typeface="Arial"/>
                        </a:rPr>
                        <a:t>Java or JAVA</a:t>
                      </a:r>
                    </a:p>
                  </a:txBody>
                  <a:tcPr/>
                </a:tc>
                <a:extLst>
                  <a:ext uri="{0D108BD9-81ED-4DB2-BD59-A6C34878D82A}">
                    <a16:rowId xmlns:a16="http://schemas.microsoft.com/office/drawing/2014/main" val="10006"/>
                  </a:ext>
                </a:extLst>
              </a:tr>
              <a:tr h="370840">
                <a:tc>
                  <a:txBody>
                    <a:bodyPr/>
                    <a:lstStyle/>
                    <a:p>
                      <a:r>
                        <a:rPr lang="en-US" dirty="0">
                          <a:latin typeface="Arial"/>
                          <a:cs typeface="Arial"/>
                        </a:rPr>
                        <a:t>%x or %X</a:t>
                      </a:r>
                    </a:p>
                  </a:txBody>
                  <a:tcPr/>
                </a:tc>
                <a:tc>
                  <a:txBody>
                    <a:bodyPr/>
                    <a:lstStyle/>
                    <a:p>
                      <a:r>
                        <a:rPr lang="en-US" dirty="0">
                          <a:latin typeface="Arial"/>
                          <a:cs typeface="Arial"/>
                        </a:rPr>
                        <a:t>Hexadecimal integer</a:t>
                      </a:r>
                    </a:p>
                  </a:txBody>
                  <a:tcPr/>
                </a:tc>
                <a:tc>
                  <a:txBody>
                    <a:bodyPr/>
                    <a:lstStyle/>
                    <a:p>
                      <a:r>
                        <a:rPr lang="en-US" dirty="0">
                          <a:latin typeface="Arial"/>
                          <a:cs typeface="Arial"/>
                        </a:rPr>
                        <a:t>1f2a</a:t>
                      </a:r>
                      <a:r>
                        <a:rPr lang="en-US" baseline="0" dirty="0">
                          <a:latin typeface="Arial"/>
                          <a:cs typeface="Arial"/>
                        </a:rPr>
                        <a:t> or 1F2A</a:t>
                      </a:r>
                      <a:endParaRPr lang="en-US" dirty="0">
                        <a:latin typeface="Arial"/>
                        <a:cs typeface="Arial"/>
                      </a:endParaRPr>
                    </a:p>
                  </a:txBody>
                  <a:tcPr/>
                </a:tc>
                <a:extLst>
                  <a:ext uri="{0D108BD9-81ED-4DB2-BD59-A6C34878D82A}">
                    <a16:rowId xmlns:a16="http://schemas.microsoft.com/office/drawing/2014/main" val="10007"/>
                  </a:ext>
                </a:extLst>
              </a:tr>
              <a:tr h="370840">
                <a:tc>
                  <a:txBody>
                    <a:bodyPr/>
                    <a:lstStyle/>
                    <a:p>
                      <a:r>
                        <a:rPr lang="en-US" dirty="0">
                          <a:latin typeface="Arial"/>
                          <a:cs typeface="Arial"/>
                        </a:rPr>
                        <a:t>%%</a:t>
                      </a:r>
                    </a:p>
                  </a:txBody>
                  <a:tcPr/>
                </a:tc>
                <a:tc>
                  <a:txBody>
                    <a:bodyPr/>
                    <a:lstStyle/>
                    <a:p>
                      <a:r>
                        <a:rPr lang="en-US" dirty="0">
                          <a:latin typeface="Arial"/>
                          <a:cs typeface="Arial"/>
                        </a:rPr>
                        <a:t>The percent symbol</a:t>
                      </a:r>
                    </a:p>
                  </a:txBody>
                  <a:tcPr/>
                </a:tc>
                <a:tc>
                  <a:txBody>
                    <a:bodyPr/>
                    <a:lstStyle/>
                    <a:p>
                      <a:r>
                        <a:rPr lang="en-US" dirty="0">
                          <a:latin typeface="Arial"/>
                          <a:cs typeface="Arial"/>
                        </a:rPr>
                        <a:t>%</a:t>
                      </a:r>
                    </a:p>
                  </a:txBody>
                  <a:tcPr/>
                </a:tc>
                <a:extLst>
                  <a:ext uri="{0D108BD9-81ED-4DB2-BD59-A6C34878D82A}">
                    <a16:rowId xmlns:a16="http://schemas.microsoft.com/office/drawing/2014/main" val="10008"/>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23</a:t>
            </a:fld>
            <a:endParaRPr lang="en-US" dirty="0"/>
          </a:p>
        </p:txBody>
      </p:sp>
      <p:sp>
        <p:nvSpPr>
          <p:cNvPr id="7" name="TextBox 6"/>
          <p:cNvSpPr txBox="1"/>
          <p:nvPr/>
        </p:nvSpPr>
        <p:spPr>
          <a:xfrm>
            <a:off x="381000" y="4787205"/>
            <a:ext cx="8458200" cy="1384995"/>
          </a:xfrm>
          <a:prstGeom prst="rect">
            <a:avLst/>
          </a:prstGeom>
          <a:noFill/>
        </p:spPr>
        <p:txBody>
          <a:bodyPr wrap="square" rtlCol="0">
            <a:spAutoFit/>
          </a:bodyPr>
          <a:lstStyle/>
          <a:p>
            <a:pPr marL="171450" indent="-171450">
              <a:buFont typeface="Arial"/>
              <a:buChar char="•"/>
            </a:pPr>
            <a:r>
              <a:rPr lang="en-US" sz="1400" dirty="0"/>
              <a:t>We will also learn several other important elements that can be combined with the specifiers</a:t>
            </a:r>
          </a:p>
          <a:p>
            <a:pPr marL="341312" lvl="1" indent="-171450">
              <a:buFont typeface="Arial"/>
              <a:buChar char="•"/>
            </a:pPr>
            <a:r>
              <a:rPr lang="en-US" sz="1400" dirty="0"/>
              <a:t>Flags </a:t>
            </a:r>
            <a:r>
              <a:rPr lang="mr-IN" sz="1400" dirty="0"/>
              <a:t>–</a:t>
            </a:r>
            <a:r>
              <a:rPr lang="en-US" sz="1400" dirty="0"/>
              <a:t> for left justified, etc.</a:t>
            </a:r>
            <a:endParaRPr lang="mr-IN" sz="1400" dirty="0"/>
          </a:p>
          <a:p>
            <a:pPr marL="339725" lvl="1" indent="-169863">
              <a:buFont typeface="Arial"/>
              <a:buChar char="•"/>
            </a:pPr>
            <a:r>
              <a:rPr lang="en-US" sz="1400" dirty="0"/>
              <a:t>Width - specifies the field width for outputting the argument and represents the minimum number of  characters to be written to the output</a:t>
            </a:r>
            <a:endParaRPr lang="mr-IN" sz="1400" dirty="0"/>
          </a:p>
          <a:p>
            <a:pPr marL="339725" lvl="1" indent="-169863">
              <a:buFont typeface="Arial"/>
              <a:buChar char="•"/>
            </a:pPr>
            <a:r>
              <a:rPr lang="en-US" sz="1400" dirty="0"/>
              <a:t>Precision - used to restrict the output depending on the conversion and specifies the number of digits of precision when outputting floating-point values.</a:t>
            </a:r>
          </a:p>
        </p:txBody>
      </p:sp>
    </p:spTree>
    <p:extLst>
      <p:ext uri="{BB962C8B-B14F-4D97-AF65-F5344CB8AC3E}">
        <p14:creationId xmlns:p14="http://schemas.microsoft.com/office/powerpoint/2010/main" val="1579000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551688"/>
          </a:xfrm>
        </p:spPr>
        <p:txBody>
          <a:bodyPr>
            <a:normAutofit/>
          </a:bodyPr>
          <a:lstStyle/>
          <a:p>
            <a:r>
              <a:rPr lang="en-US" sz="3200" dirty="0"/>
              <a:t>Important Control Characters</a:t>
            </a:r>
          </a:p>
        </p:txBody>
      </p:sp>
      <p:graphicFrame>
        <p:nvGraphicFramePr>
          <p:cNvPr id="5" name="Content Placeholder 4"/>
          <p:cNvGraphicFramePr>
            <a:graphicFrameLocks noGrp="1"/>
          </p:cNvGraphicFramePr>
          <p:nvPr>
            <p:ph idx="1"/>
          </p:nvPr>
        </p:nvGraphicFramePr>
        <p:xfrm>
          <a:off x="1143000" y="2133600"/>
          <a:ext cx="4114800" cy="1752600"/>
        </p:xfrm>
        <a:graphic>
          <a:graphicData uri="http://schemas.openxmlformats.org/drawingml/2006/table">
            <a:tbl>
              <a:tblPr firstRow="1" bandRow="1">
                <a:tableStyleId>{5C22544A-7EE6-4342-B048-85BDC9FD1C3A}</a:tableStyleId>
              </a:tblPr>
              <a:tblGrid>
                <a:gridCol w="1456707">
                  <a:extLst>
                    <a:ext uri="{9D8B030D-6E8A-4147-A177-3AD203B41FA5}">
                      <a16:colId xmlns:a16="http://schemas.microsoft.com/office/drawing/2014/main" val="20000"/>
                    </a:ext>
                  </a:extLst>
                </a:gridCol>
                <a:gridCol w="2658093">
                  <a:extLst>
                    <a:ext uri="{9D8B030D-6E8A-4147-A177-3AD203B41FA5}">
                      <a16:colId xmlns:a16="http://schemas.microsoft.com/office/drawing/2014/main" val="20001"/>
                    </a:ext>
                  </a:extLst>
                </a:gridCol>
              </a:tblGrid>
              <a:tr h="370840">
                <a:tc>
                  <a:txBody>
                    <a:bodyPr/>
                    <a:lstStyle/>
                    <a:p>
                      <a:r>
                        <a:rPr lang="en-US" dirty="0">
                          <a:latin typeface="Arial"/>
                          <a:cs typeface="Arial"/>
                        </a:rPr>
                        <a:t>Control Character</a:t>
                      </a:r>
                    </a:p>
                  </a:txBody>
                  <a:tcPr/>
                </a:tc>
                <a:tc>
                  <a:txBody>
                    <a:bodyPr/>
                    <a:lstStyle/>
                    <a:p>
                      <a:r>
                        <a:rPr lang="en-US" dirty="0">
                          <a:latin typeface="Arial"/>
                          <a:cs typeface="Arial"/>
                        </a:rPr>
                        <a:t>Name</a:t>
                      </a:r>
                    </a:p>
                  </a:txBody>
                  <a:tcPr/>
                </a:tc>
                <a:extLst>
                  <a:ext uri="{0D108BD9-81ED-4DB2-BD59-A6C34878D82A}">
                    <a16:rowId xmlns:a16="http://schemas.microsoft.com/office/drawing/2014/main" val="10000"/>
                  </a:ext>
                </a:extLst>
              </a:tr>
              <a:tr h="370840">
                <a:tc>
                  <a:txBody>
                    <a:bodyPr/>
                    <a:lstStyle/>
                    <a:p>
                      <a:r>
                        <a:rPr lang="en-US" dirty="0">
                          <a:latin typeface="Arial"/>
                          <a:cs typeface="Arial"/>
                        </a:rPr>
                        <a:t>\n</a:t>
                      </a:r>
                    </a:p>
                  </a:txBody>
                  <a:tcPr/>
                </a:tc>
                <a:tc>
                  <a:txBody>
                    <a:bodyPr/>
                    <a:lstStyle/>
                    <a:p>
                      <a:r>
                        <a:rPr lang="en-US" dirty="0">
                          <a:latin typeface="Arial"/>
                          <a:cs typeface="Arial"/>
                        </a:rPr>
                        <a:t>new</a:t>
                      </a:r>
                      <a:r>
                        <a:rPr lang="en-US" baseline="0" dirty="0">
                          <a:latin typeface="Arial"/>
                          <a:cs typeface="Arial"/>
                        </a:rPr>
                        <a:t> line</a:t>
                      </a:r>
                      <a:endParaRPr lang="en-US" dirty="0">
                        <a:latin typeface="Arial"/>
                        <a:cs typeface="Arial"/>
                      </a:endParaRPr>
                    </a:p>
                  </a:txBody>
                  <a:tcPr/>
                </a:tc>
                <a:extLst>
                  <a:ext uri="{0D108BD9-81ED-4DB2-BD59-A6C34878D82A}">
                    <a16:rowId xmlns:a16="http://schemas.microsoft.com/office/drawing/2014/main" val="10001"/>
                  </a:ext>
                </a:extLst>
              </a:tr>
              <a:tr h="370840">
                <a:tc>
                  <a:txBody>
                    <a:bodyPr/>
                    <a:lstStyle/>
                    <a:p>
                      <a:r>
                        <a:rPr lang="en-US" dirty="0">
                          <a:latin typeface="Arial"/>
                          <a:cs typeface="Arial"/>
                        </a:rPr>
                        <a:t>\t</a:t>
                      </a:r>
                    </a:p>
                  </a:txBody>
                  <a:tcPr/>
                </a:tc>
                <a:tc>
                  <a:txBody>
                    <a:bodyPr/>
                    <a:lstStyle/>
                    <a:p>
                      <a:r>
                        <a:rPr lang="en-US" dirty="0">
                          <a:latin typeface="Arial"/>
                          <a:cs typeface="Arial"/>
                        </a:rPr>
                        <a:t>tab</a:t>
                      </a:r>
                    </a:p>
                  </a:txBody>
                  <a:tcPr/>
                </a:tc>
                <a:extLst>
                  <a:ext uri="{0D108BD9-81ED-4DB2-BD59-A6C34878D82A}">
                    <a16:rowId xmlns:a16="http://schemas.microsoft.com/office/drawing/2014/main" val="10002"/>
                  </a:ext>
                </a:extLst>
              </a:tr>
              <a:tr h="370840">
                <a:tc>
                  <a:txBody>
                    <a:bodyPr/>
                    <a:lstStyle/>
                    <a:p>
                      <a:r>
                        <a:rPr lang="en-US" dirty="0">
                          <a:latin typeface="Arial"/>
                          <a:cs typeface="Arial"/>
                        </a:rPr>
                        <a:t>\\</a:t>
                      </a:r>
                    </a:p>
                  </a:txBody>
                  <a:tcPr/>
                </a:tc>
                <a:tc>
                  <a:txBody>
                    <a:bodyPr/>
                    <a:lstStyle/>
                    <a:p>
                      <a:r>
                        <a:rPr lang="en-US" dirty="0">
                          <a:latin typeface="Arial"/>
                          <a:cs typeface="Arial"/>
                        </a:rPr>
                        <a:t>Prints \</a:t>
                      </a:r>
                    </a:p>
                  </a:txBody>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24</a:t>
            </a:fld>
            <a:endParaRPr lang="en-US" dirty="0"/>
          </a:p>
        </p:txBody>
      </p:sp>
      <p:sp>
        <p:nvSpPr>
          <p:cNvPr id="7" name="TextBox 6"/>
          <p:cNvSpPr txBox="1"/>
          <p:nvPr/>
        </p:nvSpPr>
        <p:spPr>
          <a:xfrm>
            <a:off x="381000" y="4787205"/>
            <a:ext cx="8458200" cy="307777"/>
          </a:xfrm>
          <a:prstGeom prst="rect">
            <a:avLst/>
          </a:prstGeom>
          <a:noFill/>
        </p:spPr>
        <p:txBody>
          <a:bodyPr wrap="square" rtlCol="0">
            <a:spAutoFit/>
          </a:bodyPr>
          <a:lstStyle/>
          <a:p>
            <a:pPr marL="171450" indent="-171450">
              <a:buFont typeface="Arial"/>
              <a:buChar char="•"/>
            </a:pPr>
            <a:r>
              <a:rPr lang="en-US" sz="1400" dirty="0"/>
              <a:t>Always placed inside the String</a:t>
            </a:r>
          </a:p>
        </p:txBody>
      </p:sp>
    </p:spTree>
    <p:extLst>
      <p:ext uri="{BB962C8B-B14F-4D97-AF65-F5344CB8AC3E}">
        <p14:creationId xmlns:p14="http://schemas.microsoft.com/office/powerpoint/2010/main" val="439660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551688"/>
          </a:xfrm>
        </p:spPr>
        <p:txBody>
          <a:bodyPr>
            <a:normAutofit/>
          </a:bodyPr>
          <a:lstStyle/>
          <a:p>
            <a:r>
              <a:rPr lang="en-US" dirty="0"/>
              <a:t>F</a:t>
            </a:r>
            <a:r>
              <a:rPr lang="en-US" sz="3200" dirty="0"/>
              <a:t>ormatted Integer Output Using </a:t>
            </a:r>
            <a:r>
              <a:rPr lang="en-US" dirty="0"/>
              <a:t>T</a:t>
            </a:r>
            <a:r>
              <a:rPr lang="en-US" sz="3200" dirty="0"/>
              <a:t>he d Specifier</a:t>
            </a:r>
          </a:p>
        </p:txBody>
      </p:sp>
      <p:sp>
        <p:nvSpPr>
          <p:cNvPr id="3" name="Content Placeholder 2"/>
          <p:cNvSpPr>
            <a:spLocks noGrp="1"/>
          </p:cNvSpPr>
          <p:nvPr>
            <p:ph idx="1"/>
          </p:nvPr>
        </p:nvSpPr>
        <p:spPr>
          <a:xfrm>
            <a:off x="457200" y="609600"/>
            <a:ext cx="8229600" cy="5638800"/>
          </a:xfrm>
        </p:spPr>
        <p:txBody>
          <a:bodyPr>
            <a:noAutofit/>
          </a:bodyPr>
          <a:lstStyle/>
          <a:p>
            <a:r>
              <a:rPr lang="en-US" sz="2800" dirty="0">
                <a:latin typeface="Times New Roman"/>
                <a:cs typeface="Times New Roman"/>
              </a:rPr>
              <a:t>The %</a:t>
            </a:r>
            <a:r>
              <a:rPr lang="en-US" sz="2800" i="1" dirty="0">
                <a:latin typeface="Times New Roman"/>
                <a:cs typeface="Times New Roman"/>
              </a:rPr>
              <a:t>w</a:t>
            </a:r>
            <a:r>
              <a:rPr lang="en-US" sz="2800" dirty="0">
                <a:latin typeface="Times New Roman"/>
                <a:cs typeface="Times New Roman"/>
              </a:rPr>
              <a:t>d means reserve a minimum of </a:t>
            </a:r>
            <a:r>
              <a:rPr lang="en-US" sz="2800" i="1" dirty="0">
                <a:latin typeface="Times New Roman"/>
                <a:cs typeface="Times New Roman"/>
              </a:rPr>
              <a:t>w</a:t>
            </a:r>
            <a:r>
              <a:rPr lang="en-US" sz="2800" dirty="0">
                <a:latin typeface="Times New Roman"/>
                <a:cs typeface="Times New Roman"/>
              </a:rPr>
              <a:t> spaces, right justified</a:t>
            </a:r>
          </a:p>
          <a:p>
            <a:r>
              <a:rPr lang="en-US" sz="2800" dirty="0">
                <a:latin typeface="Times New Roman"/>
                <a:cs typeface="Times New Roman"/>
              </a:rPr>
              <a:t>The </a:t>
            </a:r>
            <a:r>
              <a:rPr lang="mr-IN" sz="2800" i="1" dirty="0">
                <a:latin typeface="Times New Roman"/>
                <a:cs typeface="Times New Roman"/>
              </a:rPr>
              <a:t>–</a:t>
            </a:r>
            <a:r>
              <a:rPr lang="en-US" sz="2800" dirty="0">
                <a:latin typeface="Times New Roman"/>
                <a:cs typeface="Times New Roman"/>
              </a:rPr>
              <a:t> in %</a:t>
            </a:r>
            <a:r>
              <a:rPr lang="en-US" sz="2800" i="1" dirty="0">
                <a:latin typeface="Times New Roman"/>
                <a:cs typeface="Times New Roman"/>
              </a:rPr>
              <a:t>-w</a:t>
            </a:r>
            <a:r>
              <a:rPr lang="en-US" sz="2800" dirty="0">
                <a:latin typeface="Times New Roman"/>
                <a:cs typeface="Times New Roman"/>
              </a:rPr>
              <a:t>d means left justified</a:t>
            </a:r>
          </a:p>
          <a:p>
            <a:r>
              <a:rPr lang="en-US" sz="2800" dirty="0">
                <a:latin typeface="Times New Roman"/>
                <a:cs typeface="Times New Roman"/>
              </a:rPr>
              <a:t>The </a:t>
            </a:r>
            <a:r>
              <a:rPr lang="en-US" sz="2800" i="1" dirty="0">
                <a:latin typeface="Times New Roman"/>
                <a:cs typeface="Times New Roman"/>
              </a:rPr>
              <a:t>0</a:t>
            </a:r>
            <a:r>
              <a:rPr lang="en-US" sz="2800" dirty="0">
                <a:latin typeface="Times New Roman"/>
                <a:cs typeface="Times New Roman"/>
              </a:rPr>
              <a:t> in %</a:t>
            </a:r>
            <a:r>
              <a:rPr lang="en-US" sz="2800" i="1" dirty="0">
                <a:latin typeface="Times New Roman"/>
                <a:cs typeface="Times New Roman"/>
              </a:rPr>
              <a:t>0w</a:t>
            </a:r>
            <a:r>
              <a:rPr lang="en-US" sz="2800" dirty="0">
                <a:latin typeface="Times New Roman"/>
                <a:cs typeface="Times New Roman"/>
              </a:rPr>
              <a:t>d means left fill with 0’s</a:t>
            </a:r>
          </a:p>
          <a:p>
            <a:r>
              <a:rPr lang="en-US" sz="2800" dirty="0">
                <a:latin typeface="Times New Roman"/>
                <a:cs typeface="Times New Roman"/>
              </a:rPr>
              <a:t>The + in %+d means add a positive sign for positive numbers</a:t>
            </a:r>
          </a:p>
          <a:p>
            <a:r>
              <a:rPr lang="en-US" sz="2800" dirty="0">
                <a:latin typeface="Times New Roman"/>
                <a:cs typeface="Times New Roman"/>
              </a:rPr>
              <a:t>A </a:t>
            </a:r>
            <a:r>
              <a:rPr lang="en-US" sz="2800" b="1" dirty="0">
                <a:solidFill>
                  <a:srgbClr val="FF0000"/>
                </a:solidFill>
                <a:latin typeface="Times New Roman"/>
                <a:cs typeface="Times New Roman"/>
              </a:rPr>
              <a:t>(</a:t>
            </a:r>
            <a:r>
              <a:rPr lang="en-US" sz="2800" dirty="0">
                <a:latin typeface="Times New Roman"/>
                <a:cs typeface="Times New Roman"/>
              </a:rPr>
              <a:t> encloses a negative number in parentheses</a:t>
            </a:r>
          </a:p>
          <a:p>
            <a:r>
              <a:rPr lang="en-US" sz="2800" dirty="0">
                <a:latin typeface="Times New Roman"/>
                <a:cs typeface="Times New Roman"/>
              </a:rPr>
              <a:t>A </a:t>
            </a:r>
            <a:r>
              <a:rPr lang="en-US" sz="2800" b="1" dirty="0">
                <a:solidFill>
                  <a:srgbClr val="FF0000"/>
                </a:solidFill>
                <a:latin typeface="Times New Roman"/>
                <a:cs typeface="Times New Roman"/>
              </a:rPr>
              <a:t>,</a:t>
            </a:r>
            <a:r>
              <a:rPr lang="en-US" sz="2800" dirty="0">
                <a:latin typeface="Times New Roman"/>
                <a:cs typeface="Times New Roman"/>
              </a:rPr>
              <a:t> is used as a group separator (may work differently outside of U.S.)</a:t>
            </a:r>
          </a:p>
          <a:p>
            <a:pPr marL="0" indent="0">
              <a:buNone/>
            </a:pPr>
            <a:endParaRPr lang="en-US" sz="2800" dirty="0">
              <a:latin typeface="Times New Roman"/>
              <a:cs typeface="Times New Roman"/>
            </a:endParaRPr>
          </a:p>
          <a:p>
            <a:pPr marL="0" indent="0">
              <a:buNone/>
            </a:pPr>
            <a:r>
              <a:rPr lang="en-US" sz="4000" dirty="0">
                <a:latin typeface="Times New Roman"/>
                <a:cs typeface="Times New Roman"/>
              </a:rPr>
              <a:t>See </a:t>
            </a:r>
            <a:r>
              <a:rPr lang="en-US" sz="4000" dirty="0">
                <a:solidFill>
                  <a:srgbClr val="FF0000"/>
                </a:solidFill>
                <a:latin typeface="Times New Roman"/>
                <a:cs typeface="Times New Roman"/>
              </a:rPr>
              <a:t>Printf1.java</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25</a:t>
            </a:fld>
            <a:endParaRPr lang="en-US" dirty="0"/>
          </a:p>
        </p:txBody>
      </p:sp>
    </p:spTree>
    <p:extLst>
      <p:ext uri="{BB962C8B-B14F-4D97-AF65-F5344CB8AC3E}">
        <p14:creationId xmlns:p14="http://schemas.microsoft.com/office/powerpoint/2010/main" val="4111715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33756"/>
            <a:ext cx="8877300" cy="551688"/>
          </a:xfrm>
        </p:spPr>
        <p:txBody>
          <a:bodyPr>
            <a:noAutofit/>
          </a:bodyPr>
          <a:lstStyle/>
          <a:p>
            <a:r>
              <a:rPr lang="en-US" sz="2900" dirty="0"/>
              <a:t>Formatted Floating Point Output Using The f Specifier (1)</a:t>
            </a:r>
          </a:p>
        </p:txBody>
      </p:sp>
      <p:sp>
        <p:nvSpPr>
          <p:cNvPr id="3" name="Content Placeholder 2"/>
          <p:cNvSpPr>
            <a:spLocks noGrp="1"/>
          </p:cNvSpPr>
          <p:nvPr>
            <p:ph idx="1"/>
          </p:nvPr>
        </p:nvSpPr>
        <p:spPr>
          <a:xfrm>
            <a:off x="457200" y="1143000"/>
            <a:ext cx="8229600" cy="5105400"/>
          </a:xfrm>
        </p:spPr>
        <p:txBody>
          <a:bodyPr>
            <a:normAutofit/>
          </a:bodyPr>
          <a:lstStyle/>
          <a:p>
            <a:r>
              <a:rPr lang="en-US" sz="2000" dirty="0"/>
              <a:t>For simple formatted outputs, each format parameter aligns to the subsequent variable or constant  after the String</a:t>
            </a:r>
          </a:p>
          <a:p>
            <a:pPr marL="0" indent="0">
              <a:buNone/>
            </a:pPr>
            <a:endParaRPr lang="en-US" sz="2000" dirty="0"/>
          </a:p>
          <a:p>
            <a:pPr marL="0" indent="0">
              <a:buNone/>
            </a:pPr>
            <a:r>
              <a:rPr lang="en-US" sz="2000" dirty="0"/>
              <a:t>public class </a:t>
            </a:r>
            <a:r>
              <a:rPr lang="en-US" sz="2000" dirty="0">
                <a:solidFill>
                  <a:srgbClr val="FF0000"/>
                </a:solidFill>
              </a:rPr>
              <a:t>Printf2</a:t>
            </a:r>
          </a:p>
          <a:p>
            <a:pPr marL="0" indent="0">
              <a:buNone/>
            </a:pPr>
            <a:r>
              <a:rPr lang="en-US" sz="2000" dirty="0"/>
              <a:t>{</a:t>
            </a:r>
          </a:p>
          <a:p>
            <a:pPr marL="0" indent="0">
              <a:buNone/>
            </a:pPr>
            <a:r>
              <a:rPr lang="en-US" sz="2000" dirty="0"/>
              <a:t>  public static void main(String[] args) {</a:t>
            </a:r>
          </a:p>
          <a:p>
            <a:pPr marL="0" indent="0">
              <a:buNone/>
            </a:pPr>
            <a:r>
              <a:rPr lang="en-US" sz="2000" dirty="0"/>
              <a:t>    double x = 27.5, y = 33.75;</a:t>
            </a:r>
          </a:p>
          <a:p>
            <a:pPr marL="0" indent="0">
              <a:buNone/>
            </a:pPr>
            <a:r>
              <a:rPr lang="en-US" sz="2000" dirty="0"/>
              <a:t>    System.out.printf("x = %f y = %f\n", x, y);</a:t>
            </a:r>
          </a:p>
          <a:p>
            <a:pPr marL="0" indent="0">
              <a:buNone/>
            </a:pPr>
            <a:r>
              <a:rPr lang="en-US" sz="2000" dirty="0"/>
              <a:t>  }</a:t>
            </a:r>
          </a:p>
          <a:p>
            <a:pPr marL="0" indent="0">
              <a:buNone/>
            </a:pPr>
            <a:r>
              <a:rPr lang="en-US" sz="2000" dirty="0"/>
              <a:t>}</a:t>
            </a:r>
          </a:p>
          <a:p>
            <a:pPr marL="0" indent="0">
              <a:buNone/>
            </a:pPr>
            <a:r>
              <a:rPr lang="en-US" sz="2000" dirty="0"/>
              <a:t>Output: </a:t>
            </a:r>
            <a:r>
              <a:rPr lang="es-ES_tradnl" sz="2000" dirty="0"/>
              <a:t>x = 27.500000 y = 33.750000</a:t>
            </a:r>
          </a:p>
          <a:p>
            <a:pPr marL="0" indent="0">
              <a:buNone/>
            </a:pPr>
            <a:endParaRPr lang="es-ES_tradnl" sz="2000" dirty="0"/>
          </a:p>
          <a:p>
            <a:pPr marL="0" indent="0">
              <a:buNone/>
            </a:pPr>
            <a:endParaRPr lang="en-US" sz="16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26</a:t>
            </a:fld>
            <a:endParaRPr lang="en-US" dirty="0"/>
          </a:p>
        </p:txBody>
      </p:sp>
    </p:spTree>
    <p:extLst>
      <p:ext uri="{BB962C8B-B14F-4D97-AF65-F5344CB8AC3E}">
        <p14:creationId xmlns:p14="http://schemas.microsoft.com/office/powerpoint/2010/main" val="2249176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915400" cy="551688"/>
          </a:xfrm>
        </p:spPr>
        <p:txBody>
          <a:bodyPr>
            <a:normAutofit fontScale="90000"/>
          </a:bodyPr>
          <a:lstStyle/>
          <a:p>
            <a:r>
              <a:rPr lang="en-US" dirty="0"/>
              <a:t>Formatted Floating Point Output Using The f Specifier (2)</a:t>
            </a:r>
          </a:p>
        </p:txBody>
      </p:sp>
      <p:sp>
        <p:nvSpPr>
          <p:cNvPr id="3" name="Content Placeholder 2"/>
          <p:cNvSpPr>
            <a:spLocks noGrp="1"/>
          </p:cNvSpPr>
          <p:nvPr>
            <p:ph idx="1"/>
          </p:nvPr>
        </p:nvSpPr>
        <p:spPr>
          <a:xfrm>
            <a:off x="457200" y="1143000"/>
            <a:ext cx="8229600" cy="5334000"/>
          </a:xfrm>
        </p:spPr>
        <p:txBody>
          <a:bodyPr>
            <a:normAutofit fontScale="77500" lnSpcReduction="20000"/>
          </a:bodyPr>
          <a:lstStyle/>
          <a:p>
            <a:r>
              <a:rPr lang="en-US" dirty="0"/>
              <a:t>Uses the same formatting structures as integers</a:t>
            </a:r>
          </a:p>
          <a:p>
            <a:r>
              <a:rPr lang="en-US" dirty="0"/>
              <a:t>Adds the ability to specify the number of decimal places to the right of the decimal point, as opposed to printing a minimum of a default 6</a:t>
            </a:r>
          </a:p>
          <a:p>
            <a:r>
              <a:rPr lang="en-US" dirty="0"/>
              <a:t>%</a:t>
            </a:r>
            <a:r>
              <a:rPr lang="en-US" i="1" dirty="0"/>
              <a:t>w</a:t>
            </a:r>
            <a:r>
              <a:rPr lang="en-US" dirty="0"/>
              <a:t>.</a:t>
            </a:r>
            <a:r>
              <a:rPr lang="en-US" i="1" dirty="0"/>
              <a:t>n</a:t>
            </a:r>
            <a:r>
              <a:rPr lang="en-US" dirty="0"/>
              <a:t>f has a minimum width of </a:t>
            </a:r>
            <a:r>
              <a:rPr lang="en-US" i="1" dirty="0"/>
              <a:t>w</a:t>
            </a:r>
            <a:r>
              <a:rPr lang="en-US" dirty="0"/>
              <a:t> and </a:t>
            </a:r>
            <a:r>
              <a:rPr lang="en-US" i="1" dirty="0"/>
              <a:t>n</a:t>
            </a:r>
            <a:r>
              <a:rPr lang="en-US" dirty="0"/>
              <a:t> decimal places</a:t>
            </a:r>
          </a:p>
          <a:p>
            <a:r>
              <a:rPr lang="en-US" dirty="0"/>
              <a:t>%#w.nf </a:t>
            </a:r>
            <a:r>
              <a:rPr lang="mr-IN" dirty="0"/>
              <a:t>–</a:t>
            </a:r>
            <a:r>
              <a:rPr lang="en-US" dirty="0"/>
              <a:t> the # guarantees a decimal point</a:t>
            </a:r>
          </a:p>
          <a:p>
            <a:r>
              <a:rPr lang="en-US" dirty="0"/>
              <a:t>Variable associated with f must be of type double or float - it won’t cast up any type of integer </a:t>
            </a:r>
          </a:p>
          <a:p>
            <a:r>
              <a:rPr lang="en-US" dirty="0">
                <a:solidFill>
                  <a:srgbClr val="FF0000"/>
                </a:solidFill>
              </a:rPr>
              <a:t>Note: </a:t>
            </a:r>
            <a:r>
              <a:rPr lang="en-US" dirty="0"/>
              <a:t>On some machines it may not do a perfect job in rounding as it uses bankers rounding</a:t>
            </a:r>
          </a:p>
          <a:p>
            <a:pPr lvl="1"/>
            <a:r>
              <a:rPr lang="en-US" dirty="0"/>
              <a:t>Bankers Rounding is an algorithm for rounding quantities to integers , in which numbers which are equidistant from the two nearest integers are rounded to the nearest even integer. </a:t>
            </a:r>
          </a:p>
          <a:p>
            <a:pPr lvl="3"/>
            <a:r>
              <a:rPr lang="en-US" dirty="0"/>
              <a:t>Thus, 0.5 rounds down to 0; 1.5 rounds up to 2.</a:t>
            </a:r>
          </a:p>
          <a:p>
            <a:pPr lvl="1"/>
            <a:r>
              <a:rPr lang="en-US" dirty="0"/>
              <a:t>It has been extended to be used at any level of precision</a:t>
            </a:r>
          </a:p>
          <a:p>
            <a:pPr lvl="2"/>
            <a:r>
              <a:rPr lang="en-US" dirty="0"/>
              <a:t>1.685 would print to two places as 1.68 while 1.675 would also round to two places as 1.68</a:t>
            </a:r>
          </a:p>
          <a:p>
            <a:pPr lvl="2"/>
            <a:endParaRPr lang="en-US" dirty="0"/>
          </a:p>
          <a:p>
            <a:r>
              <a:rPr lang="en-US" sz="5200" dirty="0"/>
              <a:t>See </a:t>
            </a:r>
            <a:r>
              <a:rPr lang="en-US" sz="5200" dirty="0">
                <a:latin typeface="Times New Roman"/>
                <a:cs typeface="Times New Roman"/>
              </a:rPr>
              <a:t>See </a:t>
            </a:r>
            <a:r>
              <a:rPr lang="en-US" sz="5200" dirty="0">
                <a:solidFill>
                  <a:srgbClr val="FF0000"/>
                </a:solidFill>
                <a:latin typeface="Times New Roman"/>
                <a:cs typeface="Times New Roman"/>
              </a:rPr>
              <a:t>Printf3.java</a:t>
            </a:r>
            <a:endParaRPr lang="en-US" sz="5200" dirty="0">
              <a:solidFill>
                <a:srgbClr val="FF0000"/>
              </a:solidFill>
            </a:endParaRPr>
          </a:p>
          <a:p>
            <a:endParaRPr lang="en-US" sz="1600" dirty="0"/>
          </a:p>
          <a:p>
            <a:pPr marL="0" indent="0">
              <a:buNone/>
            </a:pPr>
            <a:endParaRPr lang="en-US" sz="1600" dirty="0"/>
          </a:p>
          <a:p>
            <a:pPr marL="0" indent="0">
              <a:buNone/>
            </a:pPr>
            <a:endParaRPr lang="es-ES_tradnl" sz="1600" dirty="0"/>
          </a:p>
          <a:p>
            <a:pPr marL="0" indent="0">
              <a:buNone/>
            </a:pPr>
            <a:endParaRPr lang="en-US" sz="16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27</a:t>
            </a:fld>
            <a:endParaRPr lang="en-US" dirty="0"/>
          </a:p>
        </p:txBody>
      </p:sp>
    </p:spTree>
    <p:extLst>
      <p:ext uri="{BB962C8B-B14F-4D97-AF65-F5344CB8AC3E}">
        <p14:creationId xmlns:p14="http://schemas.microsoft.com/office/powerpoint/2010/main" val="2784784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51688"/>
          </a:xfrm>
        </p:spPr>
        <p:txBody>
          <a:bodyPr>
            <a:normAutofit/>
          </a:bodyPr>
          <a:lstStyle/>
          <a:p>
            <a:r>
              <a:rPr lang="en-US" sz="3200" dirty="0"/>
              <a:t>Controlling Other Formatted Outputs (1)</a:t>
            </a:r>
          </a:p>
        </p:txBody>
      </p:sp>
      <p:sp>
        <p:nvSpPr>
          <p:cNvPr id="3" name="Content Placeholder 2"/>
          <p:cNvSpPr>
            <a:spLocks noGrp="1"/>
          </p:cNvSpPr>
          <p:nvPr>
            <p:ph idx="1"/>
          </p:nvPr>
        </p:nvSpPr>
        <p:spPr>
          <a:xfrm>
            <a:off x="457200" y="1143000"/>
            <a:ext cx="8229600" cy="4389120"/>
          </a:xfrm>
        </p:spPr>
        <p:txBody>
          <a:bodyPr>
            <a:normAutofit/>
          </a:bodyPr>
          <a:lstStyle/>
          <a:p>
            <a:pPr marL="274320" lvl="1" indent="-274320">
              <a:buClr>
                <a:schemeClr val="accent3"/>
              </a:buClr>
              <a:buSzPct val="95000"/>
            </a:pPr>
            <a:r>
              <a:rPr lang="en-US" dirty="0"/>
              <a:t>Strings with %-ws</a:t>
            </a:r>
          </a:p>
          <a:p>
            <a:pPr marL="548640" lvl="2" indent="-274320">
              <a:buClr>
                <a:schemeClr val="accent3"/>
              </a:buClr>
              <a:buSzPct val="95000"/>
            </a:pPr>
            <a:r>
              <a:rPr lang="en-US" dirty="0"/>
              <a:t>- will left justify</a:t>
            </a:r>
          </a:p>
          <a:p>
            <a:pPr marL="548640" lvl="2" indent="-274320">
              <a:buClr>
                <a:schemeClr val="accent3"/>
              </a:buClr>
              <a:buSzPct val="95000"/>
            </a:pPr>
            <a:r>
              <a:rPr lang="en-US" dirty="0"/>
              <a:t>w specifies width</a:t>
            </a:r>
          </a:p>
          <a:p>
            <a:pPr marL="548640" lvl="2" indent="-274320">
              <a:buClr>
                <a:schemeClr val="accent3"/>
              </a:buClr>
              <a:buSzPct val="95000"/>
            </a:pPr>
            <a:r>
              <a:rPr lang="en-US" dirty="0"/>
              <a:t>s is for a String</a:t>
            </a:r>
          </a:p>
          <a:p>
            <a:pPr marL="548640" lvl="2" indent="-274320">
              <a:buClr>
                <a:schemeClr val="accent3"/>
              </a:buClr>
              <a:buSzPct val="95000"/>
            </a:pPr>
            <a:r>
              <a:rPr lang="en-US" dirty="0"/>
              <a:t>If s is capitalized then the entire String prints capitalized</a:t>
            </a:r>
          </a:p>
          <a:p>
            <a:pPr marL="548640" lvl="2" indent="-274320">
              <a:buClr>
                <a:schemeClr val="accent3"/>
              </a:buClr>
              <a:buSzPct val="95000"/>
            </a:pPr>
            <a:r>
              <a:rPr lang="en-US" dirty="0"/>
              <a:t>We will learn how to use String variables later this semester</a:t>
            </a:r>
          </a:p>
          <a:p>
            <a:pPr marL="274320" lvl="1" indent="-274320">
              <a:buClr>
                <a:schemeClr val="accent3"/>
              </a:buClr>
              <a:buSzPct val="95000"/>
            </a:pPr>
            <a:r>
              <a:rPr lang="en-US" dirty="0"/>
              <a:t>Same rules apply for c (char) and b (boolean)</a:t>
            </a:r>
          </a:p>
          <a:p>
            <a:pPr marL="0" lvl="1" indent="0">
              <a:buClr>
                <a:schemeClr val="accent3"/>
              </a:buClr>
              <a:buSzPct val="95000"/>
              <a:buNone/>
            </a:pPr>
            <a:endParaRPr lang="en-US" dirty="0"/>
          </a:p>
          <a:p>
            <a:pPr marL="274320" lvl="1" indent="-274320">
              <a:buClr>
                <a:schemeClr val="accent3"/>
              </a:buClr>
              <a:buSzPct val="95000"/>
            </a:pPr>
            <a:r>
              <a:rPr lang="en-US" sz="4000" dirty="0">
                <a:latin typeface="Times New Roman"/>
                <a:cs typeface="Times New Roman"/>
              </a:rPr>
              <a:t>See </a:t>
            </a:r>
            <a:r>
              <a:rPr lang="en-US" sz="4000" dirty="0">
                <a:solidFill>
                  <a:srgbClr val="FF0000"/>
                </a:solidFill>
                <a:latin typeface="Times New Roman"/>
                <a:cs typeface="Times New Roman"/>
              </a:rPr>
              <a:t>Printf4.java</a:t>
            </a:r>
          </a:p>
          <a:p>
            <a:pPr marL="274320" lvl="1" indent="-274320">
              <a:buClr>
                <a:schemeClr val="accent3"/>
              </a:buClr>
              <a:buSzPct val="95000"/>
            </a:pPr>
            <a:endParaRPr lang="en-US" dirty="0"/>
          </a:p>
          <a:p>
            <a:pPr marL="274320" lvl="1" indent="-274320">
              <a:buClr>
                <a:schemeClr val="accent3"/>
              </a:buClr>
              <a:buSzPct val="95000"/>
            </a:pPr>
            <a:endParaRPr lang="en-US" dirty="0"/>
          </a:p>
          <a:p>
            <a:pPr marL="274320" lvl="1" indent="-274320">
              <a:buClr>
                <a:schemeClr val="accent3"/>
              </a:buClr>
              <a:buSzPct val="95000"/>
            </a:pPr>
            <a:endParaRPr lang="en-US" dirty="0"/>
          </a:p>
          <a:p>
            <a:pPr lvl="1"/>
            <a:endParaRPr lang="en-US" dirty="0"/>
          </a:p>
          <a:p>
            <a:endParaRPr lang="en-US" sz="1600" dirty="0"/>
          </a:p>
          <a:p>
            <a:pPr marL="0" indent="0">
              <a:buNone/>
            </a:pPr>
            <a:endParaRPr lang="en-US" sz="1600" dirty="0"/>
          </a:p>
          <a:p>
            <a:pPr marL="0" indent="0">
              <a:buNone/>
            </a:pPr>
            <a:endParaRPr lang="es-ES_tradnl" sz="1600" dirty="0"/>
          </a:p>
          <a:p>
            <a:pPr marL="0" indent="0">
              <a:buNone/>
            </a:pPr>
            <a:endParaRPr lang="en-US" sz="16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28</a:t>
            </a:fld>
            <a:endParaRPr lang="en-US" dirty="0"/>
          </a:p>
        </p:txBody>
      </p:sp>
    </p:spTree>
    <p:extLst>
      <p:ext uri="{BB962C8B-B14F-4D97-AF65-F5344CB8AC3E}">
        <p14:creationId xmlns:p14="http://schemas.microsoft.com/office/powerpoint/2010/main" val="21404463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229600" cy="551688"/>
          </a:xfrm>
        </p:spPr>
        <p:txBody>
          <a:bodyPr>
            <a:noAutofit/>
          </a:bodyPr>
          <a:lstStyle/>
          <a:p>
            <a:r>
              <a:rPr lang="en-US" dirty="0"/>
              <a:t>Formatted Printing With printf </a:t>
            </a:r>
            <a:r>
              <a:rPr lang="mr-IN" dirty="0"/>
              <a:t>–</a:t>
            </a:r>
            <a:r>
              <a:rPr lang="en-US" dirty="0"/>
              <a:t> Putting It All Together</a:t>
            </a:r>
          </a:p>
        </p:txBody>
      </p:sp>
      <p:sp>
        <p:nvSpPr>
          <p:cNvPr id="3" name="Content Placeholder 2"/>
          <p:cNvSpPr>
            <a:spLocks noGrp="1"/>
          </p:cNvSpPr>
          <p:nvPr>
            <p:ph idx="1"/>
          </p:nvPr>
        </p:nvSpPr>
        <p:spPr>
          <a:xfrm>
            <a:off x="457200" y="1447800"/>
            <a:ext cx="8229600" cy="3657600"/>
          </a:xfrm>
        </p:spPr>
        <p:txBody>
          <a:bodyPr>
            <a:noAutofit/>
          </a:bodyPr>
          <a:lstStyle/>
          <a:p>
            <a:pPr marL="0" indent="0">
              <a:buNone/>
            </a:pPr>
            <a:r>
              <a:rPr lang="en-US" sz="4000" dirty="0">
                <a:latin typeface="Times New Roman"/>
                <a:cs typeface="Times New Roman"/>
              </a:rPr>
              <a:t>See </a:t>
            </a:r>
            <a:r>
              <a:rPr lang="en-US" sz="4000" dirty="0">
                <a:solidFill>
                  <a:srgbClr val="FF0000"/>
                </a:solidFill>
                <a:latin typeface="Times New Roman"/>
                <a:cs typeface="Times New Roman"/>
              </a:rPr>
              <a:t>Printf5.java</a:t>
            </a:r>
          </a:p>
        </p:txBody>
      </p:sp>
      <p:sp>
        <p:nvSpPr>
          <p:cNvPr id="4" name="Slide Number Placeholder 3"/>
          <p:cNvSpPr>
            <a:spLocks noGrp="1"/>
          </p:cNvSpPr>
          <p:nvPr>
            <p:ph type="sldNum" sz="quarter" idx="12"/>
          </p:nvPr>
        </p:nvSpPr>
        <p:spPr/>
        <p:txBody>
          <a:bodyPr/>
          <a:lstStyle/>
          <a:p>
            <a:fld id="{13977939-A071-43C1-9268-F54CC2756BB5}" type="slidenum">
              <a:rPr lang="en-US" smtClean="0"/>
              <a:pPr/>
              <a:t>29</a:t>
            </a:fld>
            <a:endParaRPr lang="en-US" dirty="0"/>
          </a:p>
        </p:txBody>
      </p:sp>
    </p:spTree>
    <p:extLst>
      <p:ext uri="{BB962C8B-B14F-4D97-AF65-F5344CB8AC3E}">
        <p14:creationId xmlns:p14="http://schemas.microsoft.com/office/powerpoint/2010/main" val="3403608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46A5D-59BF-3D2C-BB1E-A24BC8DB11CF}"/>
              </a:ext>
            </a:extLst>
          </p:cNvPr>
          <p:cNvSpPr>
            <a:spLocks noGrp="1"/>
          </p:cNvSpPr>
          <p:nvPr>
            <p:ph type="body" idx="1"/>
          </p:nvPr>
        </p:nvSpPr>
        <p:spPr/>
        <p:txBody>
          <a:bodyPr/>
          <a:lstStyle/>
          <a:p>
            <a:r>
              <a:rPr lang="en-US" dirty="0"/>
              <a:t>Reading and Writing From Files</a:t>
            </a:r>
          </a:p>
        </p:txBody>
      </p:sp>
      <p:sp>
        <p:nvSpPr>
          <p:cNvPr id="4" name="Slide Number Placeholder 3">
            <a:extLst>
              <a:ext uri="{FF2B5EF4-FFF2-40B4-BE49-F238E27FC236}">
                <a16:creationId xmlns:a16="http://schemas.microsoft.com/office/drawing/2014/main" id="{61479339-A475-3028-BA5E-32A42A4B620B}"/>
              </a:ext>
            </a:extLst>
          </p:cNvPr>
          <p:cNvSpPr>
            <a:spLocks noGrp="1"/>
          </p:cNvSpPr>
          <p:nvPr>
            <p:ph type="sldNum" sz="quarter" idx="12"/>
          </p:nvPr>
        </p:nvSpPr>
        <p:spPr/>
        <p:txBody>
          <a:bodyPr/>
          <a:lstStyle/>
          <a:p>
            <a:fld id="{13977939-A071-43C1-9268-F54CC2756BB5}" type="slidenum">
              <a:rPr lang="en-US" smtClean="0"/>
              <a:pPr/>
              <a:t>30</a:t>
            </a:fld>
            <a:endParaRPr lang="en-US" dirty="0"/>
          </a:p>
        </p:txBody>
      </p:sp>
    </p:spTree>
    <p:extLst>
      <p:ext uri="{BB962C8B-B14F-4D97-AF65-F5344CB8AC3E}">
        <p14:creationId xmlns:p14="http://schemas.microsoft.com/office/powerpoint/2010/main" val="3960342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704088"/>
          </a:xfrm>
        </p:spPr>
        <p:txBody>
          <a:bodyPr>
            <a:normAutofit/>
          </a:bodyPr>
          <a:lstStyle/>
          <a:p>
            <a:r>
              <a:rPr lang="en-US" sz="3200" b="1" dirty="0"/>
              <a:t>Files</a:t>
            </a:r>
          </a:p>
        </p:txBody>
      </p:sp>
      <p:sp>
        <p:nvSpPr>
          <p:cNvPr id="3" name="Content Placeholder 2"/>
          <p:cNvSpPr>
            <a:spLocks noGrp="1"/>
          </p:cNvSpPr>
          <p:nvPr>
            <p:ph idx="1"/>
          </p:nvPr>
        </p:nvSpPr>
        <p:spPr>
          <a:xfrm>
            <a:off x="457200" y="1447800"/>
            <a:ext cx="7543800" cy="4953000"/>
          </a:xfrm>
        </p:spPr>
        <p:txBody>
          <a:bodyPr>
            <a:normAutofit/>
          </a:bodyPr>
          <a:lstStyle/>
          <a:p>
            <a:r>
              <a:rPr lang="en-US" dirty="0"/>
              <a:t>A file is a collection of data saved under a single name</a:t>
            </a:r>
          </a:p>
          <a:p>
            <a:pPr lvl="1"/>
            <a:r>
              <a:rPr lang="en-US" dirty="0"/>
              <a:t>Files can be structured or free text</a:t>
            </a:r>
          </a:p>
          <a:p>
            <a:pPr lvl="1"/>
            <a:r>
              <a:rPr lang="en-US" dirty="0"/>
              <a:t>Java creates File objects</a:t>
            </a:r>
          </a:p>
          <a:p>
            <a:pPr lvl="1"/>
            <a:r>
              <a:rPr lang="en-US" dirty="0"/>
              <a:t>Once a File object is instantiated you can read or write from the file</a:t>
            </a:r>
          </a:p>
          <a:p>
            <a:pPr lvl="2"/>
            <a:r>
              <a:rPr lang="en-US" dirty="0"/>
              <a:t>This is very convenient when testing programs, since you can use the same data over and over again</a:t>
            </a:r>
          </a:p>
          <a:p>
            <a:r>
              <a:rPr lang="en-US" dirty="0"/>
              <a:t>Most of the inputs for homework will require reading from files</a:t>
            </a:r>
          </a:p>
          <a:p>
            <a:pPr lvl="2"/>
            <a:endParaRPr lang="en-US" dirty="0"/>
          </a:p>
          <a:p>
            <a:endParaRPr lang="en-US" dirty="0"/>
          </a:p>
          <a:p>
            <a:pPr marL="393192" lvl="1"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31</a:t>
            </a:fld>
            <a:endParaRPr lang="en-US" dirty="0"/>
          </a:p>
        </p:txBody>
      </p:sp>
    </p:spTree>
    <p:extLst>
      <p:ext uri="{BB962C8B-B14F-4D97-AF65-F5344CB8AC3E}">
        <p14:creationId xmlns:p14="http://schemas.microsoft.com/office/powerpoint/2010/main" val="18785577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704088"/>
          </a:xfrm>
        </p:spPr>
        <p:txBody>
          <a:bodyPr>
            <a:normAutofit/>
          </a:bodyPr>
          <a:lstStyle/>
          <a:p>
            <a:r>
              <a:rPr lang="en-US" sz="3200" b="1" dirty="0"/>
              <a:t>Processing Streams</a:t>
            </a:r>
          </a:p>
        </p:txBody>
      </p:sp>
      <p:sp>
        <p:nvSpPr>
          <p:cNvPr id="3" name="Content Placeholder 2"/>
          <p:cNvSpPr>
            <a:spLocks noGrp="1"/>
          </p:cNvSpPr>
          <p:nvPr>
            <p:ph idx="1"/>
          </p:nvPr>
        </p:nvSpPr>
        <p:spPr>
          <a:xfrm>
            <a:off x="304800" y="1219200"/>
            <a:ext cx="7543800" cy="4953000"/>
          </a:xfrm>
        </p:spPr>
        <p:txBody>
          <a:bodyPr>
            <a:normAutofit fontScale="85000" lnSpcReduction="10000"/>
          </a:bodyPr>
          <a:lstStyle/>
          <a:p>
            <a:r>
              <a:rPr lang="en-US" dirty="0"/>
              <a:t>A </a:t>
            </a:r>
            <a:r>
              <a:rPr lang="en-US" b="1" dirty="0"/>
              <a:t>processing</a:t>
            </a:r>
            <a:r>
              <a:rPr lang="en-US" dirty="0"/>
              <a:t> stream operates on the data supplied by another stream. </a:t>
            </a:r>
          </a:p>
          <a:p>
            <a:r>
              <a:rPr lang="en-US" dirty="0"/>
              <a:t>Often a processing stream acts as a buffer for the data coming from another stream. </a:t>
            </a:r>
          </a:p>
          <a:p>
            <a:pPr lvl="2"/>
            <a:r>
              <a:rPr lang="en-US" b="1" dirty="0"/>
              <a:t>Character streams</a:t>
            </a:r>
            <a:r>
              <a:rPr lang="en-US" dirty="0"/>
              <a:t> are intended exclusively for character data. – We are using Character Streams most often in this class</a:t>
            </a:r>
          </a:p>
          <a:p>
            <a:pPr lvl="2"/>
            <a:r>
              <a:rPr lang="en-US" dirty="0"/>
              <a:t>In java the characters are in 16 bit Unicode</a:t>
            </a:r>
          </a:p>
          <a:p>
            <a:pPr lvl="1"/>
            <a:r>
              <a:rPr lang="en-US" b="1" dirty="0"/>
              <a:t>Byte streams</a:t>
            </a:r>
            <a:r>
              <a:rPr lang="en-US" dirty="0"/>
              <a:t> are intended for general purpose input and output (i.e. reading in gif files)</a:t>
            </a:r>
          </a:p>
          <a:p>
            <a:r>
              <a:rPr lang="en-US" dirty="0"/>
              <a:t>A </a:t>
            </a:r>
            <a:r>
              <a:rPr lang="en-US" b="1" dirty="0"/>
              <a:t>buffer</a:t>
            </a:r>
            <a:r>
              <a:rPr lang="en-US" dirty="0"/>
              <a:t> is a block of main memory used as a work area. </a:t>
            </a:r>
          </a:p>
          <a:p>
            <a:pPr lvl="1"/>
            <a:r>
              <a:rPr lang="en-US" dirty="0"/>
              <a:t>For example, disks usually deliver data in blocks of 512 bytes, no matter how few bytes a program has asked for. </a:t>
            </a:r>
          </a:p>
          <a:p>
            <a:pPr lvl="1"/>
            <a:r>
              <a:rPr lang="en-US" dirty="0"/>
              <a:t>Usually the blocks of data are buffered and delivered from the buffer to the program in the amount the program asked for. </a:t>
            </a:r>
          </a:p>
          <a:p>
            <a:endParaRPr lang="en-US" dirty="0"/>
          </a:p>
          <a:p>
            <a:pPr marL="393192" lvl="1"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32</a:t>
            </a:fld>
            <a:endParaRPr lang="en-US" dirty="0"/>
          </a:p>
        </p:txBody>
      </p:sp>
    </p:spTree>
    <p:extLst>
      <p:ext uri="{BB962C8B-B14F-4D97-AF65-F5344CB8AC3E}">
        <p14:creationId xmlns:p14="http://schemas.microsoft.com/office/powerpoint/2010/main" val="1466561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5EA87-BD75-93D3-39CC-63373D0C73A4}"/>
              </a:ext>
            </a:extLst>
          </p:cNvPr>
          <p:cNvSpPr>
            <a:spLocks noGrp="1"/>
          </p:cNvSpPr>
          <p:nvPr>
            <p:ph type="title"/>
          </p:nvPr>
        </p:nvSpPr>
        <p:spPr>
          <a:xfrm>
            <a:off x="1796142" y="631371"/>
            <a:ext cx="5181600" cy="627888"/>
          </a:xfrm>
        </p:spPr>
        <p:txBody>
          <a:bodyPr>
            <a:normAutofit/>
          </a:bodyPr>
          <a:lstStyle/>
          <a:p>
            <a:r>
              <a:rPr lang="en-US" sz="3200" b="1" dirty="0"/>
              <a:t>Input and Output Streams </a:t>
            </a:r>
          </a:p>
        </p:txBody>
      </p:sp>
      <p:sp>
        <p:nvSpPr>
          <p:cNvPr id="3" name="Slide Number Placeholder 2">
            <a:extLst>
              <a:ext uri="{FF2B5EF4-FFF2-40B4-BE49-F238E27FC236}">
                <a16:creationId xmlns:a16="http://schemas.microsoft.com/office/drawing/2014/main" id="{F4FE69FA-24B4-942A-4CFA-A04C02388C6F}"/>
              </a:ext>
            </a:extLst>
          </p:cNvPr>
          <p:cNvSpPr>
            <a:spLocks noGrp="1"/>
          </p:cNvSpPr>
          <p:nvPr>
            <p:ph type="sldNum" sz="quarter" idx="12"/>
          </p:nvPr>
        </p:nvSpPr>
        <p:spPr/>
        <p:txBody>
          <a:bodyPr/>
          <a:lstStyle/>
          <a:p>
            <a:fld id="{13977939-A071-43C1-9268-F54CC2756BB5}" type="slidenum">
              <a:rPr lang="en-US" smtClean="0"/>
              <a:pPr/>
              <a:t>33</a:t>
            </a:fld>
            <a:endParaRPr lang="en-US" dirty="0"/>
          </a:p>
        </p:txBody>
      </p:sp>
      <p:pic>
        <p:nvPicPr>
          <p:cNvPr id="1026" name="Picture 2" descr="3 examples to read InputStream as String in Java">
            <a:extLst>
              <a:ext uri="{FF2B5EF4-FFF2-40B4-BE49-F238E27FC236}">
                <a16:creationId xmlns:a16="http://schemas.microsoft.com/office/drawing/2014/main" id="{E5A7BF72-A6E8-5226-51C8-FE555DC07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24" y="1752600"/>
            <a:ext cx="8107551" cy="4233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6642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DEDD-38AB-3FD4-DC2C-B40B38427CD5}"/>
              </a:ext>
            </a:extLst>
          </p:cNvPr>
          <p:cNvSpPr>
            <a:spLocks noGrp="1"/>
          </p:cNvSpPr>
          <p:nvPr>
            <p:ph type="title"/>
          </p:nvPr>
        </p:nvSpPr>
        <p:spPr>
          <a:xfrm>
            <a:off x="2734500" y="838200"/>
            <a:ext cx="3581400" cy="475488"/>
          </a:xfrm>
        </p:spPr>
        <p:txBody>
          <a:bodyPr>
            <a:normAutofit fontScale="90000"/>
          </a:bodyPr>
          <a:lstStyle/>
          <a:p>
            <a:r>
              <a:rPr lang="en-US" sz="3200" b="1" dirty="0"/>
              <a:t>Java I/O Stream</a:t>
            </a:r>
          </a:p>
        </p:txBody>
      </p:sp>
      <p:sp>
        <p:nvSpPr>
          <p:cNvPr id="3" name="Slide Number Placeholder 2">
            <a:extLst>
              <a:ext uri="{FF2B5EF4-FFF2-40B4-BE49-F238E27FC236}">
                <a16:creationId xmlns:a16="http://schemas.microsoft.com/office/drawing/2014/main" id="{5A6E4D4A-241E-18AD-937A-88096D945CCA}"/>
              </a:ext>
            </a:extLst>
          </p:cNvPr>
          <p:cNvSpPr>
            <a:spLocks noGrp="1"/>
          </p:cNvSpPr>
          <p:nvPr>
            <p:ph type="sldNum" sz="quarter" idx="12"/>
          </p:nvPr>
        </p:nvSpPr>
        <p:spPr/>
        <p:txBody>
          <a:bodyPr/>
          <a:lstStyle/>
          <a:p>
            <a:fld id="{13977939-A071-43C1-9268-F54CC2756BB5}" type="slidenum">
              <a:rPr lang="en-US" smtClean="0"/>
              <a:pPr/>
              <a:t>34</a:t>
            </a:fld>
            <a:endParaRPr lang="en-US" dirty="0"/>
          </a:p>
        </p:txBody>
      </p:sp>
      <p:pic>
        <p:nvPicPr>
          <p:cNvPr id="8" name="Picture 7">
            <a:extLst>
              <a:ext uri="{FF2B5EF4-FFF2-40B4-BE49-F238E27FC236}">
                <a16:creationId xmlns:a16="http://schemas.microsoft.com/office/drawing/2014/main" id="{BB52BB9F-37D4-5CB3-739E-25DCAA673925}"/>
              </a:ext>
            </a:extLst>
          </p:cNvPr>
          <p:cNvPicPr>
            <a:picLocks noChangeAspect="1"/>
          </p:cNvPicPr>
          <p:nvPr/>
        </p:nvPicPr>
        <p:blipFill>
          <a:blip r:embed="rId2"/>
          <a:stretch>
            <a:fillRect/>
          </a:stretch>
        </p:blipFill>
        <p:spPr>
          <a:xfrm>
            <a:off x="206400" y="1981200"/>
            <a:ext cx="7929600" cy="4267200"/>
          </a:xfrm>
          <a:prstGeom prst="rect">
            <a:avLst/>
          </a:prstGeom>
        </p:spPr>
      </p:pic>
    </p:spTree>
    <p:extLst>
      <p:ext uri="{BB962C8B-B14F-4D97-AF65-F5344CB8AC3E}">
        <p14:creationId xmlns:p14="http://schemas.microsoft.com/office/powerpoint/2010/main" val="513146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3CAF-EAF4-4440-BAC9-2D0CD401F05D}"/>
              </a:ext>
            </a:extLst>
          </p:cNvPr>
          <p:cNvSpPr>
            <a:spLocks noGrp="1"/>
          </p:cNvSpPr>
          <p:nvPr>
            <p:ph type="title"/>
          </p:nvPr>
        </p:nvSpPr>
        <p:spPr>
          <a:xfrm>
            <a:off x="304800" y="415417"/>
            <a:ext cx="8534400" cy="475488"/>
          </a:xfrm>
        </p:spPr>
        <p:txBody>
          <a:bodyPr>
            <a:noAutofit/>
          </a:bodyPr>
          <a:lstStyle/>
          <a:p>
            <a:r>
              <a:rPr lang="en-US" dirty="0"/>
              <a:t>What Is A Binary File?</a:t>
            </a:r>
          </a:p>
        </p:txBody>
      </p:sp>
      <p:sp>
        <p:nvSpPr>
          <p:cNvPr id="3" name="Content Placeholder 2">
            <a:extLst>
              <a:ext uri="{FF2B5EF4-FFF2-40B4-BE49-F238E27FC236}">
                <a16:creationId xmlns:a16="http://schemas.microsoft.com/office/drawing/2014/main" id="{964CCDFD-4078-9D43-9C59-ABD51D28E595}"/>
              </a:ext>
            </a:extLst>
          </p:cNvPr>
          <p:cNvSpPr>
            <a:spLocks noGrp="1"/>
          </p:cNvSpPr>
          <p:nvPr>
            <p:ph idx="1"/>
          </p:nvPr>
        </p:nvSpPr>
        <p:spPr>
          <a:xfrm>
            <a:off x="457200" y="890905"/>
            <a:ext cx="8229600" cy="5830570"/>
          </a:xfrm>
        </p:spPr>
        <p:txBody>
          <a:bodyPr>
            <a:normAutofit lnSpcReduction="10000"/>
          </a:bodyPr>
          <a:lstStyle/>
          <a:p>
            <a:r>
              <a:rPr lang="en-US" dirty="0"/>
              <a:t>A file that contains raw binary data is known as a binary file. </a:t>
            </a:r>
          </a:p>
          <a:p>
            <a:pPr lvl="1"/>
            <a:r>
              <a:rPr lang="en-US" dirty="0"/>
              <a:t>The content of a binary file is not formatted as text, and not meant to be opened in a text editor. </a:t>
            </a:r>
          </a:p>
          <a:p>
            <a:r>
              <a:rPr lang="en-US" dirty="0"/>
              <a:t>The way data is stored in memory is sometimes called the raw binary format.</a:t>
            </a:r>
          </a:p>
          <a:p>
            <a:pPr lvl="1"/>
            <a:r>
              <a:rPr lang="en-US" dirty="0"/>
              <a:t>Data can be stored in a file in its raw binary format.</a:t>
            </a:r>
          </a:p>
          <a:p>
            <a:r>
              <a:rPr lang="en-US" dirty="0"/>
              <a:t>Storing data in its binary format is more efficient than storing it as text.</a:t>
            </a:r>
          </a:p>
          <a:p>
            <a:pPr lvl="1"/>
            <a:r>
              <a:rPr lang="en-US" dirty="0"/>
              <a:t>That is why much data read in as characters is converted to binary</a:t>
            </a:r>
          </a:p>
          <a:p>
            <a:r>
              <a:rPr lang="en-US" dirty="0"/>
              <a:t>There are some types of data that should only be stored in its raw binary format.</a:t>
            </a:r>
          </a:p>
          <a:p>
            <a:pPr lvl="1"/>
            <a:r>
              <a:rPr lang="en-US" dirty="0"/>
              <a:t>Images are an example</a:t>
            </a:r>
          </a:p>
          <a:p>
            <a:endParaRPr lang="en-US" dirty="0"/>
          </a:p>
          <a:p>
            <a:endParaRPr lang="en-US" dirty="0"/>
          </a:p>
        </p:txBody>
      </p:sp>
      <p:sp>
        <p:nvSpPr>
          <p:cNvPr id="4" name="Slide Number Placeholder 3">
            <a:extLst>
              <a:ext uri="{FF2B5EF4-FFF2-40B4-BE49-F238E27FC236}">
                <a16:creationId xmlns:a16="http://schemas.microsoft.com/office/drawing/2014/main" id="{59E7B822-1DD2-FF4A-B637-E6A6CAB3B308}"/>
              </a:ext>
            </a:extLst>
          </p:cNvPr>
          <p:cNvSpPr>
            <a:spLocks noGrp="1"/>
          </p:cNvSpPr>
          <p:nvPr>
            <p:ph type="sldNum" sz="quarter" idx="12"/>
          </p:nvPr>
        </p:nvSpPr>
        <p:spPr/>
        <p:txBody>
          <a:bodyPr/>
          <a:lstStyle/>
          <a:p>
            <a:fld id="{13977939-A071-43C1-9268-F54CC2756BB5}" type="slidenum">
              <a:rPr lang="en-US" smtClean="0"/>
              <a:pPr/>
              <a:t>35</a:t>
            </a:fld>
            <a:endParaRPr lang="en-US" dirty="0"/>
          </a:p>
        </p:txBody>
      </p:sp>
    </p:spTree>
    <p:extLst>
      <p:ext uri="{BB962C8B-B14F-4D97-AF65-F5344CB8AC3E}">
        <p14:creationId xmlns:p14="http://schemas.microsoft.com/office/powerpoint/2010/main" val="2581799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535813"/>
          </a:xfrm>
        </p:spPr>
        <p:txBody>
          <a:bodyPr>
            <a:normAutofit/>
          </a:bodyPr>
          <a:lstStyle/>
          <a:p>
            <a:r>
              <a:rPr lang="en-US" sz="3200" b="1" dirty="0"/>
              <a:t>Using Files in Java Programs </a:t>
            </a:r>
          </a:p>
        </p:txBody>
      </p:sp>
      <p:sp>
        <p:nvSpPr>
          <p:cNvPr id="3" name="Content Placeholder 2"/>
          <p:cNvSpPr>
            <a:spLocks noGrp="1"/>
          </p:cNvSpPr>
          <p:nvPr>
            <p:ph idx="1"/>
          </p:nvPr>
        </p:nvSpPr>
        <p:spPr>
          <a:xfrm>
            <a:off x="457200" y="761999"/>
            <a:ext cx="8305800" cy="5927725"/>
          </a:xfrm>
        </p:spPr>
        <p:txBody>
          <a:bodyPr>
            <a:normAutofit fontScale="92500" lnSpcReduction="10000"/>
          </a:bodyPr>
          <a:lstStyle/>
          <a:p>
            <a:r>
              <a:rPr lang="en-US" sz="2800" dirty="0"/>
              <a:t>You must include the following statement before the class statement</a:t>
            </a:r>
          </a:p>
          <a:p>
            <a:pPr lvl="1"/>
            <a:r>
              <a:rPr lang="en-US" dirty="0"/>
              <a:t>import java.util.Scanner; //if you are reading from a file (or otherwise using it) </a:t>
            </a:r>
          </a:p>
          <a:p>
            <a:pPr lvl="1"/>
            <a:r>
              <a:rPr lang="en-US" dirty="0"/>
              <a:t>import java.io.*;  </a:t>
            </a:r>
          </a:p>
          <a:p>
            <a:pPr marL="0" indent="0">
              <a:buNone/>
            </a:pPr>
            <a:r>
              <a:rPr lang="en-US" sz="2000" dirty="0"/>
              <a:t>  </a:t>
            </a:r>
            <a:r>
              <a:rPr lang="en-US" sz="2800" dirty="0"/>
              <a:t>or the following 3 specific classes in the java.io package</a:t>
            </a:r>
          </a:p>
          <a:p>
            <a:pPr marL="651510" lvl="1" indent="-285750"/>
            <a:r>
              <a:rPr lang="en-US" dirty="0"/>
              <a:t>import java.io.File;</a:t>
            </a:r>
          </a:p>
          <a:p>
            <a:pPr marL="651510" lvl="1" indent="-285750"/>
            <a:r>
              <a:rPr lang="en-US" dirty="0"/>
              <a:t>import java.io.PrintWriter; (if you are writing to an output file) – I will be using PrintWriter throughout although there are other writers available</a:t>
            </a:r>
          </a:p>
          <a:p>
            <a:pPr marL="651510" lvl="1" indent="-285750"/>
            <a:r>
              <a:rPr lang="en-US" dirty="0"/>
              <a:t>import java.io.IOException;</a:t>
            </a:r>
          </a:p>
          <a:p>
            <a:r>
              <a:rPr lang="en-US" sz="2800" dirty="0"/>
              <a:t>You must also include the statement</a:t>
            </a:r>
          </a:p>
          <a:p>
            <a:pPr lvl="1"/>
            <a:r>
              <a:rPr lang="en-US" sz="1800" dirty="0"/>
              <a:t>“</a:t>
            </a:r>
            <a:r>
              <a:rPr lang="en-US" dirty="0"/>
              <a:t>throws IOException” </a:t>
            </a:r>
          </a:p>
          <a:p>
            <a:pPr lvl="1"/>
            <a:r>
              <a:rPr lang="en-US" dirty="0"/>
              <a:t>after the parentheses of any method that uses File class methods, or calls a method that uses File class methods:</a:t>
            </a:r>
          </a:p>
          <a:p>
            <a:pPr marL="0" indent="0">
              <a:buNone/>
            </a:pPr>
            <a:r>
              <a:rPr lang="en-US" sz="2400" dirty="0"/>
              <a:t>    public static void main (String [] args) </a:t>
            </a:r>
            <a:r>
              <a:rPr lang="en-US" sz="2400" dirty="0">
                <a:solidFill>
                  <a:srgbClr val="FF0000"/>
                </a:solidFill>
              </a:rPr>
              <a:t>throws IOException</a:t>
            </a:r>
            <a:endParaRPr lang="en-US" sz="2400" dirty="0"/>
          </a:p>
        </p:txBody>
      </p:sp>
      <p:sp>
        <p:nvSpPr>
          <p:cNvPr id="4" name="Slide Number Placeholder 3"/>
          <p:cNvSpPr>
            <a:spLocks noGrp="1"/>
          </p:cNvSpPr>
          <p:nvPr>
            <p:ph type="sldNum" sz="quarter" idx="12"/>
          </p:nvPr>
        </p:nvSpPr>
        <p:spPr>
          <a:xfrm>
            <a:off x="7924800" y="6324600"/>
            <a:ext cx="762000" cy="365125"/>
          </a:xfrm>
        </p:spPr>
        <p:txBody>
          <a:bodyPr/>
          <a:lstStyle/>
          <a:p>
            <a:fld id="{13977939-A071-43C1-9268-F54CC2756BB5}" type="slidenum">
              <a:rPr lang="en-US" smtClean="0"/>
              <a:pPr/>
              <a:t>36</a:t>
            </a:fld>
            <a:endParaRPr lang="en-US" dirty="0"/>
          </a:p>
        </p:txBody>
      </p:sp>
    </p:spTree>
    <p:extLst>
      <p:ext uri="{BB962C8B-B14F-4D97-AF65-F5344CB8AC3E}">
        <p14:creationId xmlns:p14="http://schemas.microsoft.com/office/powerpoint/2010/main" val="2878041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04088"/>
          </a:xfrm>
        </p:spPr>
        <p:txBody>
          <a:bodyPr>
            <a:normAutofit/>
          </a:bodyPr>
          <a:lstStyle/>
          <a:p>
            <a:r>
              <a:rPr lang="en-US" sz="3200" b="1" dirty="0"/>
              <a:t>Using Files in Java Programs – Input Files (1)</a:t>
            </a:r>
            <a:endParaRPr lang="en-US" sz="3200" dirty="0"/>
          </a:p>
        </p:txBody>
      </p:sp>
      <p:sp>
        <p:nvSpPr>
          <p:cNvPr id="3" name="Content Placeholder 2"/>
          <p:cNvSpPr>
            <a:spLocks noGrp="1"/>
          </p:cNvSpPr>
          <p:nvPr>
            <p:ph idx="1"/>
          </p:nvPr>
        </p:nvSpPr>
        <p:spPr>
          <a:xfrm>
            <a:off x="457200" y="780289"/>
            <a:ext cx="8382000" cy="5941186"/>
          </a:xfrm>
        </p:spPr>
        <p:txBody>
          <a:bodyPr>
            <a:normAutofit/>
          </a:bodyPr>
          <a:lstStyle/>
          <a:p>
            <a:r>
              <a:rPr lang="en-US" sz="2800" dirty="0"/>
              <a:t>You must also create a File object in the program using the “new” parameter</a:t>
            </a:r>
          </a:p>
          <a:p>
            <a:pPr lvl="1"/>
            <a:r>
              <a:rPr lang="en-US" sz="2600" dirty="0"/>
              <a:t>This is necessary to use Java methods</a:t>
            </a:r>
          </a:p>
          <a:p>
            <a:pPr marL="0" indent="0">
              <a:buNone/>
            </a:pPr>
            <a:r>
              <a:rPr lang="en-US" sz="2200" dirty="0"/>
              <a:t>    File inputFile = new File(“</a:t>
            </a:r>
            <a:r>
              <a:rPr lang="en-US" sz="2200" i="1" dirty="0"/>
              <a:t>filename</a:t>
            </a:r>
            <a:r>
              <a:rPr lang="en-US" sz="2200" dirty="0"/>
              <a:t>”);</a:t>
            </a:r>
          </a:p>
          <a:p>
            <a:pPr marL="708660" lvl="1" indent="-342900"/>
            <a:r>
              <a:rPr lang="en-US" sz="2000" dirty="0"/>
              <a:t>If the filename isn’t in the same directory as the class file you must use the full path name</a:t>
            </a:r>
          </a:p>
          <a:p>
            <a:pPr marL="982980" lvl="2" indent="-342900"/>
            <a:r>
              <a:rPr lang="en-US" sz="1700" dirty="0"/>
              <a:t>“filename” must exist for an input file (output files can be created on the fly)</a:t>
            </a:r>
          </a:p>
          <a:p>
            <a:pPr marL="342900" indent="-342900"/>
            <a:r>
              <a:rPr lang="en-US" sz="2200" dirty="0"/>
              <a:t>You can create a String variable with the filename first – allows greater flexibility – </a:t>
            </a:r>
          </a:p>
          <a:p>
            <a:pPr marL="708660" lvl="1" indent="-342900"/>
            <a:r>
              <a:rPr lang="en-US" sz="2000" dirty="0"/>
              <a:t>i.e. String inputFileName = “input.txt”;</a:t>
            </a:r>
          </a:p>
          <a:p>
            <a:pPr marL="708660" lvl="1" indent="-342900"/>
            <a:r>
              <a:rPr lang="en-US" sz="2000" dirty="0"/>
              <a:t>Then you say</a:t>
            </a:r>
          </a:p>
          <a:p>
            <a:pPr marL="365760" lvl="1" indent="0">
              <a:buNone/>
            </a:pPr>
            <a:r>
              <a:rPr lang="en-US" sz="2000" dirty="0"/>
              <a:t>File inputFile = new File(inputFileName);</a:t>
            </a:r>
          </a:p>
          <a:p>
            <a:pPr marL="365760" lvl="1" indent="0">
              <a:buNone/>
            </a:pPr>
            <a:endParaRPr lang="en-US" sz="2000"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37</a:t>
            </a:fld>
            <a:endParaRPr lang="en-US" dirty="0"/>
          </a:p>
        </p:txBody>
      </p:sp>
    </p:spTree>
    <p:extLst>
      <p:ext uri="{BB962C8B-B14F-4D97-AF65-F5344CB8AC3E}">
        <p14:creationId xmlns:p14="http://schemas.microsoft.com/office/powerpoint/2010/main" val="2757044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04088"/>
          </a:xfrm>
        </p:spPr>
        <p:txBody>
          <a:bodyPr>
            <a:normAutofit/>
          </a:bodyPr>
          <a:lstStyle/>
          <a:p>
            <a:r>
              <a:rPr lang="en-US" sz="3200" b="1" dirty="0"/>
              <a:t>Using Files in Java Programs – Input Files (2)</a:t>
            </a:r>
            <a:endParaRPr lang="en-US" sz="3200" dirty="0"/>
          </a:p>
        </p:txBody>
      </p:sp>
      <p:sp>
        <p:nvSpPr>
          <p:cNvPr id="3" name="Content Placeholder 2"/>
          <p:cNvSpPr>
            <a:spLocks noGrp="1"/>
          </p:cNvSpPr>
          <p:nvPr>
            <p:ph idx="1"/>
          </p:nvPr>
        </p:nvSpPr>
        <p:spPr>
          <a:xfrm>
            <a:off x="457200" y="780289"/>
            <a:ext cx="8382000" cy="5941186"/>
          </a:xfrm>
        </p:spPr>
        <p:txBody>
          <a:bodyPr>
            <a:normAutofit/>
          </a:bodyPr>
          <a:lstStyle/>
          <a:p>
            <a:pPr marL="365760" lvl="1" indent="0">
              <a:buNone/>
            </a:pPr>
            <a:endParaRPr lang="en-US" sz="2000" dirty="0"/>
          </a:p>
          <a:p>
            <a:pPr marL="342900" indent="-342900"/>
            <a:r>
              <a:rPr lang="en-US" sz="2200" dirty="0"/>
              <a:t>You should request the file name from the user (this is how it is usually done) – </a:t>
            </a:r>
            <a:r>
              <a:rPr lang="en-US" sz="2200" dirty="0">
                <a:solidFill>
                  <a:srgbClr val="FF0000"/>
                </a:solidFill>
              </a:rPr>
              <a:t>Please do this (see below) in all your submittals, rather than hardcoding the file names.</a:t>
            </a:r>
          </a:p>
          <a:p>
            <a:pPr marL="342900" indent="-342900"/>
            <a:r>
              <a:rPr lang="en-US" sz="2200" b="1" dirty="0">
                <a:solidFill>
                  <a:srgbClr val="FF0000"/>
                </a:solidFill>
              </a:rPr>
              <a:t>If you hardcode your file name there will be a deduction of several points.</a:t>
            </a:r>
          </a:p>
          <a:p>
            <a:pPr marL="365760" lvl="1" indent="0">
              <a:buNone/>
            </a:pPr>
            <a:endParaRPr lang="en-US" sz="2000" dirty="0"/>
          </a:p>
          <a:p>
            <a:pPr marL="365760" lvl="1" indent="0">
              <a:buNone/>
            </a:pPr>
            <a:r>
              <a:rPr lang="en-US" sz="2000" dirty="0"/>
              <a:t>Scanner keyboard = new Scanner(System.in);// This is a Scanner used to read input typed from the keyboard</a:t>
            </a:r>
          </a:p>
          <a:p>
            <a:pPr marL="365760" lvl="1" indent="0">
              <a:buNone/>
            </a:pPr>
            <a:r>
              <a:rPr lang="en-US" sz="2000" dirty="0"/>
              <a:t>System.out.printf("Please enter name of file to read from: ");</a:t>
            </a:r>
          </a:p>
          <a:p>
            <a:pPr marL="365760" lvl="1" indent="0">
              <a:buNone/>
            </a:pPr>
            <a:r>
              <a:rPr lang="en-US" sz="2000" dirty="0"/>
              <a:t>String inputFileName = keyboard.nextLine();//Get the physical file name</a:t>
            </a:r>
          </a:p>
          <a:p>
            <a:pPr marL="365760" lvl="1" indent="0">
              <a:buNone/>
            </a:pPr>
            <a:r>
              <a:rPr lang="en-US" sz="2000" dirty="0"/>
              <a:t>File inputFile = new File(inputFileName); // Creating the File Object</a:t>
            </a:r>
          </a:p>
        </p:txBody>
      </p:sp>
      <p:sp>
        <p:nvSpPr>
          <p:cNvPr id="4" name="Slide Number Placeholder 3"/>
          <p:cNvSpPr>
            <a:spLocks noGrp="1"/>
          </p:cNvSpPr>
          <p:nvPr>
            <p:ph type="sldNum" sz="quarter" idx="12"/>
          </p:nvPr>
        </p:nvSpPr>
        <p:spPr/>
        <p:txBody>
          <a:bodyPr/>
          <a:lstStyle/>
          <a:p>
            <a:fld id="{13977939-A071-43C1-9268-F54CC2756BB5}" type="slidenum">
              <a:rPr lang="en-US" smtClean="0"/>
              <a:pPr/>
              <a:t>38</a:t>
            </a:fld>
            <a:endParaRPr lang="en-US" dirty="0"/>
          </a:p>
        </p:txBody>
      </p:sp>
    </p:spTree>
    <p:extLst>
      <p:ext uri="{BB962C8B-B14F-4D97-AF65-F5344CB8AC3E}">
        <p14:creationId xmlns:p14="http://schemas.microsoft.com/office/powerpoint/2010/main" val="23912920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04088"/>
          </a:xfrm>
        </p:spPr>
        <p:txBody>
          <a:bodyPr>
            <a:normAutofit/>
          </a:bodyPr>
          <a:lstStyle/>
          <a:p>
            <a:r>
              <a:rPr lang="en-US" sz="3200" b="1" dirty="0"/>
              <a:t>Using Files in Java Programs – Input Files (2)</a:t>
            </a:r>
          </a:p>
        </p:txBody>
      </p:sp>
      <p:sp>
        <p:nvSpPr>
          <p:cNvPr id="3" name="Content Placeholder 2"/>
          <p:cNvSpPr>
            <a:spLocks noGrp="1"/>
          </p:cNvSpPr>
          <p:nvPr>
            <p:ph idx="1"/>
          </p:nvPr>
        </p:nvSpPr>
        <p:spPr>
          <a:xfrm>
            <a:off x="457200" y="932688"/>
            <a:ext cx="8153400" cy="5696712"/>
          </a:xfrm>
        </p:spPr>
        <p:txBody>
          <a:bodyPr>
            <a:normAutofit fontScale="85000" lnSpcReduction="20000"/>
          </a:bodyPr>
          <a:lstStyle/>
          <a:p>
            <a:pPr marL="342900" indent="-342900"/>
            <a:r>
              <a:rPr lang="en-US" sz="2800" dirty="0"/>
              <a:t>You need to use the File method </a:t>
            </a:r>
            <a:r>
              <a:rPr lang="en-US" sz="2800" dirty="0">
                <a:solidFill>
                  <a:srgbClr val="FF0000"/>
                </a:solidFill>
              </a:rPr>
              <a:t>.exists() </a:t>
            </a:r>
            <a:r>
              <a:rPr lang="en-US" sz="2800" dirty="0"/>
              <a:t>before creating a Scanner for </a:t>
            </a:r>
            <a:r>
              <a:rPr lang="en-US" sz="2800" dirty="0">
                <a:solidFill>
                  <a:srgbClr val="FF0000"/>
                </a:solidFill>
              </a:rPr>
              <a:t>an input file</a:t>
            </a:r>
          </a:p>
          <a:p>
            <a:pPr marL="708660" lvl="1" indent="-342900"/>
            <a:r>
              <a:rPr lang="en-US" dirty="0"/>
              <a:t>i.e. inputFile.exists(); //if it doesn’t exist you can capture this fact</a:t>
            </a:r>
          </a:p>
          <a:p>
            <a:pPr marL="708660" lvl="1" indent="-342900"/>
            <a:r>
              <a:rPr lang="en-US" dirty="0"/>
              <a:t>exists() return true if an input file exists, false otherwise</a:t>
            </a:r>
          </a:p>
          <a:p>
            <a:pPr marL="365760" lvl="1" indent="0">
              <a:buNone/>
            </a:pPr>
            <a:r>
              <a:rPr lang="en-US" sz="1800" dirty="0">
                <a:latin typeface="Times New Roman"/>
                <a:cs typeface="Times New Roman"/>
              </a:rPr>
              <a:t>if (!inputFile.exists())</a:t>
            </a:r>
          </a:p>
          <a:p>
            <a:pPr marL="365760" lvl="1" indent="0">
              <a:buNone/>
            </a:pPr>
            <a:r>
              <a:rPr lang="en-US" sz="1800" dirty="0">
                <a:latin typeface="Times New Roman"/>
                <a:cs typeface="Times New Roman"/>
              </a:rPr>
              <a:t>{</a:t>
            </a:r>
          </a:p>
          <a:p>
            <a:pPr marL="365760" lvl="1" indent="0">
              <a:buNone/>
            </a:pPr>
            <a:r>
              <a:rPr lang="en-US" sz="1800" dirty="0">
                <a:latin typeface="Times New Roman"/>
                <a:cs typeface="Times New Roman"/>
              </a:rPr>
              <a:t>      System.out.printf("Error: %s not found.\n”, inputFileName);</a:t>
            </a:r>
          </a:p>
          <a:p>
            <a:pPr marL="365760" lvl="1" indent="0">
              <a:buNone/>
            </a:pPr>
            <a:r>
              <a:rPr lang="en-US" sz="1800" dirty="0">
                <a:latin typeface="Times New Roman"/>
                <a:cs typeface="Times New Roman"/>
              </a:rPr>
              <a:t>      System.exit(</a:t>
            </a:r>
            <a:r>
              <a:rPr lang="en-US" sz="1800" dirty="0">
                <a:solidFill>
                  <a:srgbClr val="FF0000"/>
                </a:solidFill>
                <a:latin typeface="Times New Roman"/>
                <a:cs typeface="Times New Roman"/>
              </a:rPr>
              <a:t>0</a:t>
            </a:r>
            <a:r>
              <a:rPr lang="en-US" sz="1800" dirty="0">
                <a:latin typeface="Times New Roman"/>
                <a:cs typeface="Times New Roman"/>
              </a:rPr>
              <a:t>); //This will cause you to exit the program if there is no input file to read from</a:t>
            </a:r>
          </a:p>
          <a:p>
            <a:pPr marL="365760" lvl="1" indent="0">
              <a:buNone/>
            </a:pPr>
            <a:r>
              <a:rPr lang="en-US" sz="1800" dirty="0">
                <a:latin typeface="Times New Roman"/>
                <a:cs typeface="Times New Roman"/>
              </a:rPr>
              <a:t>}</a:t>
            </a:r>
          </a:p>
          <a:p>
            <a:pPr marL="708660" lvl="1" indent="-342900"/>
            <a:r>
              <a:rPr lang="en-US" b="1" dirty="0">
                <a:solidFill>
                  <a:srgbClr val="FF0000"/>
                </a:solidFill>
              </a:rPr>
              <a:t>You must check to see if the file exists before creating the Scanner object</a:t>
            </a:r>
          </a:p>
          <a:p>
            <a:pPr marL="982980" lvl="2" indent="-342900"/>
            <a:r>
              <a:rPr lang="en-US" dirty="0"/>
              <a:t>You will get an IOException if the physical file doesn’t exist</a:t>
            </a:r>
          </a:p>
          <a:p>
            <a:pPr marL="982980" lvl="2" indent="-342900"/>
            <a:r>
              <a:rPr lang="en-US" dirty="0"/>
              <a:t>You can also use a try and catch structure to accomplish the same result without exiting the program</a:t>
            </a:r>
          </a:p>
          <a:p>
            <a:pPr marL="342900" indent="-342900"/>
            <a:endParaRPr lang="en-US" sz="2400" dirty="0"/>
          </a:p>
          <a:p>
            <a:pPr marL="342900" indent="-342900"/>
            <a:r>
              <a:rPr lang="en-US" sz="2400" dirty="0"/>
              <a:t>Finally create a Scanner for the new input file</a:t>
            </a:r>
          </a:p>
          <a:p>
            <a:pPr marL="0" indent="0">
              <a:buNone/>
            </a:pPr>
            <a:r>
              <a:rPr lang="en-US" sz="2000" dirty="0"/>
              <a:t>       Scanner inputReader = new Scanner(inputFile);// inputFile is the java object</a:t>
            </a:r>
          </a:p>
          <a:p>
            <a:endParaRPr lang="en-US" sz="2400" dirty="0"/>
          </a:p>
          <a:p>
            <a:r>
              <a:rPr lang="en-US" sz="2400" dirty="0"/>
              <a:t>Once this is done you can use the same input functions as you have used previously – i.e. nextInt(), nextLine(), …</a:t>
            </a: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39</a:t>
            </a:fld>
            <a:endParaRPr lang="en-US" dirty="0"/>
          </a:p>
        </p:txBody>
      </p:sp>
    </p:spTree>
    <p:extLst>
      <p:ext uri="{BB962C8B-B14F-4D97-AF65-F5344CB8AC3E}">
        <p14:creationId xmlns:p14="http://schemas.microsoft.com/office/powerpoint/2010/main" val="3524979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704088"/>
          </a:xfrm>
        </p:spPr>
        <p:txBody>
          <a:bodyPr>
            <a:normAutofit/>
          </a:bodyPr>
          <a:lstStyle/>
          <a:p>
            <a:r>
              <a:rPr lang="en-US" sz="3200" b="1" dirty="0"/>
              <a:t>Using Files in Java Programs – Input Files (3)</a:t>
            </a:r>
          </a:p>
        </p:txBody>
      </p:sp>
      <p:sp>
        <p:nvSpPr>
          <p:cNvPr id="3" name="Content Placeholder 2"/>
          <p:cNvSpPr>
            <a:spLocks noGrp="1"/>
          </p:cNvSpPr>
          <p:nvPr>
            <p:ph idx="1"/>
          </p:nvPr>
        </p:nvSpPr>
        <p:spPr>
          <a:xfrm>
            <a:off x="457200" y="1143000"/>
            <a:ext cx="8153400" cy="5410200"/>
          </a:xfrm>
        </p:spPr>
        <p:txBody>
          <a:bodyPr>
            <a:normAutofit fontScale="92500" lnSpcReduction="10000"/>
          </a:bodyPr>
          <a:lstStyle/>
          <a:p>
            <a:pPr marL="342900" indent="-342900"/>
            <a:r>
              <a:rPr lang="en-US" sz="2800" dirty="0"/>
              <a:t>You want to use the Scanner method hasNext()</a:t>
            </a:r>
          </a:p>
          <a:p>
            <a:pPr marL="708660" lvl="1" indent="-342900"/>
            <a:r>
              <a:rPr lang="en-US" dirty="0"/>
              <a:t>i.e. inputReader.hasNext();</a:t>
            </a:r>
          </a:p>
          <a:p>
            <a:pPr marL="708660" lvl="1" indent="-342900"/>
            <a:r>
              <a:rPr lang="en-US" dirty="0"/>
              <a:t>This looks at the next item but doesn’t move the pointer value (position)</a:t>
            </a:r>
          </a:p>
          <a:p>
            <a:pPr marL="708660" lvl="1" indent="-342900"/>
            <a:r>
              <a:rPr lang="en-US" dirty="0"/>
              <a:t>This method returns a false when you reach the end of an input file</a:t>
            </a:r>
          </a:p>
          <a:p>
            <a:pPr marL="708660" lvl="1" indent="-342900"/>
            <a:r>
              <a:rPr lang="en-US" dirty="0"/>
              <a:t>There are also specific hasNext() mechanisms i.e. hasNextInt(), etc.</a:t>
            </a:r>
          </a:p>
          <a:p>
            <a:pPr marL="342900" indent="-342900"/>
            <a:r>
              <a:rPr lang="en-US" dirty="0"/>
              <a:t>You should close the file that the Scanner is reading from at the end</a:t>
            </a:r>
          </a:p>
          <a:p>
            <a:pPr marL="708660" lvl="1" indent="-342900"/>
            <a:r>
              <a:rPr lang="en-US" dirty="0"/>
              <a:t>Use the method close(); i.e. inputReader.close(); </a:t>
            </a:r>
          </a:p>
          <a:p>
            <a:pPr marL="982980" lvl="2" indent="-342900"/>
            <a:r>
              <a:rPr lang="en-US" dirty="0"/>
              <a:t>This is a Scanner method</a:t>
            </a:r>
          </a:p>
          <a:p>
            <a:r>
              <a:rPr lang="en-US" dirty="0"/>
              <a:t>See </a:t>
            </a:r>
            <a:r>
              <a:rPr lang="en-US" dirty="0">
                <a:solidFill>
                  <a:srgbClr val="FF0000"/>
                </a:solidFill>
              </a:rPr>
              <a:t>TestFileInput.java </a:t>
            </a:r>
            <a:r>
              <a:rPr lang="en-US" dirty="0"/>
              <a:t>and </a:t>
            </a:r>
            <a:r>
              <a:rPr lang="en-US" dirty="0">
                <a:solidFill>
                  <a:srgbClr val="FF0000"/>
                </a:solidFill>
              </a:rPr>
              <a:t>TestFileInputV2.java</a:t>
            </a:r>
          </a:p>
          <a:p>
            <a:pPr lvl="1"/>
            <a:r>
              <a:rPr lang="en-US" dirty="0"/>
              <a:t>Use</a:t>
            </a:r>
            <a:r>
              <a:rPr lang="en-US" dirty="0">
                <a:solidFill>
                  <a:srgbClr val="FF0000"/>
                </a:solidFill>
              </a:rPr>
              <a:t> quotations.txt</a:t>
            </a:r>
          </a:p>
          <a:p>
            <a:pPr lvl="2"/>
            <a:endParaRPr lang="en-US" dirty="0"/>
          </a:p>
          <a:p>
            <a:endParaRPr lang="en-US" dirty="0"/>
          </a:p>
          <a:p>
            <a:pPr marL="393192" lvl="1"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40</a:t>
            </a:fld>
            <a:endParaRPr lang="en-US" dirty="0"/>
          </a:p>
        </p:txBody>
      </p:sp>
    </p:spTree>
    <p:extLst>
      <p:ext uri="{BB962C8B-B14F-4D97-AF65-F5344CB8AC3E}">
        <p14:creationId xmlns:p14="http://schemas.microsoft.com/office/powerpoint/2010/main" val="1023782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763000" cy="627888"/>
          </a:xfrm>
        </p:spPr>
        <p:txBody>
          <a:bodyPr>
            <a:normAutofit/>
          </a:bodyPr>
          <a:lstStyle/>
          <a:p>
            <a:r>
              <a:rPr lang="en-US" sz="3000" dirty="0"/>
              <a:t>Visualizing the Objects Used When Creating A Scanner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60801380"/>
              </p:ext>
            </p:extLst>
          </p:nvPr>
        </p:nvGraphicFramePr>
        <p:xfrm>
          <a:off x="533400" y="3129281"/>
          <a:ext cx="3808667" cy="1828800"/>
        </p:xfrm>
        <a:graphic>
          <a:graphicData uri="http://schemas.openxmlformats.org/drawingml/2006/table">
            <a:tbl>
              <a:tblPr firstRow="1" bandRow="1">
                <a:tableStyleId>{5C22544A-7EE6-4342-B048-85BDC9FD1C3A}</a:tableStyleId>
              </a:tblPr>
              <a:tblGrid>
                <a:gridCol w="3808667">
                  <a:extLst>
                    <a:ext uri="{9D8B030D-6E8A-4147-A177-3AD203B41FA5}">
                      <a16:colId xmlns:a16="http://schemas.microsoft.com/office/drawing/2014/main" val="20000"/>
                    </a:ext>
                  </a:extLst>
                </a:gridCol>
              </a:tblGrid>
              <a:tr h="370840">
                <a:tc>
                  <a:txBody>
                    <a:bodyPr/>
                    <a:lstStyle/>
                    <a:p>
                      <a:r>
                        <a:rPr lang="en-US" dirty="0"/>
                        <a:t>inputFileName</a:t>
                      </a:r>
                    </a:p>
                    <a:p>
                      <a:r>
                        <a:rPr lang="en-US" dirty="0"/>
                        <a:t>(String with physical file name)</a:t>
                      </a:r>
                    </a:p>
                  </a:txBody>
                  <a:tcPr/>
                </a:tc>
                <a:extLst>
                  <a:ext uri="{0D108BD9-81ED-4DB2-BD59-A6C34878D82A}">
                    <a16:rowId xmlns:a16="http://schemas.microsoft.com/office/drawing/2014/main" val="10000"/>
                  </a:ext>
                </a:extLst>
              </a:tr>
              <a:tr h="370840">
                <a:tc>
                  <a:txBody>
                    <a:bodyPr/>
                    <a:lstStyle/>
                    <a:p>
                      <a:r>
                        <a:rPr lang="en-US" dirty="0"/>
                        <a:t>exists()</a:t>
                      </a:r>
                    </a:p>
                    <a:p>
                      <a:r>
                        <a:rPr lang="en-US" dirty="0"/>
                        <a:t>     o</a:t>
                      </a:r>
                    </a:p>
                    <a:p>
                      <a:r>
                        <a:rPr lang="en-US" dirty="0"/>
                        <a:t>     0</a:t>
                      </a:r>
                    </a:p>
                    <a:p>
                      <a:r>
                        <a:rPr lang="en-US" baseline="0" dirty="0"/>
                        <a:t>     0</a:t>
                      </a:r>
                      <a:endParaRPr lang="en-US" dirty="0"/>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41</a:t>
            </a:fld>
            <a:endParaRPr lang="en-US" dirty="0"/>
          </a:p>
        </p:txBody>
      </p:sp>
      <p:sp>
        <p:nvSpPr>
          <p:cNvPr id="6" name="TextBox 5"/>
          <p:cNvSpPr txBox="1"/>
          <p:nvPr/>
        </p:nvSpPr>
        <p:spPr>
          <a:xfrm>
            <a:off x="2667000" y="2743200"/>
            <a:ext cx="1095172" cy="369332"/>
          </a:xfrm>
          <a:prstGeom prst="rect">
            <a:avLst/>
          </a:prstGeom>
          <a:noFill/>
        </p:spPr>
        <p:txBody>
          <a:bodyPr wrap="none" rtlCol="0">
            <a:spAutoFit/>
          </a:bodyPr>
          <a:lstStyle/>
          <a:p>
            <a:r>
              <a:rPr lang="en-US" dirty="0"/>
              <a:t>inputFile</a:t>
            </a:r>
          </a:p>
        </p:txBody>
      </p:sp>
      <p:sp>
        <p:nvSpPr>
          <p:cNvPr id="7" name="Curved Down Arrow 6"/>
          <p:cNvSpPr/>
          <p:nvPr/>
        </p:nvSpPr>
        <p:spPr>
          <a:xfrm rot="20858452" flipH="1">
            <a:off x="1859862" y="2676088"/>
            <a:ext cx="838200" cy="38100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aphicFrame>
        <p:nvGraphicFramePr>
          <p:cNvPr id="8" name="Content Placeholder 4"/>
          <p:cNvGraphicFramePr>
            <a:graphicFrameLocks/>
          </p:cNvGraphicFramePr>
          <p:nvPr>
            <p:extLst>
              <p:ext uri="{D42A27DB-BD31-4B8C-83A1-F6EECF244321}">
                <p14:modId xmlns:p14="http://schemas.microsoft.com/office/powerpoint/2010/main" val="2186398648"/>
              </p:ext>
            </p:extLst>
          </p:nvPr>
        </p:nvGraphicFramePr>
        <p:xfrm>
          <a:off x="4800600" y="2621280"/>
          <a:ext cx="2362200" cy="292608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tblGrid>
              <a:tr h="370840">
                <a:tc>
                  <a:txBody>
                    <a:bodyPr/>
                    <a:lstStyle/>
                    <a:p>
                      <a:r>
                        <a:rPr lang="en-US" dirty="0"/>
                        <a:t>inputFile</a:t>
                      </a:r>
                    </a:p>
                    <a:p>
                      <a:r>
                        <a:rPr lang="en-US" dirty="0"/>
                        <a:t>(name</a:t>
                      </a:r>
                      <a:r>
                        <a:rPr lang="en-US" baseline="0" dirty="0"/>
                        <a:t> of file object)</a:t>
                      </a:r>
                      <a:endParaRPr lang="en-US" dirty="0"/>
                    </a:p>
                  </a:txBody>
                  <a:tcPr/>
                </a:tc>
                <a:extLst>
                  <a:ext uri="{0D108BD9-81ED-4DB2-BD59-A6C34878D82A}">
                    <a16:rowId xmlns:a16="http://schemas.microsoft.com/office/drawing/2014/main" val="10000"/>
                  </a:ext>
                </a:extLst>
              </a:tr>
              <a:tr h="370840">
                <a:tc>
                  <a:txBody>
                    <a:bodyPr/>
                    <a:lstStyle/>
                    <a:p>
                      <a:r>
                        <a:rPr lang="en-US" dirty="0"/>
                        <a:t>hasNext()</a:t>
                      </a:r>
                    </a:p>
                    <a:p>
                      <a:r>
                        <a:rPr lang="en-US" dirty="0"/>
                        <a:t>nextInt()</a:t>
                      </a:r>
                    </a:p>
                    <a:p>
                      <a:r>
                        <a:rPr lang="en-US" dirty="0"/>
                        <a:t>nextLine()</a:t>
                      </a:r>
                    </a:p>
                    <a:p>
                      <a:r>
                        <a:rPr lang="en-US" dirty="0"/>
                        <a:t>nextInt()</a:t>
                      </a:r>
                    </a:p>
                    <a:p>
                      <a:r>
                        <a:rPr lang="en-US" dirty="0"/>
                        <a:t>close()</a:t>
                      </a:r>
                    </a:p>
                    <a:p>
                      <a:r>
                        <a:rPr lang="en-US" dirty="0"/>
                        <a:t>     o</a:t>
                      </a:r>
                    </a:p>
                    <a:p>
                      <a:r>
                        <a:rPr lang="en-US" dirty="0"/>
                        <a:t>     0</a:t>
                      </a:r>
                    </a:p>
                    <a:p>
                      <a:r>
                        <a:rPr lang="en-US" baseline="0" dirty="0"/>
                        <a:t>     0</a:t>
                      </a:r>
                      <a:endParaRPr lang="en-US" dirty="0"/>
                    </a:p>
                  </a:txBody>
                  <a:tcPr/>
                </a:tc>
                <a:extLst>
                  <a:ext uri="{0D108BD9-81ED-4DB2-BD59-A6C34878D82A}">
                    <a16:rowId xmlns:a16="http://schemas.microsoft.com/office/drawing/2014/main" val="10001"/>
                  </a:ext>
                </a:extLst>
              </a:tr>
            </a:tbl>
          </a:graphicData>
        </a:graphic>
      </p:graphicFrame>
      <p:sp>
        <p:nvSpPr>
          <p:cNvPr id="9" name="TextBox 8"/>
          <p:cNvSpPr txBox="1"/>
          <p:nvPr/>
        </p:nvSpPr>
        <p:spPr>
          <a:xfrm>
            <a:off x="5562600" y="2286000"/>
            <a:ext cx="1441420" cy="369332"/>
          </a:xfrm>
          <a:prstGeom prst="rect">
            <a:avLst/>
          </a:prstGeom>
          <a:noFill/>
        </p:spPr>
        <p:txBody>
          <a:bodyPr wrap="none" rtlCol="0">
            <a:spAutoFit/>
          </a:bodyPr>
          <a:lstStyle/>
          <a:p>
            <a:r>
              <a:rPr lang="en-US" dirty="0"/>
              <a:t>inputReader</a:t>
            </a:r>
          </a:p>
        </p:txBody>
      </p:sp>
      <p:sp>
        <p:nvSpPr>
          <p:cNvPr id="10" name="Curved Down Arrow 9"/>
          <p:cNvSpPr/>
          <p:nvPr/>
        </p:nvSpPr>
        <p:spPr>
          <a:xfrm rot="19830916" flipH="1">
            <a:off x="4982701" y="2231604"/>
            <a:ext cx="686601" cy="366349"/>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 name="TextBox 12"/>
          <p:cNvSpPr txBox="1"/>
          <p:nvPr/>
        </p:nvSpPr>
        <p:spPr>
          <a:xfrm>
            <a:off x="1066800" y="2225041"/>
            <a:ext cx="1672253" cy="369332"/>
          </a:xfrm>
          <a:prstGeom prst="rect">
            <a:avLst/>
          </a:prstGeom>
          <a:noFill/>
        </p:spPr>
        <p:txBody>
          <a:bodyPr wrap="none" rtlCol="0">
            <a:spAutoFit/>
          </a:bodyPr>
          <a:lstStyle/>
          <a:p>
            <a:r>
              <a:rPr lang="en-US" dirty="0"/>
              <a:t>The File object</a:t>
            </a:r>
          </a:p>
        </p:txBody>
      </p:sp>
      <p:sp>
        <p:nvSpPr>
          <p:cNvPr id="14" name="TextBox 13"/>
          <p:cNvSpPr txBox="1"/>
          <p:nvPr/>
        </p:nvSpPr>
        <p:spPr>
          <a:xfrm>
            <a:off x="4648200" y="1828800"/>
            <a:ext cx="2108269" cy="369332"/>
          </a:xfrm>
          <a:prstGeom prst="rect">
            <a:avLst/>
          </a:prstGeom>
          <a:noFill/>
        </p:spPr>
        <p:txBody>
          <a:bodyPr wrap="none" rtlCol="0">
            <a:spAutoFit/>
          </a:bodyPr>
          <a:lstStyle/>
          <a:p>
            <a:r>
              <a:rPr lang="en-US" dirty="0"/>
              <a:t>The Scanner object</a:t>
            </a:r>
          </a:p>
        </p:txBody>
      </p:sp>
      <p:sp>
        <p:nvSpPr>
          <p:cNvPr id="12" name="Curved Down Arrow 11"/>
          <p:cNvSpPr/>
          <p:nvPr/>
        </p:nvSpPr>
        <p:spPr>
          <a:xfrm rot="21138395" flipH="1">
            <a:off x="2854492" y="2112868"/>
            <a:ext cx="2011405" cy="659517"/>
          </a:xfrm>
          <a:prstGeom prst="curvedDownArrow">
            <a:avLst>
              <a:gd name="adj1" fmla="val 25000"/>
              <a:gd name="adj2" fmla="val 103077"/>
              <a:gd name="adj3" fmla="val 3421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926480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04088"/>
          </a:xfrm>
        </p:spPr>
        <p:txBody>
          <a:bodyPr>
            <a:normAutofit/>
          </a:bodyPr>
          <a:lstStyle/>
          <a:p>
            <a:r>
              <a:rPr lang="en-US" sz="3200" b="1" dirty="0"/>
              <a:t>Using Files in Java Programs – Output (1)</a:t>
            </a:r>
          </a:p>
        </p:txBody>
      </p:sp>
      <p:sp>
        <p:nvSpPr>
          <p:cNvPr id="3" name="Content Placeholder 2"/>
          <p:cNvSpPr>
            <a:spLocks noGrp="1"/>
          </p:cNvSpPr>
          <p:nvPr>
            <p:ph idx="1"/>
          </p:nvPr>
        </p:nvSpPr>
        <p:spPr>
          <a:xfrm>
            <a:off x="457200" y="704088"/>
            <a:ext cx="7924800" cy="6017387"/>
          </a:xfrm>
        </p:spPr>
        <p:txBody>
          <a:bodyPr>
            <a:normAutofit fontScale="77500" lnSpcReduction="20000"/>
          </a:bodyPr>
          <a:lstStyle/>
          <a:p>
            <a:r>
              <a:rPr lang="en-US" dirty="0"/>
              <a:t>Using an output file involves almost the same process</a:t>
            </a:r>
          </a:p>
          <a:p>
            <a:pPr marL="0" indent="0">
              <a:buNone/>
            </a:pPr>
            <a:r>
              <a:rPr lang="en-US" sz="2800" dirty="0"/>
              <a:t>   </a:t>
            </a:r>
            <a:r>
              <a:rPr lang="en-US" sz="2400" dirty="0"/>
              <a:t>File outputFile = new File(“</a:t>
            </a:r>
            <a:r>
              <a:rPr lang="en-US" sz="2400" i="1" dirty="0"/>
              <a:t>filename”</a:t>
            </a:r>
            <a:r>
              <a:rPr lang="en-US" sz="2400" dirty="0"/>
              <a:t>);</a:t>
            </a:r>
          </a:p>
          <a:p>
            <a:pPr marL="708660" lvl="1" indent="-342900"/>
            <a:r>
              <a:rPr lang="en-US" sz="2000" dirty="0"/>
              <a:t>If the filename isn’t in the same directory as the class file you must use the full path name – </a:t>
            </a:r>
            <a:r>
              <a:rPr lang="en-US" sz="2000" b="1" dirty="0">
                <a:solidFill>
                  <a:srgbClr val="FF0000"/>
                </a:solidFill>
              </a:rPr>
              <a:t>the output file doesn’t have to exist prior to creating the file object, so you don’t need to test for existence</a:t>
            </a:r>
          </a:p>
          <a:p>
            <a:pPr marL="708660" lvl="1" indent="-342900"/>
            <a:r>
              <a:rPr lang="en-US" sz="2000" dirty="0"/>
              <a:t>You can create a String variable with the filename first – allows greater flexibility  i.e. </a:t>
            </a:r>
          </a:p>
          <a:p>
            <a:pPr marL="342900" indent="-342900"/>
            <a:r>
              <a:rPr lang="en-US" sz="2000" dirty="0"/>
              <a:t>        String outputFileName = “output.txt”; //This can also be read in (see Scanner notes) – </a:t>
            </a:r>
            <a:r>
              <a:rPr lang="en-US" sz="2200" dirty="0">
                <a:solidFill>
                  <a:srgbClr val="FF0000"/>
                </a:solidFill>
              </a:rPr>
              <a:t>Please do this (see below) in all your submittals, rather than hardcoding the file names.</a:t>
            </a:r>
          </a:p>
          <a:p>
            <a:pPr marL="365760" lvl="1" indent="0">
              <a:buNone/>
            </a:pPr>
            <a:endParaRPr lang="en-US" sz="2000" dirty="0"/>
          </a:p>
          <a:p>
            <a:pPr marL="365760" lvl="1" indent="0">
              <a:buNone/>
            </a:pPr>
            <a:r>
              <a:rPr lang="en-US" sz="2000" dirty="0"/>
              <a:t>Scanner keyboard = new Scanner(System.in);// This is a Scanner used to read input typed from the keyboard</a:t>
            </a:r>
          </a:p>
          <a:p>
            <a:pPr marL="365760" lvl="1" indent="0">
              <a:buNone/>
            </a:pPr>
            <a:r>
              <a:rPr lang="en-US" sz="2000" dirty="0"/>
              <a:t>System.out.printf("Please enter name of file to write to: ");</a:t>
            </a:r>
          </a:p>
          <a:p>
            <a:pPr marL="365760" lvl="1" indent="0">
              <a:buNone/>
            </a:pPr>
            <a:r>
              <a:rPr lang="en-US" sz="2000" dirty="0"/>
              <a:t>String outputFileName = keyboard.nextLine();//Get the physical file name</a:t>
            </a:r>
          </a:p>
          <a:p>
            <a:pPr marL="365760" lvl="1" indent="0">
              <a:buNone/>
            </a:pPr>
            <a:r>
              <a:rPr lang="en-US" sz="2000" dirty="0"/>
              <a:t>File outputFile = new File(outputFileName); // Creating the File Object</a:t>
            </a:r>
            <a:endParaRPr lang="en-US" sz="2000" dirty="0">
              <a:solidFill>
                <a:srgbClr val="FF0000"/>
              </a:solidFill>
            </a:endParaRPr>
          </a:p>
          <a:p>
            <a:pPr marL="0" indent="0">
              <a:buNone/>
            </a:pPr>
            <a:r>
              <a:rPr lang="en-US" sz="2200" dirty="0"/>
              <a:t>      PrintWriter outputWriter = new PrintWriter(outputFile);</a:t>
            </a:r>
          </a:p>
          <a:p>
            <a:pPr marL="0" indent="0">
              <a:buNone/>
            </a:pPr>
            <a:r>
              <a:rPr lang="en-US" sz="2400" dirty="0"/>
              <a:t>    </a:t>
            </a:r>
          </a:p>
          <a:p>
            <a:pPr marL="0" indent="0">
              <a:buNone/>
            </a:pPr>
            <a:r>
              <a:rPr lang="en-US" sz="2400" dirty="0"/>
              <a:t>     outputFile is a reference variable for a new object of type File</a:t>
            </a:r>
          </a:p>
          <a:p>
            <a:pPr marL="0" indent="0">
              <a:buNone/>
            </a:pPr>
            <a:r>
              <a:rPr lang="en-US" sz="2400" dirty="0"/>
              <a:t>    outputWriter is a reference variable for a new object of type</a:t>
            </a:r>
          </a:p>
          <a:p>
            <a:pPr marL="0" indent="0">
              <a:buNone/>
            </a:pPr>
            <a:r>
              <a:rPr lang="en-US" sz="2400" dirty="0"/>
              <a:t>    PrintWriter</a:t>
            </a:r>
          </a:p>
          <a:p>
            <a:pPr marL="0" indent="0">
              <a:buNone/>
            </a:pPr>
            <a:r>
              <a:rPr lang="en-US" sz="2400" dirty="0"/>
              <a:t>See </a:t>
            </a:r>
            <a:r>
              <a:rPr lang="en-US" sz="2400" dirty="0">
                <a:solidFill>
                  <a:srgbClr val="FF0000"/>
                </a:solidFill>
              </a:rPr>
              <a:t>CaesarCipherFromFile.java (use caesar_input.txt)</a:t>
            </a:r>
          </a:p>
          <a:p>
            <a:pPr marL="0" indent="0">
              <a:buNone/>
            </a:pPr>
            <a:r>
              <a:rPr lang="en-US" sz="2400" dirty="0"/>
              <a:t>The above file has both the input and output templates you need</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42</a:t>
            </a:fld>
            <a:endParaRPr lang="en-US" dirty="0"/>
          </a:p>
        </p:txBody>
      </p:sp>
    </p:spTree>
    <p:extLst>
      <p:ext uri="{BB962C8B-B14F-4D97-AF65-F5344CB8AC3E}">
        <p14:creationId xmlns:p14="http://schemas.microsoft.com/office/powerpoint/2010/main" val="1808598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04088"/>
          </a:xfrm>
        </p:spPr>
        <p:txBody>
          <a:bodyPr>
            <a:normAutofit/>
          </a:bodyPr>
          <a:lstStyle/>
          <a:p>
            <a:r>
              <a:rPr lang="en-US" sz="3200" b="1" dirty="0"/>
              <a:t>Using Files in Java Programs – Output (2)</a:t>
            </a:r>
          </a:p>
        </p:txBody>
      </p:sp>
      <p:sp>
        <p:nvSpPr>
          <p:cNvPr id="3" name="Content Placeholder 2"/>
          <p:cNvSpPr>
            <a:spLocks noGrp="1"/>
          </p:cNvSpPr>
          <p:nvPr>
            <p:ph idx="1"/>
          </p:nvPr>
        </p:nvSpPr>
        <p:spPr>
          <a:xfrm>
            <a:off x="457200" y="932689"/>
            <a:ext cx="7924800" cy="5788786"/>
          </a:xfrm>
        </p:spPr>
        <p:txBody>
          <a:bodyPr>
            <a:normAutofit/>
          </a:bodyPr>
          <a:lstStyle/>
          <a:p>
            <a:r>
              <a:rPr lang="en-US" dirty="0"/>
              <a:t>Now you can use outputWriter to write to the file</a:t>
            </a:r>
          </a:p>
          <a:p>
            <a:pPr marL="0" indent="0">
              <a:buNone/>
            </a:pPr>
            <a:r>
              <a:rPr lang="en-US" dirty="0"/>
              <a:t>    i.e. outputWriter.printf((“%s\n”, message);</a:t>
            </a:r>
          </a:p>
          <a:p>
            <a:pPr marL="342900" indent="-342900"/>
            <a:r>
              <a:rPr lang="en-US" dirty="0"/>
              <a:t>You need to close the file that the PrintWriter is writing to at the end</a:t>
            </a:r>
          </a:p>
          <a:p>
            <a:pPr marL="708660" lvl="1" indent="-342900"/>
            <a:r>
              <a:rPr lang="en-US" dirty="0"/>
              <a:t>Use the method </a:t>
            </a:r>
            <a:r>
              <a:rPr lang="en-US" b="1" dirty="0">
                <a:solidFill>
                  <a:srgbClr val="FF0000"/>
                </a:solidFill>
              </a:rPr>
              <a:t>.close()</a:t>
            </a:r>
            <a:r>
              <a:rPr lang="en-US" dirty="0"/>
              <a:t>; i.e. outputWriter.close();</a:t>
            </a:r>
          </a:p>
          <a:p>
            <a:pPr marL="708660" lvl="1" indent="-342900"/>
            <a:r>
              <a:rPr lang="en-US" dirty="0"/>
              <a:t>close() is a method associated with the Scanner and with PrintWriter</a:t>
            </a:r>
          </a:p>
          <a:p>
            <a:pPr marL="708660" lvl="1" indent="-342900"/>
            <a:r>
              <a:rPr lang="en-US" dirty="0"/>
              <a:t>Once you close the File associated with PrintWriter if you reopen it you will start writing over it from the beginning </a:t>
            </a:r>
          </a:p>
          <a:p>
            <a:pPr marL="708660" lvl="1" indent="-342900"/>
            <a:r>
              <a:rPr lang="en-US" dirty="0"/>
              <a:t>You can use FileWriter instead to allow for appending</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43</a:t>
            </a:fld>
            <a:endParaRPr lang="en-US" dirty="0"/>
          </a:p>
        </p:txBody>
      </p:sp>
    </p:spTree>
    <p:extLst>
      <p:ext uri="{BB962C8B-B14F-4D97-AF65-F5344CB8AC3E}">
        <p14:creationId xmlns:p14="http://schemas.microsoft.com/office/powerpoint/2010/main" val="4252026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399288"/>
          </a:xfrm>
        </p:spPr>
        <p:txBody>
          <a:bodyPr>
            <a:noAutofit/>
          </a:bodyPr>
          <a:lstStyle/>
          <a:p>
            <a:r>
              <a:rPr lang="en-US" b="1" dirty="0"/>
              <a:t>Using Files in Java Programs – Output (3)</a:t>
            </a:r>
          </a:p>
        </p:txBody>
      </p:sp>
      <p:sp>
        <p:nvSpPr>
          <p:cNvPr id="3" name="Content Placeholder 2"/>
          <p:cNvSpPr>
            <a:spLocks noGrp="1"/>
          </p:cNvSpPr>
          <p:nvPr>
            <p:ph idx="1"/>
          </p:nvPr>
        </p:nvSpPr>
        <p:spPr>
          <a:xfrm>
            <a:off x="233265" y="551690"/>
            <a:ext cx="8758335" cy="6169786"/>
          </a:xfrm>
        </p:spPr>
        <p:txBody>
          <a:bodyPr>
            <a:normAutofit fontScale="92500" lnSpcReduction="20000"/>
          </a:bodyPr>
          <a:lstStyle/>
          <a:p>
            <a:r>
              <a:rPr lang="en-US" sz="2400" dirty="0"/>
              <a:t>If you want to append data to the end of a file you need to use FileWriter</a:t>
            </a:r>
          </a:p>
          <a:p>
            <a:pPr lvl="1"/>
            <a:r>
              <a:rPr lang="en-US" sz="2000" dirty="0"/>
              <a:t>This class is very similar to File, but is created with two instance variables</a:t>
            </a:r>
          </a:p>
          <a:p>
            <a:pPr lvl="1"/>
            <a:r>
              <a:rPr lang="en-US" sz="2000" dirty="0"/>
              <a:t>The second value is set to true if you wish to append, false otherwise</a:t>
            </a:r>
          </a:p>
          <a:p>
            <a:pPr marL="0" indent="0">
              <a:buNone/>
            </a:pPr>
            <a:endParaRPr lang="en-US" sz="1800" dirty="0"/>
          </a:p>
          <a:p>
            <a:pPr marL="365760" lvl="1" indent="0">
              <a:buNone/>
            </a:pPr>
            <a:r>
              <a:rPr lang="en-US" sz="1800" dirty="0"/>
              <a:t>Scanner keyboard = new Scanner(System.in);// This is a Scanner used to read input typed from the keyboard</a:t>
            </a:r>
          </a:p>
          <a:p>
            <a:pPr marL="365760" lvl="1" indent="0">
              <a:buNone/>
            </a:pPr>
            <a:r>
              <a:rPr lang="en-US" sz="1800" dirty="0"/>
              <a:t>System.out.printf("Please enter name of file to write/append to: ");</a:t>
            </a:r>
          </a:p>
          <a:p>
            <a:pPr marL="365760" lvl="1" indent="0">
              <a:buNone/>
            </a:pPr>
            <a:r>
              <a:rPr lang="en-US" sz="1800" dirty="0"/>
              <a:t>String outputFileName = keyboard.nextLine();//Get the physical file name</a:t>
            </a:r>
          </a:p>
          <a:p>
            <a:pPr marL="365760" lvl="1" indent="0">
              <a:buNone/>
            </a:pPr>
            <a:r>
              <a:rPr lang="en-US" sz="1800" dirty="0"/>
              <a:t>FileWriter </a:t>
            </a:r>
            <a:r>
              <a:rPr lang="en-US" sz="1800" dirty="0">
                <a:solidFill>
                  <a:srgbClr val="FF0000"/>
                </a:solidFill>
              </a:rPr>
              <a:t>outputFile </a:t>
            </a:r>
            <a:r>
              <a:rPr lang="en-US" sz="1800" dirty="0"/>
              <a:t>= new FileWriter(outputFileName, </a:t>
            </a:r>
            <a:r>
              <a:rPr lang="en-US" sz="1800" dirty="0">
                <a:solidFill>
                  <a:srgbClr val="FF0000"/>
                </a:solidFill>
              </a:rPr>
              <a:t>true</a:t>
            </a:r>
            <a:r>
              <a:rPr lang="en-US" sz="1800" dirty="0"/>
              <a:t>); //allows you to open the file and true means that you want to append to the file.</a:t>
            </a:r>
          </a:p>
          <a:p>
            <a:pPr marL="365760" lvl="1" indent="0">
              <a:buNone/>
            </a:pPr>
            <a:r>
              <a:rPr lang="en-US" sz="1800" dirty="0"/>
              <a:t>PrintWriter outputWriter = new PrintWriter(</a:t>
            </a:r>
            <a:r>
              <a:rPr lang="en-US" sz="1800" dirty="0">
                <a:solidFill>
                  <a:srgbClr val="FF0000"/>
                </a:solidFill>
              </a:rPr>
              <a:t>outputFile </a:t>
            </a:r>
            <a:r>
              <a:rPr lang="en-US" sz="1800" dirty="0"/>
              <a:t>); // Writing to the physical file outputFile</a:t>
            </a:r>
          </a:p>
          <a:p>
            <a:pPr marL="393192" lvl="1" indent="0">
              <a:buNone/>
            </a:pPr>
            <a:endParaRPr lang="en-US" sz="1800" dirty="0"/>
          </a:p>
          <a:p>
            <a:pPr marL="313182" indent="-285750"/>
            <a:r>
              <a:rPr lang="en-US" sz="2400" dirty="0"/>
              <a:t>Still need to close the PrintWriter object when done</a:t>
            </a:r>
          </a:p>
          <a:p>
            <a:pPr marL="27432" indent="0">
              <a:buNone/>
            </a:pPr>
            <a:r>
              <a:rPr lang="en-US" sz="1800" dirty="0"/>
              <a:t>      outputWriter.close();</a:t>
            </a:r>
          </a:p>
          <a:p>
            <a:pPr marL="27432" indent="0">
              <a:buNone/>
            </a:pPr>
            <a:r>
              <a:rPr lang="en-US" sz="2000" dirty="0"/>
              <a:t>See </a:t>
            </a:r>
            <a:r>
              <a:rPr lang="en-US" sz="2000" dirty="0">
                <a:solidFill>
                  <a:srgbClr val="FF0000"/>
                </a:solidFill>
              </a:rPr>
              <a:t>FileAppendExampleUsingPrintWriter</a:t>
            </a:r>
            <a:r>
              <a:rPr lang="en-US" sz="2000" dirty="0"/>
              <a:t> and</a:t>
            </a:r>
            <a:r>
              <a:rPr lang="en-US" sz="2000" dirty="0">
                <a:solidFill>
                  <a:srgbClr val="FF0000"/>
                </a:solidFill>
              </a:rPr>
              <a:t>AppendingToAFile.java</a:t>
            </a:r>
          </a:p>
          <a:p>
            <a:pPr marL="27432" indent="0">
              <a:buNone/>
            </a:pPr>
            <a:endParaRPr lang="en-US" sz="2000" dirty="0">
              <a:solidFill>
                <a:srgbClr val="FF0000"/>
              </a:solidFill>
            </a:endParaRPr>
          </a:p>
          <a:p>
            <a:pPr marL="27432" indent="0">
              <a:buNone/>
            </a:pPr>
            <a:r>
              <a:rPr lang="en-US" sz="2000" dirty="0"/>
              <a:t>Note: You could use FileWriter directly but it is much more limited:</a:t>
            </a:r>
          </a:p>
          <a:p>
            <a:pPr marL="27432" indent="0">
              <a:buNone/>
            </a:pPr>
            <a:r>
              <a:rPr lang="en-US" sz="2000" dirty="0"/>
              <a:t>The primary purpose of a FileWriter is to write characters to a file. However, PrintWriter has more functionalities. It can write to other output streams apart from a file. Also, it provides a method to write formatted text to a file or console. </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44</a:t>
            </a:fld>
            <a:endParaRPr lang="en-US" dirty="0"/>
          </a:p>
        </p:txBody>
      </p:sp>
    </p:spTree>
    <p:extLst>
      <p:ext uri="{BB962C8B-B14F-4D97-AF65-F5344CB8AC3E}">
        <p14:creationId xmlns:p14="http://schemas.microsoft.com/office/powerpoint/2010/main" val="5653450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627888"/>
          </a:xfrm>
        </p:spPr>
        <p:txBody>
          <a:bodyPr>
            <a:normAutofit fontScale="90000"/>
          </a:bodyPr>
          <a:lstStyle/>
          <a:p>
            <a:r>
              <a:rPr lang="en-US" sz="3600" dirty="0"/>
              <a:t>Visualizing the File Objects for A PrintWriter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61359624"/>
              </p:ext>
            </p:extLst>
          </p:nvPr>
        </p:nvGraphicFramePr>
        <p:xfrm>
          <a:off x="1478086" y="3281681"/>
          <a:ext cx="2636713" cy="2103120"/>
        </p:xfrm>
        <a:graphic>
          <a:graphicData uri="http://schemas.openxmlformats.org/drawingml/2006/table">
            <a:tbl>
              <a:tblPr firstRow="1" bandRow="1">
                <a:tableStyleId>{5C22544A-7EE6-4342-B048-85BDC9FD1C3A}</a:tableStyleId>
              </a:tblPr>
              <a:tblGrid>
                <a:gridCol w="2636713">
                  <a:extLst>
                    <a:ext uri="{9D8B030D-6E8A-4147-A177-3AD203B41FA5}">
                      <a16:colId xmlns:a16="http://schemas.microsoft.com/office/drawing/2014/main" val="20000"/>
                    </a:ext>
                  </a:extLst>
                </a:gridCol>
              </a:tblGrid>
              <a:tr h="370840">
                <a:tc>
                  <a:txBody>
                    <a:bodyPr/>
                    <a:lstStyle/>
                    <a:p>
                      <a:r>
                        <a:rPr lang="en-US" dirty="0"/>
                        <a:t>outputFileName</a:t>
                      </a:r>
                    </a:p>
                    <a:p>
                      <a:r>
                        <a:rPr lang="en-US" dirty="0"/>
                        <a:t>(String with physical file name)</a:t>
                      </a:r>
                    </a:p>
                  </a:txBody>
                  <a:tcPr/>
                </a:tc>
                <a:extLst>
                  <a:ext uri="{0D108BD9-81ED-4DB2-BD59-A6C34878D82A}">
                    <a16:rowId xmlns:a16="http://schemas.microsoft.com/office/drawing/2014/main" val="10000"/>
                  </a:ext>
                </a:extLst>
              </a:tr>
              <a:tr h="370840">
                <a:tc>
                  <a:txBody>
                    <a:bodyPr/>
                    <a:lstStyle/>
                    <a:p>
                      <a:r>
                        <a:rPr lang="en-US" dirty="0"/>
                        <a:t>exists()</a:t>
                      </a:r>
                    </a:p>
                    <a:p>
                      <a:r>
                        <a:rPr lang="en-US" dirty="0"/>
                        <a:t>     o</a:t>
                      </a:r>
                    </a:p>
                    <a:p>
                      <a:r>
                        <a:rPr lang="en-US" dirty="0"/>
                        <a:t>     0</a:t>
                      </a:r>
                    </a:p>
                    <a:p>
                      <a:r>
                        <a:rPr lang="en-US" baseline="0" dirty="0"/>
                        <a:t>     0</a:t>
                      </a:r>
                      <a:endParaRPr lang="en-US" dirty="0"/>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45</a:t>
            </a:fld>
            <a:endParaRPr lang="en-US" dirty="0"/>
          </a:p>
        </p:txBody>
      </p:sp>
      <p:sp>
        <p:nvSpPr>
          <p:cNvPr id="6" name="TextBox 5"/>
          <p:cNvSpPr txBox="1"/>
          <p:nvPr/>
        </p:nvSpPr>
        <p:spPr>
          <a:xfrm>
            <a:off x="3124200" y="2895600"/>
            <a:ext cx="1236236" cy="369332"/>
          </a:xfrm>
          <a:prstGeom prst="rect">
            <a:avLst/>
          </a:prstGeom>
          <a:noFill/>
        </p:spPr>
        <p:txBody>
          <a:bodyPr wrap="none" rtlCol="0">
            <a:spAutoFit/>
          </a:bodyPr>
          <a:lstStyle/>
          <a:p>
            <a:r>
              <a:rPr lang="en-US" dirty="0"/>
              <a:t>outputFile</a:t>
            </a:r>
          </a:p>
        </p:txBody>
      </p:sp>
      <p:sp>
        <p:nvSpPr>
          <p:cNvPr id="7" name="Curved Down Arrow 6"/>
          <p:cNvSpPr/>
          <p:nvPr/>
        </p:nvSpPr>
        <p:spPr>
          <a:xfrm rot="20264829" flipH="1">
            <a:off x="2375982" y="2884704"/>
            <a:ext cx="792287" cy="22860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aphicFrame>
        <p:nvGraphicFramePr>
          <p:cNvPr id="8" name="Content Placeholder 4"/>
          <p:cNvGraphicFramePr>
            <a:graphicFrameLocks/>
          </p:cNvGraphicFramePr>
          <p:nvPr>
            <p:extLst>
              <p:ext uri="{D42A27DB-BD31-4B8C-83A1-F6EECF244321}">
                <p14:modId xmlns:p14="http://schemas.microsoft.com/office/powerpoint/2010/main" val="3168510070"/>
              </p:ext>
            </p:extLst>
          </p:nvPr>
        </p:nvGraphicFramePr>
        <p:xfrm>
          <a:off x="5135686" y="2621280"/>
          <a:ext cx="2941514" cy="2651760"/>
        </p:xfrm>
        <a:graphic>
          <a:graphicData uri="http://schemas.openxmlformats.org/drawingml/2006/table">
            <a:tbl>
              <a:tblPr firstRow="1" bandRow="1">
                <a:tableStyleId>{5C22544A-7EE6-4342-B048-85BDC9FD1C3A}</a:tableStyleId>
              </a:tblPr>
              <a:tblGrid>
                <a:gridCol w="2941514">
                  <a:extLst>
                    <a:ext uri="{9D8B030D-6E8A-4147-A177-3AD203B41FA5}">
                      <a16:colId xmlns:a16="http://schemas.microsoft.com/office/drawing/2014/main" val="20000"/>
                    </a:ext>
                  </a:extLst>
                </a:gridCol>
              </a:tblGrid>
              <a:tr h="370840">
                <a:tc>
                  <a:txBody>
                    <a:bodyPr/>
                    <a:lstStyle/>
                    <a:p>
                      <a:r>
                        <a:rPr lang="en-US" dirty="0"/>
                        <a:t>outputFile</a:t>
                      </a:r>
                    </a:p>
                    <a:p>
                      <a:r>
                        <a:rPr lang="en-US" dirty="0"/>
                        <a:t>(name of the file object)</a:t>
                      </a:r>
                    </a:p>
                  </a:txBody>
                  <a:tcPr/>
                </a:tc>
                <a:extLst>
                  <a:ext uri="{0D108BD9-81ED-4DB2-BD59-A6C34878D82A}">
                    <a16:rowId xmlns:a16="http://schemas.microsoft.com/office/drawing/2014/main" val="10000"/>
                  </a:ext>
                </a:extLst>
              </a:tr>
              <a:tr h="370840">
                <a:tc>
                  <a:txBody>
                    <a:bodyPr/>
                    <a:lstStyle/>
                    <a:p>
                      <a:r>
                        <a:rPr lang="en-US" dirty="0"/>
                        <a:t>printf()</a:t>
                      </a:r>
                    </a:p>
                    <a:p>
                      <a:r>
                        <a:rPr lang="en-US" dirty="0"/>
                        <a:t>print()</a:t>
                      </a:r>
                    </a:p>
                    <a:p>
                      <a:r>
                        <a:rPr lang="en-US" dirty="0"/>
                        <a:t>println()</a:t>
                      </a:r>
                    </a:p>
                    <a:p>
                      <a:r>
                        <a:rPr lang="en-US" dirty="0"/>
                        <a:t>close()</a:t>
                      </a:r>
                    </a:p>
                    <a:p>
                      <a:r>
                        <a:rPr lang="en-US" dirty="0"/>
                        <a:t>     0</a:t>
                      </a:r>
                    </a:p>
                    <a:p>
                      <a:r>
                        <a:rPr lang="en-US" baseline="0" dirty="0"/>
                        <a:t>     0</a:t>
                      </a:r>
                    </a:p>
                    <a:p>
                      <a:r>
                        <a:rPr lang="en-US" baseline="0" dirty="0"/>
                        <a:t>     o</a:t>
                      </a:r>
                      <a:endParaRPr lang="en-US" dirty="0"/>
                    </a:p>
                  </a:txBody>
                  <a:tcPr/>
                </a:tc>
                <a:extLst>
                  <a:ext uri="{0D108BD9-81ED-4DB2-BD59-A6C34878D82A}">
                    <a16:rowId xmlns:a16="http://schemas.microsoft.com/office/drawing/2014/main" val="10001"/>
                  </a:ext>
                </a:extLst>
              </a:tr>
            </a:tbl>
          </a:graphicData>
        </a:graphic>
      </p:graphicFrame>
      <p:sp>
        <p:nvSpPr>
          <p:cNvPr id="9" name="TextBox 8"/>
          <p:cNvSpPr txBox="1"/>
          <p:nvPr/>
        </p:nvSpPr>
        <p:spPr>
          <a:xfrm>
            <a:off x="5923588" y="2209800"/>
            <a:ext cx="1544012" cy="369332"/>
          </a:xfrm>
          <a:prstGeom prst="rect">
            <a:avLst/>
          </a:prstGeom>
          <a:noFill/>
        </p:spPr>
        <p:txBody>
          <a:bodyPr wrap="none" rtlCol="0">
            <a:spAutoFit/>
          </a:bodyPr>
          <a:lstStyle/>
          <a:p>
            <a:r>
              <a:rPr lang="en-US" dirty="0"/>
              <a:t>outputWriter</a:t>
            </a:r>
          </a:p>
        </p:txBody>
      </p:sp>
      <p:sp>
        <p:nvSpPr>
          <p:cNvPr id="10" name="Curved Down Arrow 9"/>
          <p:cNvSpPr/>
          <p:nvPr/>
        </p:nvSpPr>
        <p:spPr>
          <a:xfrm rot="20808068" flipH="1">
            <a:off x="5235540" y="2316480"/>
            <a:ext cx="685800" cy="27432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 name="TextBox 12"/>
          <p:cNvSpPr txBox="1"/>
          <p:nvPr/>
        </p:nvSpPr>
        <p:spPr>
          <a:xfrm>
            <a:off x="1401658" y="2050620"/>
            <a:ext cx="1695529" cy="369332"/>
          </a:xfrm>
          <a:prstGeom prst="rect">
            <a:avLst/>
          </a:prstGeom>
          <a:noFill/>
        </p:spPr>
        <p:txBody>
          <a:bodyPr wrap="none" rtlCol="0">
            <a:spAutoFit/>
          </a:bodyPr>
          <a:lstStyle/>
          <a:p>
            <a:r>
              <a:rPr lang="en-US" dirty="0"/>
              <a:t>The File object </a:t>
            </a:r>
          </a:p>
        </p:txBody>
      </p:sp>
      <p:sp>
        <p:nvSpPr>
          <p:cNvPr id="14" name="TextBox 13"/>
          <p:cNvSpPr txBox="1"/>
          <p:nvPr/>
        </p:nvSpPr>
        <p:spPr>
          <a:xfrm>
            <a:off x="5063634" y="1828800"/>
            <a:ext cx="2480166" cy="369332"/>
          </a:xfrm>
          <a:prstGeom prst="rect">
            <a:avLst/>
          </a:prstGeom>
          <a:noFill/>
        </p:spPr>
        <p:txBody>
          <a:bodyPr wrap="none" rtlCol="0">
            <a:spAutoFit/>
          </a:bodyPr>
          <a:lstStyle/>
          <a:p>
            <a:r>
              <a:rPr lang="en-US" dirty="0"/>
              <a:t>The PrintWriter object</a:t>
            </a:r>
          </a:p>
        </p:txBody>
      </p:sp>
      <p:sp>
        <p:nvSpPr>
          <p:cNvPr id="12" name="Curved Down Arrow 11"/>
          <p:cNvSpPr/>
          <p:nvPr/>
        </p:nvSpPr>
        <p:spPr>
          <a:xfrm rot="20986085" flipH="1">
            <a:off x="3453348" y="2468832"/>
            <a:ext cx="1642430" cy="436766"/>
          </a:xfrm>
          <a:prstGeom prst="curvedDownArrow">
            <a:avLst>
              <a:gd name="adj1" fmla="val 25000"/>
              <a:gd name="adj2" fmla="val 103077"/>
              <a:gd name="adj3" fmla="val 3421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9040888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627888"/>
          </a:xfrm>
        </p:spPr>
        <p:txBody>
          <a:bodyPr>
            <a:normAutofit/>
          </a:bodyPr>
          <a:lstStyle/>
          <a:p>
            <a:r>
              <a:rPr lang="en-US" sz="3600" dirty="0"/>
              <a:t>Visualizing the File Objects for A FileWriter</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8701464"/>
              </p:ext>
            </p:extLst>
          </p:nvPr>
        </p:nvGraphicFramePr>
        <p:xfrm>
          <a:off x="1182550" y="3281681"/>
          <a:ext cx="2932249" cy="2377440"/>
        </p:xfrm>
        <a:graphic>
          <a:graphicData uri="http://schemas.openxmlformats.org/drawingml/2006/table">
            <a:tbl>
              <a:tblPr firstRow="1" bandRow="1">
                <a:tableStyleId>{5C22544A-7EE6-4342-B048-85BDC9FD1C3A}</a:tableStyleId>
              </a:tblPr>
              <a:tblGrid>
                <a:gridCol w="2932249">
                  <a:extLst>
                    <a:ext uri="{9D8B030D-6E8A-4147-A177-3AD203B41FA5}">
                      <a16:colId xmlns:a16="http://schemas.microsoft.com/office/drawing/2014/main" val="20000"/>
                    </a:ext>
                  </a:extLst>
                </a:gridCol>
              </a:tblGrid>
              <a:tr h="701039">
                <a:tc>
                  <a:txBody>
                    <a:bodyPr/>
                    <a:lstStyle/>
                    <a:p>
                      <a:r>
                        <a:rPr lang="en-US" dirty="0"/>
                        <a:t>outputFileName</a:t>
                      </a:r>
                    </a:p>
                    <a:p>
                      <a:r>
                        <a:rPr lang="en-US" dirty="0"/>
                        <a:t>(String with physical file name)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boolean appendIndicator</a:t>
                      </a:r>
                    </a:p>
                  </a:txBody>
                  <a:tcPr>
                    <a:solidFill>
                      <a:schemeClr val="accent1"/>
                    </a:solidFill>
                  </a:tcPr>
                </a:tc>
                <a:extLst>
                  <a:ext uri="{0D108BD9-81ED-4DB2-BD59-A6C34878D82A}">
                    <a16:rowId xmlns:a16="http://schemas.microsoft.com/office/drawing/2014/main" val="1578087644"/>
                  </a:ext>
                </a:extLst>
              </a:tr>
              <a:tr h="370840">
                <a:tc>
                  <a:txBody>
                    <a:bodyPr/>
                    <a:lstStyle/>
                    <a:p>
                      <a:r>
                        <a:rPr lang="en-US" dirty="0"/>
                        <a:t>exists()</a:t>
                      </a:r>
                    </a:p>
                    <a:p>
                      <a:r>
                        <a:rPr lang="en-US" dirty="0"/>
                        <a:t>     o</a:t>
                      </a:r>
                    </a:p>
                    <a:p>
                      <a:r>
                        <a:rPr lang="en-US" dirty="0"/>
                        <a:t>     0</a:t>
                      </a:r>
                    </a:p>
                    <a:p>
                      <a:r>
                        <a:rPr lang="en-US" baseline="0" dirty="0"/>
                        <a:t>     0</a:t>
                      </a:r>
                      <a:endParaRPr lang="en-US" dirty="0"/>
                    </a:p>
                  </a:txBody>
                  <a:tcPr/>
                </a:tc>
                <a:extLst>
                  <a:ext uri="{0D108BD9-81ED-4DB2-BD59-A6C34878D82A}">
                    <a16:rowId xmlns:a16="http://schemas.microsoft.com/office/drawing/2014/main" val="10001"/>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46</a:t>
            </a:fld>
            <a:endParaRPr lang="en-US" dirty="0"/>
          </a:p>
        </p:txBody>
      </p:sp>
      <p:sp>
        <p:nvSpPr>
          <p:cNvPr id="6" name="TextBox 5"/>
          <p:cNvSpPr txBox="1"/>
          <p:nvPr/>
        </p:nvSpPr>
        <p:spPr>
          <a:xfrm>
            <a:off x="3124200" y="2895600"/>
            <a:ext cx="1236236" cy="369332"/>
          </a:xfrm>
          <a:prstGeom prst="rect">
            <a:avLst/>
          </a:prstGeom>
          <a:noFill/>
        </p:spPr>
        <p:txBody>
          <a:bodyPr wrap="none" rtlCol="0">
            <a:spAutoFit/>
          </a:bodyPr>
          <a:lstStyle/>
          <a:p>
            <a:r>
              <a:rPr lang="en-US" dirty="0"/>
              <a:t>outputFile</a:t>
            </a:r>
          </a:p>
        </p:txBody>
      </p:sp>
      <p:sp>
        <p:nvSpPr>
          <p:cNvPr id="7" name="Curved Down Arrow 6"/>
          <p:cNvSpPr/>
          <p:nvPr/>
        </p:nvSpPr>
        <p:spPr>
          <a:xfrm rot="20264829" flipH="1">
            <a:off x="2375982" y="2884704"/>
            <a:ext cx="792287" cy="22860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graphicFrame>
        <p:nvGraphicFramePr>
          <p:cNvPr id="8" name="Content Placeholder 4"/>
          <p:cNvGraphicFramePr>
            <a:graphicFrameLocks/>
          </p:cNvGraphicFramePr>
          <p:nvPr>
            <p:extLst>
              <p:ext uri="{D42A27DB-BD31-4B8C-83A1-F6EECF244321}">
                <p14:modId xmlns:p14="http://schemas.microsoft.com/office/powerpoint/2010/main" val="2405326816"/>
              </p:ext>
            </p:extLst>
          </p:nvPr>
        </p:nvGraphicFramePr>
        <p:xfrm>
          <a:off x="5135686" y="2621280"/>
          <a:ext cx="2825763" cy="2651760"/>
        </p:xfrm>
        <a:graphic>
          <a:graphicData uri="http://schemas.openxmlformats.org/drawingml/2006/table">
            <a:tbl>
              <a:tblPr firstRow="1" bandRow="1">
                <a:tableStyleId>{5C22544A-7EE6-4342-B048-85BDC9FD1C3A}</a:tableStyleId>
              </a:tblPr>
              <a:tblGrid>
                <a:gridCol w="2825763">
                  <a:extLst>
                    <a:ext uri="{9D8B030D-6E8A-4147-A177-3AD203B41FA5}">
                      <a16:colId xmlns:a16="http://schemas.microsoft.com/office/drawing/2014/main" val="20000"/>
                    </a:ext>
                  </a:extLst>
                </a:gridCol>
              </a:tblGrid>
              <a:tr h="370840">
                <a:tc>
                  <a:txBody>
                    <a:bodyPr/>
                    <a:lstStyle/>
                    <a:p>
                      <a:r>
                        <a:rPr lang="en-US" dirty="0"/>
                        <a:t>outputFile</a:t>
                      </a:r>
                    </a:p>
                    <a:p>
                      <a:r>
                        <a:rPr lang="en-US" dirty="0"/>
                        <a:t>(name of the file object)</a:t>
                      </a:r>
                    </a:p>
                  </a:txBody>
                  <a:tcPr/>
                </a:tc>
                <a:extLst>
                  <a:ext uri="{0D108BD9-81ED-4DB2-BD59-A6C34878D82A}">
                    <a16:rowId xmlns:a16="http://schemas.microsoft.com/office/drawing/2014/main" val="10000"/>
                  </a:ext>
                </a:extLst>
              </a:tr>
              <a:tr h="370840">
                <a:tc>
                  <a:txBody>
                    <a:bodyPr/>
                    <a:lstStyle/>
                    <a:p>
                      <a:r>
                        <a:rPr lang="en-US" dirty="0"/>
                        <a:t>printf()</a:t>
                      </a:r>
                    </a:p>
                    <a:p>
                      <a:r>
                        <a:rPr lang="en-US" dirty="0"/>
                        <a:t>print()</a:t>
                      </a:r>
                    </a:p>
                    <a:p>
                      <a:r>
                        <a:rPr lang="en-US" dirty="0"/>
                        <a:t>println()</a:t>
                      </a:r>
                    </a:p>
                    <a:p>
                      <a:r>
                        <a:rPr lang="en-US" dirty="0"/>
                        <a:t>close()</a:t>
                      </a:r>
                    </a:p>
                    <a:p>
                      <a:r>
                        <a:rPr lang="en-US" dirty="0"/>
                        <a:t>     0</a:t>
                      </a:r>
                    </a:p>
                    <a:p>
                      <a:r>
                        <a:rPr lang="en-US" baseline="0" dirty="0"/>
                        <a:t>     0</a:t>
                      </a:r>
                    </a:p>
                    <a:p>
                      <a:r>
                        <a:rPr lang="en-US" baseline="0" dirty="0"/>
                        <a:t>     o</a:t>
                      </a:r>
                      <a:endParaRPr lang="en-US" dirty="0"/>
                    </a:p>
                  </a:txBody>
                  <a:tcPr/>
                </a:tc>
                <a:extLst>
                  <a:ext uri="{0D108BD9-81ED-4DB2-BD59-A6C34878D82A}">
                    <a16:rowId xmlns:a16="http://schemas.microsoft.com/office/drawing/2014/main" val="10001"/>
                  </a:ext>
                </a:extLst>
              </a:tr>
            </a:tbl>
          </a:graphicData>
        </a:graphic>
      </p:graphicFrame>
      <p:sp>
        <p:nvSpPr>
          <p:cNvPr id="9" name="TextBox 8"/>
          <p:cNvSpPr txBox="1"/>
          <p:nvPr/>
        </p:nvSpPr>
        <p:spPr>
          <a:xfrm>
            <a:off x="5923588" y="2209800"/>
            <a:ext cx="1544012" cy="369332"/>
          </a:xfrm>
          <a:prstGeom prst="rect">
            <a:avLst/>
          </a:prstGeom>
          <a:noFill/>
        </p:spPr>
        <p:txBody>
          <a:bodyPr wrap="none" rtlCol="0">
            <a:spAutoFit/>
          </a:bodyPr>
          <a:lstStyle/>
          <a:p>
            <a:r>
              <a:rPr lang="en-US" dirty="0"/>
              <a:t>outputWriter</a:t>
            </a:r>
          </a:p>
        </p:txBody>
      </p:sp>
      <p:sp>
        <p:nvSpPr>
          <p:cNvPr id="10" name="Curved Down Arrow 9"/>
          <p:cNvSpPr/>
          <p:nvPr/>
        </p:nvSpPr>
        <p:spPr>
          <a:xfrm rot="20808068" flipH="1">
            <a:off x="5235540" y="2241808"/>
            <a:ext cx="685800" cy="27432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13" name="TextBox 12"/>
          <p:cNvSpPr txBox="1"/>
          <p:nvPr/>
        </p:nvSpPr>
        <p:spPr>
          <a:xfrm>
            <a:off x="1401658" y="2050620"/>
            <a:ext cx="2298834" cy="369332"/>
          </a:xfrm>
          <a:prstGeom prst="rect">
            <a:avLst/>
          </a:prstGeom>
          <a:noFill/>
        </p:spPr>
        <p:txBody>
          <a:bodyPr wrap="none" rtlCol="0">
            <a:spAutoFit/>
          </a:bodyPr>
          <a:lstStyle/>
          <a:p>
            <a:r>
              <a:rPr lang="en-US" dirty="0"/>
              <a:t>The FileWriter object</a:t>
            </a:r>
          </a:p>
        </p:txBody>
      </p:sp>
      <p:sp>
        <p:nvSpPr>
          <p:cNvPr id="14" name="TextBox 13"/>
          <p:cNvSpPr txBox="1"/>
          <p:nvPr/>
        </p:nvSpPr>
        <p:spPr>
          <a:xfrm>
            <a:off x="5063634" y="1828800"/>
            <a:ext cx="2480166" cy="369332"/>
          </a:xfrm>
          <a:prstGeom prst="rect">
            <a:avLst/>
          </a:prstGeom>
          <a:noFill/>
        </p:spPr>
        <p:txBody>
          <a:bodyPr wrap="none" rtlCol="0">
            <a:spAutoFit/>
          </a:bodyPr>
          <a:lstStyle/>
          <a:p>
            <a:r>
              <a:rPr lang="en-US" dirty="0"/>
              <a:t>The PrintWriter object</a:t>
            </a:r>
          </a:p>
        </p:txBody>
      </p:sp>
      <p:sp>
        <p:nvSpPr>
          <p:cNvPr id="12" name="Curved Down Arrow 11"/>
          <p:cNvSpPr/>
          <p:nvPr/>
        </p:nvSpPr>
        <p:spPr>
          <a:xfrm rot="20986085" flipH="1">
            <a:off x="3453348" y="2468832"/>
            <a:ext cx="1642430" cy="436766"/>
          </a:xfrm>
          <a:prstGeom prst="curvedDownArrow">
            <a:avLst>
              <a:gd name="adj1" fmla="val 25000"/>
              <a:gd name="adj2" fmla="val 103077"/>
              <a:gd name="adj3" fmla="val 3421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1820410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551688"/>
          </a:xfrm>
        </p:spPr>
        <p:txBody>
          <a:bodyPr>
            <a:normAutofit/>
          </a:bodyPr>
          <a:lstStyle/>
          <a:p>
            <a:r>
              <a:rPr lang="en-US" sz="3200" dirty="0"/>
              <a:t>Examples: </a:t>
            </a:r>
            <a:r>
              <a:rPr lang="en-US" sz="3200" dirty="0">
                <a:solidFill>
                  <a:srgbClr val="FF0000"/>
                </a:solidFill>
              </a:rPr>
              <a:t>Reversal.java </a:t>
            </a:r>
            <a:r>
              <a:rPr lang="en-US" sz="3200" dirty="0"/>
              <a:t>and </a:t>
            </a:r>
            <a:r>
              <a:rPr lang="en-US" sz="3200" dirty="0">
                <a:solidFill>
                  <a:srgbClr val="FF0000"/>
                </a:solidFill>
              </a:rPr>
              <a:t>Reversal2.java</a:t>
            </a:r>
          </a:p>
        </p:txBody>
      </p:sp>
      <p:sp>
        <p:nvSpPr>
          <p:cNvPr id="3" name="Content Placeholder 2"/>
          <p:cNvSpPr>
            <a:spLocks noGrp="1"/>
          </p:cNvSpPr>
          <p:nvPr>
            <p:ph idx="1"/>
          </p:nvPr>
        </p:nvSpPr>
        <p:spPr>
          <a:xfrm>
            <a:off x="457200" y="1752600"/>
            <a:ext cx="8229600" cy="4389120"/>
          </a:xfrm>
        </p:spPr>
        <p:txBody>
          <a:bodyPr>
            <a:normAutofit fontScale="85000" lnSpcReduction="20000"/>
          </a:bodyPr>
          <a:lstStyle/>
          <a:p>
            <a:r>
              <a:rPr lang="en-US" dirty="0"/>
              <a:t>Read in lines one by one from an input file, reverse all the characters from the input file, and write the results to an output file.  Perform the reversal in a separate method called reverser</a:t>
            </a:r>
          </a:p>
          <a:p>
            <a:r>
              <a:rPr lang="en-US" dirty="0"/>
              <a:t>Strategy</a:t>
            </a:r>
          </a:p>
          <a:p>
            <a:pPr lvl="1"/>
            <a:r>
              <a:rPr lang="en-US" dirty="0"/>
              <a:t>Create an input text file</a:t>
            </a:r>
          </a:p>
          <a:p>
            <a:pPr lvl="1"/>
            <a:r>
              <a:rPr lang="en-US" dirty="0"/>
              <a:t>Read in the names of the files to read from and write to</a:t>
            </a:r>
          </a:p>
          <a:p>
            <a:pPr lvl="1"/>
            <a:r>
              <a:rPr lang="en-US" dirty="0"/>
              <a:t>In the code create your File, Scanner and PrintWriter Objects</a:t>
            </a:r>
          </a:p>
          <a:p>
            <a:pPr lvl="1"/>
            <a:r>
              <a:rPr lang="en-US" dirty="0"/>
              <a:t>Read in text a line at a time from the file until file is completely read</a:t>
            </a:r>
          </a:p>
          <a:p>
            <a:pPr lvl="1"/>
            <a:r>
              <a:rPr lang="en-US" dirty="0"/>
              <a:t>Call reverser to reverse the text</a:t>
            </a:r>
          </a:p>
          <a:p>
            <a:pPr lvl="2"/>
            <a:r>
              <a:rPr lang="en-US" dirty="0"/>
              <a:t>reverser processes in the characters in the String from back to front to create the new String which it passes back to main</a:t>
            </a:r>
          </a:p>
          <a:p>
            <a:pPr lvl="2"/>
            <a:r>
              <a:rPr lang="en-US" dirty="0"/>
              <a:t>Alternatively read the String from front to back and append each new character to front of the new String</a:t>
            </a:r>
          </a:p>
          <a:p>
            <a:pPr lvl="1"/>
            <a:r>
              <a:rPr lang="en-US" dirty="0"/>
              <a:t>Write the String to the output file</a:t>
            </a:r>
          </a:p>
          <a:p>
            <a:pPr lvl="1"/>
            <a:r>
              <a:rPr lang="en-US" dirty="0"/>
              <a:t>Use </a:t>
            </a:r>
            <a:r>
              <a:rPr lang="en-US" dirty="0">
                <a:solidFill>
                  <a:srgbClr val="FF0000"/>
                </a:solidFill>
              </a:rPr>
              <a:t>input_for_reversal.txt </a:t>
            </a:r>
            <a:r>
              <a:rPr lang="en-US" dirty="0"/>
              <a:t>and</a:t>
            </a:r>
            <a:r>
              <a:rPr lang="en-US" dirty="0">
                <a:solidFill>
                  <a:srgbClr val="FF0000"/>
                </a:solidFill>
              </a:rPr>
              <a:t> reversed.txt</a:t>
            </a:r>
          </a:p>
          <a:p>
            <a:pPr lvl="2"/>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47</a:t>
            </a:fld>
            <a:endParaRPr lang="en-US" dirty="0"/>
          </a:p>
        </p:txBody>
      </p:sp>
    </p:spTree>
    <p:extLst>
      <p:ext uri="{BB962C8B-B14F-4D97-AF65-F5344CB8AC3E}">
        <p14:creationId xmlns:p14="http://schemas.microsoft.com/office/powerpoint/2010/main" val="7556424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27888"/>
          </a:xfrm>
        </p:spPr>
        <p:txBody>
          <a:bodyPr>
            <a:normAutofit/>
          </a:bodyPr>
          <a:lstStyle/>
          <a:p>
            <a:r>
              <a:rPr lang="en-US" sz="3200" dirty="0"/>
              <a:t>Example EncryptFile.java</a:t>
            </a:r>
          </a:p>
        </p:txBody>
      </p:sp>
      <p:sp>
        <p:nvSpPr>
          <p:cNvPr id="3" name="Content Placeholder 2"/>
          <p:cNvSpPr>
            <a:spLocks noGrp="1"/>
          </p:cNvSpPr>
          <p:nvPr>
            <p:ph idx="1"/>
          </p:nvPr>
        </p:nvSpPr>
        <p:spPr>
          <a:xfrm>
            <a:off x="381000" y="914399"/>
            <a:ext cx="8229600" cy="5807075"/>
          </a:xfrm>
        </p:spPr>
        <p:txBody>
          <a:bodyPr>
            <a:normAutofit fontScale="77500" lnSpcReduction="20000"/>
          </a:bodyPr>
          <a:lstStyle/>
          <a:p>
            <a:r>
              <a:rPr lang="en-US" dirty="0"/>
              <a:t>Write a program that encrypts a file of text one-line at a time using an interactively supplied code word and after capitalizing the text outputs that text to an output file. Assume that the text line contains only alpha characters and no white spaces. Use the code word, which has no spaces, as follows:</a:t>
            </a:r>
          </a:p>
          <a:p>
            <a:pPr lvl="1"/>
            <a:r>
              <a:rPr lang="en-US" dirty="0"/>
              <a:t>Convert the code word to capitalized code word</a:t>
            </a:r>
          </a:p>
          <a:p>
            <a:pPr lvl="1"/>
            <a:r>
              <a:rPr lang="en-US" dirty="0"/>
              <a:t>Use the code word one character at a time to shift corresponding character in message by the position of the code word i.e. if Code word is Dram and word to be coded is Hungrier shift as follows:</a:t>
            </a:r>
          </a:p>
          <a:p>
            <a:pPr lvl="1"/>
            <a:r>
              <a:rPr lang="en-US" dirty="0">
                <a:latin typeface="Times New Roman"/>
                <a:cs typeface="Times New Roman"/>
              </a:rPr>
              <a:t>H – 3, U – 17 N – 0, G – 12, R – 3, I – 17, E – 0, R – 12;</a:t>
            </a:r>
          </a:p>
          <a:p>
            <a:r>
              <a:rPr lang="en-US" dirty="0">
                <a:latin typeface="Times New Roman"/>
                <a:cs typeface="Times New Roman"/>
              </a:rPr>
              <a:t>Strategy:</a:t>
            </a:r>
          </a:p>
          <a:p>
            <a:pPr lvl="1"/>
            <a:r>
              <a:rPr lang="en-US" dirty="0">
                <a:latin typeface="Times New Roman"/>
                <a:cs typeface="Times New Roman"/>
              </a:rPr>
              <a:t>Create necessary objects for input and output</a:t>
            </a:r>
          </a:p>
          <a:p>
            <a:pPr lvl="1"/>
            <a:r>
              <a:rPr lang="en-US" dirty="0">
                <a:latin typeface="Times New Roman"/>
                <a:cs typeface="Times New Roman"/>
              </a:rPr>
              <a:t>Figure out shift</a:t>
            </a:r>
          </a:p>
          <a:p>
            <a:pPr lvl="1"/>
            <a:r>
              <a:rPr lang="en-US" dirty="0">
                <a:latin typeface="Times New Roman"/>
                <a:cs typeface="Times New Roman"/>
              </a:rPr>
              <a:t>Shift character i based on the position in the alphabet of the character in the code word, going through the code word characters in a round robin method</a:t>
            </a:r>
          </a:p>
          <a:p>
            <a:pPr lvl="1"/>
            <a:r>
              <a:rPr lang="en-US" dirty="0">
                <a:latin typeface="Times New Roman"/>
                <a:cs typeface="Times New Roman"/>
              </a:rPr>
              <a:t>Add character to message line</a:t>
            </a:r>
          </a:p>
          <a:p>
            <a:pPr lvl="1"/>
            <a:r>
              <a:rPr lang="en-US" dirty="0">
                <a:latin typeface="Times New Roman"/>
                <a:cs typeface="Times New Roman"/>
              </a:rPr>
              <a:t>When complete print line to the output file</a:t>
            </a:r>
          </a:p>
          <a:p>
            <a:pPr lvl="1"/>
            <a:endParaRPr lang="en-US" dirty="0">
              <a:latin typeface="Times New Roman"/>
              <a:cs typeface="Times New Roman"/>
            </a:endParaRPr>
          </a:p>
          <a:p>
            <a:r>
              <a:rPr lang="en-US" dirty="0">
                <a:latin typeface="Times New Roman"/>
                <a:cs typeface="Times New Roman"/>
              </a:rPr>
              <a:t>See </a:t>
            </a:r>
            <a:r>
              <a:rPr lang="en-US" dirty="0">
                <a:solidFill>
                  <a:srgbClr val="FF0000"/>
                </a:solidFill>
                <a:latin typeface="Times New Roman"/>
                <a:cs typeface="Times New Roman"/>
              </a:rPr>
              <a:t>EncryptFile.java – use file_to_encrypt.txt and encrypted_output.txt</a:t>
            </a:r>
          </a:p>
        </p:txBody>
      </p:sp>
      <p:sp>
        <p:nvSpPr>
          <p:cNvPr id="4" name="Slide Number Placeholder 3"/>
          <p:cNvSpPr>
            <a:spLocks noGrp="1"/>
          </p:cNvSpPr>
          <p:nvPr>
            <p:ph type="sldNum" sz="quarter" idx="12"/>
          </p:nvPr>
        </p:nvSpPr>
        <p:spPr/>
        <p:txBody>
          <a:bodyPr/>
          <a:lstStyle/>
          <a:p>
            <a:fld id="{13977939-A071-43C1-9268-F54CC2756BB5}" type="slidenum">
              <a:rPr lang="en-US" smtClean="0"/>
              <a:pPr/>
              <a:t>48</a:t>
            </a:fld>
            <a:endParaRPr lang="en-US" dirty="0"/>
          </a:p>
        </p:txBody>
      </p:sp>
    </p:spTree>
    <p:extLst>
      <p:ext uri="{BB962C8B-B14F-4D97-AF65-F5344CB8AC3E}">
        <p14:creationId xmlns:p14="http://schemas.microsoft.com/office/powerpoint/2010/main" val="19265895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D546A5D-59BF-3D2C-BB1E-A24BC8DB11CF}"/>
              </a:ext>
            </a:extLst>
          </p:cNvPr>
          <p:cNvSpPr>
            <a:spLocks noGrp="1"/>
          </p:cNvSpPr>
          <p:nvPr>
            <p:ph type="body" idx="1"/>
          </p:nvPr>
        </p:nvSpPr>
        <p:spPr/>
        <p:txBody>
          <a:bodyPr/>
          <a:lstStyle/>
          <a:p>
            <a:r>
              <a:rPr lang="en-US" dirty="0"/>
              <a:t>The Random class</a:t>
            </a:r>
          </a:p>
        </p:txBody>
      </p:sp>
      <p:sp>
        <p:nvSpPr>
          <p:cNvPr id="4" name="Slide Number Placeholder 3">
            <a:extLst>
              <a:ext uri="{FF2B5EF4-FFF2-40B4-BE49-F238E27FC236}">
                <a16:creationId xmlns:a16="http://schemas.microsoft.com/office/drawing/2014/main" id="{61479339-A475-3028-BA5E-32A42A4B620B}"/>
              </a:ext>
            </a:extLst>
          </p:cNvPr>
          <p:cNvSpPr>
            <a:spLocks noGrp="1"/>
          </p:cNvSpPr>
          <p:nvPr>
            <p:ph type="sldNum" sz="quarter" idx="12"/>
          </p:nvPr>
        </p:nvSpPr>
        <p:spPr/>
        <p:txBody>
          <a:bodyPr/>
          <a:lstStyle/>
          <a:p>
            <a:fld id="{13977939-A071-43C1-9268-F54CC2756BB5}" type="slidenum">
              <a:rPr lang="en-US" smtClean="0"/>
              <a:pPr/>
              <a:t>49</a:t>
            </a:fld>
            <a:endParaRPr lang="en-US" dirty="0"/>
          </a:p>
        </p:txBody>
      </p:sp>
    </p:spTree>
    <p:extLst>
      <p:ext uri="{BB962C8B-B14F-4D97-AF65-F5344CB8AC3E}">
        <p14:creationId xmlns:p14="http://schemas.microsoft.com/office/powerpoint/2010/main" val="3167499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704088"/>
          </a:xfrm>
        </p:spPr>
        <p:txBody>
          <a:bodyPr>
            <a:normAutofit/>
          </a:bodyPr>
          <a:lstStyle/>
          <a:p>
            <a:r>
              <a:rPr lang="en-US" sz="3200" b="1" dirty="0"/>
              <a:t>The Random class (1)</a:t>
            </a:r>
          </a:p>
        </p:txBody>
      </p:sp>
      <p:sp>
        <p:nvSpPr>
          <p:cNvPr id="3" name="Content Placeholder 2"/>
          <p:cNvSpPr>
            <a:spLocks noGrp="1"/>
          </p:cNvSpPr>
          <p:nvPr>
            <p:ph idx="1"/>
          </p:nvPr>
        </p:nvSpPr>
        <p:spPr>
          <a:xfrm>
            <a:off x="457200" y="1447800"/>
            <a:ext cx="7696200" cy="5410200"/>
          </a:xfrm>
        </p:spPr>
        <p:txBody>
          <a:bodyPr>
            <a:normAutofit fontScale="92500" lnSpcReduction="10000"/>
          </a:bodyPr>
          <a:lstStyle/>
          <a:p>
            <a:r>
              <a:rPr lang="en-US" dirty="0"/>
              <a:t>The Random class is another class that is imported with </a:t>
            </a:r>
            <a:endParaRPr lang="en-US" dirty="0">
              <a:solidFill>
                <a:srgbClr val="FF0000"/>
              </a:solidFill>
            </a:endParaRPr>
          </a:p>
          <a:p>
            <a:pPr marL="0" indent="0">
              <a:buNone/>
            </a:pPr>
            <a:r>
              <a:rPr lang="en-US" dirty="0">
                <a:solidFill>
                  <a:srgbClr val="FF0000"/>
                </a:solidFill>
              </a:rPr>
              <a:t>    import java.util.Random; </a:t>
            </a:r>
            <a:r>
              <a:rPr lang="en-US" dirty="0"/>
              <a:t>or with </a:t>
            </a:r>
            <a:r>
              <a:rPr lang="en-US" dirty="0">
                <a:solidFill>
                  <a:srgbClr val="FF0000"/>
                </a:solidFill>
              </a:rPr>
              <a:t>import java.util.*; </a:t>
            </a:r>
          </a:p>
          <a:p>
            <a:pPr lvl="1"/>
            <a:r>
              <a:rPr lang="en-US" dirty="0"/>
              <a:t>The Random class has many different “random” methods, making it more useful than the Math.random() method </a:t>
            </a:r>
          </a:p>
          <a:p>
            <a:pPr lvl="2"/>
            <a:r>
              <a:rPr lang="en-US" dirty="0"/>
              <a:t>Math.random() is a method within the Math class, while Random is a separate class with its own methods</a:t>
            </a:r>
          </a:p>
          <a:p>
            <a:r>
              <a:rPr lang="en-US" dirty="0"/>
              <a:t>Remember how we achieved the ability to read input from the screen:</a:t>
            </a:r>
          </a:p>
          <a:p>
            <a:pPr marL="365760" lvl="1" indent="0">
              <a:buNone/>
            </a:pPr>
            <a:r>
              <a:rPr lang="en-US" dirty="0"/>
              <a:t>Scanner keyboard = new Scanner(System.in);</a:t>
            </a:r>
          </a:p>
          <a:p>
            <a:r>
              <a:rPr lang="en-US" dirty="0"/>
              <a:t>Then we had a keyboard reader that could take advantage of all the methods in the class:</a:t>
            </a:r>
          </a:p>
          <a:p>
            <a:pPr marL="365760" lvl="1" indent="0">
              <a:buNone/>
            </a:pPr>
            <a:r>
              <a:rPr lang="en-US" dirty="0"/>
              <a:t>int number = keyboard.nextInt();</a:t>
            </a:r>
          </a:p>
          <a:p>
            <a:pPr marL="365760" lvl="1" indent="0">
              <a:buNone/>
            </a:pPr>
            <a:r>
              <a:rPr lang="en-US" dirty="0"/>
              <a:t>double decNumber = keyboard.nextDouble();</a:t>
            </a:r>
          </a:p>
        </p:txBody>
      </p:sp>
      <p:sp>
        <p:nvSpPr>
          <p:cNvPr id="4" name="Slide Number Placeholder 3"/>
          <p:cNvSpPr>
            <a:spLocks noGrp="1"/>
          </p:cNvSpPr>
          <p:nvPr>
            <p:ph type="sldNum" sz="quarter" idx="12"/>
          </p:nvPr>
        </p:nvSpPr>
        <p:spPr/>
        <p:txBody>
          <a:bodyPr/>
          <a:lstStyle/>
          <a:p>
            <a:fld id="{13977939-A071-43C1-9268-F54CC2756BB5}" type="slidenum">
              <a:rPr lang="en-US" smtClean="0"/>
              <a:pPr/>
              <a:t>50</a:t>
            </a:fld>
            <a:endParaRPr lang="en-US" dirty="0"/>
          </a:p>
        </p:txBody>
      </p:sp>
    </p:spTree>
    <p:extLst>
      <p:ext uri="{BB962C8B-B14F-4D97-AF65-F5344CB8AC3E}">
        <p14:creationId xmlns:p14="http://schemas.microsoft.com/office/powerpoint/2010/main" val="25968869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551688"/>
          </a:xfrm>
        </p:spPr>
        <p:txBody>
          <a:bodyPr>
            <a:normAutofit/>
          </a:bodyPr>
          <a:lstStyle/>
          <a:p>
            <a:r>
              <a:rPr lang="en-US" sz="3200" b="1" dirty="0"/>
              <a:t>The Random class (2)</a:t>
            </a:r>
          </a:p>
        </p:txBody>
      </p:sp>
      <p:sp>
        <p:nvSpPr>
          <p:cNvPr id="3" name="Content Placeholder 2"/>
          <p:cNvSpPr>
            <a:spLocks noGrp="1"/>
          </p:cNvSpPr>
          <p:nvPr>
            <p:ph idx="1"/>
          </p:nvPr>
        </p:nvSpPr>
        <p:spPr>
          <a:xfrm>
            <a:off x="457200" y="609600"/>
            <a:ext cx="8229600" cy="6172200"/>
          </a:xfrm>
        </p:spPr>
        <p:txBody>
          <a:bodyPr>
            <a:normAutofit fontScale="77500" lnSpcReduction="20000"/>
          </a:bodyPr>
          <a:lstStyle/>
          <a:p>
            <a:r>
              <a:rPr lang="en-US" dirty="0"/>
              <a:t>So lets create a new object called randy from the class Random</a:t>
            </a:r>
          </a:p>
          <a:p>
            <a:pPr marL="0" indent="0">
              <a:buNone/>
            </a:pPr>
            <a:r>
              <a:rPr lang="en-US" dirty="0"/>
              <a:t>     Random randy = new Random(); </a:t>
            </a:r>
          </a:p>
          <a:p>
            <a:pPr lvl="1"/>
            <a:r>
              <a:rPr lang="en-US" dirty="0"/>
              <a:t>Note that there are no data attributes in this instantiation</a:t>
            </a:r>
          </a:p>
          <a:p>
            <a:pPr lvl="2"/>
            <a:r>
              <a:rPr lang="en-US" dirty="0"/>
              <a:t>When no seed is provided the seed defaults to the 64 bit integer (type long) representation of time of day – that is why each run may be different</a:t>
            </a:r>
          </a:p>
          <a:p>
            <a:pPr lvl="1"/>
            <a:r>
              <a:rPr lang="en-US" dirty="0"/>
              <a:t>randy is a reference variable that now has a value (a reference to a memory location)</a:t>
            </a:r>
          </a:p>
          <a:p>
            <a:r>
              <a:rPr lang="en-US" dirty="0"/>
              <a:t>You can also create a Random object with a fixed seed which is a </a:t>
            </a:r>
            <a:r>
              <a:rPr lang="en-US" dirty="0">
                <a:solidFill>
                  <a:srgbClr val="FF0000"/>
                </a:solidFill>
              </a:rPr>
              <a:t>long</a:t>
            </a:r>
            <a:r>
              <a:rPr lang="en-US" dirty="0"/>
              <a:t> integer (or therefore byte, short or int due to casting up); </a:t>
            </a:r>
          </a:p>
          <a:p>
            <a:pPr lvl="1"/>
            <a:r>
              <a:rPr lang="en-US" dirty="0"/>
              <a:t>You then get the same sequence of numbers each time you run the program</a:t>
            </a:r>
          </a:p>
          <a:p>
            <a:pPr lvl="1"/>
            <a:r>
              <a:rPr lang="en-US" dirty="0"/>
              <a:t>Note: Some classes, such as Random, have multiple constructors – the constructor is in fact overloaded</a:t>
            </a:r>
          </a:p>
          <a:p>
            <a:pPr marL="0" indent="0">
              <a:buNone/>
            </a:pPr>
            <a:r>
              <a:rPr lang="en-US" dirty="0"/>
              <a:t>Random randy1 = new Random(seed);//seed is any type of integer including long</a:t>
            </a:r>
          </a:p>
          <a:p>
            <a:pPr marL="0" indent="0">
              <a:buNone/>
            </a:pPr>
            <a:r>
              <a:rPr lang="en-US" dirty="0"/>
              <a:t>This can also be done using setSeed(seed):</a:t>
            </a:r>
          </a:p>
          <a:p>
            <a:pPr marL="0" indent="0">
              <a:buNone/>
            </a:pPr>
            <a:r>
              <a:rPr lang="en-US" dirty="0"/>
              <a:t>Random randy = new Random();</a:t>
            </a:r>
          </a:p>
          <a:p>
            <a:pPr marL="0" indent="0">
              <a:buNone/>
            </a:pPr>
            <a:r>
              <a:rPr lang="en-US" dirty="0"/>
              <a:t>randy.setSeed(seed);</a:t>
            </a:r>
          </a:p>
          <a:p>
            <a:endParaRPr lang="en-US" dirty="0"/>
          </a:p>
          <a:p>
            <a:r>
              <a:rPr lang="en-US" dirty="0"/>
              <a:t>In either case we can then use the methods of Random:</a:t>
            </a:r>
          </a:p>
          <a:p>
            <a:pPr marL="0" indent="0">
              <a:buNone/>
            </a:pPr>
            <a:r>
              <a:rPr lang="en-US" dirty="0"/>
              <a:t>int number = randy.nextInt(n); // returns an integer greater than or equal to zero but less than n (where n is an integer)</a:t>
            </a:r>
          </a:p>
        </p:txBody>
      </p:sp>
      <p:sp>
        <p:nvSpPr>
          <p:cNvPr id="4" name="Slide Number Placeholder 3"/>
          <p:cNvSpPr>
            <a:spLocks noGrp="1"/>
          </p:cNvSpPr>
          <p:nvPr>
            <p:ph type="sldNum" sz="quarter" idx="12"/>
          </p:nvPr>
        </p:nvSpPr>
        <p:spPr/>
        <p:txBody>
          <a:bodyPr/>
          <a:lstStyle/>
          <a:p>
            <a:fld id="{13977939-A071-43C1-9268-F54CC2756BB5}" type="slidenum">
              <a:rPr lang="en-US" smtClean="0"/>
              <a:pPr/>
              <a:t>51</a:t>
            </a:fld>
            <a:endParaRPr lang="en-US" dirty="0"/>
          </a:p>
        </p:txBody>
      </p:sp>
    </p:spTree>
    <p:extLst>
      <p:ext uri="{BB962C8B-B14F-4D97-AF65-F5344CB8AC3E}">
        <p14:creationId xmlns:p14="http://schemas.microsoft.com/office/powerpoint/2010/main" val="41658291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704088"/>
          </a:xfrm>
        </p:spPr>
        <p:txBody>
          <a:bodyPr>
            <a:normAutofit/>
          </a:bodyPr>
          <a:lstStyle/>
          <a:p>
            <a:r>
              <a:rPr lang="en-US" sz="3200" b="1" dirty="0"/>
              <a:t>The Random class (3)</a:t>
            </a:r>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2399731686"/>
              </p:ext>
            </p:extLst>
          </p:nvPr>
        </p:nvGraphicFramePr>
        <p:xfrm>
          <a:off x="457200" y="909955"/>
          <a:ext cx="8077200" cy="5811520"/>
        </p:xfrm>
        <a:graphic>
          <a:graphicData uri="http://schemas.openxmlformats.org/drawingml/2006/table">
            <a:tbl>
              <a:tblPr firstRow="1" bandRow="1">
                <a:tableStyleId>{5C22544A-7EE6-4342-B048-85BDC9FD1C3A}</a:tableStyleId>
              </a:tblPr>
              <a:tblGrid>
                <a:gridCol w="8077200">
                  <a:extLst>
                    <a:ext uri="{9D8B030D-6E8A-4147-A177-3AD203B41FA5}">
                      <a16:colId xmlns:a16="http://schemas.microsoft.com/office/drawing/2014/main" val="20000"/>
                    </a:ext>
                  </a:extLst>
                </a:gridCol>
              </a:tblGrid>
              <a:tr h="370840">
                <a:tc>
                  <a:txBody>
                    <a:bodyPr/>
                    <a:lstStyle/>
                    <a:p>
                      <a:r>
                        <a:rPr lang="en-US" dirty="0"/>
                        <a:t>Method &amp; Description</a:t>
                      </a:r>
                    </a:p>
                  </a:txBody>
                  <a:tcPr anchor="ctr"/>
                </a:tc>
                <a:extLst>
                  <a:ext uri="{0D108BD9-81ED-4DB2-BD59-A6C34878D82A}">
                    <a16:rowId xmlns:a16="http://schemas.microsoft.com/office/drawing/2014/main" val="10000"/>
                  </a:ext>
                </a:extLst>
              </a:tr>
              <a:tr h="370840">
                <a:tc>
                  <a:txBody>
                    <a:bodyPr/>
                    <a:lstStyle/>
                    <a:p>
                      <a:r>
                        <a:rPr lang="en-US" sz="1100" dirty="0">
                          <a:solidFill>
                            <a:schemeClr val="bg1"/>
                          </a:solidFill>
                          <a:latin typeface="Arial" pitchFamily="34" charset="0"/>
                          <a:cs typeface="Arial" pitchFamily="34" charset="0"/>
                          <a:hlinkClick r:id="rId2"/>
                        </a:rPr>
                        <a:t>boolean nextBoolean()</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boolean value from this random number generator's sequence.</a:t>
                      </a:r>
                    </a:p>
                  </a:txBody>
                  <a:tcPr anchor="ctr">
                    <a:solidFill>
                      <a:schemeClr val="accent2">
                        <a:lumMod val="75000"/>
                      </a:schemeClr>
                    </a:solidFill>
                  </a:tcPr>
                </a:tc>
                <a:extLst>
                  <a:ext uri="{0D108BD9-81ED-4DB2-BD59-A6C34878D82A}">
                    <a16:rowId xmlns:a16="http://schemas.microsoft.com/office/drawing/2014/main" val="10001"/>
                  </a:ext>
                </a:extLst>
              </a:tr>
              <a:tr h="370840">
                <a:tc>
                  <a:txBody>
                    <a:bodyPr/>
                    <a:lstStyle/>
                    <a:p>
                      <a:r>
                        <a:rPr lang="en-US" sz="1100" dirty="0">
                          <a:solidFill>
                            <a:schemeClr val="bg1"/>
                          </a:solidFill>
                          <a:latin typeface="Arial" pitchFamily="34" charset="0"/>
                          <a:cs typeface="Arial" pitchFamily="34" charset="0"/>
                          <a:hlinkClick r:id="rId3"/>
                        </a:rPr>
                        <a:t>void nextBytes(byte[] bytes)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generates random bytes and places them into a user-supplied byte array.</a:t>
                      </a:r>
                    </a:p>
                  </a:txBody>
                  <a:tcPr anchor="ctr">
                    <a:solidFill>
                      <a:schemeClr val="accent2">
                        <a:lumMod val="75000"/>
                      </a:schemeClr>
                    </a:solidFill>
                  </a:tcPr>
                </a:tc>
                <a:extLst>
                  <a:ext uri="{0D108BD9-81ED-4DB2-BD59-A6C34878D82A}">
                    <a16:rowId xmlns:a16="http://schemas.microsoft.com/office/drawing/2014/main" val="10002"/>
                  </a:ext>
                </a:extLst>
              </a:tr>
              <a:tr h="370840">
                <a:tc>
                  <a:txBody>
                    <a:bodyPr/>
                    <a:lstStyle/>
                    <a:p>
                      <a:r>
                        <a:rPr lang="en-US" sz="1100" dirty="0">
                          <a:solidFill>
                            <a:schemeClr val="bg1"/>
                          </a:solidFill>
                          <a:latin typeface="Arial" pitchFamily="34" charset="0"/>
                          <a:cs typeface="Arial" pitchFamily="34" charset="0"/>
                          <a:hlinkClick r:id="rId4"/>
                        </a:rPr>
                        <a:t>double nextDouble()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double value between 0.0 (inclusive) and 1.0 (exclusive) from this random number generator's sequence.</a:t>
                      </a:r>
                    </a:p>
                  </a:txBody>
                  <a:tcPr anchor="ctr">
                    <a:solidFill>
                      <a:schemeClr val="accent2">
                        <a:lumMod val="75000"/>
                      </a:schemeClr>
                    </a:solidFill>
                  </a:tcPr>
                </a:tc>
                <a:extLst>
                  <a:ext uri="{0D108BD9-81ED-4DB2-BD59-A6C34878D82A}">
                    <a16:rowId xmlns:a16="http://schemas.microsoft.com/office/drawing/2014/main" val="10003"/>
                  </a:ext>
                </a:extLst>
              </a:tr>
              <a:tr h="370840">
                <a:tc>
                  <a:txBody>
                    <a:bodyPr/>
                    <a:lstStyle/>
                    <a:p>
                      <a:r>
                        <a:rPr lang="en-US" sz="1100" dirty="0">
                          <a:solidFill>
                            <a:schemeClr val="bg1"/>
                          </a:solidFill>
                          <a:latin typeface="Arial" pitchFamily="34" charset="0"/>
                          <a:cs typeface="Arial" pitchFamily="34" charset="0"/>
                          <a:hlinkClick r:id="rId5"/>
                        </a:rPr>
                        <a:t>float nextFloat()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float value between 0.0 (inclusive) and 1.0 (exclusive) from this random number generator's sequence.</a:t>
                      </a:r>
                    </a:p>
                  </a:txBody>
                  <a:tcPr anchor="ctr">
                    <a:solidFill>
                      <a:schemeClr val="accent2">
                        <a:lumMod val="75000"/>
                      </a:schemeClr>
                    </a:solidFill>
                  </a:tcPr>
                </a:tc>
                <a:extLst>
                  <a:ext uri="{0D108BD9-81ED-4DB2-BD59-A6C34878D82A}">
                    <a16:rowId xmlns:a16="http://schemas.microsoft.com/office/drawing/2014/main" val="10004"/>
                  </a:ext>
                </a:extLst>
              </a:tr>
              <a:tr h="370840">
                <a:tc>
                  <a:txBody>
                    <a:bodyPr/>
                    <a:lstStyle/>
                    <a:p>
                      <a:r>
                        <a:rPr lang="en-US" sz="1100" dirty="0">
                          <a:solidFill>
                            <a:schemeClr val="bg1"/>
                          </a:solidFill>
                          <a:latin typeface="Arial" pitchFamily="34" charset="0"/>
                          <a:cs typeface="Arial" pitchFamily="34" charset="0"/>
                          <a:hlinkClick r:id="rId6"/>
                        </a:rPr>
                        <a:t>double nextGaussian()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Gaussian ("normally") distributed double value with mean 0.0 and standard deviation 1.0 from this random number generator's sequence. </a:t>
                      </a:r>
                      <a:r>
                        <a:rPr lang="en-US" sz="1100" dirty="0">
                          <a:solidFill>
                            <a:schemeClr val="bg1"/>
                          </a:solidFill>
                          <a:latin typeface="Arial" pitchFamily="34" charset="0"/>
                          <a:cs typeface="Arial" pitchFamily="34" charset="0"/>
                          <a:hlinkClick r:id="rId7"/>
                        </a:rPr>
                        <a:t>http://www.javamex.com/tutorials/random_numbers/gaussian_distribution_2.shtml</a:t>
                      </a:r>
                      <a:endParaRPr lang="en-US" sz="1100" dirty="0">
                        <a:solidFill>
                          <a:schemeClr val="bg1"/>
                        </a:solidFill>
                        <a:latin typeface="Arial" pitchFamily="34" charset="0"/>
                        <a:cs typeface="Arial" pitchFamily="34" charset="0"/>
                      </a:endParaRPr>
                    </a:p>
                  </a:txBody>
                  <a:tcPr anchor="ctr">
                    <a:solidFill>
                      <a:schemeClr val="accent2">
                        <a:lumMod val="75000"/>
                      </a:schemeClr>
                    </a:solidFill>
                  </a:tcPr>
                </a:tc>
                <a:extLst>
                  <a:ext uri="{0D108BD9-81ED-4DB2-BD59-A6C34878D82A}">
                    <a16:rowId xmlns:a16="http://schemas.microsoft.com/office/drawing/2014/main" val="10005"/>
                  </a:ext>
                </a:extLst>
              </a:tr>
              <a:tr h="370840">
                <a:tc>
                  <a:txBody>
                    <a:bodyPr/>
                    <a:lstStyle/>
                    <a:p>
                      <a:r>
                        <a:rPr lang="en-US" sz="1100" dirty="0">
                          <a:solidFill>
                            <a:schemeClr val="bg1"/>
                          </a:solidFill>
                          <a:latin typeface="Arial" pitchFamily="34" charset="0"/>
                          <a:cs typeface="Arial" pitchFamily="34" charset="0"/>
                          <a:hlinkClick r:id="rId8"/>
                        </a:rPr>
                        <a:t>int nextInt()</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int value from this random number generator's sequence.</a:t>
                      </a:r>
                    </a:p>
                  </a:txBody>
                  <a:tcPr anchor="ctr">
                    <a:solidFill>
                      <a:schemeClr val="accent2">
                        <a:lumMod val="75000"/>
                      </a:schemeClr>
                    </a:solidFill>
                  </a:tcPr>
                </a:tc>
                <a:extLst>
                  <a:ext uri="{0D108BD9-81ED-4DB2-BD59-A6C34878D82A}">
                    <a16:rowId xmlns:a16="http://schemas.microsoft.com/office/drawing/2014/main" val="10006"/>
                  </a:ext>
                </a:extLst>
              </a:tr>
              <a:tr h="370840">
                <a:tc>
                  <a:txBody>
                    <a:bodyPr/>
                    <a:lstStyle/>
                    <a:p>
                      <a:r>
                        <a:rPr lang="en-US" sz="1100" dirty="0">
                          <a:solidFill>
                            <a:schemeClr val="bg1"/>
                          </a:solidFill>
                          <a:latin typeface="Arial" pitchFamily="34" charset="0"/>
                          <a:cs typeface="Arial" pitchFamily="34" charset="0"/>
                          <a:hlinkClick r:id="rId9"/>
                        </a:rPr>
                        <a:t>int nextInt(int n)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a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int value between 0 (inclusive) and the specified value (exclusive), drawn from this random number generator's sequence.</a:t>
                      </a:r>
                    </a:p>
                  </a:txBody>
                  <a:tcPr anchor="ctr">
                    <a:solidFill>
                      <a:schemeClr val="accent2">
                        <a:lumMod val="75000"/>
                      </a:schemeClr>
                    </a:solidFill>
                  </a:tcPr>
                </a:tc>
                <a:extLst>
                  <a:ext uri="{0D108BD9-81ED-4DB2-BD59-A6C34878D82A}">
                    <a16:rowId xmlns:a16="http://schemas.microsoft.com/office/drawing/2014/main" val="100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bg1"/>
                          </a:solidFill>
                          <a:latin typeface="Arial" pitchFamily="34" charset="0"/>
                          <a:cs typeface="Arial" pitchFamily="34" charset="0"/>
                          <a:hlinkClick r:id="rId9"/>
                        </a:rPr>
                        <a:t>int nextInt(int low, int upper)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a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int value between low (inclusive) and high(exclusive), drawn from this random number generator's sequence.</a:t>
                      </a:r>
                    </a:p>
                  </a:txBody>
                  <a:tcPr anchor="ctr">
                    <a:solidFill>
                      <a:schemeClr val="accent2">
                        <a:lumMod val="75000"/>
                      </a:schemeClr>
                    </a:solidFill>
                  </a:tcPr>
                </a:tc>
                <a:extLst>
                  <a:ext uri="{0D108BD9-81ED-4DB2-BD59-A6C34878D82A}">
                    <a16:rowId xmlns:a16="http://schemas.microsoft.com/office/drawing/2014/main" val="212564258"/>
                  </a:ext>
                </a:extLst>
              </a:tr>
              <a:tr h="370840">
                <a:tc>
                  <a:txBody>
                    <a:bodyPr/>
                    <a:lstStyle/>
                    <a:p>
                      <a:r>
                        <a:rPr lang="en-US" sz="1100" dirty="0">
                          <a:solidFill>
                            <a:schemeClr val="bg1"/>
                          </a:solidFill>
                          <a:latin typeface="Arial" pitchFamily="34" charset="0"/>
                          <a:cs typeface="Arial" pitchFamily="34" charset="0"/>
                          <a:hlinkClick r:id="rId10"/>
                        </a:rPr>
                        <a:t>long nextLong() </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returns the next pseudorandom, </a:t>
                      </a:r>
                      <a:r>
                        <a:rPr lang="en-US" sz="1100" dirty="0">
                          <a:solidFill>
                            <a:srgbClr val="FF0000"/>
                          </a:solidFill>
                          <a:latin typeface="Arial" pitchFamily="34" charset="0"/>
                          <a:cs typeface="Arial" pitchFamily="34" charset="0"/>
                        </a:rPr>
                        <a:t>uniformly</a:t>
                      </a:r>
                      <a:r>
                        <a:rPr lang="en-US" sz="1100" dirty="0">
                          <a:solidFill>
                            <a:schemeClr val="bg1"/>
                          </a:solidFill>
                          <a:latin typeface="Arial" pitchFamily="34" charset="0"/>
                          <a:cs typeface="Arial" pitchFamily="34" charset="0"/>
                        </a:rPr>
                        <a:t> distributed long value from this random number generator's sequence.</a:t>
                      </a:r>
                    </a:p>
                  </a:txBody>
                  <a:tcPr anchor="ctr">
                    <a:solidFill>
                      <a:schemeClr val="accent2">
                        <a:lumMod val="75000"/>
                      </a:schemeClr>
                    </a:solidFill>
                  </a:tcPr>
                </a:tc>
                <a:extLst>
                  <a:ext uri="{0D108BD9-81ED-4DB2-BD59-A6C34878D82A}">
                    <a16:rowId xmlns:a16="http://schemas.microsoft.com/office/drawing/2014/main" val="10008"/>
                  </a:ext>
                </a:extLst>
              </a:tr>
              <a:tr h="370840">
                <a:tc>
                  <a:txBody>
                    <a:bodyPr/>
                    <a:lstStyle/>
                    <a:p>
                      <a:r>
                        <a:rPr lang="en-US" sz="1100" b="0" dirty="0">
                          <a:solidFill>
                            <a:schemeClr val="bg1"/>
                          </a:solidFill>
                          <a:latin typeface="Arial" pitchFamily="34" charset="0"/>
                          <a:cs typeface="Arial" pitchFamily="34" charset="0"/>
                          <a:hlinkClick r:id="rId11"/>
                        </a:rPr>
                        <a:t>void setSeed(long seed)</a:t>
                      </a:r>
                      <a:br>
                        <a:rPr lang="en-US" sz="1100" dirty="0">
                          <a:solidFill>
                            <a:schemeClr val="bg1"/>
                          </a:solidFill>
                          <a:latin typeface="Arial" pitchFamily="34" charset="0"/>
                          <a:cs typeface="Arial" pitchFamily="34" charset="0"/>
                        </a:rPr>
                      </a:br>
                      <a:r>
                        <a:rPr lang="en-US" sz="1100" dirty="0">
                          <a:solidFill>
                            <a:schemeClr val="bg1"/>
                          </a:solidFill>
                          <a:latin typeface="Arial" pitchFamily="34" charset="0"/>
                          <a:cs typeface="Arial" pitchFamily="34" charset="0"/>
                        </a:rPr>
                        <a:t>This method sets the seed of this random number generator using a single long seed.</a:t>
                      </a:r>
                    </a:p>
                  </a:txBody>
                  <a:tcPr anchor="ctr">
                    <a:solidFill>
                      <a:schemeClr val="accent2">
                        <a:lumMod val="75000"/>
                      </a:schemeClr>
                    </a:solid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13977939-A071-43C1-9268-F54CC2756BB5}" type="slidenum">
              <a:rPr lang="en-US" smtClean="0"/>
              <a:pPr/>
              <a:t>52</a:t>
            </a:fld>
            <a:endParaRPr lang="en-US" dirty="0"/>
          </a:p>
        </p:txBody>
      </p:sp>
    </p:spTree>
    <p:extLst>
      <p:ext uri="{BB962C8B-B14F-4D97-AF65-F5344CB8AC3E}">
        <p14:creationId xmlns:p14="http://schemas.microsoft.com/office/powerpoint/2010/main" val="10368250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04088"/>
          </a:xfrm>
        </p:spPr>
        <p:txBody>
          <a:bodyPr>
            <a:normAutofit/>
          </a:bodyPr>
          <a:lstStyle/>
          <a:p>
            <a:r>
              <a:rPr lang="en-US" sz="3200" b="1" dirty="0"/>
              <a:t>The Random class (4)</a:t>
            </a:r>
          </a:p>
        </p:txBody>
      </p:sp>
      <p:sp>
        <p:nvSpPr>
          <p:cNvPr id="3" name="Content Placeholder 2"/>
          <p:cNvSpPr>
            <a:spLocks noGrp="1"/>
          </p:cNvSpPr>
          <p:nvPr>
            <p:ph idx="1"/>
          </p:nvPr>
        </p:nvSpPr>
        <p:spPr>
          <a:xfrm>
            <a:off x="457200" y="1066800"/>
            <a:ext cx="8229600" cy="5334000"/>
          </a:xfrm>
        </p:spPr>
        <p:txBody>
          <a:bodyPr>
            <a:normAutofit fontScale="70000" lnSpcReduction="20000"/>
          </a:bodyPr>
          <a:lstStyle/>
          <a:p>
            <a:r>
              <a:rPr lang="en-US" dirty="0"/>
              <a:t>Use randy.nextInt(int int1, int int2) is much easier</a:t>
            </a:r>
          </a:p>
          <a:p>
            <a:pPr lvl="1"/>
            <a:r>
              <a:rPr lang="en-US" dirty="0"/>
              <a:t>This generates a number from int1 (inclusive) and int2 (exclusive)</a:t>
            </a:r>
          </a:p>
          <a:p>
            <a:pPr lvl="1"/>
            <a:r>
              <a:rPr lang="en-US" dirty="0"/>
              <a:t>This means that if int x = randy.nextInt(int1, int2) then:</a:t>
            </a:r>
          </a:p>
          <a:p>
            <a:pPr marL="393192" lvl="1" indent="0">
              <a:buNone/>
            </a:pPr>
            <a:r>
              <a:rPr lang="en-US" dirty="0"/>
              <a:t>int1 &lt;= x &lt; int2</a:t>
            </a:r>
          </a:p>
          <a:p>
            <a:endParaRPr lang="en-US" dirty="0"/>
          </a:p>
          <a:p>
            <a:r>
              <a:rPr lang="en-US" dirty="0"/>
              <a:t>An example with dice</a:t>
            </a:r>
          </a:p>
          <a:p>
            <a:pPr marL="0" indent="0">
              <a:buNone/>
            </a:pPr>
            <a:r>
              <a:rPr lang="en-US" dirty="0"/>
              <a:t>   Random die = new Random(); </a:t>
            </a:r>
          </a:p>
          <a:p>
            <a:pPr marL="0" indent="0">
              <a:buNone/>
            </a:pPr>
            <a:r>
              <a:rPr lang="en-US" dirty="0"/>
              <a:t>  </a:t>
            </a:r>
            <a:r>
              <a:rPr lang="en-US" sz="2400" dirty="0"/>
              <a:t> int diceSum = (die.nextInt(6)+1) + (die.nextInt(6)+1);</a:t>
            </a:r>
          </a:p>
          <a:p>
            <a:r>
              <a:rPr lang="en-US" sz="2400" dirty="0"/>
              <a:t>But much easier is </a:t>
            </a:r>
          </a:p>
          <a:p>
            <a:pPr marL="0" indent="0">
              <a:buNone/>
            </a:pPr>
            <a:r>
              <a:rPr lang="en-US" sz="2400" dirty="0"/>
              <a:t>	int diceSum = (die.nextInt(1, 7) + (die.nextInt(1, 7));</a:t>
            </a:r>
          </a:p>
          <a:p>
            <a:r>
              <a:rPr lang="en-US" sz="2400" b="1" dirty="0">
                <a:solidFill>
                  <a:srgbClr val="FF0000"/>
                </a:solidFill>
              </a:rPr>
              <a:t>YOU MUST USE nextInt with the two parameters in all homework to ensure that you get the same answers as I do.  Several points (on an escalating scale) will be deducted for using the single parameter method</a:t>
            </a:r>
          </a:p>
          <a:p>
            <a:pPr marL="0" indent="0">
              <a:buNone/>
            </a:pPr>
            <a:r>
              <a:rPr lang="en-US" sz="2400" dirty="0"/>
              <a:t>See:</a:t>
            </a:r>
          </a:p>
          <a:p>
            <a:pPr marL="0" indent="0">
              <a:buNone/>
            </a:pPr>
            <a:r>
              <a:rPr lang="en-US" sz="2400" dirty="0">
                <a:solidFill>
                  <a:srgbClr val="FF0000"/>
                </a:solidFill>
              </a:rPr>
              <a:t>DiceRollSim.java</a:t>
            </a:r>
          </a:p>
          <a:p>
            <a:pPr marL="0" indent="0">
              <a:buNone/>
            </a:pPr>
            <a:r>
              <a:rPr lang="en-US" sz="2400" dirty="0">
                <a:solidFill>
                  <a:srgbClr val="FF0000"/>
                </a:solidFill>
              </a:rPr>
              <a:t>DiceRollSimRandomClass.java</a:t>
            </a:r>
          </a:p>
          <a:p>
            <a:pPr marL="0" indent="0">
              <a:buNone/>
            </a:pPr>
            <a:r>
              <a:rPr lang="en-US" sz="2400" dirty="0">
                <a:solidFill>
                  <a:srgbClr val="FF0000"/>
                </a:solidFill>
              </a:rPr>
              <a:t>DiceRollSimRandomClassWithSeed.java</a:t>
            </a:r>
          </a:p>
          <a:p>
            <a:pPr marL="0" indent="0">
              <a:buNone/>
            </a:pPr>
            <a:r>
              <a:rPr lang="en-US" sz="2400" dirty="0">
                <a:solidFill>
                  <a:srgbClr val="FF0000"/>
                </a:solidFill>
              </a:rPr>
              <a:t>DiceRollSimRandomClassSetSeed.java</a:t>
            </a:r>
          </a:p>
          <a:p>
            <a:pPr marL="0" indent="0">
              <a:buNone/>
            </a:pPr>
            <a:endParaRPr lang="en-US" dirty="0"/>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53</a:t>
            </a:fld>
            <a:endParaRPr lang="en-US" dirty="0"/>
          </a:p>
        </p:txBody>
      </p:sp>
    </p:spTree>
    <p:extLst>
      <p:ext uri="{BB962C8B-B14F-4D97-AF65-F5344CB8AC3E}">
        <p14:creationId xmlns:p14="http://schemas.microsoft.com/office/powerpoint/2010/main" val="4602912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46497-C5A1-344B-A07B-BBCC3F8C3804}"/>
              </a:ext>
            </a:extLst>
          </p:cNvPr>
          <p:cNvSpPr>
            <a:spLocks noGrp="1"/>
          </p:cNvSpPr>
          <p:nvPr>
            <p:ph type="title"/>
          </p:nvPr>
        </p:nvSpPr>
        <p:spPr/>
        <p:txBody>
          <a:bodyPr/>
          <a:lstStyle/>
          <a:p>
            <a:r>
              <a:rPr lang="en-US" dirty="0"/>
              <a:t>A Gaussian Distribution</a:t>
            </a:r>
          </a:p>
        </p:txBody>
      </p:sp>
      <p:sp>
        <p:nvSpPr>
          <p:cNvPr id="3" name="Slide Number Placeholder 2">
            <a:extLst>
              <a:ext uri="{FF2B5EF4-FFF2-40B4-BE49-F238E27FC236}">
                <a16:creationId xmlns:a16="http://schemas.microsoft.com/office/drawing/2014/main" id="{E9704693-2B11-AB4C-80C4-36F0A9F4D124}"/>
              </a:ext>
            </a:extLst>
          </p:cNvPr>
          <p:cNvSpPr>
            <a:spLocks noGrp="1"/>
          </p:cNvSpPr>
          <p:nvPr>
            <p:ph type="sldNum" sz="quarter" idx="12"/>
          </p:nvPr>
        </p:nvSpPr>
        <p:spPr/>
        <p:txBody>
          <a:bodyPr/>
          <a:lstStyle/>
          <a:p>
            <a:fld id="{13977939-A071-43C1-9268-F54CC2756BB5}" type="slidenum">
              <a:rPr lang="en-US" smtClean="0"/>
              <a:pPr/>
              <a:t>54</a:t>
            </a:fld>
            <a:endParaRPr lang="en-US" dirty="0"/>
          </a:p>
        </p:txBody>
      </p:sp>
      <p:pic>
        <p:nvPicPr>
          <p:cNvPr id="1026" name="Picture 2">
            <a:extLst>
              <a:ext uri="{FF2B5EF4-FFF2-40B4-BE49-F238E27FC236}">
                <a16:creationId xmlns:a16="http://schemas.microsoft.com/office/drawing/2014/main" id="{5B0F46B6-1836-0F46-97B6-207614541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76200" y="1057348"/>
            <a:ext cx="8153400" cy="52832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B6829D4B-052E-F640-F8B9-E013AD1FE772}"/>
              </a:ext>
            </a:extLst>
          </p:cNvPr>
          <p:cNvSpPr txBox="1">
            <a:spLocks/>
          </p:cNvSpPr>
          <p:nvPr/>
        </p:nvSpPr>
        <p:spPr>
          <a:xfrm>
            <a:off x="381000" y="76200"/>
            <a:ext cx="8229600" cy="704088"/>
          </a:xfrm>
          <a:prstGeom prst="rect">
            <a:avLst/>
          </a:prstGeom>
        </p:spPr>
        <p:txBody>
          <a:bodyPr vert="horz" lIns="0" tIns="45720" rIns="0" bIns="0" anchor="b">
            <a:normAutofit/>
            <a:scene3d>
              <a:camera prst="orthographicFront"/>
              <a:lightRig rig="freezing" dir="t">
                <a:rot lat="0" lon="0" rev="5640000"/>
              </a:lightRig>
            </a:scene3d>
            <a:sp3d prstMaterial="flat">
              <a:contourClr>
                <a:schemeClr val="tx2"/>
              </a:contourClr>
            </a:sp3d>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dirty="0"/>
              <a:t>How nextGaussian() works</a:t>
            </a:r>
          </a:p>
        </p:txBody>
      </p:sp>
    </p:spTree>
    <p:extLst>
      <p:ext uri="{BB962C8B-B14F-4D97-AF65-F5344CB8AC3E}">
        <p14:creationId xmlns:p14="http://schemas.microsoft.com/office/powerpoint/2010/main" val="461955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475488"/>
          </a:xfrm>
        </p:spPr>
        <p:txBody>
          <a:bodyPr>
            <a:noAutofit/>
          </a:bodyPr>
          <a:lstStyle/>
          <a:p>
            <a:r>
              <a:rPr lang="en-US" dirty="0"/>
              <a:t>Using Random – An Example</a:t>
            </a:r>
          </a:p>
        </p:txBody>
      </p:sp>
      <p:sp>
        <p:nvSpPr>
          <p:cNvPr id="3" name="Content Placeholder 2"/>
          <p:cNvSpPr>
            <a:spLocks noGrp="1"/>
          </p:cNvSpPr>
          <p:nvPr>
            <p:ph idx="1"/>
          </p:nvPr>
        </p:nvSpPr>
        <p:spPr>
          <a:xfrm>
            <a:off x="381000" y="1219201"/>
            <a:ext cx="8229600" cy="5502274"/>
          </a:xfrm>
        </p:spPr>
        <p:txBody>
          <a:bodyPr>
            <a:normAutofit fontScale="92500" lnSpcReduction="20000"/>
          </a:bodyPr>
          <a:lstStyle/>
          <a:p>
            <a:r>
              <a:rPr lang="en-US" dirty="0"/>
              <a:t>Write a program that does the following:</a:t>
            </a:r>
          </a:p>
          <a:p>
            <a:pPr lvl="1"/>
            <a:r>
              <a:rPr lang="en-US" dirty="0"/>
              <a:t>The main program requests from the user the dimensions of a two-dimensional array.</a:t>
            </a:r>
          </a:p>
          <a:p>
            <a:pPr lvl="1"/>
            <a:r>
              <a:rPr lang="en-US" dirty="0"/>
              <a:t>The main program creates a two-dimensional array.</a:t>
            </a:r>
          </a:p>
          <a:p>
            <a:pPr lvl="1"/>
            <a:r>
              <a:rPr lang="en-US" dirty="0"/>
              <a:t>The main program calls a method booleanFull that randomly fills the two-dimensional array with either true or false values in each cell.</a:t>
            </a:r>
          </a:p>
          <a:p>
            <a:pPr lvl="1"/>
            <a:r>
              <a:rPr lang="en-US" dirty="0"/>
              <a:t>The main program then calls a second method called calcPercent that returns the percentage of elements in the two-dimensional array that are true.</a:t>
            </a:r>
          </a:p>
          <a:p>
            <a:pPr lvl="1"/>
            <a:r>
              <a:rPr lang="en-US" dirty="0"/>
              <a:t>The main program then prints out the array and on the next line prints out the percent of cells in the array that have the value true formatted to two decimal places.</a:t>
            </a:r>
          </a:p>
          <a:p>
            <a:r>
              <a:rPr lang="en-US" dirty="0"/>
              <a:t>Hint: You’ll need to create a Random object and use the method nextBoolean() in the booleanFull method</a:t>
            </a:r>
          </a:p>
          <a:p>
            <a:endParaRPr lang="en-US" dirty="0"/>
          </a:p>
          <a:p>
            <a:r>
              <a:rPr lang="en-US" dirty="0"/>
              <a:t>See </a:t>
            </a:r>
            <a:r>
              <a:rPr lang="en-US" dirty="0">
                <a:solidFill>
                  <a:srgbClr val="FF0000"/>
                </a:solidFill>
              </a:rPr>
              <a:t>RandomArrayBoolean.java</a:t>
            </a:r>
          </a:p>
          <a:p>
            <a:endParaRPr lang="en-US" dirty="0"/>
          </a:p>
        </p:txBody>
      </p:sp>
      <p:sp>
        <p:nvSpPr>
          <p:cNvPr id="4" name="Slide Number Placeholder 3"/>
          <p:cNvSpPr>
            <a:spLocks noGrp="1"/>
          </p:cNvSpPr>
          <p:nvPr>
            <p:ph type="sldNum" sz="quarter" idx="12"/>
          </p:nvPr>
        </p:nvSpPr>
        <p:spPr/>
        <p:txBody>
          <a:bodyPr/>
          <a:lstStyle/>
          <a:p>
            <a:fld id="{13977939-A071-43C1-9268-F54CC2756BB5}" type="slidenum">
              <a:rPr lang="en-US" smtClean="0"/>
              <a:pPr/>
              <a:t>55</a:t>
            </a:fld>
            <a:endParaRPr lang="en-US" dirty="0"/>
          </a:p>
        </p:txBody>
      </p:sp>
    </p:spTree>
    <p:extLst>
      <p:ext uri="{BB962C8B-B14F-4D97-AF65-F5344CB8AC3E}">
        <p14:creationId xmlns:p14="http://schemas.microsoft.com/office/powerpoint/2010/main" val="2495904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623753-1074-9041-AAD7-9BBFBD22E8AC}"/>
              </a:ext>
            </a:extLst>
          </p:cNvPr>
          <p:cNvSpPr>
            <a:spLocks noGrp="1"/>
          </p:cNvSpPr>
          <p:nvPr>
            <p:ph type="body" idx="1"/>
          </p:nvPr>
        </p:nvSpPr>
        <p:spPr/>
        <p:txBody>
          <a:bodyPr/>
          <a:lstStyle/>
          <a:p>
            <a:r>
              <a:rPr lang="en-US" dirty="0"/>
              <a:t>Strong Typing In Java and Inferred Typing</a:t>
            </a:r>
          </a:p>
        </p:txBody>
      </p:sp>
      <p:sp>
        <p:nvSpPr>
          <p:cNvPr id="4" name="Slide Number Placeholder 3">
            <a:extLst>
              <a:ext uri="{FF2B5EF4-FFF2-40B4-BE49-F238E27FC236}">
                <a16:creationId xmlns:a16="http://schemas.microsoft.com/office/drawing/2014/main" id="{148495A8-9A7A-2946-A7A5-15048BE970CA}"/>
              </a:ext>
            </a:extLst>
          </p:cNvPr>
          <p:cNvSpPr>
            <a:spLocks noGrp="1"/>
          </p:cNvSpPr>
          <p:nvPr>
            <p:ph type="sldNum" sz="quarter" idx="12"/>
          </p:nvPr>
        </p:nvSpPr>
        <p:spPr/>
        <p:txBody>
          <a:bodyPr/>
          <a:lstStyle/>
          <a:p>
            <a:fld id="{13977939-A071-43C1-9268-F54CC2756BB5}" type="slidenum">
              <a:rPr lang="en-US" smtClean="0"/>
              <a:pPr/>
              <a:t>56</a:t>
            </a:fld>
            <a:endParaRPr lang="en-US" dirty="0"/>
          </a:p>
        </p:txBody>
      </p:sp>
    </p:spTree>
    <p:extLst>
      <p:ext uri="{BB962C8B-B14F-4D97-AF65-F5344CB8AC3E}">
        <p14:creationId xmlns:p14="http://schemas.microsoft.com/office/powerpoint/2010/main" val="20444775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04088"/>
          </a:xfrm>
        </p:spPr>
        <p:txBody>
          <a:bodyPr>
            <a:normAutofit/>
          </a:bodyPr>
          <a:lstStyle/>
          <a:p>
            <a:r>
              <a:rPr lang="en-US" sz="3200" b="1" dirty="0"/>
              <a:t>The var Reserved Type Name</a:t>
            </a:r>
          </a:p>
        </p:txBody>
      </p:sp>
      <p:sp>
        <p:nvSpPr>
          <p:cNvPr id="3" name="Content Placeholder 2"/>
          <p:cNvSpPr>
            <a:spLocks noGrp="1"/>
          </p:cNvSpPr>
          <p:nvPr>
            <p:ph idx="1"/>
          </p:nvPr>
        </p:nvSpPr>
        <p:spPr>
          <a:xfrm>
            <a:off x="457200" y="1143000"/>
            <a:ext cx="8458200" cy="5273675"/>
          </a:xfrm>
        </p:spPr>
        <p:txBody>
          <a:bodyPr>
            <a:normAutofit lnSpcReduction="10000"/>
          </a:bodyPr>
          <a:lstStyle/>
          <a:p>
            <a:r>
              <a:rPr lang="en-US" dirty="0"/>
              <a:t>Although java is strongly typed java does provide a mechanism for compiler time typing.</a:t>
            </a:r>
          </a:p>
          <a:p>
            <a:pPr lvl="1"/>
            <a:r>
              <a:rPr lang="en-US" dirty="0"/>
              <a:t>Packaged as part of the 2018 the Java </a:t>
            </a:r>
            <a:r>
              <a:rPr lang="en-US" dirty="0">
                <a:solidFill>
                  <a:srgbClr val="FF0000"/>
                </a:solidFill>
              </a:rPr>
              <a:t>var</a:t>
            </a:r>
            <a:r>
              <a:rPr lang="en-US" dirty="0"/>
              <a:t> reserved word introduced type inference to the strongly typed Java programming language.</a:t>
            </a:r>
          </a:p>
          <a:p>
            <a:pPr lvl="1"/>
            <a:r>
              <a:rPr lang="en-US" dirty="0"/>
              <a:t>In the following var examples, the left-hand side of the assignment does not reference a Java types such as long, double or ArrayList. Instead, it uses the Java var reserved type name, which allows the JDK’s compiler to pick the appropriate type instead</a:t>
            </a:r>
          </a:p>
          <a:p>
            <a:pPr marL="27432" indent="0">
              <a:buNone/>
            </a:pPr>
            <a:r>
              <a:rPr lang="en-US" dirty="0"/>
              <a:t>var x = 5.5;       // double is inferred</a:t>
            </a:r>
          </a:p>
          <a:p>
            <a:pPr marL="27432" indent="0">
              <a:buNone/>
            </a:pPr>
            <a:r>
              <a:rPr lang="en-US" dirty="0"/>
              <a:t>var y = System.currentTimeMillis(); // long is inferred</a:t>
            </a:r>
          </a:p>
          <a:p>
            <a:pPr marL="27432" indent="0">
              <a:buNone/>
            </a:pPr>
            <a:r>
              <a:rPr lang="en-US" dirty="0"/>
              <a:t>var z = new ArrayList&lt;Double&gt;();    // ArrayList is inferred</a:t>
            </a:r>
          </a:p>
        </p:txBody>
      </p:sp>
      <p:sp>
        <p:nvSpPr>
          <p:cNvPr id="4" name="Slide Number Placeholder 3"/>
          <p:cNvSpPr>
            <a:spLocks noGrp="1"/>
          </p:cNvSpPr>
          <p:nvPr>
            <p:ph type="sldNum" sz="quarter" idx="12"/>
          </p:nvPr>
        </p:nvSpPr>
        <p:spPr/>
        <p:txBody>
          <a:bodyPr/>
          <a:lstStyle/>
          <a:p>
            <a:fld id="{13977939-A071-43C1-9268-F54CC2756BB5}" type="slidenum">
              <a:rPr lang="en-US" smtClean="0"/>
              <a:pPr/>
              <a:t>57</a:t>
            </a:fld>
            <a:endParaRPr lang="en-US" dirty="0"/>
          </a:p>
        </p:txBody>
      </p:sp>
    </p:spTree>
    <p:extLst>
      <p:ext uri="{BB962C8B-B14F-4D97-AF65-F5344CB8AC3E}">
        <p14:creationId xmlns:p14="http://schemas.microsoft.com/office/powerpoint/2010/main" val="6169182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704088"/>
          </a:xfrm>
        </p:spPr>
        <p:txBody>
          <a:bodyPr>
            <a:normAutofit/>
          </a:bodyPr>
          <a:lstStyle/>
          <a:p>
            <a:r>
              <a:rPr lang="en-US" sz="3200" b="1" dirty="0"/>
              <a:t>Why Have The var Reserved Type Name</a:t>
            </a:r>
          </a:p>
        </p:txBody>
      </p:sp>
      <p:sp>
        <p:nvSpPr>
          <p:cNvPr id="3" name="Content Placeholder 2"/>
          <p:cNvSpPr>
            <a:spLocks noGrp="1"/>
          </p:cNvSpPr>
          <p:nvPr>
            <p:ph idx="1"/>
          </p:nvPr>
        </p:nvSpPr>
        <p:spPr>
          <a:xfrm>
            <a:off x="457200" y="1447800"/>
            <a:ext cx="8229600" cy="5273675"/>
          </a:xfrm>
        </p:spPr>
        <p:txBody>
          <a:bodyPr>
            <a:normAutofit/>
          </a:bodyPr>
          <a:lstStyle/>
          <a:p>
            <a:r>
              <a:rPr lang="en-US" dirty="0"/>
              <a:t>Benefits include</a:t>
            </a:r>
          </a:p>
          <a:p>
            <a:pPr lvl="1"/>
            <a:r>
              <a:rPr lang="en-US" dirty="0"/>
              <a:t>A simplified syntax for method block logic.</a:t>
            </a:r>
          </a:p>
          <a:p>
            <a:pPr lvl="1"/>
            <a:r>
              <a:rPr lang="en-US" dirty="0"/>
              <a:t>A familiar syntax for JavaScript, Go, Rust and Pascal programmers.</a:t>
            </a:r>
          </a:p>
          <a:p>
            <a:pPr lvl="1"/>
            <a:r>
              <a:rPr lang="en-US" dirty="0"/>
              <a:t>Easier onboarding experience for developers new to Java.</a:t>
            </a:r>
          </a:p>
          <a:p>
            <a:pPr lvl="1"/>
            <a:r>
              <a:rPr lang="en-US" dirty="0"/>
              <a:t>Enhanced ease of development for methods and local blocks of code</a:t>
            </a:r>
          </a:p>
          <a:p>
            <a:r>
              <a:rPr lang="en-US" dirty="0"/>
              <a:t>While this mechanism is popular I still prefer that you type specifically</a:t>
            </a:r>
          </a:p>
          <a:p>
            <a:r>
              <a:rPr lang="en-US" dirty="0"/>
              <a:t>Note: While var is a reserved word, due to backward compatibility issues it is not a keyword, i.e.</a:t>
            </a:r>
          </a:p>
          <a:p>
            <a:pPr marL="365760" lvl="1" indent="0">
              <a:buNone/>
            </a:pPr>
            <a:r>
              <a:rPr lang="en-US" dirty="0"/>
              <a:t>var var = 3.7; works since var can be the name of a variable.</a:t>
            </a:r>
          </a:p>
        </p:txBody>
      </p:sp>
      <p:sp>
        <p:nvSpPr>
          <p:cNvPr id="4" name="Slide Number Placeholder 3"/>
          <p:cNvSpPr>
            <a:spLocks noGrp="1"/>
          </p:cNvSpPr>
          <p:nvPr>
            <p:ph type="sldNum" sz="quarter" idx="12"/>
          </p:nvPr>
        </p:nvSpPr>
        <p:spPr/>
        <p:txBody>
          <a:bodyPr/>
          <a:lstStyle/>
          <a:p>
            <a:fld id="{13977939-A071-43C1-9268-F54CC2756BB5}" type="slidenum">
              <a:rPr lang="en-US" smtClean="0"/>
              <a:pPr/>
              <a:t>58</a:t>
            </a:fld>
            <a:endParaRPr lang="en-US" dirty="0"/>
          </a:p>
        </p:txBody>
      </p:sp>
    </p:spTree>
    <p:extLst>
      <p:ext uri="{BB962C8B-B14F-4D97-AF65-F5344CB8AC3E}">
        <p14:creationId xmlns:p14="http://schemas.microsoft.com/office/powerpoint/2010/main" val="4191804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623753-1074-9041-AAD7-9BBFBD22E8AC}"/>
              </a:ext>
            </a:extLst>
          </p:cNvPr>
          <p:cNvSpPr>
            <a:spLocks noGrp="1"/>
          </p:cNvSpPr>
          <p:nvPr>
            <p:ph type="body" idx="1"/>
          </p:nvPr>
        </p:nvSpPr>
        <p:spPr/>
        <p:txBody>
          <a:bodyPr/>
          <a:lstStyle/>
          <a:p>
            <a:r>
              <a:rPr lang="en-US" dirty="0"/>
              <a:t>The ArrayList Is A Generic Class With A Type Parameter</a:t>
            </a:r>
          </a:p>
        </p:txBody>
      </p:sp>
      <p:sp>
        <p:nvSpPr>
          <p:cNvPr id="4" name="Slide Number Placeholder 3">
            <a:extLst>
              <a:ext uri="{FF2B5EF4-FFF2-40B4-BE49-F238E27FC236}">
                <a16:creationId xmlns:a16="http://schemas.microsoft.com/office/drawing/2014/main" id="{148495A8-9A7A-2946-A7A5-15048BE970CA}"/>
              </a:ext>
            </a:extLst>
          </p:cNvPr>
          <p:cNvSpPr>
            <a:spLocks noGrp="1"/>
          </p:cNvSpPr>
          <p:nvPr>
            <p:ph type="sldNum" sz="quarter" idx="12"/>
          </p:nvPr>
        </p:nvSpPr>
        <p:spPr/>
        <p:txBody>
          <a:bodyPr/>
          <a:lstStyle/>
          <a:p>
            <a:fld id="{13977939-A071-43C1-9268-F54CC2756BB5}" type="slidenum">
              <a:rPr lang="en-US" smtClean="0"/>
              <a:pPr/>
              <a:t>59</a:t>
            </a:fld>
            <a:endParaRPr lang="en-US" dirty="0"/>
          </a:p>
        </p:txBody>
      </p:sp>
    </p:spTree>
    <p:extLst>
      <p:ext uri="{BB962C8B-B14F-4D97-AF65-F5344CB8AC3E}">
        <p14:creationId xmlns:p14="http://schemas.microsoft.com/office/powerpoint/2010/main" val="23691876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4221-639E-154B-8D7E-AE70A78AE5B0}"/>
              </a:ext>
            </a:extLst>
          </p:cNvPr>
          <p:cNvSpPr>
            <a:spLocks noGrp="1"/>
          </p:cNvSpPr>
          <p:nvPr>
            <p:ph type="title"/>
          </p:nvPr>
        </p:nvSpPr>
        <p:spPr>
          <a:xfrm>
            <a:off x="457200" y="591312"/>
            <a:ext cx="8229600" cy="475488"/>
          </a:xfrm>
        </p:spPr>
        <p:txBody>
          <a:bodyPr>
            <a:noAutofit/>
          </a:bodyPr>
          <a:lstStyle/>
          <a:p>
            <a:r>
              <a:rPr lang="en-US" dirty="0"/>
              <a:t>Data Structure Selection And Implementation Are Critical To Good Program Design</a:t>
            </a:r>
          </a:p>
        </p:txBody>
      </p:sp>
      <p:sp>
        <p:nvSpPr>
          <p:cNvPr id="3" name="Content Placeholder 2">
            <a:extLst>
              <a:ext uri="{FF2B5EF4-FFF2-40B4-BE49-F238E27FC236}">
                <a16:creationId xmlns:a16="http://schemas.microsoft.com/office/drawing/2014/main" id="{AD4FE676-EF8E-3F47-BCF6-88B1847F337E}"/>
              </a:ext>
            </a:extLst>
          </p:cNvPr>
          <p:cNvSpPr>
            <a:spLocks noGrp="1"/>
          </p:cNvSpPr>
          <p:nvPr>
            <p:ph idx="1"/>
          </p:nvPr>
        </p:nvSpPr>
        <p:spPr>
          <a:xfrm>
            <a:off x="457200" y="1249680"/>
            <a:ext cx="8229600" cy="5303520"/>
          </a:xfrm>
        </p:spPr>
        <p:txBody>
          <a:bodyPr>
            <a:normAutofit fontScale="85000" lnSpcReduction="20000"/>
          </a:bodyPr>
          <a:lstStyle/>
          <a:p>
            <a:r>
              <a:rPr lang="en-US" dirty="0"/>
              <a:t>A data structure is a collection of data together with a well-defined set of operations for storing, retrieving, managing, and manipulating the data.</a:t>
            </a:r>
          </a:p>
          <a:p>
            <a:pPr lvl="1"/>
            <a:r>
              <a:rPr lang="en-US" dirty="0"/>
              <a:t>An array is a data structure containing a collection of elements of the same type and with operations for storing and retrieving individual elements. </a:t>
            </a:r>
          </a:p>
          <a:p>
            <a:pPr lvl="1"/>
            <a:r>
              <a:rPr lang="en-US" dirty="0"/>
              <a:t>A file is also a data structure.</a:t>
            </a:r>
          </a:p>
          <a:p>
            <a:pPr lvl="1"/>
            <a:r>
              <a:rPr lang="en-US" dirty="0"/>
              <a:t>There are dozens of data structures and we will be studying a number of them throughout this course</a:t>
            </a:r>
          </a:p>
          <a:p>
            <a:pPr lvl="1"/>
            <a:r>
              <a:rPr lang="en-US" dirty="0"/>
              <a:t>We begin with a review of the ArrayList because you are already familiar with it</a:t>
            </a:r>
          </a:p>
          <a:p>
            <a:r>
              <a:rPr lang="en-US" dirty="0"/>
              <a:t>Every data structure entails an implementation. </a:t>
            </a:r>
          </a:p>
          <a:p>
            <a:pPr lvl="1"/>
            <a:r>
              <a:rPr lang="en-US" dirty="0"/>
              <a:t>An implementation of a data structure consists of an underlying storage structure along with appropriate methods that manipulate the data.</a:t>
            </a:r>
          </a:p>
          <a:p>
            <a:pPr lvl="1"/>
            <a:r>
              <a:rPr lang="en-US" dirty="0"/>
              <a:t>Much of programming, and in particular object-oriented programming, consists of selecting or designing the appropriate data structures and building models based on them</a:t>
            </a:r>
          </a:p>
        </p:txBody>
      </p:sp>
      <p:sp>
        <p:nvSpPr>
          <p:cNvPr id="4" name="Slide Number Placeholder 3">
            <a:extLst>
              <a:ext uri="{FF2B5EF4-FFF2-40B4-BE49-F238E27FC236}">
                <a16:creationId xmlns:a16="http://schemas.microsoft.com/office/drawing/2014/main" id="{56AC1D29-9601-444D-AF6F-F07933D7645E}"/>
              </a:ext>
            </a:extLst>
          </p:cNvPr>
          <p:cNvSpPr>
            <a:spLocks noGrp="1"/>
          </p:cNvSpPr>
          <p:nvPr>
            <p:ph type="sldNum" sz="quarter" idx="12"/>
          </p:nvPr>
        </p:nvSpPr>
        <p:spPr/>
        <p:txBody>
          <a:bodyPr/>
          <a:lstStyle/>
          <a:p>
            <a:fld id="{13977939-A071-43C1-9268-F54CC2756BB5}" type="slidenum">
              <a:rPr lang="en-US" smtClean="0"/>
              <a:pPr/>
              <a:t>60</a:t>
            </a:fld>
            <a:endParaRPr lang="en-US" dirty="0"/>
          </a:p>
        </p:txBody>
      </p:sp>
    </p:spTree>
    <p:extLst>
      <p:ext uri="{BB962C8B-B14F-4D97-AF65-F5344CB8AC3E}">
        <p14:creationId xmlns:p14="http://schemas.microsoft.com/office/powerpoint/2010/main" val="7549810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DFCE7-67EB-C449-ADA9-EE82091701BA}"/>
              </a:ext>
            </a:extLst>
          </p:cNvPr>
          <p:cNvSpPr>
            <a:spLocks noGrp="1"/>
          </p:cNvSpPr>
          <p:nvPr>
            <p:ph type="title"/>
          </p:nvPr>
        </p:nvSpPr>
        <p:spPr/>
        <p:txBody>
          <a:bodyPr>
            <a:noAutofit/>
          </a:bodyPr>
          <a:lstStyle/>
          <a:p>
            <a:r>
              <a:rPr lang="en-US" dirty="0"/>
              <a:t>Arrays and The ArrayList – Simple Definitions (1)</a:t>
            </a:r>
          </a:p>
        </p:txBody>
      </p:sp>
      <p:sp>
        <p:nvSpPr>
          <p:cNvPr id="3" name="Content Placeholder 2">
            <a:extLst>
              <a:ext uri="{FF2B5EF4-FFF2-40B4-BE49-F238E27FC236}">
                <a16:creationId xmlns:a16="http://schemas.microsoft.com/office/drawing/2014/main" id="{2A6EC6F3-378B-F94D-A5E8-4169374D7642}"/>
              </a:ext>
            </a:extLst>
          </p:cNvPr>
          <p:cNvSpPr>
            <a:spLocks noGrp="1"/>
          </p:cNvSpPr>
          <p:nvPr>
            <p:ph idx="1"/>
          </p:nvPr>
        </p:nvSpPr>
        <p:spPr>
          <a:xfrm>
            <a:off x="152400" y="1249680"/>
            <a:ext cx="8610600" cy="5303520"/>
          </a:xfrm>
        </p:spPr>
        <p:txBody>
          <a:bodyPr>
            <a:normAutofit fontScale="92500" lnSpcReduction="10000"/>
          </a:bodyPr>
          <a:lstStyle/>
          <a:p>
            <a:r>
              <a:rPr lang="en-US" dirty="0"/>
              <a:t>An array holds an indexed, </a:t>
            </a:r>
            <a:r>
              <a:rPr lang="en-US" dirty="0">
                <a:solidFill>
                  <a:srgbClr val="FF0000"/>
                </a:solidFill>
              </a:rPr>
              <a:t>contiguous</a:t>
            </a:r>
            <a:r>
              <a:rPr lang="en-US" dirty="0"/>
              <a:t> collection of data of a single type.  </a:t>
            </a:r>
          </a:p>
          <a:p>
            <a:pPr lvl="1"/>
            <a:r>
              <a:rPr lang="en-US" dirty="0"/>
              <a:t>The data type can be a primitive type or a reference type.</a:t>
            </a:r>
          </a:p>
          <a:p>
            <a:pPr lvl="2"/>
            <a:r>
              <a:rPr lang="en-US" dirty="0"/>
              <a:t>A reference type contains references of that type to specific objects</a:t>
            </a:r>
          </a:p>
          <a:p>
            <a:pPr lvl="1"/>
            <a:r>
              <a:rPr lang="en-US" dirty="0"/>
              <a:t>Once an array is created the length (number of cells) can’t be changed</a:t>
            </a:r>
          </a:p>
          <a:p>
            <a:pPr lvl="1"/>
            <a:r>
              <a:rPr lang="en-US" dirty="0"/>
              <a:t>An array always has all its cells initialized to 0, 0.0, false or the null character for primitives, or the null reference value</a:t>
            </a:r>
          </a:p>
          <a:p>
            <a:pPr lvl="1"/>
            <a:r>
              <a:rPr lang="en-US" dirty="0"/>
              <a:t>Class Arrays contains various methods for manipulating arrays (such as sorting and searching). </a:t>
            </a:r>
          </a:p>
          <a:p>
            <a:pPr lvl="1"/>
            <a:r>
              <a:rPr lang="en-US" dirty="0"/>
              <a:t>This class also contains a static factory method asList that allows arrays to be viewed as lists. (To be discussed in lesson 8)</a:t>
            </a:r>
          </a:p>
          <a:p>
            <a:pPr lvl="1"/>
            <a:r>
              <a:rPr lang="en-US" dirty="0"/>
              <a:t>See https://docs.oracle.com/en/java/javase/21/docs/api/java.base/java/util/Arrays.html</a:t>
            </a:r>
          </a:p>
        </p:txBody>
      </p:sp>
      <p:sp>
        <p:nvSpPr>
          <p:cNvPr id="4" name="Slide Number Placeholder 3">
            <a:extLst>
              <a:ext uri="{FF2B5EF4-FFF2-40B4-BE49-F238E27FC236}">
                <a16:creationId xmlns:a16="http://schemas.microsoft.com/office/drawing/2014/main" id="{B515FB03-8686-5841-A3DF-E523A3E91C45}"/>
              </a:ext>
            </a:extLst>
          </p:cNvPr>
          <p:cNvSpPr>
            <a:spLocks noGrp="1"/>
          </p:cNvSpPr>
          <p:nvPr>
            <p:ph type="sldNum" sz="quarter" idx="12"/>
          </p:nvPr>
        </p:nvSpPr>
        <p:spPr/>
        <p:txBody>
          <a:bodyPr/>
          <a:lstStyle/>
          <a:p>
            <a:fld id="{13977939-A071-43C1-9268-F54CC2756BB5}" type="slidenum">
              <a:rPr lang="en-US" smtClean="0"/>
              <a:pPr/>
              <a:t>61</a:t>
            </a:fld>
            <a:endParaRPr lang="en-US" dirty="0"/>
          </a:p>
        </p:txBody>
      </p:sp>
    </p:spTree>
    <p:extLst>
      <p:ext uri="{BB962C8B-B14F-4D97-AF65-F5344CB8AC3E}">
        <p14:creationId xmlns:p14="http://schemas.microsoft.com/office/powerpoint/2010/main" val="9096174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DFCE7-67EB-C449-ADA9-EE82091701BA}"/>
              </a:ext>
            </a:extLst>
          </p:cNvPr>
          <p:cNvSpPr>
            <a:spLocks noGrp="1"/>
          </p:cNvSpPr>
          <p:nvPr>
            <p:ph type="title"/>
          </p:nvPr>
        </p:nvSpPr>
        <p:spPr>
          <a:xfrm>
            <a:off x="457200" y="228600"/>
            <a:ext cx="8229600" cy="475488"/>
          </a:xfrm>
        </p:spPr>
        <p:txBody>
          <a:bodyPr>
            <a:noAutofit/>
          </a:bodyPr>
          <a:lstStyle/>
          <a:p>
            <a:r>
              <a:rPr lang="en-US" dirty="0"/>
              <a:t>Arrays and The ArrayList – Simple Definitions (2)</a:t>
            </a:r>
          </a:p>
        </p:txBody>
      </p:sp>
      <p:sp>
        <p:nvSpPr>
          <p:cNvPr id="3" name="Content Placeholder 2">
            <a:extLst>
              <a:ext uri="{FF2B5EF4-FFF2-40B4-BE49-F238E27FC236}">
                <a16:creationId xmlns:a16="http://schemas.microsoft.com/office/drawing/2014/main" id="{2A6EC6F3-378B-F94D-A5E8-4169374D7642}"/>
              </a:ext>
            </a:extLst>
          </p:cNvPr>
          <p:cNvSpPr>
            <a:spLocks noGrp="1"/>
          </p:cNvSpPr>
          <p:nvPr>
            <p:ph idx="1"/>
          </p:nvPr>
        </p:nvSpPr>
        <p:spPr>
          <a:xfrm>
            <a:off x="76200" y="762000"/>
            <a:ext cx="8763000" cy="6096002"/>
          </a:xfrm>
        </p:spPr>
        <p:txBody>
          <a:bodyPr>
            <a:normAutofit fontScale="77500" lnSpcReduction="20000"/>
          </a:bodyPr>
          <a:lstStyle/>
          <a:p>
            <a:r>
              <a:rPr lang="en-US" dirty="0"/>
              <a:t>An ArrayList object is an indexed list of references to objects of a particular type, or subtypes of that type</a:t>
            </a:r>
          </a:p>
          <a:p>
            <a:pPr lvl="1"/>
            <a:r>
              <a:rPr lang="en-US" dirty="0"/>
              <a:t>It can only contain </a:t>
            </a:r>
            <a:r>
              <a:rPr lang="en-US" dirty="0">
                <a:solidFill>
                  <a:srgbClr val="FF0000"/>
                </a:solidFill>
              </a:rPr>
              <a:t>references</a:t>
            </a:r>
            <a:r>
              <a:rPr lang="en-US" dirty="0"/>
              <a:t> to objects, not primitive values</a:t>
            </a:r>
          </a:p>
          <a:p>
            <a:pPr lvl="2"/>
            <a:r>
              <a:rPr lang="en-US" dirty="0"/>
              <a:t>The individual objects may be stored elsewhere</a:t>
            </a:r>
          </a:p>
          <a:p>
            <a:pPr lvl="1"/>
            <a:r>
              <a:rPr lang="en-US" dirty="0"/>
              <a:t>All references must be to a single type, or subtype of the type used to instantiate the ArrayList</a:t>
            </a:r>
          </a:p>
          <a:p>
            <a:pPr lvl="2"/>
            <a:r>
              <a:rPr lang="en-US" dirty="0"/>
              <a:t>Autoboxing obviates that problem of storing primitive values in an ArrayList (or any other generic structure as we will see shortly)</a:t>
            </a:r>
          </a:p>
          <a:p>
            <a:pPr lvl="1"/>
            <a:r>
              <a:rPr lang="en-US" dirty="0"/>
              <a:t>An ArrayList can grow as the number of data references increases – it can resize itself, unlike an array. – at least until memory runs out</a:t>
            </a:r>
          </a:p>
          <a:p>
            <a:pPr lvl="1"/>
            <a:r>
              <a:rPr lang="en-US" dirty="0"/>
              <a:t>While an ArrayList can grow or shrink, no elements are initialized.  Its initial size is zero until populated with elements</a:t>
            </a:r>
          </a:p>
          <a:p>
            <a:pPr lvl="1"/>
            <a:r>
              <a:rPr lang="en-US" dirty="0"/>
              <a:t>You can also easily insert elements into an ArrayList</a:t>
            </a:r>
          </a:p>
          <a:p>
            <a:r>
              <a:rPr lang="en-US" dirty="0"/>
              <a:t>The JVM reserves for it a contiguous part of memory. When we are adding new elements into our list, when number of elements reaches 75% of SIZE it reserves a new, contiguous part of memory and copies all of the elements.</a:t>
            </a:r>
          </a:p>
          <a:p>
            <a:r>
              <a:rPr lang="en-US" dirty="0"/>
              <a:t>As we will discuss in Collections, an ArrayList implements the List interface. </a:t>
            </a:r>
          </a:p>
          <a:p>
            <a:pPr lvl="1"/>
            <a:r>
              <a:rPr lang="en-US" dirty="0"/>
              <a:t>It is a Collection and can utilize many of the Collections class static methods</a:t>
            </a:r>
          </a:p>
          <a:p>
            <a:pPr lvl="1"/>
            <a:r>
              <a:rPr lang="en-US" dirty="0"/>
              <a:t>At that time we will also compare the ArrayList with a LinkedList</a:t>
            </a:r>
          </a:p>
          <a:p>
            <a:r>
              <a:rPr lang="en-US" dirty="0"/>
              <a:t>See: </a:t>
            </a:r>
            <a:r>
              <a:rPr lang="en-US" sz="2100" dirty="0">
                <a:solidFill>
                  <a:srgbClr val="FF0000"/>
                </a:solidFill>
              </a:rPr>
              <a:t>https://docs.oracle.com/en/java/javase/21/docs/api/java.base/java/util/</a:t>
            </a:r>
            <a:r>
              <a:rPr lang="en-US" sz="2100" dirty="0" err="1">
                <a:solidFill>
                  <a:srgbClr val="FF0000"/>
                </a:solidFill>
              </a:rPr>
              <a:t>ArrayList.html</a:t>
            </a:r>
            <a:endParaRPr lang="en-US" sz="2100" dirty="0">
              <a:solidFill>
                <a:srgbClr val="FF0000"/>
              </a:solidFill>
            </a:endParaRPr>
          </a:p>
        </p:txBody>
      </p:sp>
      <p:sp>
        <p:nvSpPr>
          <p:cNvPr id="4" name="Slide Number Placeholder 3">
            <a:extLst>
              <a:ext uri="{FF2B5EF4-FFF2-40B4-BE49-F238E27FC236}">
                <a16:creationId xmlns:a16="http://schemas.microsoft.com/office/drawing/2014/main" id="{B515FB03-8686-5841-A3DF-E523A3E91C45}"/>
              </a:ext>
            </a:extLst>
          </p:cNvPr>
          <p:cNvSpPr>
            <a:spLocks noGrp="1"/>
          </p:cNvSpPr>
          <p:nvPr>
            <p:ph type="sldNum" sz="quarter" idx="12"/>
          </p:nvPr>
        </p:nvSpPr>
        <p:spPr/>
        <p:txBody>
          <a:bodyPr/>
          <a:lstStyle/>
          <a:p>
            <a:fld id="{13977939-A071-43C1-9268-F54CC2756BB5}" type="slidenum">
              <a:rPr lang="en-US" smtClean="0"/>
              <a:pPr/>
              <a:t>62</a:t>
            </a:fld>
            <a:endParaRPr lang="en-US" dirty="0"/>
          </a:p>
        </p:txBody>
      </p:sp>
    </p:spTree>
    <p:extLst>
      <p:ext uri="{BB962C8B-B14F-4D97-AF65-F5344CB8AC3E}">
        <p14:creationId xmlns:p14="http://schemas.microsoft.com/office/powerpoint/2010/main" val="29516876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453D-50CF-A44E-914D-141AF037B5B8}"/>
              </a:ext>
            </a:extLst>
          </p:cNvPr>
          <p:cNvSpPr>
            <a:spLocks noGrp="1"/>
          </p:cNvSpPr>
          <p:nvPr>
            <p:ph type="title"/>
          </p:nvPr>
        </p:nvSpPr>
        <p:spPr>
          <a:xfrm>
            <a:off x="457200" y="76200"/>
            <a:ext cx="8229600" cy="475488"/>
          </a:xfrm>
        </p:spPr>
        <p:txBody>
          <a:bodyPr>
            <a:noAutofit/>
          </a:bodyPr>
          <a:lstStyle/>
          <a:p>
            <a:r>
              <a:rPr lang="en-US" dirty="0"/>
              <a:t>A Simple Example Of The ArrayList</a:t>
            </a:r>
          </a:p>
        </p:txBody>
      </p:sp>
      <p:sp>
        <p:nvSpPr>
          <p:cNvPr id="3" name="Content Placeholder 2">
            <a:extLst>
              <a:ext uri="{FF2B5EF4-FFF2-40B4-BE49-F238E27FC236}">
                <a16:creationId xmlns:a16="http://schemas.microsoft.com/office/drawing/2014/main" id="{4117A69C-4BC9-7244-B63C-0C2D6E9906DA}"/>
              </a:ext>
            </a:extLst>
          </p:cNvPr>
          <p:cNvSpPr>
            <a:spLocks noGrp="1"/>
          </p:cNvSpPr>
          <p:nvPr>
            <p:ph idx="1"/>
          </p:nvPr>
        </p:nvSpPr>
        <p:spPr>
          <a:xfrm>
            <a:off x="457200" y="551688"/>
            <a:ext cx="8229600" cy="6306311"/>
          </a:xfrm>
        </p:spPr>
        <p:txBody>
          <a:bodyPr>
            <a:normAutofit fontScale="70000" lnSpcReduction="20000"/>
          </a:bodyPr>
          <a:lstStyle/>
          <a:p>
            <a:pPr marL="0" indent="0">
              <a:buNone/>
            </a:pPr>
            <a:r>
              <a:rPr lang="en-US" dirty="0"/>
              <a:t>Look at </a:t>
            </a:r>
            <a:r>
              <a:rPr lang="en-US" dirty="0">
                <a:solidFill>
                  <a:srgbClr val="FF0000"/>
                </a:solidFill>
              </a:rPr>
              <a:t>ArrayListExample1.java</a:t>
            </a:r>
          </a:p>
          <a:p>
            <a:r>
              <a:rPr lang="en-US" dirty="0"/>
              <a:t>The example program creates an ArrayList that holds String references and then adds references to three Strings. </a:t>
            </a:r>
          </a:p>
          <a:p>
            <a:pPr lvl="1"/>
            <a:r>
              <a:rPr lang="en-US" dirty="0"/>
              <a:t>The statement</a:t>
            </a:r>
          </a:p>
          <a:p>
            <a:pPr marL="365760" lvl="1" indent="0">
              <a:buNone/>
            </a:pPr>
            <a:r>
              <a:rPr lang="en-US" dirty="0"/>
              <a:t>     ArrayList&lt;String&gt; names = new ArrayList&lt;String&gt;();</a:t>
            </a:r>
          </a:p>
          <a:p>
            <a:pPr marL="365760" lvl="1" indent="0">
              <a:buNone/>
            </a:pPr>
            <a:r>
              <a:rPr lang="en-US" dirty="0"/>
              <a:t>creates an ArrayList of String references. </a:t>
            </a:r>
          </a:p>
          <a:p>
            <a:pPr lvl="1"/>
            <a:r>
              <a:rPr lang="en-US" dirty="0"/>
              <a:t>The phrase &lt;String&gt; can be read as "of String references”</a:t>
            </a:r>
          </a:p>
          <a:p>
            <a:pPr lvl="1"/>
            <a:r>
              <a:rPr lang="en-US" dirty="0"/>
              <a:t>Note that there are "angle (sometimes called diamond&gt; brackets" on each side of &lt;String&gt;.</a:t>
            </a:r>
          </a:p>
          <a:p>
            <a:pPr lvl="1"/>
            <a:r>
              <a:rPr lang="en-US" dirty="0"/>
              <a:t>You can also </a:t>
            </a:r>
            <a:r>
              <a:rPr lang="en-US" dirty="0">
                <a:solidFill>
                  <a:srgbClr val="FF0000"/>
                </a:solidFill>
              </a:rPr>
              <a:t>infer</a:t>
            </a:r>
            <a:r>
              <a:rPr lang="en-US" dirty="0"/>
              <a:t> a type: ArrayList&lt;String&gt; names = new ArrayList&lt;&gt;();</a:t>
            </a:r>
          </a:p>
          <a:p>
            <a:r>
              <a:rPr lang="en-US" dirty="0"/>
              <a:t>Examples:</a:t>
            </a:r>
          </a:p>
          <a:p>
            <a:pPr lvl="1"/>
            <a:r>
              <a:rPr lang="en-US" dirty="0"/>
              <a:t>ArrayList&lt;Student&gt; students = new ArrayList&lt;Student&gt;();//default constructor</a:t>
            </a:r>
          </a:p>
          <a:p>
            <a:pPr lvl="1"/>
            <a:r>
              <a:rPr lang="en-US" dirty="0"/>
              <a:t>ArrayList&lt;String&gt; strings = new ArrayList&lt;String&gt;(50); //creates an initial capacity of 50 cells</a:t>
            </a:r>
          </a:p>
          <a:p>
            <a:pPr lvl="1"/>
            <a:r>
              <a:rPr lang="en-US" dirty="0"/>
              <a:t>ArrayList&lt;Integer&gt; numbers = new ArrayList&lt;&gt;();</a:t>
            </a:r>
          </a:p>
          <a:p>
            <a:r>
              <a:rPr lang="en-US" dirty="0"/>
              <a:t>The phrase ArrayList&lt;String&gt; describes both the type of the object that is constructed (an ArrayList) and the type of data it will hold (references to String).</a:t>
            </a:r>
          </a:p>
          <a:p>
            <a:r>
              <a:rPr lang="en-US" dirty="0"/>
              <a:t>The alName.get( int index) method returns the reference in the cell at index</a:t>
            </a:r>
          </a:p>
          <a:p>
            <a:pPr lvl="1"/>
            <a:r>
              <a:rPr lang="en-US" dirty="0"/>
              <a:t>If the cell is empty, an IndexOutOfBoundsException will be thrown and the program will halt (unless there is code to handle the exception)</a:t>
            </a:r>
          </a:p>
          <a:p>
            <a:pPr lvl="1"/>
            <a:r>
              <a:rPr lang="en-US" dirty="0"/>
              <a:t>Unlike an array, cells don’t automatically default to the null value as the size is the number of explicitly added – explicitly removed elements</a:t>
            </a:r>
          </a:p>
          <a:p>
            <a:pPr lvl="1"/>
            <a:r>
              <a:rPr lang="en-US" dirty="0"/>
              <a:t>While you can enter a null into an ArrayList, it can only be inserted somewhere from 0 to its size -1 or at the the end</a:t>
            </a:r>
          </a:p>
        </p:txBody>
      </p:sp>
      <p:sp>
        <p:nvSpPr>
          <p:cNvPr id="4" name="Slide Number Placeholder 3">
            <a:extLst>
              <a:ext uri="{FF2B5EF4-FFF2-40B4-BE49-F238E27FC236}">
                <a16:creationId xmlns:a16="http://schemas.microsoft.com/office/drawing/2014/main" id="{F266E8E4-B04E-6447-A560-DE76E6E645E5}"/>
              </a:ext>
            </a:extLst>
          </p:cNvPr>
          <p:cNvSpPr>
            <a:spLocks noGrp="1"/>
          </p:cNvSpPr>
          <p:nvPr>
            <p:ph type="sldNum" sz="quarter" idx="12"/>
          </p:nvPr>
        </p:nvSpPr>
        <p:spPr/>
        <p:txBody>
          <a:bodyPr/>
          <a:lstStyle/>
          <a:p>
            <a:fld id="{13977939-A071-43C1-9268-F54CC2756BB5}" type="slidenum">
              <a:rPr lang="en-US" smtClean="0"/>
              <a:pPr/>
              <a:t>63</a:t>
            </a:fld>
            <a:endParaRPr lang="en-US" dirty="0"/>
          </a:p>
        </p:txBody>
      </p:sp>
    </p:spTree>
    <p:extLst>
      <p:ext uri="{BB962C8B-B14F-4D97-AF65-F5344CB8AC3E}">
        <p14:creationId xmlns:p14="http://schemas.microsoft.com/office/powerpoint/2010/main" val="21882871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495" y="582382"/>
            <a:ext cx="8305800" cy="551688"/>
          </a:xfrm>
        </p:spPr>
        <p:txBody>
          <a:bodyPr>
            <a:noAutofit/>
          </a:bodyPr>
          <a:lstStyle/>
          <a:p>
            <a:r>
              <a:rPr lang="en-US" sz="3200" b="1" dirty="0"/>
              <a:t>Picturing Instantiation Of An ArrayList of String Objects</a:t>
            </a:r>
          </a:p>
        </p:txBody>
      </p:sp>
      <p:sp>
        <p:nvSpPr>
          <p:cNvPr id="3" name="Slide Number Placeholder 2"/>
          <p:cNvSpPr>
            <a:spLocks noGrp="1"/>
          </p:cNvSpPr>
          <p:nvPr>
            <p:ph type="sldNum" sz="quarter" idx="12"/>
          </p:nvPr>
        </p:nvSpPr>
        <p:spPr/>
        <p:txBody>
          <a:bodyPr/>
          <a:lstStyle/>
          <a:p>
            <a:fld id="{13977939-A071-43C1-9268-F54CC2756BB5}" type="slidenum">
              <a:rPr lang="en-US" smtClean="0"/>
              <a:pPr/>
              <a:t>64</a:t>
            </a:fld>
            <a:endParaRPr lang="en-US" dirty="0"/>
          </a:p>
        </p:txBody>
      </p:sp>
      <p:sp>
        <p:nvSpPr>
          <p:cNvPr id="5" name="TextBox 4"/>
          <p:cNvSpPr txBox="1"/>
          <p:nvPr/>
        </p:nvSpPr>
        <p:spPr>
          <a:xfrm>
            <a:off x="502920" y="1665887"/>
            <a:ext cx="833769" cy="369332"/>
          </a:xfrm>
          <a:prstGeom prst="rect">
            <a:avLst/>
          </a:prstGeom>
          <a:noFill/>
        </p:spPr>
        <p:txBody>
          <a:bodyPr wrap="none" rtlCol="0">
            <a:spAutoFit/>
          </a:bodyPr>
          <a:lstStyle/>
          <a:p>
            <a:r>
              <a:rPr lang="en-US" dirty="0"/>
              <a:t>names</a:t>
            </a:r>
          </a:p>
        </p:txBody>
      </p:sp>
      <p:sp>
        <p:nvSpPr>
          <p:cNvPr id="7" name="Curved Down Arrow 6"/>
          <p:cNvSpPr/>
          <p:nvPr/>
        </p:nvSpPr>
        <p:spPr>
          <a:xfrm rot="967477">
            <a:off x="1125482" y="1584644"/>
            <a:ext cx="533400" cy="228600"/>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tx1"/>
              </a:solidFill>
            </a:endParaRPr>
          </a:p>
        </p:txBody>
      </p:sp>
      <p:sp>
        <p:nvSpPr>
          <p:cNvPr id="9" name="Right Arrow 8"/>
          <p:cNvSpPr/>
          <p:nvPr/>
        </p:nvSpPr>
        <p:spPr>
          <a:xfrm rot="20840471">
            <a:off x="2268245" y="2410439"/>
            <a:ext cx="3247027" cy="19811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ight Arrow 9"/>
          <p:cNvSpPr/>
          <p:nvPr/>
        </p:nvSpPr>
        <p:spPr>
          <a:xfrm rot="21243396">
            <a:off x="2286000" y="3051601"/>
            <a:ext cx="1828800" cy="19811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 name="TextBox 11"/>
          <p:cNvSpPr txBox="1"/>
          <p:nvPr/>
        </p:nvSpPr>
        <p:spPr>
          <a:xfrm>
            <a:off x="990600" y="5629870"/>
            <a:ext cx="6858000" cy="923330"/>
          </a:xfrm>
          <a:prstGeom prst="rect">
            <a:avLst/>
          </a:prstGeom>
          <a:noFill/>
        </p:spPr>
        <p:txBody>
          <a:bodyPr wrap="square" rtlCol="0">
            <a:spAutoFit/>
          </a:bodyPr>
          <a:lstStyle/>
          <a:p>
            <a:r>
              <a:rPr lang="en-US" dirty="0"/>
              <a:t>names[0] through names[2] are reference variables, each of which </a:t>
            </a:r>
          </a:p>
          <a:p>
            <a:r>
              <a:rPr lang="en-US" dirty="0"/>
              <a:t>refers to a String </a:t>
            </a:r>
            <a:r>
              <a:rPr lang="mr-IN" dirty="0"/>
              <a:t>–</a:t>
            </a:r>
            <a:r>
              <a:rPr lang="en-US" dirty="0"/>
              <a:t> The methods of each of the String variables are String methods, while the methods of names are ArrayList methods</a:t>
            </a:r>
          </a:p>
        </p:txBody>
      </p:sp>
      <p:graphicFrame>
        <p:nvGraphicFramePr>
          <p:cNvPr id="13" name="Content Placeholder 4"/>
          <p:cNvGraphicFramePr>
            <a:graphicFrameLocks/>
          </p:cNvGraphicFramePr>
          <p:nvPr/>
        </p:nvGraphicFramePr>
        <p:xfrm>
          <a:off x="3352799" y="1134070"/>
          <a:ext cx="1066801" cy="1300480"/>
        </p:xfrm>
        <a:graphic>
          <a:graphicData uri="http://schemas.openxmlformats.org/drawingml/2006/table">
            <a:tbl>
              <a:tblPr firstRow="1" bandRow="1">
                <a:tableStyleId>{5C22544A-7EE6-4342-B048-85BDC9FD1C3A}</a:tableStyleId>
              </a:tblPr>
              <a:tblGrid>
                <a:gridCol w="1066801">
                  <a:extLst>
                    <a:ext uri="{9D8B030D-6E8A-4147-A177-3AD203B41FA5}">
                      <a16:colId xmlns:a16="http://schemas.microsoft.com/office/drawing/2014/main" val="20000"/>
                    </a:ext>
                  </a:extLst>
                </a:gridCol>
              </a:tblGrid>
              <a:tr h="294640">
                <a:tc>
                  <a:txBody>
                    <a:bodyPr/>
                    <a:lstStyle/>
                    <a:p>
                      <a:r>
                        <a:rPr lang="en-US" sz="1000" dirty="0"/>
                        <a:t>“Amy”</a:t>
                      </a:r>
                    </a:p>
                  </a:txBody>
                  <a:tcPr/>
                </a:tc>
                <a:extLst>
                  <a:ext uri="{0D108BD9-81ED-4DB2-BD59-A6C34878D82A}">
                    <a16:rowId xmlns:a16="http://schemas.microsoft.com/office/drawing/2014/main" val="10000"/>
                  </a:ext>
                </a:extLst>
              </a:tr>
              <a:tr h="370840">
                <a:tc>
                  <a:txBody>
                    <a:bodyPr/>
                    <a:lstStyle/>
                    <a:p>
                      <a:r>
                        <a:rPr lang="en-US" sz="1000" u="sng" dirty="0"/>
                        <a:t>String methods</a:t>
                      </a:r>
                    </a:p>
                    <a:p>
                      <a:r>
                        <a:rPr lang="en-US" sz="1000" dirty="0"/>
                        <a:t>method1</a:t>
                      </a:r>
                    </a:p>
                    <a:p>
                      <a:r>
                        <a:rPr lang="en-US" sz="1000" dirty="0"/>
                        <a:t>method2</a:t>
                      </a:r>
                    </a:p>
                    <a:p>
                      <a:r>
                        <a:rPr lang="en-US" sz="1000" dirty="0"/>
                        <a:t>       o</a:t>
                      </a:r>
                    </a:p>
                    <a:p>
                      <a:r>
                        <a:rPr lang="en-US" sz="1000" dirty="0"/>
                        <a:t>       o</a:t>
                      </a:r>
                    </a:p>
                    <a:p>
                      <a:r>
                        <a:rPr lang="en-US" sz="1000" dirty="0"/>
                        <a:t>       o</a:t>
                      </a:r>
                    </a:p>
                  </a:txBody>
                  <a:tcPr/>
                </a:tc>
                <a:extLst>
                  <a:ext uri="{0D108BD9-81ED-4DB2-BD59-A6C34878D82A}">
                    <a16:rowId xmlns:a16="http://schemas.microsoft.com/office/drawing/2014/main" val="10001"/>
                  </a:ext>
                </a:extLst>
              </a:tr>
            </a:tbl>
          </a:graphicData>
        </a:graphic>
      </p:graphicFrame>
      <p:sp>
        <p:nvSpPr>
          <p:cNvPr id="14" name="Right Arrow 13"/>
          <p:cNvSpPr/>
          <p:nvPr/>
        </p:nvSpPr>
        <p:spPr>
          <a:xfrm rot="18819214">
            <a:off x="2047696" y="1822119"/>
            <a:ext cx="1509677" cy="19811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aphicFrame>
        <p:nvGraphicFramePr>
          <p:cNvPr id="15" name="Content Placeholder 4"/>
          <p:cNvGraphicFramePr>
            <a:graphicFrameLocks/>
          </p:cNvGraphicFramePr>
          <p:nvPr/>
        </p:nvGraphicFramePr>
        <p:xfrm>
          <a:off x="5486400" y="2048470"/>
          <a:ext cx="1154115" cy="1249680"/>
        </p:xfrm>
        <a:graphic>
          <a:graphicData uri="http://schemas.openxmlformats.org/drawingml/2006/table">
            <a:tbl>
              <a:tblPr firstRow="1" bandRow="1">
                <a:tableStyleId>{5C22544A-7EE6-4342-B048-85BDC9FD1C3A}</a:tableStyleId>
              </a:tblPr>
              <a:tblGrid>
                <a:gridCol w="1154115">
                  <a:extLst>
                    <a:ext uri="{9D8B030D-6E8A-4147-A177-3AD203B41FA5}">
                      <a16:colId xmlns:a16="http://schemas.microsoft.com/office/drawing/2014/main" val="20000"/>
                    </a:ext>
                  </a:extLst>
                </a:gridCol>
              </a:tblGrid>
              <a:tr h="218440">
                <a:tc>
                  <a:txBody>
                    <a:bodyPr/>
                    <a:lstStyle/>
                    <a:p>
                      <a:r>
                        <a:rPr lang="en-US" sz="1000" dirty="0"/>
                        <a:t>“Bob”</a:t>
                      </a:r>
                    </a:p>
                  </a:txBody>
                  <a:tcPr/>
                </a:tc>
                <a:extLst>
                  <a:ext uri="{0D108BD9-81ED-4DB2-BD59-A6C34878D82A}">
                    <a16:rowId xmlns:a16="http://schemas.microsoft.com/office/drawing/2014/main" val="10000"/>
                  </a:ext>
                </a:extLst>
              </a:tr>
              <a:tr h="370840">
                <a:tc>
                  <a:txBody>
                    <a:bodyPr/>
                    <a:lstStyle/>
                    <a:p>
                      <a:r>
                        <a:rPr lang="en-US" sz="1000" u="sng" dirty="0"/>
                        <a:t>String methods</a:t>
                      </a:r>
                    </a:p>
                    <a:p>
                      <a:r>
                        <a:rPr lang="en-US" sz="1000" dirty="0"/>
                        <a:t>method1</a:t>
                      </a:r>
                    </a:p>
                    <a:p>
                      <a:r>
                        <a:rPr lang="en-US" sz="1000" dirty="0"/>
                        <a:t>method2</a:t>
                      </a:r>
                    </a:p>
                    <a:p>
                      <a:r>
                        <a:rPr lang="en-US" sz="1000" dirty="0"/>
                        <a:t>       o</a:t>
                      </a:r>
                    </a:p>
                    <a:p>
                      <a:r>
                        <a:rPr lang="en-US" sz="1000" dirty="0"/>
                        <a:t>       o</a:t>
                      </a:r>
                    </a:p>
                    <a:p>
                      <a:r>
                        <a:rPr lang="en-US" sz="1000" dirty="0"/>
                        <a:t>       o</a:t>
                      </a:r>
                    </a:p>
                  </a:txBody>
                  <a:tcPr/>
                </a:tc>
                <a:extLst>
                  <a:ext uri="{0D108BD9-81ED-4DB2-BD59-A6C34878D82A}">
                    <a16:rowId xmlns:a16="http://schemas.microsoft.com/office/drawing/2014/main" val="10001"/>
                  </a:ext>
                </a:extLst>
              </a:tr>
            </a:tbl>
          </a:graphicData>
        </a:graphic>
      </p:graphicFrame>
      <p:graphicFrame>
        <p:nvGraphicFramePr>
          <p:cNvPr id="16" name="Content Placeholder 4"/>
          <p:cNvGraphicFramePr>
            <a:graphicFrameLocks/>
          </p:cNvGraphicFramePr>
          <p:nvPr/>
        </p:nvGraphicFramePr>
        <p:xfrm>
          <a:off x="4114799" y="2932390"/>
          <a:ext cx="1083335" cy="1249680"/>
        </p:xfrm>
        <a:graphic>
          <a:graphicData uri="http://schemas.openxmlformats.org/drawingml/2006/table">
            <a:tbl>
              <a:tblPr firstRow="1" bandRow="1">
                <a:tableStyleId>{5C22544A-7EE6-4342-B048-85BDC9FD1C3A}</a:tableStyleId>
              </a:tblPr>
              <a:tblGrid>
                <a:gridCol w="1083335">
                  <a:extLst>
                    <a:ext uri="{9D8B030D-6E8A-4147-A177-3AD203B41FA5}">
                      <a16:colId xmlns:a16="http://schemas.microsoft.com/office/drawing/2014/main" val="20000"/>
                    </a:ext>
                  </a:extLst>
                </a:gridCol>
              </a:tblGrid>
              <a:tr h="218440">
                <a:tc>
                  <a:txBody>
                    <a:bodyPr/>
                    <a:lstStyle/>
                    <a:p>
                      <a:r>
                        <a:rPr lang="en-US" sz="1000" dirty="0"/>
                        <a:t>“Cindy”</a:t>
                      </a:r>
                    </a:p>
                  </a:txBody>
                  <a:tcPr/>
                </a:tc>
                <a:extLst>
                  <a:ext uri="{0D108BD9-81ED-4DB2-BD59-A6C34878D82A}">
                    <a16:rowId xmlns:a16="http://schemas.microsoft.com/office/drawing/2014/main" val="10000"/>
                  </a:ext>
                </a:extLst>
              </a:tr>
              <a:tr h="370840">
                <a:tc>
                  <a:txBody>
                    <a:bodyPr/>
                    <a:lstStyle/>
                    <a:p>
                      <a:r>
                        <a:rPr lang="en-US" sz="1000" u="sng" dirty="0"/>
                        <a:t>String methods</a:t>
                      </a:r>
                    </a:p>
                    <a:p>
                      <a:r>
                        <a:rPr lang="en-US" sz="1000" dirty="0"/>
                        <a:t>method1</a:t>
                      </a:r>
                    </a:p>
                    <a:p>
                      <a:r>
                        <a:rPr lang="en-US" sz="1000" dirty="0"/>
                        <a:t>method2</a:t>
                      </a:r>
                    </a:p>
                    <a:p>
                      <a:r>
                        <a:rPr lang="en-US" sz="1000" dirty="0"/>
                        <a:t>       o</a:t>
                      </a:r>
                    </a:p>
                    <a:p>
                      <a:r>
                        <a:rPr lang="en-US" sz="1000" dirty="0"/>
                        <a:t>       o</a:t>
                      </a:r>
                    </a:p>
                    <a:p>
                      <a:r>
                        <a:rPr lang="en-US" sz="1000" dirty="0"/>
                        <a:t>       o</a:t>
                      </a:r>
                    </a:p>
                  </a:txBody>
                  <a:tcPr/>
                </a:tc>
                <a:extLst>
                  <a:ext uri="{0D108BD9-81ED-4DB2-BD59-A6C34878D82A}">
                    <a16:rowId xmlns:a16="http://schemas.microsoft.com/office/drawing/2014/main" val="10001"/>
                  </a:ext>
                </a:extLst>
              </a:tr>
            </a:tbl>
          </a:graphicData>
        </a:graphic>
      </p:graphicFrame>
      <p:sp>
        <p:nvSpPr>
          <p:cNvPr id="6" name="Rectangle 5">
            <a:extLst>
              <a:ext uri="{FF2B5EF4-FFF2-40B4-BE49-F238E27FC236}">
                <a16:creationId xmlns:a16="http://schemas.microsoft.com/office/drawing/2014/main" id="{7A8DED30-7FDB-A347-9067-CB38A2C5E0B3}"/>
              </a:ext>
            </a:extLst>
          </p:cNvPr>
          <p:cNvSpPr/>
          <p:nvPr/>
        </p:nvSpPr>
        <p:spPr>
          <a:xfrm>
            <a:off x="1289674" y="1892645"/>
            <a:ext cx="1254111" cy="37338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Table 3"/>
          <p:cNvGraphicFramePr>
            <a:graphicFrameLocks noGrp="1"/>
          </p:cNvGraphicFramePr>
          <p:nvPr/>
        </p:nvGraphicFramePr>
        <p:xfrm>
          <a:off x="1417320" y="2191939"/>
          <a:ext cx="838200" cy="1204185"/>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tblGrid>
              <a:tr h="381001">
                <a:tc>
                  <a:txBody>
                    <a:bodyPr/>
                    <a:lstStyle/>
                    <a:p>
                      <a:r>
                        <a:rPr lang="en-US" sz="1200" b="0" dirty="0">
                          <a:solidFill>
                            <a:schemeClr val="tx1"/>
                          </a:solidFill>
                          <a:latin typeface="Arial"/>
                          <a:cs typeface="Arial"/>
                        </a:rPr>
                        <a:t>names[0]</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411592">
                <a:tc>
                  <a:txBody>
                    <a:bodyPr/>
                    <a:lstStyle/>
                    <a:p>
                      <a:r>
                        <a:rPr lang="en-US" sz="1200" b="0" dirty="0">
                          <a:solidFill>
                            <a:schemeClr val="tx1"/>
                          </a:solidFill>
                          <a:latin typeface="Arial"/>
                          <a:cs typeface="Arial"/>
                        </a:rPr>
                        <a:t>names[1]</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1"/>
                  </a:ext>
                </a:extLst>
              </a:tr>
              <a:tr h="411592">
                <a:tc>
                  <a:txBody>
                    <a:bodyPr/>
                    <a:lstStyle/>
                    <a:p>
                      <a:r>
                        <a:rPr lang="en-US" sz="1200" b="0" dirty="0">
                          <a:solidFill>
                            <a:schemeClr val="tx1"/>
                          </a:solidFill>
                          <a:latin typeface="Arial"/>
                          <a:cs typeface="Arial"/>
                        </a:rPr>
                        <a:t>names[2]</a:t>
                      </a: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E8F7642A-5DFC-A244-B1A4-41D9ED5C3539}"/>
              </a:ext>
            </a:extLst>
          </p:cNvPr>
          <p:cNvSpPr txBox="1"/>
          <p:nvPr/>
        </p:nvSpPr>
        <p:spPr>
          <a:xfrm>
            <a:off x="1295400" y="3989823"/>
            <a:ext cx="1212191" cy="1169551"/>
          </a:xfrm>
          <a:prstGeom prst="rect">
            <a:avLst/>
          </a:prstGeom>
          <a:solidFill>
            <a:schemeClr val="accent1">
              <a:lumMod val="40000"/>
              <a:lumOff val="60000"/>
            </a:schemeClr>
          </a:solidFill>
          <a:ln>
            <a:solidFill>
              <a:schemeClr val="tx1"/>
            </a:solidFill>
          </a:ln>
        </p:spPr>
        <p:txBody>
          <a:bodyPr wrap="none" rtlCol="0">
            <a:spAutoFit/>
          </a:bodyPr>
          <a:lstStyle/>
          <a:p>
            <a:r>
              <a:rPr lang="en-US" sz="1000" u="sng" dirty="0"/>
              <a:t>ArrayList methods</a:t>
            </a:r>
          </a:p>
          <a:p>
            <a:r>
              <a:rPr lang="en-US" sz="1000" dirty="0"/>
              <a:t>method1</a:t>
            </a:r>
          </a:p>
          <a:p>
            <a:r>
              <a:rPr lang="en-US" sz="1000" dirty="0"/>
              <a:t>method2</a:t>
            </a:r>
          </a:p>
          <a:p>
            <a:r>
              <a:rPr lang="en-US" sz="1000" dirty="0"/>
              <a:t>       o</a:t>
            </a:r>
          </a:p>
          <a:p>
            <a:r>
              <a:rPr lang="en-US" sz="1000" dirty="0"/>
              <a:t>       o</a:t>
            </a:r>
          </a:p>
          <a:p>
            <a:r>
              <a:rPr lang="en-US" sz="1000" dirty="0"/>
              <a:t>       o</a:t>
            </a:r>
          </a:p>
          <a:p>
            <a:endParaRPr lang="en-US" sz="1000" dirty="0"/>
          </a:p>
        </p:txBody>
      </p:sp>
    </p:spTree>
    <p:extLst>
      <p:ext uri="{BB962C8B-B14F-4D97-AF65-F5344CB8AC3E}">
        <p14:creationId xmlns:p14="http://schemas.microsoft.com/office/powerpoint/2010/main" val="24678607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453D-50CF-A44E-914D-141AF037B5B8}"/>
              </a:ext>
            </a:extLst>
          </p:cNvPr>
          <p:cNvSpPr>
            <a:spLocks noGrp="1"/>
          </p:cNvSpPr>
          <p:nvPr>
            <p:ph type="title"/>
          </p:nvPr>
        </p:nvSpPr>
        <p:spPr>
          <a:xfrm>
            <a:off x="457200" y="76200"/>
            <a:ext cx="8229600" cy="475488"/>
          </a:xfrm>
        </p:spPr>
        <p:txBody>
          <a:bodyPr>
            <a:noAutofit/>
          </a:bodyPr>
          <a:lstStyle/>
          <a:p>
            <a:r>
              <a:rPr lang="en-US" dirty="0"/>
              <a:t>Some  Basic Rules And Definitions</a:t>
            </a:r>
          </a:p>
        </p:txBody>
      </p:sp>
      <p:sp>
        <p:nvSpPr>
          <p:cNvPr id="3" name="Content Placeholder 2">
            <a:extLst>
              <a:ext uri="{FF2B5EF4-FFF2-40B4-BE49-F238E27FC236}">
                <a16:creationId xmlns:a16="http://schemas.microsoft.com/office/drawing/2014/main" id="{4117A69C-4BC9-7244-B63C-0C2D6E9906DA}"/>
              </a:ext>
            </a:extLst>
          </p:cNvPr>
          <p:cNvSpPr>
            <a:spLocks noGrp="1"/>
          </p:cNvSpPr>
          <p:nvPr>
            <p:ph idx="1"/>
          </p:nvPr>
        </p:nvSpPr>
        <p:spPr>
          <a:xfrm>
            <a:off x="228600" y="551688"/>
            <a:ext cx="8610600" cy="6306312"/>
          </a:xfrm>
        </p:spPr>
        <p:txBody>
          <a:bodyPr>
            <a:normAutofit fontScale="70000" lnSpcReduction="20000"/>
          </a:bodyPr>
          <a:lstStyle/>
          <a:p>
            <a:r>
              <a:rPr lang="en-US" dirty="0"/>
              <a:t>A program must import the java.util package to use ArrayList: </a:t>
            </a:r>
          </a:p>
          <a:p>
            <a:r>
              <a:rPr lang="en-US" dirty="0"/>
              <a:t>By default, an ArrayList starts out with 10 empty cells, although you can specify a different number</a:t>
            </a:r>
          </a:p>
          <a:p>
            <a:pPr lvl="1"/>
            <a:r>
              <a:rPr lang="en-US" dirty="0"/>
              <a:t>As we said, unlike in an array, cells don’t automatically default to the null value</a:t>
            </a:r>
          </a:p>
          <a:p>
            <a:pPr lvl="1"/>
            <a:r>
              <a:rPr lang="en-US" dirty="0"/>
              <a:t>In fact a cell can’t be referenced until it is populated</a:t>
            </a:r>
          </a:p>
          <a:p>
            <a:r>
              <a:rPr lang="en-US" dirty="0"/>
              <a:t>ArrayList is a </a:t>
            </a:r>
            <a:r>
              <a:rPr lang="en-US" dirty="0">
                <a:solidFill>
                  <a:srgbClr val="FF0000"/>
                </a:solidFill>
              </a:rPr>
              <a:t>generic type </a:t>
            </a:r>
            <a:r>
              <a:rPr lang="en-US" dirty="0"/>
              <a:t>which is a generic class or interface that is parameterized over types. </a:t>
            </a:r>
          </a:p>
          <a:p>
            <a:pPr lvl="1"/>
            <a:r>
              <a:rPr lang="en-US" dirty="0"/>
              <a:t>This means that its constructor specifies both the type of object to construct and the type of references (or references to subtypes of the ArrayList) that the new object of type ArrayList will hold</a:t>
            </a:r>
          </a:p>
          <a:p>
            <a:pPr lvl="1"/>
            <a:r>
              <a:rPr lang="en-US" dirty="0"/>
              <a:t>The type the object will hold is placed inside angle brackets like this: </a:t>
            </a:r>
          </a:p>
          <a:p>
            <a:pPr marL="393192" lvl="1" indent="0">
              <a:buNone/>
            </a:pPr>
            <a:r>
              <a:rPr lang="en-US" dirty="0"/>
              <a:t>      &lt;DataType&gt;</a:t>
            </a:r>
          </a:p>
          <a:p>
            <a:pPr lvl="1"/>
            <a:r>
              <a:rPr lang="en-US" dirty="0">
                <a:solidFill>
                  <a:srgbClr val="FF0000"/>
                </a:solidFill>
              </a:rPr>
              <a:t>Note: Arrays cannot be created as generics – remember that an array can be of a primitive type</a:t>
            </a:r>
          </a:p>
          <a:p>
            <a:r>
              <a:rPr lang="en-US" dirty="0"/>
              <a:t>Generics are in effect parameterized types, meaning that the data type will be defined at the time that the client class declares and instantiates an object of that class</a:t>
            </a:r>
          </a:p>
          <a:p>
            <a:pPr lvl="1"/>
            <a:r>
              <a:rPr lang="en-US" dirty="0"/>
              <a:t>Now, when the ArrayList object is constructed, it will hold data of type "reference to DataType” – This is a </a:t>
            </a:r>
            <a:r>
              <a:rPr lang="en-US" b="1" dirty="0">
                <a:solidFill>
                  <a:srgbClr val="FF0000"/>
                </a:solidFill>
              </a:rPr>
              <a:t>collection</a:t>
            </a:r>
            <a:r>
              <a:rPr lang="en-US" dirty="0"/>
              <a:t> of data of that particular type</a:t>
            </a:r>
          </a:p>
          <a:p>
            <a:r>
              <a:rPr lang="en-US" dirty="0"/>
              <a:t>Question:  What type of data will values hold in each cell?</a:t>
            </a:r>
          </a:p>
          <a:p>
            <a:pPr marL="0" indent="0">
              <a:buNone/>
            </a:pPr>
            <a:r>
              <a:rPr lang="en-US" dirty="0"/>
              <a:t>	ArrayList&lt;Integer&gt; values = new ArrayList&lt;Integer&gt;();</a:t>
            </a:r>
          </a:p>
          <a:p>
            <a:r>
              <a:rPr lang="en-US" dirty="0"/>
              <a:t>What about: ArrayList&lt;Number&gt; values = new ArrayList&lt;Integer&gt;(); // doesn’t work with subtypes – typing must be the same even if it is for the same List </a:t>
            </a:r>
          </a:p>
        </p:txBody>
      </p:sp>
      <p:sp>
        <p:nvSpPr>
          <p:cNvPr id="4" name="Slide Number Placeholder 3">
            <a:extLst>
              <a:ext uri="{FF2B5EF4-FFF2-40B4-BE49-F238E27FC236}">
                <a16:creationId xmlns:a16="http://schemas.microsoft.com/office/drawing/2014/main" id="{F266E8E4-B04E-6447-A560-DE76E6E645E5}"/>
              </a:ext>
            </a:extLst>
          </p:cNvPr>
          <p:cNvSpPr>
            <a:spLocks noGrp="1"/>
          </p:cNvSpPr>
          <p:nvPr>
            <p:ph type="sldNum" sz="quarter" idx="12"/>
          </p:nvPr>
        </p:nvSpPr>
        <p:spPr/>
        <p:txBody>
          <a:bodyPr/>
          <a:lstStyle/>
          <a:p>
            <a:fld id="{13977939-A071-43C1-9268-F54CC2756BB5}" type="slidenum">
              <a:rPr lang="en-US" smtClean="0"/>
              <a:pPr/>
              <a:t>65</a:t>
            </a:fld>
            <a:endParaRPr lang="en-US" dirty="0"/>
          </a:p>
        </p:txBody>
      </p:sp>
    </p:spTree>
    <p:extLst>
      <p:ext uri="{BB962C8B-B14F-4D97-AF65-F5344CB8AC3E}">
        <p14:creationId xmlns:p14="http://schemas.microsoft.com/office/powerpoint/2010/main" val="29502234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453D-50CF-A44E-914D-141AF037B5B8}"/>
              </a:ext>
            </a:extLst>
          </p:cNvPr>
          <p:cNvSpPr>
            <a:spLocks noGrp="1"/>
          </p:cNvSpPr>
          <p:nvPr>
            <p:ph type="title"/>
          </p:nvPr>
        </p:nvSpPr>
        <p:spPr>
          <a:xfrm>
            <a:off x="457200" y="228600"/>
            <a:ext cx="8229600" cy="475488"/>
          </a:xfrm>
        </p:spPr>
        <p:txBody>
          <a:bodyPr>
            <a:noAutofit/>
          </a:bodyPr>
          <a:lstStyle/>
          <a:p>
            <a:r>
              <a:rPr lang="en-US" dirty="0"/>
              <a:t>Constructing An ArrayList Object (1)</a:t>
            </a:r>
          </a:p>
        </p:txBody>
      </p:sp>
      <p:sp>
        <p:nvSpPr>
          <p:cNvPr id="3" name="Content Placeholder 2">
            <a:extLst>
              <a:ext uri="{FF2B5EF4-FFF2-40B4-BE49-F238E27FC236}">
                <a16:creationId xmlns:a16="http://schemas.microsoft.com/office/drawing/2014/main" id="{4117A69C-4BC9-7244-B63C-0C2D6E9906DA}"/>
              </a:ext>
            </a:extLst>
          </p:cNvPr>
          <p:cNvSpPr>
            <a:spLocks noGrp="1"/>
          </p:cNvSpPr>
          <p:nvPr>
            <p:ph idx="1"/>
          </p:nvPr>
        </p:nvSpPr>
        <p:spPr>
          <a:xfrm>
            <a:off x="457200" y="838199"/>
            <a:ext cx="8229600" cy="5791201"/>
          </a:xfrm>
        </p:spPr>
        <p:txBody>
          <a:bodyPr>
            <a:normAutofit fontScale="92500" lnSpcReduction="10000"/>
          </a:bodyPr>
          <a:lstStyle/>
          <a:p>
            <a:r>
              <a:rPr lang="en-US" dirty="0"/>
              <a:t>To declare a reference variable for an ArrayList do this:</a:t>
            </a:r>
          </a:p>
          <a:p>
            <a:pPr marL="393192" lvl="1" indent="0">
              <a:buNone/>
            </a:pPr>
            <a:r>
              <a:rPr lang="en-US" dirty="0"/>
              <a:t>ArrayList&lt;E&gt; myArray;  // E is any class that is available to the program</a:t>
            </a:r>
          </a:p>
          <a:p>
            <a:pPr lvl="1"/>
            <a:r>
              <a:rPr lang="en-US" dirty="0"/>
              <a:t>myArray is a reference to a future ArrayList object. The future ArrayList object will contain an array of references to objects of type E </a:t>
            </a:r>
            <a:r>
              <a:rPr lang="en-US" dirty="0">
                <a:solidFill>
                  <a:srgbClr val="FF0000"/>
                </a:solidFill>
              </a:rPr>
              <a:t>or to a descendant class of E</a:t>
            </a:r>
            <a:r>
              <a:rPr lang="en-US" dirty="0"/>
              <a:t>.</a:t>
            </a:r>
          </a:p>
          <a:p>
            <a:pPr lvl="1"/>
            <a:r>
              <a:rPr lang="en-US" dirty="0"/>
              <a:t>Construct the ArrayList later on in the code:</a:t>
            </a:r>
          </a:p>
          <a:p>
            <a:pPr marL="393192" lvl="1" indent="0">
              <a:buNone/>
            </a:pPr>
            <a:r>
              <a:rPr lang="en-US" dirty="0"/>
              <a:t>myArray = new ArrayList&lt;E&gt;();  </a:t>
            </a:r>
          </a:p>
          <a:p>
            <a:pPr lvl="1"/>
            <a:r>
              <a:rPr lang="en-US" dirty="0"/>
              <a:t>The ArrayList has an initial capacity of </a:t>
            </a:r>
            <a:r>
              <a:rPr lang="en-US" dirty="0">
                <a:solidFill>
                  <a:srgbClr val="FF0000"/>
                </a:solidFill>
              </a:rPr>
              <a:t>10 cells</a:t>
            </a:r>
            <a:r>
              <a:rPr lang="en-US" dirty="0"/>
              <a:t>, although the capacity will increase as needed as references are added to the list</a:t>
            </a:r>
          </a:p>
          <a:p>
            <a:pPr lvl="1"/>
            <a:r>
              <a:rPr lang="en-US" dirty="0"/>
              <a:t>Cells will contain references to objects of type E (or a descendant class)</a:t>
            </a:r>
          </a:p>
          <a:p>
            <a:pPr lvl="1"/>
            <a:r>
              <a:rPr lang="en-US" dirty="0"/>
              <a:t>Since constant expansion may not be very efficient, if you have an idea of what the capacity you need, start the ArrayList with that capacity</a:t>
            </a:r>
          </a:p>
          <a:p>
            <a:pPr marL="393192" lvl="1" indent="0">
              <a:buNone/>
            </a:pPr>
            <a:r>
              <a:rPr lang="en-US" dirty="0"/>
              <a:t>myArray = new ArrayList&lt;E&gt;(int initialCapacity);  </a:t>
            </a:r>
          </a:p>
        </p:txBody>
      </p:sp>
      <p:sp>
        <p:nvSpPr>
          <p:cNvPr id="4" name="Slide Number Placeholder 3">
            <a:extLst>
              <a:ext uri="{FF2B5EF4-FFF2-40B4-BE49-F238E27FC236}">
                <a16:creationId xmlns:a16="http://schemas.microsoft.com/office/drawing/2014/main" id="{F266E8E4-B04E-6447-A560-DE76E6E645E5}"/>
              </a:ext>
            </a:extLst>
          </p:cNvPr>
          <p:cNvSpPr>
            <a:spLocks noGrp="1"/>
          </p:cNvSpPr>
          <p:nvPr>
            <p:ph type="sldNum" sz="quarter" idx="12"/>
          </p:nvPr>
        </p:nvSpPr>
        <p:spPr/>
        <p:txBody>
          <a:bodyPr/>
          <a:lstStyle/>
          <a:p>
            <a:fld id="{13977939-A071-43C1-9268-F54CC2756BB5}" type="slidenum">
              <a:rPr lang="en-US" smtClean="0"/>
              <a:pPr/>
              <a:t>66</a:t>
            </a:fld>
            <a:endParaRPr lang="en-US" dirty="0"/>
          </a:p>
        </p:txBody>
      </p:sp>
    </p:spTree>
    <p:extLst>
      <p:ext uri="{BB962C8B-B14F-4D97-AF65-F5344CB8AC3E}">
        <p14:creationId xmlns:p14="http://schemas.microsoft.com/office/powerpoint/2010/main" val="30975975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8453D-50CF-A44E-914D-141AF037B5B8}"/>
              </a:ext>
            </a:extLst>
          </p:cNvPr>
          <p:cNvSpPr>
            <a:spLocks noGrp="1"/>
          </p:cNvSpPr>
          <p:nvPr>
            <p:ph type="title"/>
          </p:nvPr>
        </p:nvSpPr>
        <p:spPr/>
        <p:txBody>
          <a:bodyPr>
            <a:noAutofit/>
          </a:bodyPr>
          <a:lstStyle/>
          <a:p>
            <a:r>
              <a:rPr lang="en-US" dirty="0"/>
              <a:t>Constructing An ArrayList Object (2)</a:t>
            </a:r>
          </a:p>
        </p:txBody>
      </p:sp>
      <p:sp>
        <p:nvSpPr>
          <p:cNvPr id="3" name="Content Placeholder 2">
            <a:extLst>
              <a:ext uri="{FF2B5EF4-FFF2-40B4-BE49-F238E27FC236}">
                <a16:creationId xmlns:a16="http://schemas.microsoft.com/office/drawing/2014/main" id="{4117A69C-4BC9-7244-B63C-0C2D6E9906DA}"/>
              </a:ext>
            </a:extLst>
          </p:cNvPr>
          <p:cNvSpPr>
            <a:spLocks noGrp="1"/>
          </p:cNvSpPr>
          <p:nvPr>
            <p:ph idx="1"/>
          </p:nvPr>
        </p:nvSpPr>
        <p:spPr>
          <a:xfrm>
            <a:off x="304800" y="1066799"/>
            <a:ext cx="8382000" cy="5486401"/>
          </a:xfrm>
        </p:spPr>
        <p:txBody>
          <a:bodyPr>
            <a:normAutofit fontScale="85000" lnSpcReduction="10000"/>
          </a:bodyPr>
          <a:lstStyle/>
          <a:p>
            <a:r>
              <a:rPr lang="en-US" dirty="0"/>
              <a:t>Just as with any other variables you can combine the two steps to both declare a reference variable and construct an ArrayList:</a:t>
            </a:r>
          </a:p>
          <a:p>
            <a:pPr marL="0" indent="0">
              <a:buNone/>
            </a:pPr>
            <a:r>
              <a:rPr lang="en-US" dirty="0"/>
              <a:t>     ArrayList&lt;E&gt; myArray = new ArrayList&lt;E&gt;();  </a:t>
            </a:r>
          </a:p>
          <a:p>
            <a:r>
              <a:rPr lang="en-US" dirty="0"/>
              <a:t>To declare a variable and to construct an ArrayList with a specific initial capacity do this:</a:t>
            </a:r>
          </a:p>
          <a:p>
            <a:pPr marL="0" indent="0">
              <a:buNone/>
            </a:pPr>
            <a:r>
              <a:rPr lang="en-US" dirty="0"/>
              <a:t>      ArrayList&lt;E&gt; myArray = new ArrayList&lt;E&gt;( int initialCapacity );  </a:t>
            </a:r>
          </a:p>
          <a:p>
            <a:r>
              <a:rPr lang="en-US" dirty="0"/>
              <a:t>The initial capacity is the number of cells that the ArrayList starts with.</a:t>
            </a:r>
          </a:p>
          <a:p>
            <a:pPr lvl="1"/>
            <a:r>
              <a:rPr lang="en-US" dirty="0"/>
              <a:t>It can expand beyond this capacity if you add more elements. </a:t>
            </a:r>
          </a:p>
          <a:p>
            <a:pPr lvl="1"/>
            <a:r>
              <a:rPr lang="en-US" dirty="0"/>
              <a:t>Expanding the capacity of an ArrayList is slow so to avoid this, estimate how many elements are needed and construct an ArrayList of that many plus some extra</a:t>
            </a:r>
          </a:p>
          <a:p>
            <a:r>
              <a:rPr lang="en-US" dirty="0"/>
              <a:t>You can print out an entire ArrayList using it’s toString method</a:t>
            </a:r>
          </a:p>
          <a:p>
            <a:pPr lvl="1"/>
            <a:r>
              <a:rPr lang="en-US" dirty="0"/>
              <a:t>See </a:t>
            </a:r>
            <a:r>
              <a:rPr lang="en-US" dirty="0">
                <a:solidFill>
                  <a:srgbClr val="FF0000"/>
                </a:solidFill>
              </a:rPr>
              <a:t>ArrayListToString.java</a:t>
            </a:r>
          </a:p>
        </p:txBody>
      </p:sp>
      <p:sp>
        <p:nvSpPr>
          <p:cNvPr id="4" name="Slide Number Placeholder 3">
            <a:extLst>
              <a:ext uri="{FF2B5EF4-FFF2-40B4-BE49-F238E27FC236}">
                <a16:creationId xmlns:a16="http://schemas.microsoft.com/office/drawing/2014/main" id="{F266E8E4-B04E-6447-A560-DE76E6E645E5}"/>
              </a:ext>
            </a:extLst>
          </p:cNvPr>
          <p:cNvSpPr>
            <a:spLocks noGrp="1"/>
          </p:cNvSpPr>
          <p:nvPr>
            <p:ph type="sldNum" sz="quarter" idx="12"/>
          </p:nvPr>
        </p:nvSpPr>
        <p:spPr/>
        <p:txBody>
          <a:bodyPr/>
          <a:lstStyle/>
          <a:p>
            <a:fld id="{13977939-A071-43C1-9268-F54CC2756BB5}" type="slidenum">
              <a:rPr lang="en-US" smtClean="0"/>
              <a:pPr/>
              <a:t>67</a:t>
            </a:fld>
            <a:endParaRPr lang="en-US" dirty="0"/>
          </a:p>
        </p:txBody>
      </p:sp>
    </p:spTree>
    <p:extLst>
      <p:ext uri="{BB962C8B-B14F-4D97-AF65-F5344CB8AC3E}">
        <p14:creationId xmlns:p14="http://schemas.microsoft.com/office/powerpoint/2010/main" val="3370201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687FE-5B28-344C-A4B0-40C3E3F3AE39}"/>
              </a:ext>
            </a:extLst>
          </p:cNvPr>
          <p:cNvSpPr>
            <a:spLocks noGrp="1"/>
          </p:cNvSpPr>
          <p:nvPr>
            <p:ph type="title"/>
          </p:nvPr>
        </p:nvSpPr>
        <p:spPr/>
        <p:txBody>
          <a:bodyPr>
            <a:noAutofit/>
          </a:bodyPr>
          <a:lstStyle/>
          <a:p>
            <a:r>
              <a:rPr lang="en-US" dirty="0"/>
              <a:t>Null and ArrayList </a:t>
            </a:r>
          </a:p>
        </p:txBody>
      </p:sp>
      <p:sp>
        <p:nvSpPr>
          <p:cNvPr id="3" name="Content Placeholder 2">
            <a:extLst>
              <a:ext uri="{FF2B5EF4-FFF2-40B4-BE49-F238E27FC236}">
                <a16:creationId xmlns:a16="http://schemas.microsoft.com/office/drawing/2014/main" id="{3A0FBBD8-BC8B-EC46-93BC-2AF5EE46FE73}"/>
              </a:ext>
            </a:extLst>
          </p:cNvPr>
          <p:cNvSpPr>
            <a:spLocks noGrp="1"/>
          </p:cNvSpPr>
          <p:nvPr>
            <p:ph idx="1"/>
          </p:nvPr>
        </p:nvSpPr>
        <p:spPr/>
        <p:txBody>
          <a:bodyPr/>
          <a:lstStyle/>
          <a:p>
            <a:r>
              <a:rPr lang="en-US" dirty="0"/>
              <a:t>An ArrayList element can be an object reference or the value null</a:t>
            </a:r>
          </a:p>
          <a:p>
            <a:r>
              <a:rPr lang="en-US" dirty="0"/>
              <a:t>When a cell contains null, the cell is not considered to be empty. The picture shows empty cells with an "X" and cells that contain a null</a:t>
            </a:r>
          </a:p>
          <a:p>
            <a:r>
              <a:rPr lang="en-US" dirty="0"/>
              <a:t>Remember in an ArrayList a cell is not automatically initialized to null</a:t>
            </a:r>
          </a:p>
          <a:p>
            <a:r>
              <a:rPr lang="en-US" dirty="0"/>
              <a:t>You’d need to say:</a:t>
            </a:r>
          </a:p>
          <a:p>
            <a:pPr marL="365760" lvl="1" indent="0">
              <a:buNone/>
            </a:pPr>
            <a:r>
              <a:rPr lang="en-US" dirty="0"/>
              <a:t>names.add(null); //no quotes; adds to </a:t>
            </a:r>
          </a:p>
          <a:p>
            <a:pPr marL="365760" lvl="1" indent="0">
              <a:buNone/>
            </a:pPr>
            <a:r>
              <a:rPr lang="en-US" dirty="0"/>
              <a:t>end of list</a:t>
            </a:r>
          </a:p>
        </p:txBody>
      </p:sp>
      <p:sp>
        <p:nvSpPr>
          <p:cNvPr id="4" name="Slide Number Placeholder 3">
            <a:extLst>
              <a:ext uri="{FF2B5EF4-FFF2-40B4-BE49-F238E27FC236}">
                <a16:creationId xmlns:a16="http://schemas.microsoft.com/office/drawing/2014/main" id="{909ECFD5-CA70-7248-ABE9-5BA16A29A07F}"/>
              </a:ext>
            </a:extLst>
          </p:cNvPr>
          <p:cNvSpPr>
            <a:spLocks noGrp="1"/>
          </p:cNvSpPr>
          <p:nvPr>
            <p:ph type="sldNum" sz="quarter" idx="12"/>
          </p:nvPr>
        </p:nvSpPr>
        <p:spPr/>
        <p:txBody>
          <a:bodyPr/>
          <a:lstStyle/>
          <a:p>
            <a:fld id="{13977939-A071-43C1-9268-F54CC2756BB5}" type="slidenum">
              <a:rPr lang="en-US" smtClean="0"/>
              <a:pPr/>
              <a:t>68</a:t>
            </a:fld>
            <a:endParaRPr lang="en-US" dirty="0"/>
          </a:p>
        </p:txBody>
      </p:sp>
      <p:pic>
        <p:nvPicPr>
          <p:cNvPr id="5" name="Picture 4">
            <a:extLst>
              <a:ext uri="{FF2B5EF4-FFF2-40B4-BE49-F238E27FC236}">
                <a16:creationId xmlns:a16="http://schemas.microsoft.com/office/drawing/2014/main" id="{94DF70F3-EC38-5749-B5D1-CE0D70B9977A}"/>
              </a:ext>
            </a:extLst>
          </p:cNvPr>
          <p:cNvPicPr>
            <a:picLocks noChangeAspect="1"/>
          </p:cNvPicPr>
          <p:nvPr/>
        </p:nvPicPr>
        <p:blipFill>
          <a:blip r:embed="rId2"/>
          <a:stretch>
            <a:fillRect/>
          </a:stretch>
        </p:blipFill>
        <p:spPr>
          <a:xfrm>
            <a:off x="6883400" y="4038600"/>
            <a:ext cx="2082800" cy="2616200"/>
          </a:xfrm>
          <a:prstGeom prst="rect">
            <a:avLst/>
          </a:prstGeom>
        </p:spPr>
      </p:pic>
    </p:spTree>
    <p:extLst>
      <p:ext uri="{BB962C8B-B14F-4D97-AF65-F5344CB8AC3E}">
        <p14:creationId xmlns:p14="http://schemas.microsoft.com/office/powerpoint/2010/main" val="1627288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F70B-B66B-0846-910F-A94F3989B5AE}"/>
              </a:ext>
            </a:extLst>
          </p:cNvPr>
          <p:cNvSpPr>
            <a:spLocks noGrp="1"/>
          </p:cNvSpPr>
          <p:nvPr>
            <p:ph type="title"/>
          </p:nvPr>
        </p:nvSpPr>
        <p:spPr/>
        <p:txBody>
          <a:bodyPr>
            <a:noAutofit/>
          </a:bodyPr>
          <a:lstStyle/>
          <a:p>
            <a:r>
              <a:rPr lang="en-US" dirty="0"/>
              <a:t>Capacity And Size</a:t>
            </a:r>
          </a:p>
        </p:txBody>
      </p:sp>
      <p:sp>
        <p:nvSpPr>
          <p:cNvPr id="3" name="Content Placeholder 2">
            <a:extLst>
              <a:ext uri="{FF2B5EF4-FFF2-40B4-BE49-F238E27FC236}">
                <a16:creationId xmlns:a16="http://schemas.microsoft.com/office/drawing/2014/main" id="{1ADFBD8A-10CA-8D4D-91D6-4517EBC99849}"/>
              </a:ext>
            </a:extLst>
          </p:cNvPr>
          <p:cNvSpPr>
            <a:spLocks noGrp="1"/>
          </p:cNvSpPr>
          <p:nvPr>
            <p:ph idx="1"/>
          </p:nvPr>
        </p:nvSpPr>
        <p:spPr>
          <a:xfrm>
            <a:off x="457200" y="932687"/>
            <a:ext cx="8229600" cy="5788787"/>
          </a:xfrm>
        </p:spPr>
        <p:txBody>
          <a:bodyPr>
            <a:normAutofit fontScale="85000" lnSpcReduction="20000"/>
          </a:bodyPr>
          <a:lstStyle/>
          <a:p>
            <a:r>
              <a:rPr lang="en-US" dirty="0"/>
              <a:t>The capacity is the total number of cells in an ArrayList</a:t>
            </a:r>
          </a:p>
          <a:p>
            <a:pPr lvl="1"/>
            <a:r>
              <a:rPr lang="en-US" dirty="0"/>
              <a:t>Capacity cannot be retrieved (it is internal to the JVM)</a:t>
            </a:r>
          </a:p>
          <a:p>
            <a:r>
              <a:rPr lang="en-US" dirty="0"/>
              <a:t>The size is the number of cells that have data in them.</a:t>
            </a:r>
          </a:p>
          <a:p>
            <a:pPr lvl="1"/>
            <a:r>
              <a:rPr lang="en-US" dirty="0"/>
              <a:t>Cells 0 up through size-1 have data in them</a:t>
            </a:r>
          </a:p>
          <a:p>
            <a:pPr lvl="1"/>
            <a:r>
              <a:rPr lang="en-US" dirty="0"/>
              <a:t>By data we mean a reference value, or the value null</a:t>
            </a:r>
          </a:p>
          <a:p>
            <a:r>
              <a:rPr lang="en-US" dirty="0"/>
              <a:t>Data are added in order. Before cell N gets data, cells 0, 1, 2, ... N-1 must hold data</a:t>
            </a:r>
          </a:p>
          <a:p>
            <a:pPr lvl="1"/>
            <a:r>
              <a:rPr lang="en-US" dirty="0"/>
              <a:t>This doesn’t mean that you can’t insert data in between populated cells (as we will see)</a:t>
            </a:r>
          </a:p>
          <a:p>
            <a:pPr lvl="1"/>
            <a:r>
              <a:rPr lang="en-US" dirty="0"/>
              <a:t>However, you can’t add elements and leave blanks (You must insert a null to reserve a cell)</a:t>
            </a:r>
          </a:p>
          <a:p>
            <a:r>
              <a:rPr lang="en-US" dirty="0"/>
              <a:t>The size increases by one each time an element is added</a:t>
            </a:r>
          </a:p>
          <a:p>
            <a:r>
              <a:rPr lang="en-US" dirty="0"/>
              <a:t>However, the capacity remains unchanged until the ArrayList is full</a:t>
            </a:r>
          </a:p>
          <a:p>
            <a:pPr lvl="1"/>
            <a:r>
              <a:rPr lang="en-US" dirty="0"/>
              <a:t>When an element is added to a full list, the Java runtime system will greatly increase the capacity of the list so that many more elements can be added.</a:t>
            </a:r>
          </a:p>
          <a:p>
            <a:r>
              <a:rPr lang="en-US" dirty="0"/>
              <a:t>To find out the current size of an ArrayList use its size() method:</a:t>
            </a:r>
          </a:p>
          <a:p>
            <a:pPr marL="0" indent="0">
              <a:buNone/>
            </a:pPr>
            <a:r>
              <a:rPr lang="en-US" dirty="0"/>
              <a:t>     names.size() returns the size of names</a:t>
            </a:r>
          </a:p>
        </p:txBody>
      </p:sp>
      <p:sp>
        <p:nvSpPr>
          <p:cNvPr id="4" name="Slide Number Placeholder 3">
            <a:extLst>
              <a:ext uri="{FF2B5EF4-FFF2-40B4-BE49-F238E27FC236}">
                <a16:creationId xmlns:a16="http://schemas.microsoft.com/office/drawing/2014/main" id="{3D20B976-53A8-684A-AA69-66A7DDA5B166}"/>
              </a:ext>
            </a:extLst>
          </p:cNvPr>
          <p:cNvSpPr>
            <a:spLocks noGrp="1"/>
          </p:cNvSpPr>
          <p:nvPr>
            <p:ph type="sldNum" sz="quarter" idx="12"/>
          </p:nvPr>
        </p:nvSpPr>
        <p:spPr/>
        <p:txBody>
          <a:bodyPr/>
          <a:lstStyle/>
          <a:p>
            <a:fld id="{13977939-A071-43C1-9268-F54CC2756BB5}" type="slidenum">
              <a:rPr lang="en-US" smtClean="0"/>
              <a:pPr/>
              <a:t>69</a:t>
            </a:fld>
            <a:endParaRPr lang="en-US" dirty="0"/>
          </a:p>
        </p:txBody>
      </p:sp>
    </p:spTree>
    <p:extLst>
      <p:ext uri="{BB962C8B-B14F-4D97-AF65-F5344CB8AC3E}">
        <p14:creationId xmlns:p14="http://schemas.microsoft.com/office/powerpoint/2010/main" val="10453259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116C-25F8-1442-9A67-AD73543441F8}"/>
              </a:ext>
            </a:extLst>
          </p:cNvPr>
          <p:cNvSpPr>
            <a:spLocks noGrp="1"/>
          </p:cNvSpPr>
          <p:nvPr>
            <p:ph type="title"/>
          </p:nvPr>
        </p:nvSpPr>
        <p:spPr>
          <a:xfrm>
            <a:off x="457200" y="228600"/>
            <a:ext cx="8229600" cy="475488"/>
          </a:xfrm>
        </p:spPr>
        <p:txBody>
          <a:bodyPr>
            <a:noAutofit/>
          </a:bodyPr>
          <a:lstStyle/>
          <a:p>
            <a:r>
              <a:rPr lang="en-US" dirty="0"/>
              <a:t>The ArrayList Implements The List Interface</a:t>
            </a:r>
          </a:p>
        </p:txBody>
      </p:sp>
      <p:sp>
        <p:nvSpPr>
          <p:cNvPr id="3" name="Content Placeholder 2">
            <a:extLst>
              <a:ext uri="{FF2B5EF4-FFF2-40B4-BE49-F238E27FC236}">
                <a16:creationId xmlns:a16="http://schemas.microsoft.com/office/drawing/2014/main" id="{D3DD4421-4EBA-A042-B935-01A43EBBEFF9}"/>
              </a:ext>
            </a:extLst>
          </p:cNvPr>
          <p:cNvSpPr>
            <a:spLocks noGrp="1"/>
          </p:cNvSpPr>
          <p:nvPr>
            <p:ph idx="1"/>
          </p:nvPr>
        </p:nvSpPr>
        <p:spPr>
          <a:xfrm>
            <a:off x="457200" y="932687"/>
            <a:ext cx="8229600" cy="2059009"/>
          </a:xfrm>
        </p:spPr>
        <p:txBody>
          <a:bodyPr>
            <a:normAutofit fontScale="77500" lnSpcReduction="20000"/>
          </a:bodyPr>
          <a:lstStyle/>
          <a:p>
            <a:r>
              <a:rPr lang="en-US" dirty="0"/>
              <a:t>An ArrayList is a resizable-array, ordered implementation of the List&lt;E&gt; interface that permits all elements including null. </a:t>
            </a:r>
          </a:p>
          <a:p>
            <a:pPr lvl="1"/>
            <a:r>
              <a:rPr lang="en-US" dirty="0"/>
              <a:t>ArrayList allows random access to elements and is similar to Vector apart from being </a:t>
            </a:r>
            <a:r>
              <a:rPr lang="en-US" dirty="0">
                <a:solidFill>
                  <a:srgbClr val="FF0000"/>
                </a:solidFill>
              </a:rPr>
              <a:t>unsynchronized</a:t>
            </a:r>
            <a:r>
              <a:rPr lang="en-US" dirty="0"/>
              <a:t>.</a:t>
            </a:r>
          </a:p>
          <a:p>
            <a:r>
              <a:rPr lang="en-US" dirty="0"/>
              <a:t>This type of list is a good choice when you want </a:t>
            </a:r>
            <a:r>
              <a:rPr lang="en-US" dirty="0">
                <a:solidFill>
                  <a:srgbClr val="FF0000"/>
                </a:solidFill>
              </a:rPr>
              <a:t>fast access and iteration </a:t>
            </a:r>
            <a:r>
              <a:rPr lang="en-US" dirty="0"/>
              <a:t>but are </a:t>
            </a:r>
            <a:r>
              <a:rPr lang="en-US" dirty="0">
                <a:solidFill>
                  <a:srgbClr val="FF0000"/>
                </a:solidFill>
              </a:rPr>
              <a:t>not doing a lot of insertions and deletions</a:t>
            </a:r>
            <a:r>
              <a:rPr lang="en-US" dirty="0"/>
              <a:t>.</a:t>
            </a:r>
          </a:p>
          <a:p>
            <a:r>
              <a:rPr lang="en-US" dirty="0"/>
              <a:t>We return to List in Lesson 8</a:t>
            </a:r>
          </a:p>
        </p:txBody>
      </p:sp>
      <p:sp>
        <p:nvSpPr>
          <p:cNvPr id="4" name="Slide Number Placeholder 3">
            <a:extLst>
              <a:ext uri="{FF2B5EF4-FFF2-40B4-BE49-F238E27FC236}">
                <a16:creationId xmlns:a16="http://schemas.microsoft.com/office/drawing/2014/main" id="{3D530590-9F4C-6B4C-AF9C-7EC5E8FEBE6B}"/>
              </a:ext>
            </a:extLst>
          </p:cNvPr>
          <p:cNvSpPr>
            <a:spLocks noGrp="1"/>
          </p:cNvSpPr>
          <p:nvPr>
            <p:ph type="sldNum" sz="quarter" idx="12"/>
          </p:nvPr>
        </p:nvSpPr>
        <p:spPr/>
        <p:txBody>
          <a:bodyPr/>
          <a:lstStyle/>
          <a:p>
            <a:fld id="{13977939-A071-43C1-9268-F54CC2756BB5}" type="slidenum">
              <a:rPr lang="en-US" smtClean="0"/>
              <a:pPr/>
              <a:t>70</a:t>
            </a:fld>
            <a:endParaRPr lang="en-US" dirty="0"/>
          </a:p>
        </p:txBody>
      </p:sp>
      <p:pic>
        <p:nvPicPr>
          <p:cNvPr id="5" name="Picture 4">
            <a:extLst>
              <a:ext uri="{FF2B5EF4-FFF2-40B4-BE49-F238E27FC236}">
                <a16:creationId xmlns:a16="http://schemas.microsoft.com/office/drawing/2014/main" id="{652D610F-09AE-5545-984E-FBE08B255EB9}"/>
              </a:ext>
            </a:extLst>
          </p:cNvPr>
          <p:cNvPicPr>
            <a:picLocks noChangeAspect="1"/>
          </p:cNvPicPr>
          <p:nvPr/>
        </p:nvPicPr>
        <p:blipFill>
          <a:blip r:embed="rId2"/>
          <a:stretch>
            <a:fillRect/>
          </a:stretch>
        </p:blipFill>
        <p:spPr>
          <a:xfrm>
            <a:off x="1219200" y="2991697"/>
            <a:ext cx="5933455" cy="3713903"/>
          </a:xfrm>
          <a:prstGeom prst="rect">
            <a:avLst/>
          </a:prstGeom>
        </p:spPr>
      </p:pic>
    </p:spTree>
    <p:extLst>
      <p:ext uri="{BB962C8B-B14F-4D97-AF65-F5344CB8AC3E}">
        <p14:creationId xmlns:p14="http://schemas.microsoft.com/office/powerpoint/2010/main" val="31634001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B618-C420-3D46-BFE4-A3CEB4864C39}"/>
              </a:ext>
            </a:extLst>
          </p:cNvPr>
          <p:cNvSpPr>
            <a:spLocks noGrp="1"/>
          </p:cNvSpPr>
          <p:nvPr>
            <p:ph type="title"/>
          </p:nvPr>
        </p:nvSpPr>
        <p:spPr/>
        <p:txBody>
          <a:bodyPr>
            <a:noAutofit/>
          </a:bodyPr>
          <a:lstStyle/>
          <a:p>
            <a:r>
              <a:rPr lang="en-US" dirty="0"/>
              <a:t>Common Methods Of The ArrayList class (1)</a:t>
            </a:r>
          </a:p>
        </p:txBody>
      </p:sp>
      <p:graphicFrame>
        <p:nvGraphicFramePr>
          <p:cNvPr id="5" name="Content Placeholder 4">
            <a:extLst>
              <a:ext uri="{FF2B5EF4-FFF2-40B4-BE49-F238E27FC236}">
                <a16:creationId xmlns:a16="http://schemas.microsoft.com/office/drawing/2014/main" id="{502EF0B4-2FE3-9A4F-8EB0-E83BD4974F95}"/>
              </a:ext>
            </a:extLst>
          </p:cNvPr>
          <p:cNvGraphicFramePr>
            <a:graphicFrameLocks noGrp="1"/>
          </p:cNvGraphicFramePr>
          <p:nvPr>
            <p:ph idx="1"/>
            <p:extLst>
              <p:ext uri="{D42A27DB-BD31-4B8C-83A1-F6EECF244321}">
                <p14:modId xmlns:p14="http://schemas.microsoft.com/office/powerpoint/2010/main" val="3088072741"/>
              </p:ext>
            </p:extLst>
          </p:nvPr>
        </p:nvGraphicFramePr>
        <p:xfrm>
          <a:off x="626295" y="1295400"/>
          <a:ext cx="8229599" cy="5125720"/>
        </p:xfrm>
        <a:graphic>
          <a:graphicData uri="http://schemas.openxmlformats.org/drawingml/2006/table">
            <a:tbl>
              <a:tblPr firstRow="1" bandRow="1">
                <a:tableStyleId>{5C22544A-7EE6-4342-B048-85BDC9FD1C3A}</a:tableStyleId>
              </a:tblPr>
              <a:tblGrid>
                <a:gridCol w="2126842">
                  <a:extLst>
                    <a:ext uri="{9D8B030D-6E8A-4147-A177-3AD203B41FA5}">
                      <a16:colId xmlns:a16="http://schemas.microsoft.com/office/drawing/2014/main" val="2699374564"/>
                    </a:ext>
                  </a:extLst>
                </a:gridCol>
                <a:gridCol w="2999660">
                  <a:extLst>
                    <a:ext uri="{9D8B030D-6E8A-4147-A177-3AD203B41FA5}">
                      <a16:colId xmlns:a16="http://schemas.microsoft.com/office/drawing/2014/main" val="507387627"/>
                    </a:ext>
                  </a:extLst>
                </a:gridCol>
                <a:gridCol w="3103097">
                  <a:extLst>
                    <a:ext uri="{9D8B030D-6E8A-4147-A177-3AD203B41FA5}">
                      <a16:colId xmlns:a16="http://schemas.microsoft.com/office/drawing/2014/main" val="2188040667"/>
                    </a:ext>
                  </a:extLst>
                </a:gridCol>
              </a:tblGrid>
              <a:tr h="370840">
                <a:tc>
                  <a:txBody>
                    <a:bodyPr/>
                    <a:lstStyle/>
                    <a:p>
                      <a:r>
                        <a:rPr lang="en-US" sz="1200" dirty="0">
                          <a:latin typeface="Arial" panose="020B0604020202020204" pitchFamily="34" charset="0"/>
                          <a:cs typeface="Arial" panose="020B0604020202020204" pitchFamily="34" charset="0"/>
                        </a:rPr>
                        <a:t>Method Name</a:t>
                      </a:r>
                    </a:p>
                  </a:txBody>
                  <a:tcPr/>
                </a:tc>
                <a:tc>
                  <a:txBody>
                    <a:bodyPr/>
                    <a:lstStyle/>
                    <a:p>
                      <a:r>
                        <a:rPr lang="en-US" sz="1200" dirty="0">
                          <a:latin typeface="Arial" panose="020B0604020202020204" pitchFamily="34" charset="0"/>
                          <a:cs typeface="Arial" panose="020B0604020202020204" pitchFamily="34" charset="0"/>
                        </a:rPr>
                        <a:t>Description</a:t>
                      </a:r>
                    </a:p>
                  </a:txBody>
                  <a:tcPr/>
                </a:tc>
                <a:tc>
                  <a:txBody>
                    <a:bodyPr/>
                    <a:lstStyle/>
                    <a:p>
                      <a:r>
                        <a:rPr lang="en-US" sz="1200" dirty="0">
                          <a:latin typeface="Arial" panose="020B0604020202020204" pitchFamily="34" charset="0"/>
                          <a:cs typeface="Arial" panose="020B0604020202020204" pitchFamily="34" charset="0"/>
                        </a:rPr>
                        <a:t>Example</a:t>
                      </a:r>
                    </a:p>
                  </a:txBody>
                  <a:tcPr/>
                </a:tc>
                <a:extLst>
                  <a:ext uri="{0D108BD9-81ED-4DB2-BD59-A6C34878D82A}">
                    <a16:rowId xmlns:a16="http://schemas.microsoft.com/office/drawing/2014/main" val="4001337380"/>
                  </a:ext>
                </a:extLst>
              </a:tr>
              <a:tr h="370840">
                <a:tc>
                  <a:txBody>
                    <a:bodyPr/>
                    <a:lstStyle/>
                    <a:p>
                      <a:r>
                        <a:rPr lang="en-US" sz="1200" dirty="0">
                          <a:latin typeface="Arial" panose="020B0604020202020204" pitchFamily="34" charset="0"/>
                          <a:cs typeface="Arial" panose="020B0604020202020204" pitchFamily="34" charset="0"/>
                        </a:rPr>
                        <a:t>void add(int index, Object element)</a:t>
                      </a:r>
                    </a:p>
                  </a:txBody>
                  <a:tcPr/>
                </a:tc>
                <a:tc>
                  <a:txBody>
                    <a:bodyPr/>
                    <a:lstStyle/>
                    <a:p>
                      <a:r>
                        <a:rPr lang="en-US" sz="1200" dirty="0">
                          <a:latin typeface="Arial" panose="020B0604020202020204" pitchFamily="34" charset="0"/>
                          <a:cs typeface="Arial" panose="020B0604020202020204" pitchFamily="34" charset="0"/>
                        </a:rPr>
                        <a:t>Inserts the specified element at the specified position index in the ArrayList. Throws IndexOutOfBoundsException if the specified index is out of range (index &lt; 0 || index &gt; size())</a:t>
                      </a:r>
                    </a:p>
                  </a:txBody>
                  <a:tcPr/>
                </a:tc>
                <a:tc>
                  <a:txBody>
                    <a:bodyPr/>
                    <a:lstStyle/>
                    <a:p>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ArrayListExampleAddAtIndex.java</a:t>
                      </a:r>
                    </a:p>
                  </a:txBody>
                  <a:tcPr/>
                </a:tc>
                <a:extLst>
                  <a:ext uri="{0D108BD9-81ED-4DB2-BD59-A6C34878D82A}">
                    <a16:rowId xmlns:a16="http://schemas.microsoft.com/office/drawing/2014/main" val="1696467637"/>
                  </a:ext>
                </a:extLst>
              </a:tr>
              <a:tr h="370840">
                <a:tc>
                  <a:txBody>
                    <a:bodyPr/>
                    <a:lstStyle/>
                    <a:p>
                      <a:r>
                        <a:rPr lang="en-US" sz="1200" dirty="0">
                          <a:latin typeface="Arial" panose="020B0604020202020204" pitchFamily="34" charset="0"/>
                          <a:cs typeface="Arial" panose="020B0604020202020204" pitchFamily="34" charset="0"/>
                        </a:rPr>
                        <a:t>boolean add(Object o)</a:t>
                      </a:r>
                    </a:p>
                  </a:txBody>
                  <a:tcPr/>
                </a:tc>
                <a:tc>
                  <a:txBody>
                    <a:bodyPr/>
                    <a:lstStyle/>
                    <a:p>
                      <a:r>
                        <a:rPr lang="en-US" sz="1200" dirty="0">
                          <a:latin typeface="Arial" panose="020B0604020202020204" pitchFamily="34" charset="0"/>
                          <a:cs typeface="Arial" panose="020B0604020202020204" pitchFamily="34" charset="0"/>
                        </a:rPr>
                        <a:t>Appends the specified element to the end of this list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ArrayListExample1.java, CharacterArrayListExample.java</a:t>
                      </a:r>
                    </a:p>
                  </a:txBody>
                  <a:tcPr/>
                </a:tc>
                <a:extLst>
                  <a:ext uri="{0D108BD9-81ED-4DB2-BD59-A6C34878D82A}">
                    <a16:rowId xmlns:a16="http://schemas.microsoft.com/office/drawing/2014/main" val="910851679"/>
                  </a:ext>
                </a:extLst>
              </a:tr>
              <a:tr h="370840">
                <a:tc>
                  <a:txBody>
                    <a:bodyPr/>
                    <a:lstStyle/>
                    <a:p>
                      <a:r>
                        <a:rPr lang="en-US" sz="1200" dirty="0">
                          <a:latin typeface="Arial" panose="020B0604020202020204" pitchFamily="34" charset="0"/>
                          <a:cs typeface="Arial" panose="020B0604020202020204" pitchFamily="34" charset="0"/>
                        </a:rPr>
                        <a:t>void clear()</a:t>
                      </a:r>
                    </a:p>
                  </a:txBody>
                  <a:tcPr/>
                </a:tc>
                <a:tc>
                  <a:txBody>
                    <a:bodyPr/>
                    <a:lstStyle/>
                    <a:p>
                      <a:r>
                        <a:rPr lang="en-US" sz="1200" dirty="0">
                          <a:latin typeface="Arial" panose="020B0604020202020204" pitchFamily="34" charset="0"/>
                          <a:cs typeface="Arial" panose="020B0604020202020204" pitchFamily="34" charset="0"/>
                        </a:rPr>
                        <a:t>Removes all of the elements from this ArrayList</a:t>
                      </a:r>
                    </a:p>
                  </a:txBody>
                  <a:tcPr/>
                </a:tc>
                <a:tc>
                  <a:txBody>
                    <a:bodyPr/>
                    <a:lstStyle/>
                    <a:p>
                      <a:r>
                        <a:rPr lang="en-US" sz="1200" dirty="0">
                          <a:latin typeface="Arial" panose="020B0604020202020204" pitchFamily="34" charset="0"/>
                          <a:cs typeface="Arial" panose="020B0604020202020204" pitchFamily="34" charset="0"/>
                        </a:rPr>
                        <a:t>names.clear() empties the cell, it does not place the null address in the cell. Size() returns 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ArrayListExample2.java</a:t>
                      </a:r>
                    </a:p>
                  </a:txBody>
                  <a:tcPr/>
                </a:tc>
                <a:extLst>
                  <a:ext uri="{0D108BD9-81ED-4DB2-BD59-A6C34878D82A}">
                    <a16:rowId xmlns:a16="http://schemas.microsoft.com/office/drawing/2014/main" val="500601267"/>
                  </a:ext>
                </a:extLst>
              </a:tr>
              <a:tr h="370840">
                <a:tc>
                  <a:txBody>
                    <a:bodyPr/>
                    <a:lstStyle/>
                    <a:p>
                      <a:r>
                        <a:rPr lang="en-US" sz="1200" dirty="0">
                          <a:latin typeface="Arial" panose="020B0604020202020204" pitchFamily="34" charset="0"/>
                          <a:cs typeface="Arial" panose="020B0604020202020204" pitchFamily="34" charset="0"/>
                        </a:rPr>
                        <a:t>void ensureCapacity(int minCapacity)</a:t>
                      </a:r>
                    </a:p>
                  </a:txBody>
                  <a:tcPr/>
                </a:tc>
                <a:tc>
                  <a:txBody>
                    <a:bodyPr/>
                    <a:lstStyle/>
                    <a:p>
                      <a:r>
                        <a:rPr lang="en-US" sz="1200" dirty="0">
                          <a:latin typeface="Arial" panose="020B0604020202020204" pitchFamily="34" charset="0"/>
                          <a:cs typeface="Arial" panose="020B0604020202020204" pitchFamily="34" charset="0"/>
                        </a:rPr>
                        <a:t>Manually increases the capacity of this ArrayList instance, if necessary, to ensure that it can hold at least the number of elements specified by the minimum capacity argument.</a:t>
                      </a:r>
                    </a:p>
                  </a:txBody>
                  <a:tcPr/>
                </a:tc>
                <a:tc>
                  <a:txBody>
                    <a:bodyPr/>
                    <a:lstStyle/>
                    <a:p>
                      <a:r>
                        <a:rPr lang="en-US" sz="1200" dirty="0">
                          <a:latin typeface="Arial" panose="020B0604020202020204" pitchFamily="34" charset="0"/>
                          <a:cs typeface="Arial" panose="020B0604020202020204" pitchFamily="34" charset="0"/>
                        </a:rPr>
                        <a:t>names.ensureCapacity(15); increases capacity to at least 15</a:t>
                      </a:r>
                    </a:p>
                  </a:txBody>
                  <a:tcPr/>
                </a:tc>
                <a:extLst>
                  <a:ext uri="{0D108BD9-81ED-4DB2-BD59-A6C34878D82A}">
                    <a16:rowId xmlns:a16="http://schemas.microsoft.com/office/drawing/2014/main" val="3287752244"/>
                  </a:ext>
                </a:extLst>
              </a:tr>
              <a:tr h="370840">
                <a:tc>
                  <a:txBody>
                    <a:bodyPr/>
                    <a:lstStyle/>
                    <a:p>
                      <a:r>
                        <a:rPr lang="en-US" sz="1200" dirty="0">
                          <a:latin typeface="Arial" panose="020B0604020202020204" pitchFamily="34" charset="0"/>
                          <a:cs typeface="Arial" panose="020B0604020202020204" pitchFamily="34" charset="0"/>
                        </a:rPr>
                        <a:t>Object get(int index)</a:t>
                      </a:r>
                    </a:p>
                  </a:txBody>
                  <a:tcPr/>
                </a:tc>
                <a:tc>
                  <a:txBody>
                    <a:bodyPr/>
                    <a:lstStyle/>
                    <a:p>
                      <a:r>
                        <a:rPr lang="en-US" sz="1200" dirty="0">
                          <a:latin typeface="Arial" panose="020B0604020202020204" pitchFamily="34" charset="0"/>
                          <a:cs typeface="Arial" panose="020B0604020202020204" pitchFamily="34" charset="0"/>
                        </a:rPr>
                        <a:t>Returns the element at the specified position in this list. Throws IndexOutOfBoundsException if the specified index is out of range (index &lt; 0 || index &gt;= size()).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ArrayListExampleAddAtIndex.java</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For our example of names </a:t>
                      </a:r>
                    </a:p>
                    <a:p>
                      <a:r>
                        <a:rPr lang="en-US" sz="1200" dirty="0">
                          <a:latin typeface="Arial" panose="020B0604020202020204" pitchFamily="34" charset="0"/>
                          <a:cs typeface="Arial" panose="020B0604020202020204" pitchFamily="34" charset="0"/>
                        </a:rPr>
                        <a:t>names.get(1) returns a reference to the String “Bob”</a:t>
                      </a:r>
                    </a:p>
                    <a:p>
                      <a:r>
                        <a:rPr lang="en-US" sz="1200" dirty="0">
                          <a:latin typeface="Arial" panose="020B0604020202020204" pitchFamily="34" charset="0"/>
                          <a:cs typeface="Arial" panose="020B0604020202020204" pitchFamily="34" charset="0"/>
                        </a:rPr>
                        <a:t>Also see </a:t>
                      </a:r>
                      <a:r>
                        <a:rPr lang="en-US" sz="1200" dirty="0">
                          <a:solidFill>
                            <a:srgbClr val="FF0000"/>
                          </a:solidFill>
                          <a:latin typeface="Arial" panose="020B0604020202020204" pitchFamily="34" charset="0"/>
                          <a:cs typeface="Arial" panose="020B0604020202020204" pitchFamily="34" charset="0"/>
                        </a:rPr>
                        <a:t>CharacterArrayListExample.java</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038987126"/>
                  </a:ext>
                </a:extLst>
              </a:tr>
              <a:tr h="370840">
                <a:tc>
                  <a:txBody>
                    <a:bodyPr/>
                    <a:lstStyle/>
                    <a:p>
                      <a:r>
                        <a:rPr lang="en-US" sz="1200" dirty="0">
                          <a:latin typeface="Arial" panose="020B0604020202020204" pitchFamily="34" charset="0"/>
                          <a:cs typeface="Arial" panose="020B0604020202020204" pitchFamily="34" charset="0"/>
                        </a:rPr>
                        <a:t>boolean contains(Object obj)</a:t>
                      </a:r>
                    </a:p>
                  </a:txBody>
                  <a:tcPr/>
                </a:tc>
                <a:tc>
                  <a:txBody>
                    <a:bodyPr/>
                    <a:lstStyle/>
                    <a:p>
                      <a:r>
                        <a:rPr lang="en-US" sz="1200" dirty="0">
                          <a:latin typeface="Arial" panose="020B0604020202020204" pitchFamily="34" charset="0"/>
                          <a:cs typeface="Arial" panose="020B0604020202020204" pitchFamily="34" charset="0"/>
                        </a:rPr>
                        <a:t>Return true if the equals is true for an object in the ArrayList</a:t>
                      </a:r>
                    </a:p>
                  </a:txBody>
                  <a:tcPr/>
                </a:tc>
                <a:tc>
                  <a:txBody>
                    <a:bodyPr/>
                    <a:lstStyle/>
                    <a:p>
                      <a:r>
                        <a:rPr lang="en-US" sz="1200" dirty="0">
                          <a:latin typeface="Arial" panose="020B0604020202020204" pitchFamily="34" charset="0"/>
                          <a:cs typeface="Arial" panose="020B0604020202020204" pitchFamily="34" charset="0"/>
                        </a:rPr>
                        <a:t>See </a:t>
                      </a:r>
                      <a:r>
                        <a:rPr lang="en-US" sz="1200" b="0" dirty="0">
                          <a:solidFill>
                            <a:srgbClr val="FF0000"/>
                          </a:solidFill>
                          <a:latin typeface="Arial" panose="020B0604020202020204" pitchFamily="34" charset="0"/>
                          <a:cs typeface="Arial" panose="020B0604020202020204" pitchFamily="34" charset="0"/>
                        </a:rPr>
                        <a:t>ArrayListExampleContains.java</a:t>
                      </a:r>
                    </a:p>
                  </a:txBody>
                  <a:tcPr/>
                </a:tc>
                <a:extLst>
                  <a:ext uri="{0D108BD9-81ED-4DB2-BD59-A6C34878D82A}">
                    <a16:rowId xmlns:a16="http://schemas.microsoft.com/office/drawing/2014/main" val="2418411031"/>
                  </a:ext>
                </a:extLst>
              </a:tr>
            </a:tbl>
          </a:graphicData>
        </a:graphic>
      </p:graphicFrame>
      <p:sp>
        <p:nvSpPr>
          <p:cNvPr id="4" name="Slide Number Placeholder 3">
            <a:extLst>
              <a:ext uri="{FF2B5EF4-FFF2-40B4-BE49-F238E27FC236}">
                <a16:creationId xmlns:a16="http://schemas.microsoft.com/office/drawing/2014/main" id="{F96533FD-648B-284A-B49E-3E4F6F85F625}"/>
              </a:ext>
            </a:extLst>
          </p:cNvPr>
          <p:cNvSpPr>
            <a:spLocks noGrp="1"/>
          </p:cNvSpPr>
          <p:nvPr>
            <p:ph type="sldNum" sz="quarter" idx="12"/>
          </p:nvPr>
        </p:nvSpPr>
        <p:spPr/>
        <p:txBody>
          <a:bodyPr/>
          <a:lstStyle/>
          <a:p>
            <a:fld id="{13977939-A071-43C1-9268-F54CC2756BB5}" type="slidenum">
              <a:rPr lang="en-US" smtClean="0"/>
              <a:pPr/>
              <a:t>71</a:t>
            </a:fld>
            <a:endParaRPr lang="en-US" dirty="0"/>
          </a:p>
        </p:txBody>
      </p:sp>
    </p:spTree>
    <p:extLst>
      <p:ext uri="{BB962C8B-B14F-4D97-AF65-F5344CB8AC3E}">
        <p14:creationId xmlns:p14="http://schemas.microsoft.com/office/powerpoint/2010/main" val="9824380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B618-C420-3D46-BFE4-A3CEB4864C39}"/>
              </a:ext>
            </a:extLst>
          </p:cNvPr>
          <p:cNvSpPr>
            <a:spLocks noGrp="1"/>
          </p:cNvSpPr>
          <p:nvPr>
            <p:ph type="title"/>
          </p:nvPr>
        </p:nvSpPr>
        <p:spPr/>
        <p:txBody>
          <a:bodyPr>
            <a:noAutofit/>
          </a:bodyPr>
          <a:lstStyle/>
          <a:p>
            <a:r>
              <a:rPr lang="en-US" dirty="0"/>
              <a:t>Common Methods Of The ArrayList class (2)</a:t>
            </a:r>
          </a:p>
        </p:txBody>
      </p:sp>
      <p:graphicFrame>
        <p:nvGraphicFramePr>
          <p:cNvPr id="5" name="Content Placeholder 4">
            <a:extLst>
              <a:ext uri="{FF2B5EF4-FFF2-40B4-BE49-F238E27FC236}">
                <a16:creationId xmlns:a16="http://schemas.microsoft.com/office/drawing/2014/main" id="{502EF0B4-2FE3-9A4F-8EB0-E83BD4974F95}"/>
              </a:ext>
            </a:extLst>
          </p:cNvPr>
          <p:cNvGraphicFramePr>
            <a:graphicFrameLocks noGrp="1"/>
          </p:cNvGraphicFramePr>
          <p:nvPr>
            <p:ph idx="1"/>
            <p:extLst>
              <p:ext uri="{D42A27DB-BD31-4B8C-83A1-F6EECF244321}">
                <p14:modId xmlns:p14="http://schemas.microsoft.com/office/powerpoint/2010/main" val="741966940"/>
              </p:ext>
            </p:extLst>
          </p:nvPr>
        </p:nvGraphicFramePr>
        <p:xfrm>
          <a:off x="533400" y="990600"/>
          <a:ext cx="8305801" cy="5582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699374564"/>
                    </a:ext>
                  </a:extLst>
                </a:gridCol>
                <a:gridCol w="3048000">
                  <a:extLst>
                    <a:ext uri="{9D8B030D-6E8A-4147-A177-3AD203B41FA5}">
                      <a16:colId xmlns:a16="http://schemas.microsoft.com/office/drawing/2014/main" val="507387627"/>
                    </a:ext>
                  </a:extLst>
                </a:gridCol>
                <a:gridCol w="2971801">
                  <a:extLst>
                    <a:ext uri="{9D8B030D-6E8A-4147-A177-3AD203B41FA5}">
                      <a16:colId xmlns:a16="http://schemas.microsoft.com/office/drawing/2014/main" val="2188040667"/>
                    </a:ext>
                  </a:extLst>
                </a:gridCol>
              </a:tblGrid>
              <a:tr h="370840">
                <a:tc>
                  <a:txBody>
                    <a:bodyPr/>
                    <a:lstStyle/>
                    <a:p>
                      <a:r>
                        <a:rPr lang="en-US" sz="1200" dirty="0">
                          <a:latin typeface="Arial" panose="020B0604020202020204" pitchFamily="34" charset="0"/>
                          <a:cs typeface="Arial" panose="020B0604020202020204" pitchFamily="34" charset="0"/>
                        </a:rPr>
                        <a:t>Method Name</a:t>
                      </a:r>
                    </a:p>
                  </a:txBody>
                  <a:tcPr/>
                </a:tc>
                <a:tc>
                  <a:txBody>
                    <a:bodyPr/>
                    <a:lstStyle/>
                    <a:p>
                      <a:r>
                        <a:rPr lang="en-US" sz="1200" dirty="0">
                          <a:latin typeface="Arial" panose="020B0604020202020204" pitchFamily="34" charset="0"/>
                          <a:cs typeface="Arial" panose="020B0604020202020204" pitchFamily="34" charset="0"/>
                        </a:rPr>
                        <a:t>Description</a:t>
                      </a:r>
                    </a:p>
                  </a:txBody>
                  <a:tcPr/>
                </a:tc>
                <a:tc>
                  <a:txBody>
                    <a:bodyPr/>
                    <a:lstStyle/>
                    <a:p>
                      <a:r>
                        <a:rPr lang="en-US" sz="1200" dirty="0">
                          <a:latin typeface="Arial" panose="020B0604020202020204" pitchFamily="34" charset="0"/>
                          <a:cs typeface="Arial" panose="020B0604020202020204" pitchFamily="34" charset="0"/>
                        </a:rPr>
                        <a:t>Example</a:t>
                      </a:r>
                    </a:p>
                  </a:txBody>
                  <a:tcPr/>
                </a:tc>
                <a:extLst>
                  <a:ext uri="{0D108BD9-81ED-4DB2-BD59-A6C34878D82A}">
                    <a16:rowId xmlns:a16="http://schemas.microsoft.com/office/drawing/2014/main" val="4001337380"/>
                  </a:ext>
                </a:extLst>
              </a:tr>
              <a:tr h="370840">
                <a:tc>
                  <a:txBody>
                    <a:bodyPr/>
                    <a:lstStyle/>
                    <a:p>
                      <a:r>
                        <a:rPr lang="en-US" sz="1200" dirty="0">
                          <a:latin typeface="Arial" panose="020B0604020202020204" pitchFamily="34" charset="0"/>
                          <a:cs typeface="Arial" panose="020B0604020202020204" pitchFamily="34" charset="0"/>
                        </a:rPr>
                        <a:t>int indexOf(Object o)</a:t>
                      </a:r>
                    </a:p>
                  </a:txBody>
                  <a:tcPr/>
                </a:tc>
                <a:tc>
                  <a:txBody>
                    <a:bodyPr/>
                    <a:lstStyle/>
                    <a:p>
                      <a:r>
                        <a:rPr lang="en-US" sz="1200" dirty="0">
                          <a:latin typeface="Arial" panose="020B0604020202020204" pitchFamily="34" charset="0"/>
                          <a:cs typeface="Arial" panose="020B0604020202020204" pitchFamily="34" charset="0"/>
                        </a:rPr>
                        <a:t>Returns the index in the ArrayList of the first occurrence of the specified element, or -1 if the ArrayList does not contain this element.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ArrayListExampleRemove.java</a:t>
                      </a: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96467637"/>
                  </a:ext>
                </a:extLst>
              </a:tr>
              <a:tr h="370840">
                <a:tc>
                  <a:txBody>
                    <a:bodyPr/>
                    <a:lstStyle/>
                    <a:p>
                      <a:r>
                        <a:rPr lang="en-US" sz="1200" dirty="0">
                          <a:latin typeface="Arial" panose="020B0604020202020204" pitchFamily="34" charset="0"/>
                          <a:cs typeface="Arial" panose="020B0604020202020204" pitchFamily="34" charset="0"/>
                        </a:rPr>
                        <a:t>int lastIndexOf(Object o)</a:t>
                      </a:r>
                    </a:p>
                  </a:txBody>
                  <a:tcPr/>
                </a:tc>
                <a:tc>
                  <a:txBody>
                    <a:bodyPr/>
                    <a:lstStyle/>
                    <a:p>
                      <a:r>
                        <a:rPr lang="en-US" sz="1200" dirty="0">
                          <a:latin typeface="Arial" panose="020B0604020202020204" pitchFamily="34" charset="0"/>
                          <a:cs typeface="Arial" panose="020B0604020202020204" pitchFamily="34" charset="0"/>
                        </a:rPr>
                        <a:t>Returns the index in the ArrayList of the last occurrence of the specified element, or -1 if the ArrayList does not contain this element.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ArrayListExampleRemove.java</a:t>
                      </a:r>
                    </a:p>
                  </a:txBody>
                  <a:tcPr/>
                </a:tc>
                <a:extLst>
                  <a:ext uri="{0D108BD9-81ED-4DB2-BD59-A6C34878D82A}">
                    <a16:rowId xmlns:a16="http://schemas.microsoft.com/office/drawing/2014/main" val="910851679"/>
                  </a:ext>
                </a:extLst>
              </a:tr>
              <a:tr h="370840">
                <a:tc>
                  <a:txBody>
                    <a:bodyPr/>
                    <a:lstStyle/>
                    <a:p>
                      <a:r>
                        <a:rPr lang="en-US" sz="1200" dirty="0">
                          <a:latin typeface="Arial" panose="020B0604020202020204" pitchFamily="34" charset="0"/>
                          <a:cs typeface="Arial" panose="020B0604020202020204" pitchFamily="34" charset="0"/>
                        </a:rPr>
                        <a:t>Object remove(int index)</a:t>
                      </a:r>
                    </a:p>
                  </a:txBody>
                  <a:tcPr/>
                </a:tc>
                <a:tc>
                  <a:txBody>
                    <a:bodyPr/>
                    <a:lstStyle/>
                    <a:p>
                      <a:r>
                        <a:rPr lang="en-US" sz="1200" dirty="0">
                          <a:latin typeface="Arial" panose="020B0604020202020204" pitchFamily="34" charset="0"/>
                          <a:cs typeface="Arial" panose="020B0604020202020204" pitchFamily="34" charset="0"/>
                        </a:rPr>
                        <a:t>Removes the element at the specified position in the ArrayList. Throws IndexOutOfBoundsException if the index out is of range (index &lt; 0 || index &gt;= size()).</a:t>
                      </a:r>
                    </a:p>
                  </a:txBody>
                  <a:tcPr/>
                </a:tc>
                <a:tc>
                  <a:txBody>
                    <a:bodyPr/>
                    <a:lstStyle/>
                    <a:p>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ArrayListExampleRemove.java</a:t>
                      </a:r>
                    </a:p>
                  </a:txBody>
                  <a:tcPr/>
                </a:tc>
                <a:extLst>
                  <a:ext uri="{0D108BD9-81ED-4DB2-BD59-A6C34878D82A}">
                    <a16:rowId xmlns:a16="http://schemas.microsoft.com/office/drawing/2014/main" val="500601267"/>
                  </a:ext>
                </a:extLst>
              </a:tr>
              <a:tr h="370840">
                <a:tc>
                  <a:txBody>
                    <a:bodyPr/>
                    <a:lstStyle/>
                    <a:p>
                      <a:r>
                        <a:rPr lang="en-US" sz="1200" dirty="0">
                          <a:latin typeface="Arial" panose="020B0604020202020204" pitchFamily="34" charset="0"/>
                          <a:cs typeface="Arial" panose="020B0604020202020204" pitchFamily="34" charset="0"/>
                        </a:rPr>
                        <a:t>Object set(int index, Object element)</a:t>
                      </a:r>
                    </a:p>
                  </a:txBody>
                  <a:tcPr/>
                </a:tc>
                <a:tc>
                  <a:txBody>
                    <a:bodyPr/>
                    <a:lstStyle/>
                    <a:p>
                      <a:r>
                        <a:rPr lang="en-US" sz="1200" dirty="0">
                          <a:latin typeface="Arial" panose="020B0604020202020204" pitchFamily="34" charset="0"/>
                          <a:cs typeface="Arial" panose="020B0604020202020204" pitchFamily="34" charset="0"/>
                        </a:rPr>
                        <a:t>Replaces the element at the specified position in the ArrayList with the specified element. Throws IndexOutOfBoundsException if the specified index is out of range (index &lt; 0 || index &gt;= size()).</a:t>
                      </a:r>
                    </a:p>
                  </a:txBody>
                  <a:tcPr/>
                </a:tc>
                <a:tc>
                  <a:txBody>
                    <a:bodyPr/>
                    <a:lstStyle/>
                    <a:p>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ArrayListExampleSet.java</a:t>
                      </a:r>
                    </a:p>
                  </a:txBody>
                  <a:tcPr/>
                </a:tc>
                <a:extLst>
                  <a:ext uri="{0D108BD9-81ED-4DB2-BD59-A6C34878D82A}">
                    <a16:rowId xmlns:a16="http://schemas.microsoft.com/office/drawing/2014/main" val="3287752244"/>
                  </a:ext>
                </a:extLst>
              </a:tr>
              <a:tr h="370840">
                <a:tc>
                  <a:txBody>
                    <a:bodyPr/>
                    <a:lstStyle/>
                    <a:p>
                      <a:r>
                        <a:rPr lang="en-US" sz="1200" dirty="0">
                          <a:latin typeface="Arial" panose="020B0604020202020204" pitchFamily="34" charset="0"/>
                          <a:cs typeface="Arial" panose="020B0604020202020204" pitchFamily="34" charset="0"/>
                        </a:rPr>
                        <a:t>int size()</a:t>
                      </a:r>
                    </a:p>
                  </a:txBody>
                  <a:tcPr/>
                </a:tc>
                <a:tc>
                  <a:txBody>
                    <a:bodyPr/>
                    <a:lstStyle/>
                    <a:p>
                      <a:r>
                        <a:rPr lang="en-US" sz="1200" dirty="0">
                          <a:latin typeface="Arial" panose="020B0604020202020204" pitchFamily="34" charset="0"/>
                          <a:cs typeface="Arial" panose="020B0604020202020204" pitchFamily="34" charset="0"/>
                        </a:rPr>
                        <a:t>Returns the number of elements in the ArrayList.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ArrayListExample1.java</a:t>
                      </a:r>
                    </a:p>
                  </a:txBody>
                  <a:tcPr/>
                </a:tc>
                <a:extLst>
                  <a:ext uri="{0D108BD9-81ED-4DB2-BD59-A6C34878D82A}">
                    <a16:rowId xmlns:a16="http://schemas.microsoft.com/office/drawing/2014/main" val="2038987126"/>
                  </a:ext>
                </a:extLst>
              </a:tr>
              <a:tr h="370840">
                <a:tc>
                  <a:txBody>
                    <a:bodyPr/>
                    <a:lstStyle/>
                    <a:p>
                      <a:r>
                        <a:rPr lang="en-US" sz="1200" dirty="0">
                          <a:latin typeface="Arial" panose="020B0604020202020204" pitchFamily="34" charset="0"/>
                          <a:cs typeface="Arial" panose="020B0604020202020204" pitchFamily="34" charset="0"/>
                        </a:rPr>
                        <a:t>void trimToSize()</a:t>
                      </a:r>
                    </a:p>
                  </a:txBody>
                  <a:tcPr/>
                </a:tc>
                <a:tc>
                  <a:txBody>
                    <a:bodyPr/>
                    <a:lstStyle/>
                    <a:p>
                      <a:r>
                        <a:rPr lang="en-US" sz="1200" dirty="0">
                          <a:latin typeface="Arial" panose="020B0604020202020204" pitchFamily="34" charset="0"/>
                          <a:cs typeface="Arial" panose="020B0604020202020204" pitchFamily="34" charset="0"/>
                        </a:rPr>
                        <a:t>Trims the capacity of this ArrayList instance to be the ArrayList’s current size.</a:t>
                      </a:r>
                    </a:p>
                  </a:txBody>
                  <a:tcPr/>
                </a:tc>
                <a:tc>
                  <a:txBody>
                    <a:bodyPr/>
                    <a:lstStyle/>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229560063"/>
                  </a:ext>
                </a:extLst>
              </a:tr>
              <a:tr h="370840">
                <a:tc>
                  <a:txBody>
                    <a:bodyPr/>
                    <a:lstStyle/>
                    <a:p>
                      <a:r>
                        <a:rPr lang="en-US" sz="1200" dirty="0">
                          <a:latin typeface="Arial" panose="020B0604020202020204" pitchFamily="34" charset="0"/>
                          <a:cs typeface="Arial" panose="020B0604020202020204" pitchFamily="34" charset="0"/>
                        </a:rPr>
                        <a:t>Iterator iterator()</a:t>
                      </a:r>
                    </a:p>
                  </a:txBody>
                  <a:tcPr/>
                </a:tc>
                <a:tc>
                  <a:txBody>
                    <a:bodyPr/>
                    <a:lstStyle/>
                    <a:p>
                      <a:r>
                        <a:rPr lang="en-US" sz="1200" dirty="0">
                          <a:latin typeface="Arial" panose="020B0604020202020204" pitchFamily="34" charset="0"/>
                          <a:cs typeface="Arial" panose="020B0604020202020204" pitchFamily="34" charset="0"/>
                        </a:rPr>
                        <a:t>Returns an iterator object that can be used to go through a list</a:t>
                      </a:r>
                    </a:p>
                  </a:txBody>
                  <a:tcPr/>
                </a:tc>
                <a:tc>
                  <a:txBody>
                    <a:bodyPr/>
                    <a:lstStyle/>
                    <a:p>
                      <a:r>
                        <a:rPr lang="en-US" sz="1200" dirty="0">
                          <a:latin typeface="Arial" panose="020B0604020202020204" pitchFamily="34" charset="0"/>
                          <a:cs typeface="Arial" panose="020B0604020202020204" pitchFamily="34" charset="0"/>
                        </a:rPr>
                        <a:t>See </a:t>
                      </a:r>
                      <a:r>
                        <a:rPr lang="en-US" sz="1200" dirty="0">
                          <a:solidFill>
                            <a:srgbClr val="FF0000"/>
                          </a:solidFill>
                          <a:latin typeface="Arial" panose="020B0604020202020204" pitchFamily="34" charset="0"/>
                          <a:cs typeface="Arial" panose="020B0604020202020204" pitchFamily="34" charset="0"/>
                        </a:rPr>
                        <a:t>ArrayListExampleIterator.java</a:t>
                      </a:r>
                    </a:p>
                  </a:txBody>
                  <a:tcPr/>
                </a:tc>
                <a:extLst>
                  <a:ext uri="{0D108BD9-81ED-4DB2-BD59-A6C34878D82A}">
                    <a16:rowId xmlns:a16="http://schemas.microsoft.com/office/drawing/2014/main" val="2601980998"/>
                  </a:ext>
                </a:extLst>
              </a:tr>
            </a:tbl>
          </a:graphicData>
        </a:graphic>
      </p:graphicFrame>
      <p:sp>
        <p:nvSpPr>
          <p:cNvPr id="4" name="Slide Number Placeholder 3">
            <a:extLst>
              <a:ext uri="{FF2B5EF4-FFF2-40B4-BE49-F238E27FC236}">
                <a16:creationId xmlns:a16="http://schemas.microsoft.com/office/drawing/2014/main" id="{F96533FD-648B-284A-B49E-3E4F6F85F625}"/>
              </a:ext>
            </a:extLst>
          </p:cNvPr>
          <p:cNvSpPr>
            <a:spLocks noGrp="1"/>
          </p:cNvSpPr>
          <p:nvPr>
            <p:ph type="sldNum" sz="quarter" idx="12"/>
          </p:nvPr>
        </p:nvSpPr>
        <p:spPr/>
        <p:txBody>
          <a:bodyPr/>
          <a:lstStyle/>
          <a:p>
            <a:fld id="{13977939-A071-43C1-9268-F54CC2756BB5}" type="slidenum">
              <a:rPr lang="en-US" smtClean="0"/>
              <a:pPr/>
              <a:t>72</a:t>
            </a:fld>
            <a:endParaRPr lang="en-US" dirty="0"/>
          </a:p>
        </p:txBody>
      </p:sp>
    </p:spTree>
    <p:extLst>
      <p:ext uri="{BB962C8B-B14F-4D97-AF65-F5344CB8AC3E}">
        <p14:creationId xmlns:p14="http://schemas.microsoft.com/office/powerpoint/2010/main" val="40303796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A06E-86F4-097B-D625-E5B09D9421F3}"/>
              </a:ext>
            </a:extLst>
          </p:cNvPr>
          <p:cNvSpPr>
            <a:spLocks noGrp="1"/>
          </p:cNvSpPr>
          <p:nvPr>
            <p:ph type="title"/>
          </p:nvPr>
        </p:nvSpPr>
        <p:spPr/>
        <p:txBody>
          <a:bodyPr>
            <a:normAutofit fontScale="90000"/>
          </a:bodyPr>
          <a:lstStyle/>
          <a:p>
            <a:r>
              <a:rPr lang="en-US" dirty="0"/>
              <a:t>What Is The SequencedCollection Interface</a:t>
            </a:r>
          </a:p>
        </p:txBody>
      </p:sp>
      <p:sp>
        <p:nvSpPr>
          <p:cNvPr id="3" name="Content Placeholder 2">
            <a:extLst>
              <a:ext uri="{FF2B5EF4-FFF2-40B4-BE49-F238E27FC236}">
                <a16:creationId xmlns:a16="http://schemas.microsoft.com/office/drawing/2014/main" id="{C3CF3261-D4EB-CA59-2038-521AF74A6B95}"/>
              </a:ext>
            </a:extLst>
          </p:cNvPr>
          <p:cNvSpPr>
            <a:spLocks noGrp="1"/>
          </p:cNvSpPr>
          <p:nvPr>
            <p:ph idx="1"/>
          </p:nvPr>
        </p:nvSpPr>
        <p:spPr/>
        <p:txBody>
          <a:bodyPr/>
          <a:lstStyle/>
          <a:p>
            <a:r>
              <a:rPr lang="en-US" i="0" u="none" strike="noStrike" dirty="0">
                <a:solidFill>
                  <a:srgbClr val="000000"/>
                </a:solidFill>
                <a:effectLst/>
                <a:highlight>
                  <a:srgbClr val="FFFFFF"/>
                </a:highlight>
              </a:rPr>
              <a:t>The </a:t>
            </a:r>
            <a:r>
              <a:rPr lang="en-US" i="0" u="none" strike="noStrike" dirty="0">
                <a:solidFill>
                  <a:srgbClr val="000000"/>
                </a:solidFill>
                <a:effectLst/>
              </a:rPr>
              <a:t>Sequenced Collections</a:t>
            </a:r>
            <a:r>
              <a:rPr lang="en-US" i="0" u="none" strike="noStrike" dirty="0">
                <a:solidFill>
                  <a:srgbClr val="000000"/>
                </a:solidFill>
                <a:effectLst/>
                <a:highlight>
                  <a:srgbClr val="FFFFFF"/>
                </a:highlight>
              </a:rPr>
              <a:t> </a:t>
            </a:r>
            <a:r>
              <a:rPr lang="en-US" i="0" u="none" strike="noStrike" dirty="0">
                <a:solidFill>
                  <a:srgbClr val="000000"/>
                </a:solidFill>
                <a:effectLst/>
              </a:rPr>
              <a:t>feature injects new interfaces into the existing hierarchy, offering a seamless mechanism to access the first and last elements of a collection using built-in default methods. </a:t>
            </a:r>
          </a:p>
          <a:p>
            <a:pPr lvl="1"/>
            <a:r>
              <a:rPr lang="en-US" i="0" u="none" strike="noStrike" dirty="0">
                <a:solidFill>
                  <a:srgbClr val="000000"/>
                </a:solidFill>
                <a:effectLst/>
              </a:rPr>
              <a:t>Moreover, it provides support to obtain a reversed view of the collection.</a:t>
            </a:r>
          </a:p>
          <a:p>
            <a:pPr lvl="1"/>
            <a:r>
              <a:rPr lang="en-US" dirty="0">
                <a:solidFill>
                  <a:srgbClr val="000000"/>
                </a:solidFill>
              </a:rPr>
              <a:t>This has been done for consistency</a:t>
            </a:r>
            <a:endParaRPr lang="en-US" dirty="0"/>
          </a:p>
        </p:txBody>
      </p:sp>
      <p:sp>
        <p:nvSpPr>
          <p:cNvPr id="4" name="Slide Number Placeholder 3">
            <a:extLst>
              <a:ext uri="{FF2B5EF4-FFF2-40B4-BE49-F238E27FC236}">
                <a16:creationId xmlns:a16="http://schemas.microsoft.com/office/drawing/2014/main" id="{51BBD7B2-07CF-46FF-95A0-893860295DC1}"/>
              </a:ext>
            </a:extLst>
          </p:cNvPr>
          <p:cNvSpPr>
            <a:spLocks noGrp="1"/>
          </p:cNvSpPr>
          <p:nvPr>
            <p:ph type="sldNum" sz="quarter" idx="12"/>
          </p:nvPr>
        </p:nvSpPr>
        <p:spPr/>
        <p:txBody>
          <a:bodyPr/>
          <a:lstStyle/>
          <a:p>
            <a:fld id="{13977939-A071-43C1-9268-F54CC2756BB5}" type="slidenum">
              <a:rPr lang="en-US" smtClean="0"/>
              <a:pPr/>
              <a:t>73</a:t>
            </a:fld>
            <a:endParaRPr lang="en-US" dirty="0"/>
          </a:p>
        </p:txBody>
      </p:sp>
    </p:spTree>
    <p:extLst>
      <p:ext uri="{BB962C8B-B14F-4D97-AF65-F5344CB8AC3E}">
        <p14:creationId xmlns:p14="http://schemas.microsoft.com/office/powerpoint/2010/main" val="7663622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A1A5-9FFC-9D13-A2C8-758FE09BB51D}"/>
              </a:ext>
            </a:extLst>
          </p:cNvPr>
          <p:cNvSpPr>
            <a:spLocks noGrp="1"/>
          </p:cNvSpPr>
          <p:nvPr>
            <p:ph type="title"/>
          </p:nvPr>
        </p:nvSpPr>
        <p:spPr>
          <a:xfrm>
            <a:off x="228600" y="457200"/>
            <a:ext cx="8763000" cy="475488"/>
          </a:xfrm>
        </p:spPr>
        <p:txBody>
          <a:bodyPr>
            <a:noAutofit/>
          </a:bodyPr>
          <a:lstStyle/>
          <a:p>
            <a:r>
              <a:rPr lang="en-US" dirty="0"/>
              <a:t>The SequencedCollection Interface – New In Java 21</a:t>
            </a:r>
          </a:p>
        </p:txBody>
      </p:sp>
      <p:sp>
        <p:nvSpPr>
          <p:cNvPr id="4" name="Slide Number Placeholder 3">
            <a:extLst>
              <a:ext uri="{FF2B5EF4-FFF2-40B4-BE49-F238E27FC236}">
                <a16:creationId xmlns:a16="http://schemas.microsoft.com/office/drawing/2014/main" id="{092C106F-D10A-8817-B4AB-77072DE0C3F6}"/>
              </a:ext>
            </a:extLst>
          </p:cNvPr>
          <p:cNvSpPr>
            <a:spLocks noGrp="1"/>
          </p:cNvSpPr>
          <p:nvPr>
            <p:ph type="sldNum" sz="quarter" idx="12"/>
          </p:nvPr>
        </p:nvSpPr>
        <p:spPr/>
        <p:txBody>
          <a:bodyPr/>
          <a:lstStyle/>
          <a:p>
            <a:fld id="{13977939-A071-43C1-9268-F54CC2756BB5}" type="slidenum">
              <a:rPr lang="en-US" smtClean="0"/>
              <a:pPr/>
              <a:t>74</a:t>
            </a:fld>
            <a:endParaRPr lang="en-US" dirty="0"/>
          </a:p>
        </p:txBody>
      </p:sp>
      <p:pic>
        <p:nvPicPr>
          <p:cNvPr id="1026" name="Picture 2">
            <a:extLst>
              <a:ext uri="{FF2B5EF4-FFF2-40B4-BE49-F238E27FC236}">
                <a16:creationId xmlns:a16="http://schemas.microsoft.com/office/drawing/2014/main" id="{EBD9AC19-928B-F30D-45D6-52CCA2098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17434"/>
            <a:ext cx="8559800" cy="52214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0164303-46FB-BD22-1D76-44F53BE6382C}"/>
              </a:ext>
            </a:extLst>
          </p:cNvPr>
          <p:cNvSpPr txBox="1"/>
          <p:nvPr/>
        </p:nvSpPr>
        <p:spPr>
          <a:xfrm>
            <a:off x="3657600" y="6248400"/>
            <a:ext cx="3016788" cy="276999"/>
          </a:xfrm>
          <a:prstGeom prst="rect">
            <a:avLst/>
          </a:prstGeom>
          <a:noFill/>
        </p:spPr>
        <p:txBody>
          <a:bodyPr wrap="none" rtlCol="0">
            <a:spAutoFit/>
          </a:bodyPr>
          <a:lstStyle/>
          <a:p>
            <a:r>
              <a:rPr lang="en-US" sz="1200" dirty="0"/>
              <a:t>Only LinkedHashSet is a class on this chart</a:t>
            </a:r>
          </a:p>
        </p:txBody>
      </p:sp>
    </p:spTree>
    <p:extLst>
      <p:ext uri="{BB962C8B-B14F-4D97-AF65-F5344CB8AC3E}">
        <p14:creationId xmlns:p14="http://schemas.microsoft.com/office/powerpoint/2010/main" val="3014578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35663-ADE5-A0CD-D388-FA1F0EC5DFBD}"/>
              </a:ext>
            </a:extLst>
          </p:cNvPr>
          <p:cNvSpPr>
            <a:spLocks noGrp="1"/>
          </p:cNvSpPr>
          <p:nvPr>
            <p:ph type="title"/>
          </p:nvPr>
        </p:nvSpPr>
        <p:spPr>
          <a:xfrm>
            <a:off x="152400" y="304800"/>
            <a:ext cx="8915400" cy="475488"/>
          </a:xfrm>
        </p:spPr>
        <p:txBody>
          <a:bodyPr>
            <a:noAutofit/>
          </a:bodyPr>
          <a:lstStyle/>
          <a:p>
            <a:r>
              <a:rPr lang="en-US" dirty="0"/>
              <a:t>The SequencedCollection Interface – IFs and Classes </a:t>
            </a:r>
          </a:p>
        </p:txBody>
      </p:sp>
      <p:sp>
        <p:nvSpPr>
          <p:cNvPr id="4" name="Slide Number Placeholder 3">
            <a:extLst>
              <a:ext uri="{FF2B5EF4-FFF2-40B4-BE49-F238E27FC236}">
                <a16:creationId xmlns:a16="http://schemas.microsoft.com/office/drawing/2014/main" id="{D693DB39-5B8B-82B8-0287-8F0429799AA5}"/>
              </a:ext>
            </a:extLst>
          </p:cNvPr>
          <p:cNvSpPr>
            <a:spLocks noGrp="1"/>
          </p:cNvSpPr>
          <p:nvPr>
            <p:ph type="sldNum" sz="quarter" idx="12"/>
          </p:nvPr>
        </p:nvSpPr>
        <p:spPr/>
        <p:txBody>
          <a:bodyPr/>
          <a:lstStyle/>
          <a:p>
            <a:fld id="{13977939-A071-43C1-9268-F54CC2756BB5}" type="slidenum">
              <a:rPr lang="en-US" smtClean="0"/>
              <a:pPr/>
              <a:t>75</a:t>
            </a:fld>
            <a:endParaRPr lang="en-US" dirty="0"/>
          </a:p>
        </p:txBody>
      </p:sp>
      <p:pic>
        <p:nvPicPr>
          <p:cNvPr id="1026" name="Picture 2" descr="SequencedCollection and SequencedSet in the Java 21 class hierarchy">
            <a:extLst>
              <a:ext uri="{FF2B5EF4-FFF2-40B4-BE49-F238E27FC236}">
                <a16:creationId xmlns:a16="http://schemas.microsoft.com/office/drawing/2014/main" id="{75D1B6B9-4980-9833-1CF7-B24909478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054881"/>
            <a:ext cx="7696200" cy="5666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7973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A06E-86F4-097B-D625-E5B09D9421F3}"/>
              </a:ext>
            </a:extLst>
          </p:cNvPr>
          <p:cNvSpPr>
            <a:spLocks noGrp="1"/>
          </p:cNvSpPr>
          <p:nvPr>
            <p:ph type="title"/>
          </p:nvPr>
        </p:nvSpPr>
        <p:spPr>
          <a:xfrm>
            <a:off x="457200" y="76200"/>
            <a:ext cx="8229600" cy="475488"/>
          </a:xfrm>
        </p:spPr>
        <p:txBody>
          <a:bodyPr>
            <a:normAutofit fontScale="90000"/>
          </a:bodyPr>
          <a:lstStyle/>
          <a:p>
            <a:r>
              <a:rPr lang="en-US" dirty="0"/>
              <a:t>What Is The SequencedCollection Interface In Detail</a:t>
            </a:r>
          </a:p>
        </p:txBody>
      </p:sp>
      <p:sp>
        <p:nvSpPr>
          <p:cNvPr id="3" name="Content Placeholder 2">
            <a:extLst>
              <a:ext uri="{FF2B5EF4-FFF2-40B4-BE49-F238E27FC236}">
                <a16:creationId xmlns:a16="http://schemas.microsoft.com/office/drawing/2014/main" id="{C3CF3261-D4EB-CA59-2038-521AF74A6B95}"/>
              </a:ext>
            </a:extLst>
          </p:cNvPr>
          <p:cNvSpPr>
            <a:spLocks noGrp="1"/>
          </p:cNvSpPr>
          <p:nvPr>
            <p:ph idx="1"/>
          </p:nvPr>
        </p:nvSpPr>
        <p:spPr>
          <a:xfrm>
            <a:off x="152400" y="533400"/>
            <a:ext cx="8763000" cy="6324600"/>
          </a:xfrm>
        </p:spPr>
        <p:txBody>
          <a:bodyPr>
            <a:normAutofit fontScale="62500" lnSpcReduction="20000"/>
          </a:bodyPr>
          <a:lstStyle/>
          <a:p>
            <a:pPr marL="0" indent="0">
              <a:buNone/>
            </a:pPr>
            <a:r>
              <a:rPr lang="en-US" i="0" u="none" strike="noStrike" dirty="0">
                <a:solidFill>
                  <a:srgbClr val="000000"/>
                </a:solidFill>
                <a:effectLst/>
                <a:highlight>
                  <a:srgbClr val="FFFFFF"/>
                </a:highlight>
              </a:rPr>
              <a:t>This chart will be discussed in detail in Lesson 7</a:t>
            </a:r>
          </a:p>
          <a:p>
            <a:r>
              <a:rPr lang="en-US" i="0" u="none" strike="noStrike" dirty="0">
                <a:solidFill>
                  <a:srgbClr val="000000"/>
                </a:solidFill>
                <a:effectLst/>
                <a:highlight>
                  <a:srgbClr val="FFFFFF"/>
                </a:highlight>
              </a:rPr>
              <a:t>The </a:t>
            </a:r>
            <a:r>
              <a:rPr lang="en-US" i="0" u="none" strike="noStrike" dirty="0">
                <a:solidFill>
                  <a:srgbClr val="000000"/>
                </a:solidFill>
                <a:effectLst/>
              </a:rPr>
              <a:t>Sequenced Collections</a:t>
            </a:r>
            <a:r>
              <a:rPr lang="en-US" i="0" u="none" strike="noStrike" dirty="0">
                <a:solidFill>
                  <a:srgbClr val="000000"/>
                </a:solidFill>
                <a:effectLst/>
                <a:highlight>
                  <a:srgbClr val="FFFFFF"/>
                </a:highlight>
              </a:rPr>
              <a:t> </a:t>
            </a:r>
            <a:r>
              <a:rPr lang="en-US" i="0" u="none" strike="noStrike" dirty="0">
                <a:solidFill>
                  <a:srgbClr val="000000"/>
                </a:solidFill>
                <a:effectLst/>
              </a:rPr>
              <a:t>feature injects new interfaces into the existing hierarchy, offering a seamless mechanism to access the first and last elements of a collection using built-in default methods. </a:t>
            </a:r>
          </a:p>
          <a:p>
            <a:r>
              <a:rPr lang="en-US" dirty="0"/>
              <a:t>It is a collection that has a well-defined encounter order, that supports operations at both ends, and that is reversible. </a:t>
            </a:r>
          </a:p>
          <a:p>
            <a:pPr lvl="1"/>
            <a:r>
              <a:rPr lang="en-US" dirty="0"/>
              <a:t>The elements of a sequenced collection have an encounter order, where conceptually the elements have a linear arrangement from the first element to the last element. Given any two elements, one element is either before (closer to the first element) or after (closer to the last element) the other element.</a:t>
            </a:r>
          </a:p>
          <a:p>
            <a:pPr lvl="1"/>
            <a:r>
              <a:rPr lang="en-US" dirty="0"/>
              <a:t>This definition does not imply anything about physical positioning of elements, such as their locations in a computer's memory.</a:t>
            </a:r>
          </a:p>
          <a:p>
            <a:r>
              <a:rPr lang="en-US" dirty="0"/>
              <a:t>Several methods inherited from the Collection interface are required to operate on elements according to this collection's encounter order. </a:t>
            </a:r>
          </a:p>
          <a:p>
            <a:pPr lvl="1"/>
            <a:r>
              <a:rPr lang="en-US" dirty="0"/>
              <a:t>For instance, the iterator method provides elements starting from the first element, proceeding through successive elements, until the last element. </a:t>
            </a:r>
          </a:p>
          <a:p>
            <a:pPr lvl="1"/>
            <a:r>
              <a:rPr lang="en-US" dirty="0"/>
              <a:t>Other methods that are required to operate on elements in encounter order include the following: forEach, parallelStream, spliterator, stream, and all overloads of the toArray method.</a:t>
            </a:r>
          </a:p>
          <a:p>
            <a:r>
              <a:rPr lang="en-US" dirty="0"/>
              <a:t>This interface provides methods to add, retrieve, and remove elements at either end of the collection.</a:t>
            </a:r>
          </a:p>
          <a:p>
            <a:r>
              <a:rPr lang="en-US" dirty="0"/>
              <a:t>This interface also defines the reversed method, which provides a reverse-ordered view of this collection. In the reverse-ordered view, the concepts of first and last are inverted, as are the concepts of successor and predecessor. </a:t>
            </a:r>
          </a:p>
          <a:p>
            <a:pPr lvl="1"/>
            <a:r>
              <a:rPr lang="en-US" dirty="0"/>
              <a:t>The first element of this collection is the last element of the reverse-ordered view, and vice-versa. The successor of some element in this collection is its predecessor in the reversed view, and vice-versa. </a:t>
            </a:r>
          </a:p>
          <a:p>
            <a:pPr lvl="1"/>
            <a:r>
              <a:rPr lang="en-US" dirty="0"/>
              <a:t>All methods that respect the encounter order of the collection operate as if the encounter order is inverted. </a:t>
            </a:r>
          </a:p>
          <a:p>
            <a:pPr lvl="1"/>
            <a:r>
              <a:rPr lang="en-US" dirty="0"/>
              <a:t>For instance, the Collection.iterator() method of the reversed view reports the elements in order from the last element of this collection to the first</a:t>
            </a:r>
          </a:p>
        </p:txBody>
      </p:sp>
      <p:sp>
        <p:nvSpPr>
          <p:cNvPr id="4" name="Slide Number Placeholder 3">
            <a:extLst>
              <a:ext uri="{FF2B5EF4-FFF2-40B4-BE49-F238E27FC236}">
                <a16:creationId xmlns:a16="http://schemas.microsoft.com/office/drawing/2014/main" id="{51BBD7B2-07CF-46FF-95A0-893860295DC1}"/>
              </a:ext>
            </a:extLst>
          </p:cNvPr>
          <p:cNvSpPr>
            <a:spLocks noGrp="1"/>
          </p:cNvSpPr>
          <p:nvPr>
            <p:ph type="sldNum" sz="quarter" idx="12"/>
          </p:nvPr>
        </p:nvSpPr>
        <p:spPr/>
        <p:txBody>
          <a:bodyPr/>
          <a:lstStyle/>
          <a:p>
            <a:fld id="{13977939-A071-43C1-9268-F54CC2756BB5}" type="slidenum">
              <a:rPr lang="en-US" smtClean="0"/>
              <a:pPr/>
              <a:t>76</a:t>
            </a:fld>
            <a:endParaRPr lang="en-US" dirty="0"/>
          </a:p>
        </p:txBody>
      </p:sp>
    </p:spTree>
    <p:extLst>
      <p:ext uri="{BB962C8B-B14F-4D97-AF65-F5344CB8AC3E}">
        <p14:creationId xmlns:p14="http://schemas.microsoft.com/office/powerpoint/2010/main" val="41338813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8B618-C420-3D46-BFE4-A3CEB4864C39}"/>
              </a:ext>
            </a:extLst>
          </p:cNvPr>
          <p:cNvSpPr>
            <a:spLocks noGrp="1"/>
          </p:cNvSpPr>
          <p:nvPr>
            <p:ph type="title"/>
          </p:nvPr>
        </p:nvSpPr>
        <p:spPr>
          <a:xfrm>
            <a:off x="457200" y="381000"/>
            <a:ext cx="8458200" cy="475488"/>
          </a:xfrm>
        </p:spPr>
        <p:txBody>
          <a:bodyPr>
            <a:noAutofit/>
          </a:bodyPr>
          <a:lstStyle/>
          <a:p>
            <a:r>
              <a:rPr lang="en-US" sz="2900" dirty="0"/>
              <a:t>New Methods Of The ArrayList class Added In Java 21 – Inherited Via SequencedCollection</a:t>
            </a:r>
          </a:p>
        </p:txBody>
      </p:sp>
      <p:graphicFrame>
        <p:nvGraphicFramePr>
          <p:cNvPr id="5" name="Content Placeholder 4">
            <a:extLst>
              <a:ext uri="{FF2B5EF4-FFF2-40B4-BE49-F238E27FC236}">
                <a16:creationId xmlns:a16="http://schemas.microsoft.com/office/drawing/2014/main" id="{502EF0B4-2FE3-9A4F-8EB0-E83BD4974F95}"/>
              </a:ext>
            </a:extLst>
          </p:cNvPr>
          <p:cNvGraphicFramePr>
            <a:graphicFrameLocks noGrp="1"/>
          </p:cNvGraphicFramePr>
          <p:nvPr>
            <p:ph idx="1"/>
          </p:nvPr>
        </p:nvGraphicFramePr>
        <p:xfrm>
          <a:off x="457200" y="914400"/>
          <a:ext cx="8534400" cy="4556941"/>
        </p:xfrm>
        <a:graphic>
          <a:graphicData uri="http://schemas.openxmlformats.org/drawingml/2006/table">
            <a:tbl>
              <a:tblPr firstRow="1" bandRow="1">
                <a:tableStyleId>{5C22544A-7EE6-4342-B048-85BDC9FD1C3A}</a:tableStyleId>
              </a:tblPr>
              <a:tblGrid>
                <a:gridCol w="2527852">
                  <a:extLst>
                    <a:ext uri="{9D8B030D-6E8A-4147-A177-3AD203B41FA5}">
                      <a16:colId xmlns:a16="http://schemas.microsoft.com/office/drawing/2014/main" val="2699374564"/>
                    </a:ext>
                  </a:extLst>
                </a:gridCol>
                <a:gridCol w="6006548">
                  <a:extLst>
                    <a:ext uri="{9D8B030D-6E8A-4147-A177-3AD203B41FA5}">
                      <a16:colId xmlns:a16="http://schemas.microsoft.com/office/drawing/2014/main" val="507387627"/>
                    </a:ext>
                  </a:extLst>
                </a:gridCol>
              </a:tblGrid>
              <a:tr h="370840">
                <a:tc>
                  <a:txBody>
                    <a:bodyPr/>
                    <a:lstStyle/>
                    <a:p>
                      <a:r>
                        <a:rPr lang="en-US" sz="1200" dirty="0">
                          <a:latin typeface="Arial" panose="020B0604020202020204" pitchFamily="34" charset="0"/>
                          <a:cs typeface="Arial" panose="020B0604020202020204" pitchFamily="34" charset="0"/>
                        </a:rPr>
                        <a:t>Method Name</a:t>
                      </a:r>
                    </a:p>
                  </a:txBody>
                  <a:tcPr/>
                </a:tc>
                <a:tc>
                  <a:txBody>
                    <a:bodyPr/>
                    <a:lstStyle/>
                    <a:p>
                      <a:r>
                        <a:rPr lang="en-US" sz="1200" dirty="0">
                          <a:latin typeface="Arial" panose="020B0604020202020204" pitchFamily="34" charset="0"/>
                          <a:cs typeface="Arial" panose="020B0604020202020204" pitchFamily="34" charset="0"/>
                        </a:rPr>
                        <a:t>Description</a:t>
                      </a:r>
                    </a:p>
                  </a:txBody>
                  <a:tcPr/>
                </a:tc>
                <a:extLst>
                  <a:ext uri="{0D108BD9-81ED-4DB2-BD59-A6C34878D82A}">
                    <a16:rowId xmlns:a16="http://schemas.microsoft.com/office/drawing/2014/main" val="4001337380"/>
                  </a:ext>
                </a:extLst>
              </a:tr>
              <a:tr h="370840">
                <a:tc>
                  <a:txBody>
                    <a:bodyPr/>
                    <a:lstStyle/>
                    <a:p>
                      <a:r>
                        <a:rPr kumimoji="0" lang="en-US" sz="1200" b="0" i="0" u="none" strike="noStrike" kern="1200" dirty="0">
                          <a:solidFill>
                            <a:schemeClr val="dk1"/>
                          </a:solidFill>
                          <a:effectLst/>
                          <a:latin typeface="+mn-lt"/>
                          <a:ea typeface="+mn-ea"/>
                          <a:cs typeface="+mn-cs"/>
                        </a:rPr>
                        <a:t>default void addFirst(E e)</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Adds an element as the first element of this collection (optional operation). After this operation completes normally, the given element will be a member of this collection, and it will be the first element in encounter order.</a:t>
                      </a:r>
                    </a:p>
                  </a:txBody>
                  <a:tcPr/>
                </a:tc>
                <a:extLst>
                  <a:ext uri="{0D108BD9-81ED-4DB2-BD59-A6C34878D82A}">
                    <a16:rowId xmlns:a16="http://schemas.microsoft.com/office/drawing/2014/main" val="1696467637"/>
                  </a:ext>
                </a:extLst>
              </a:tr>
              <a:tr h="370840">
                <a:tc>
                  <a:txBody>
                    <a:bodyPr/>
                    <a:lstStyle/>
                    <a:p>
                      <a:r>
                        <a:rPr kumimoji="0" lang="en-US" sz="1200" b="0" i="0" u="none" strike="noStrike" kern="1200" dirty="0">
                          <a:solidFill>
                            <a:schemeClr val="dk1"/>
                          </a:solidFill>
                          <a:effectLst/>
                          <a:latin typeface="+mn-lt"/>
                          <a:ea typeface="+mn-ea"/>
                          <a:cs typeface="+mn-cs"/>
                        </a:rPr>
                        <a:t>default void addLast(E e)</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Adds an element as the last element of this collection (optional operation). After this operation completes normally, the given element will be a member of this collection, and it will be the last element in encounter order</a:t>
                      </a:r>
                    </a:p>
                  </a:txBody>
                  <a:tcPr/>
                </a:tc>
                <a:extLst>
                  <a:ext uri="{0D108BD9-81ED-4DB2-BD59-A6C34878D82A}">
                    <a16:rowId xmlns:a16="http://schemas.microsoft.com/office/drawing/2014/main" val="910851679"/>
                  </a:ext>
                </a:extLst>
              </a:tr>
              <a:tr h="421821">
                <a:tc>
                  <a:txBody>
                    <a:bodyPr/>
                    <a:lstStyle/>
                    <a:p>
                      <a:r>
                        <a:rPr kumimoji="0" lang="en-US" sz="1200" b="0" i="0" u="none" strike="noStrike" kern="1200" dirty="0">
                          <a:solidFill>
                            <a:schemeClr val="dk1"/>
                          </a:solidFill>
                          <a:effectLst/>
                          <a:latin typeface="+mn-lt"/>
                          <a:ea typeface="+mn-ea"/>
                          <a:cs typeface="+mn-cs"/>
                        </a:rPr>
                        <a:t>default E getFirst()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Gets the first element of this collection.</a:t>
                      </a:r>
                    </a:p>
                  </a:txBody>
                  <a:tcPr/>
                </a:tc>
                <a:extLst>
                  <a:ext uri="{0D108BD9-81ED-4DB2-BD59-A6C34878D82A}">
                    <a16:rowId xmlns:a16="http://schemas.microsoft.com/office/drawing/2014/main" val="5006012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default E getLast()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Gets the last element of this collection.</a:t>
                      </a:r>
                    </a:p>
                  </a:txBody>
                  <a:tcPr/>
                </a:tc>
                <a:extLst>
                  <a:ext uri="{0D108BD9-81ED-4DB2-BD59-A6C34878D82A}">
                    <a16:rowId xmlns:a16="http://schemas.microsoft.com/office/drawing/2014/main" val="32877522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default E removeFirst()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Removes and returns the first element of this collection</a:t>
                      </a:r>
                    </a:p>
                  </a:txBody>
                  <a:tcPr/>
                </a:tc>
                <a:extLst>
                  <a:ext uri="{0D108BD9-81ED-4DB2-BD59-A6C34878D82A}">
                    <a16:rowId xmlns:a16="http://schemas.microsoft.com/office/drawing/2014/main" val="20389871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default E removeLast()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Removes and returns the last element of this collection</a:t>
                      </a:r>
                    </a:p>
                  </a:txBody>
                  <a:tcPr/>
                </a:tc>
                <a:extLst>
                  <a:ext uri="{0D108BD9-81ED-4DB2-BD59-A6C34878D82A}">
                    <a16:rowId xmlns:a16="http://schemas.microsoft.com/office/drawing/2014/main" val="12295600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SequencedCollection&lt;E&gt; reversed()</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Returns a reverse-ordered view of this collection. The encounter order of elements in the returned view is the inverse of the encounter order of elements in this collection. The reverse ordering affects all order-sensitive operations, including those on the view collections of the returned view. If the collection implementation permits modifications to this view, the modifications "write through" to the underlying collection. </a:t>
                      </a:r>
                    </a:p>
                    <a:p>
                      <a:r>
                        <a:rPr lang="en-US" sz="1200" dirty="0">
                          <a:latin typeface="Arial" panose="020B0604020202020204" pitchFamily="34" charset="0"/>
                          <a:cs typeface="Arial" panose="020B0604020202020204" pitchFamily="34" charset="0"/>
                        </a:rPr>
                        <a:t>Note this is implemented as a default method in List</a:t>
                      </a:r>
                    </a:p>
                    <a:p>
                      <a:r>
                        <a:rPr lang="en-US" sz="1200" dirty="0">
                          <a:solidFill>
                            <a:srgbClr val="FF0000"/>
                          </a:solidFill>
                          <a:latin typeface="Arial" panose="020B0604020202020204" pitchFamily="34" charset="0"/>
                          <a:cs typeface="Arial" panose="020B0604020202020204" pitchFamily="34" charset="0"/>
                        </a:rPr>
                        <a:t>Note: Doesn’t change the original ArrayList</a:t>
                      </a:r>
                    </a:p>
                  </a:txBody>
                  <a:tcPr/>
                </a:tc>
                <a:extLst>
                  <a:ext uri="{0D108BD9-81ED-4DB2-BD59-A6C34878D82A}">
                    <a16:rowId xmlns:a16="http://schemas.microsoft.com/office/drawing/2014/main" val="2601980998"/>
                  </a:ext>
                </a:extLst>
              </a:tr>
            </a:tbl>
          </a:graphicData>
        </a:graphic>
      </p:graphicFrame>
      <p:sp>
        <p:nvSpPr>
          <p:cNvPr id="4" name="Slide Number Placeholder 3">
            <a:extLst>
              <a:ext uri="{FF2B5EF4-FFF2-40B4-BE49-F238E27FC236}">
                <a16:creationId xmlns:a16="http://schemas.microsoft.com/office/drawing/2014/main" id="{F96533FD-648B-284A-B49E-3E4F6F85F625}"/>
              </a:ext>
            </a:extLst>
          </p:cNvPr>
          <p:cNvSpPr>
            <a:spLocks noGrp="1"/>
          </p:cNvSpPr>
          <p:nvPr>
            <p:ph type="sldNum" sz="quarter" idx="12"/>
          </p:nvPr>
        </p:nvSpPr>
        <p:spPr/>
        <p:txBody>
          <a:bodyPr/>
          <a:lstStyle/>
          <a:p>
            <a:fld id="{13977939-A071-43C1-9268-F54CC2756BB5}" type="slidenum">
              <a:rPr lang="en-US" smtClean="0"/>
              <a:pPr/>
              <a:t>77</a:t>
            </a:fld>
            <a:endParaRPr lang="en-US" dirty="0"/>
          </a:p>
        </p:txBody>
      </p:sp>
      <p:sp>
        <p:nvSpPr>
          <p:cNvPr id="3" name="TextBox 2">
            <a:extLst>
              <a:ext uri="{FF2B5EF4-FFF2-40B4-BE49-F238E27FC236}">
                <a16:creationId xmlns:a16="http://schemas.microsoft.com/office/drawing/2014/main" id="{065D1A66-A8F7-4B45-9A9F-A0CCBEB99843}"/>
              </a:ext>
            </a:extLst>
          </p:cNvPr>
          <p:cNvSpPr txBox="1"/>
          <p:nvPr/>
        </p:nvSpPr>
        <p:spPr>
          <a:xfrm>
            <a:off x="1371600" y="5486400"/>
            <a:ext cx="6858000" cy="1384995"/>
          </a:xfrm>
          <a:prstGeom prst="rect">
            <a:avLst/>
          </a:prstGeom>
          <a:noFill/>
        </p:spPr>
        <p:txBody>
          <a:bodyPr wrap="square" rtlCol="0">
            <a:spAutoFit/>
          </a:bodyPr>
          <a:lstStyle/>
          <a:p>
            <a:r>
              <a:rPr lang="en-US" sz="1200" dirty="0"/>
              <a:t>Note all but reversed (which is abstract) are default, but are typically </a:t>
            </a:r>
          </a:p>
          <a:p>
            <a:r>
              <a:rPr lang="en-US" sz="1200" dirty="0"/>
              <a:t>overridden in the specific implementation</a:t>
            </a:r>
          </a:p>
          <a:p>
            <a:pPr marL="285750" indent="-285750">
              <a:buFont typeface="Arial" panose="020B0604020202020204" pitchFamily="34" charset="0"/>
              <a:buChar char="•"/>
            </a:pPr>
            <a:r>
              <a:rPr lang="en-US" sz="1200" dirty="0"/>
              <a:t>The add*() and remove*() methods are optional and throw an UnsupportedOperationException in their default implementation, primarily to support the case of unmodifiable collections and collections with an already defined sorting order. </a:t>
            </a:r>
          </a:p>
          <a:p>
            <a:pPr marL="285750" indent="-285750">
              <a:buFont typeface="Arial" panose="020B0604020202020204" pitchFamily="34" charset="0"/>
              <a:buChar char="•"/>
            </a:pPr>
            <a:r>
              <a:rPr lang="en-US" sz="1200" dirty="0"/>
              <a:t>The get*() and remove*() methods throw NoSuchElementException if the collection is empty.</a:t>
            </a:r>
          </a:p>
          <a:p>
            <a:r>
              <a:rPr lang="en-US" sz="1200" dirty="0"/>
              <a:t>See SequencedALExample.java</a:t>
            </a:r>
          </a:p>
        </p:txBody>
      </p:sp>
    </p:spTree>
    <p:extLst>
      <p:ext uri="{BB962C8B-B14F-4D97-AF65-F5344CB8AC3E}">
        <p14:creationId xmlns:p14="http://schemas.microsoft.com/office/powerpoint/2010/main" val="24828473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CBBB92-8EF1-B548-8068-EA450862FF3F}"/>
              </a:ext>
            </a:extLst>
          </p:cNvPr>
          <p:cNvSpPr>
            <a:spLocks noGrp="1"/>
          </p:cNvSpPr>
          <p:nvPr>
            <p:ph type="body" idx="1"/>
          </p:nvPr>
        </p:nvSpPr>
        <p:spPr/>
        <p:txBody>
          <a:bodyPr/>
          <a:lstStyle/>
          <a:p>
            <a:r>
              <a:rPr lang="en-US" dirty="0"/>
              <a:t>The Iterator interface</a:t>
            </a:r>
          </a:p>
        </p:txBody>
      </p:sp>
      <p:sp>
        <p:nvSpPr>
          <p:cNvPr id="4" name="Slide Number Placeholder 3">
            <a:extLst>
              <a:ext uri="{FF2B5EF4-FFF2-40B4-BE49-F238E27FC236}">
                <a16:creationId xmlns:a16="http://schemas.microsoft.com/office/drawing/2014/main" id="{799A903D-6071-EE48-9B65-64BF068A359D}"/>
              </a:ext>
            </a:extLst>
          </p:cNvPr>
          <p:cNvSpPr>
            <a:spLocks noGrp="1"/>
          </p:cNvSpPr>
          <p:nvPr>
            <p:ph type="sldNum" sz="quarter" idx="12"/>
          </p:nvPr>
        </p:nvSpPr>
        <p:spPr/>
        <p:txBody>
          <a:bodyPr/>
          <a:lstStyle/>
          <a:p>
            <a:fld id="{13977939-A071-43C1-9268-F54CC2756BB5}" type="slidenum">
              <a:rPr lang="en-US" smtClean="0"/>
              <a:pPr/>
              <a:t>78</a:t>
            </a:fld>
            <a:endParaRPr lang="en-US" dirty="0"/>
          </a:p>
        </p:txBody>
      </p:sp>
    </p:spTree>
    <p:extLst>
      <p:ext uri="{BB962C8B-B14F-4D97-AF65-F5344CB8AC3E}">
        <p14:creationId xmlns:p14="http://schemas.microsoft.com/office/powerpoint/2010/main" val="38261034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0857-D093-0F47-9F86-ECC4B5C11022}"/>
              </a:ext>
            </a:extLst>
          </p:cNvPr>
          <p:cNvSpPr>
            <a:spLocks noGrp="1"/>
          </p:cNvSpPr>
          <p:nvPr>
            <p:ph type="title"/>
          </p:nvPr>
        </p:nvSpPr>
        <p:spPr>
          <a:xfrm>
            <a:off x="457200" y="0"/>
            <a:ext cx="8001000" cy="475488"/>
          </a:xfrm>
        </p:spPr>
        <p:txBody>
          <a:bodyPr>
            <a:noAutofit/>
          </a:bodyPr>
          <a:lstStyle/>
          <a:p>
            <a:r>
              <a:rPr lang="en-US" dirty="0"/>
              <a:t>Using The Iterator And iterator() Method</a:t>
            </a:r>
          </a:p>
        </p:txBody>
      </p:sp>
      <p:sp>
        <p:nvSpPr>
          <p:cNvPr id="3" name="Content Placeholder 2">
            <a:extLst>
              <a:ext uri="{FF2B5EF4-FFF2-40B4-BE49-F238E27FC236}">
                <a16:creationId xmlns:a16="http://schemas.microsoft.com/office/drawing/2014/main" id="{45ED5F4A-6283-2C4E-A1F8-5CECECA7B7A8}"/>
              </a:ext>
            </a:extLst>
          </p:cNvPr>
          <p:cNvSpPr>
            <a:spLocks noGrp="1"/>
          </p:cNvSpPr>
          <p:nvPr>
            <p:ph idx="1"/>
          </p:nvPr>
        </p:nvSpPr>
        <p:spPr>
          <a:xfrm>
            <a:off x="457200" y="533400"/>
            <a:ext cx="8229600" cy="6324600"/>
          </a:xfrm>
        </p:spPr>
        <p:txBody>
          <a:bodyPr>
            <a:normAutofit fontScale="70000" lnSpcReduction="20000"/>
          </a:bodyPr>
          <a:lstStyle/>
          <a:p>
            <a:r>
              <a:rPr lang="en-US" dirty="0"/>
              <a:t>Often you wish to access the elements of an ArrayList one by one, in order</a:t>
            </a:r>
          </a:p>
          <a:p>
            <a:pPr lvl="1"/>
            <a:r>
              <a:rPr lang="en-US" dirty="0"/>
              <a:t>You could write a counting loop </a:t>
            </a:r>
          </a:p>
          <a:p>
            <a:pPr lvl="1"/>
            <a:r>
              <a:rPr lang="en-US" dirty="0"/>
              <a:t>You can use an Iterator object. </a:t>
            </a:r>
          </a:p>
          <a:p>
            <a:r>
              <a:rPr lang="en-US" dirty="0"/>
              <a:t>The Interface Collection Iterable interface (in java.lang) provides an </a:t>
            </a:r>
            <a:r>
              <a:rPr lang="en-US" dirty="0">
                <a:solidFill>
                  <a:srgbClr val="FF0000"/>
                </a:solidFill>
              </a:rPr>
              <a:t>iterator()</a:t>
            </a:r>
            <a:r>
              <a:rPr lang="en-US" dirty="0"/>
              <a:t> method that returns a reference for an Iterator over the elements in this list in proper sequence, which allows a program to walk through the collection and remove elements from the collection during the iteration.</a:t>
            </a:r>
          </a:p>
          <a:p>
            <a:pPr lvl="1"/>
            <a:r>
              <a:rPr lang="en-US" dirty="0"/>
              <a:t>Note the Iterator reference only works for classes that implement Iterable</a:t>
            </a:r>
          </a:p>
          <a:p>
            <a:r>
              <a:rPr lang="en-US" dirty="0"/>
              <a:t>To get an Iterator object (in java.util), use the iterator method of the appropriate List:</a:t>
            </a:r>
            <a:br>
              <a:rPr lang="en-US" dirty="0"/>
            </a:br>
            <a:r>
              <a:rPr lang="en-US" dirty="0"/>
              <a:t>Iterator&lt;E&gt; iterator() // Returns an Iterator i.e.</a:t>
            </a:r>
          </a:p>
          <a:p>
            <a:pPr marL="365760" lvl="1" indent="0">
              <a:buNone/>
            </a:pPr>
            <a:r>
              <a:rPr lang="en-US" dirty="0"/>
              <a:t>Iterator&lt;String&gt; iter = names.iterator(); //creates an Iterator object</a:t>
            </a:r>
          </a:p>
          <a:p>
            <a:pPr marL="365760" lvl="1" indent="0">
              <a:buNone/>
            </a:pPr>
            <a:r>
              <a:rPr lang="en-US" dirty="0"/>
              <a:t>Note: The method iterator() creates the Iterator interface (we don’t use new directly)</a:t>
            </a:r>
          </a:p>
          <a:p>
            <a:pPr marL="708660" lvl="1" indent="-342900"/>
            <a:r>
              <a:rPr lang="en-US" dirty="0"/>
              <a:t>ArrayList implements the Iterable interface</a:t>
            </a:r>
          </a:p>
          <a:p>
            <a:pPr marL="708660" lvl="1" indent="-342900"/>
            <a:r>
              <a:rPr lang="en-US" dirty="0"/>
              <a:t> iterator() is the only non-default method in this interface</a:t>
            </a:r>
          </a:p>
          <a:p>
            <a:r>
              <a:rPr lang="en-US" dirty="0"/>
              <a:t>An Iterator object is used to visit the elements of a list one by one</a:t>
            </a:r>
          </a:p>
          <a:p>
            <a:pPr lvl="1"/>
            <a:r>
              <a:rPr lang="en-US" dirty="0"/>
              <a:t>It visits only the cells that have data (so you don't need to worry about going past the end of data)</a:t>
            </a:r>
          </a:p>
          <a:p>
            <a:pPr lvl="1"/>
            <a:r>
              <a:rPr lang="en-US" dirty="0"/>
              <a:t>This is more convenient than writing a loop</a:t>
            </a:r>
          </a:p>
          <a:p>
            <a:pPr lvl="1"/>
            <a:r>
              <a:rPr lang="en-US" dirty="0"/>
              <a:t>Need to be careful if you insert null values and then try to use methods with a null reference</a:t>
            </a:r>
          </a:p>
        </p:txBody>
      </p:sp>
      <p:sp>
        <p:nvSpPr>
          <p:cNvPr id="4" name="Slide Number Placeholder 3">
            <a:extLst>
              <a:ext uri="{FF2B5EF4-FFF2-40B4-BE49-F238E27FC236}">
                <a16:creationId xmlns:a16="http://schemas.microsoft.com/office/drawing/2014/main" id="{7E6CADB7-D9D3-3F49-9244-9A702286B699}"/>
              </a:ext>
            </a:extLst>
          </p:cNvPr>
          <p:cNvSpPr>
            <a:spLocks noGrp="1"/>
          </p:cNvSpPr>
          <p:nvPr>
            <p:ph type="sldNum" sz="quarter" idx="12"/>
          </p:nvPr>
        </p:nvSpPr>
        <p:spPr/>
        <p:txBody>
          <a:bodyPr/>
          <a:lstStyle/>
          <a:p>
            <a:fld id="{13977939-A071-43C1-9268-F54CC2756BB5}" type="slidenum">
              <a:rPr lang="en-US" smtClean="0"/>
              <a:pPr/>
              <a:t>79</a:t>
            </a:fld>
            <a:endParaRPr lang="en-US" dirty="0"/>
          </a:p>
        </p:txBody>
      </p:sp>
    </p:spTree>
    <p:extLst>
      <p:ext uri="{BB962C8B-B14F-4D97-AF65-F5344CB8AC3E}">
        <p14:creationId xmlns:p14="http://schemas.microsoft.com/office/powerpoint/2010/main" val="38004990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206BC-C49B-1341-B447-E3EB0392E308}"/>
              </a:ext>
            </a:extLst>
          </p:cNvPr>
          <p:cNvSpPr>
            <a:spLocks noGrp="1"/>
          </p:cNvSpPr>
          <p:nvPr>
            <p:ph type="title"/>
          </p:nvPr>
        </p:nvSpPr>
        <p:spPr>
          <a:xfrm>
            <a:off x="457200" y="76200"/>
            <a:ext cx="8229600" cy="475488"/>
          </a:xfrm>
        </p:spPr>
        <p:txBody>
          <a:bodyPr>
            <a:noAutofit/>
          </a:bodyPr>
          <a:lstStyle/>
          <a:p>
            <a:r>
              <a:rPr lang="en-US" dirty="0"/>
              <a:t>Iterator Methods</a:t>
            </a:r>
          </a:p>
        </p:txBody>
      </p:sp>
      <p:sp>
        <p:nvSpPr>
          <p:cNvPr id="3" name="Content Placeholder 2">
            <a:extLst>
              <a:ext uri="{FF2B5EF4-FFF2-40B4-BE49-F238E27FC236}">
                <a16:creationId xmlns:a16="http://schemas.microsoft.com/office/drawing/2014/main" id="{CD49EE17-3325-2D4D-B9C8-D67649A0F0F7}"/>
              </a:ext>
            </a:extLst>
          </p:cNvPr>
          <p:cNvSpPr>
            <a:spLocks noGrp="1"/>
          </p:cNvSpPr>
          <p:nvPr>
            <p:ph idx="1"/>
          </p:nvPr>
        </p:nvSpPr>
        <p:spPr>
          <a:xfrm>
            <a:off x="457200" y="609600"/>
            <a:ext cx="8229600" cy="6111875"/>
          </a:xfrm>
        </p:spPr>
        <p:txBody>
          <a:bodyPr>
            <a:normAutofit fontScale="77500" lnSpcReduction="20000"/>
          </a:bodyPr>
          <a:lstStyle/>
          <a:p>
            <a:r>
              <a:rPr lang="en-US" dirty="0"/>
              <a:t>An iterator implements the Iterator&lt;E&gt; interface, which has the following methods:</a:t>
            </a:r>
            <a:br>
              <a:rPr lang="en-US" dirty="0"/>
            </a:br>
            <a:r>
              <a:rPr lang="en-US" dirty="0">
                <a:solidFill>
                  <a:srgbClr val="FF0000"/>
                </a:solidFill>
              </a:rPr>
              <a:t>boolean hasNext() </a:t>
            </a:r>
            <a:r>
              <a:rPr lang="en-US" dirty="0"/>
              <a:t>// Returns true if not all elements have been visited – doesn’t move the cursor</a:t>
            </a:r>
          </a:p>
          <a:p>
            <a:pPr marL="365760" lvl="1" indent="0">
              <a:buNone/>
            </a:pPr>
            <a:r>
              <a:rPr lang="en-US" dirty="0">
                <a:solidFill>
                  <a:srgbClr val="FF0000"/>
                </a:solidFill>
              </a:rPr>
              <a:t>E next() </a:t>
            </a:r>
            <a:r>
              <a:rPr lang="en-US" dirty="0"/>
              <a:t>// Returns the next element of the list, a reference to type E, and moves the cursor</a:t>
            </a:r>
          </a:p>
          <a:p>
            <a:pPr marL="288925" lvl="1" indent="0">
              <a:buNone/>
            </a:pPr>
            <a:r>
              <a:rPr lang="en-US" dirty="0">
                <a:solidFill>
                  <a:srgbClr val="FF0000"/>
                </a:solidFill>
              </a:rPr>
              <a:t>void remove() </a:t>
            </a:r>
            <a:r>
              <a:rPr lang="en-US" dirty="0"/>
              <a:t>// Remove from the list the element just returned by next()</a:t>
            </a:r>
          </a:p>
          <a:p>
            <a:pPr marL="288925" lvl="1" indent="0">
              <a:buNone/>
            </a:pPr>
            <a:r>
              <a:rPr lang="en-US" dirty="0"/>
              <a:t>There is also a forEachRemaining method which we won’t be discussing</a:t>
            </a:r>
          </a:p>
          <a:p>
            <a:pPr marL="484632" indent="-457200"/>
            <a:r>
              <a:rPr lang="en-US" dirty="0"/>
              <a:t>You need to import the Iterator class:</a:t>
            </a:r>
          </a:p>
          <a:p>
            <a:pPr marL="393192" lvl="1" indent="0">
              <a:buNone/>
            </a:pPr>
            <a:r>
              <a:rPr lang="en-US" dirty="0"/>
              <a:t>import java.util.Iterator;//This is required even though the method is in the Iterable interface which is in java.lang</a:t>
            </a:r>
          </a:p>
          <a:p>
            <a:r>
              <a:rPr lang="en-US" b="1" dirty="0">
                <a:solidFill>
                  <a:srgbClr val="FF0000"/>
                </a:solidFill>
              </a:rPr>
              <a:t>Note</a:t>
            </a:r>
            <a:r>
              <a:rPr lang="en-US" dirty="0"/>
              <a:t>: If a collection is modified by one of its methods after an iterator is created for that collection, the iterator becomes invalid</a:t>
            </a:r>
          </a:p>
          <a:p>
            <a:pPr lvl="1"/>
            <a:r>
              <a:rPr lang="en-US" dirty="0"/>
              <a:t>Any operation performed with the iterator fails immediately and throws an exception. </a:t>
            </a:r>
          </a:p>
          <a:p>
            <a:pPr lvl="1"/>
            <a:r>
              <a:rPr lang="en-US" dirty="0"/>
              <a:t>This is called fast-fail</a:t>
            </a:r>
          </a:p>
          <a:p>
            <a:pPr lvl="2"/>
            <a:r>
              <a:rPr lang="en-US" dirty="0"/>
              <a:t>Fast-fail iterators help ensure that a modifiable collection is not manipulated by two or more threads at the same time.</a:t>
            </a:r>
          </a:p>
          <a:p>
            <a:pPr marL="393192" lvl="1" indent="0">
              <a:buNone/>
            </a:pPr>
            <a:endParaRPr lang="en-US" dirty="0"/>
          </a:p>
          <a:p>
            <a:pPr marL="393192" lvl="1" indent="0">
              <a:buNone/>
            </a:pPr>
            <a:r>
              <a:rPr lang="en-US" dirty="0"/>
              <a:t>See</a:t>
            </a:r>
            <a:r>
              <a:rPr lang="en-US" dirty="0">
                <a:solidFill>
                  <a:srgbClr val="FF0000"/>
                </a:solidFill>
              </a:rPr>
              <a:t> ArrayListExampleIterator.java</a:t>
            </a:r>
          </a:p>
        </p:txBody>
      </p:sp>
      <p:sp>
        <p:nvSpPr>
          <p:cNvPr id="4" name="Slide Number Placeholder 3">
            <a:extLst>
              <a:ext uri="{FF2B5EF4-FFF2-40B4-BE49-F238E27FC236}">
                <a16:creationId xmlns:a16="http://schemas.microsoft.com/office/drawing/2014/main" id="{14FE052F-9D26-AA43-BE91-DCAC0E8B77CA}"/>
              </a:ext>
            </a:extLst>
          </p:cNvPr>
          <p:cNvSpPr>
            <a:spLocks noGrp="1"/>
          </p:cNvSpPr>
          <p:nvPr>
            <p:ph type="sldNum" sz="quarter" idx="12"/>
          </p:nvPr>
        </p:nvSpPr>
        <p:spPr/>
        <p:txBody>
          <a:bodyPr/>
          <a:lstStyle/>
          <a:p>
            <a:fld id="{13977939-A071-43C1-9268-F54CC2756BB5}" type="slidenum">
              <a:rPr lang="en-US" smtClean="0"/>
              <a:pPr/>
              <a:t>80</a:t>
            </a:fld>
            <a:endParaRPr lang="en-US" dirty="0"/>
          </a:p>
        </p:txBody>
      </p:sp>
    </p:spTree>
    <p:extLst>
      <p:ext uri="{BB962C8B-B14F-4D97-AF65-F5344CB8AC3E}">
        <p14:creationId xmlns:p14="http://schemas.microsoft.com/office/powerpoint/2010/main" val="40045712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79092-1214-E046-9E47-EE07540CC3B3}"/>
              </a:ext>
            </a:extLst>
          </p:cNvPr>
          <p:cNvSpPr>
            <a:spLocks noGrp="1"/>
          </p:cNvSpPr>
          <p:nvPr>
            <p:ph type="title"/>
          </p:nvPr>
        </p:nvSpPr>
        <p:spPr>
          <a:xfrm>
            <a:off x="381000" y="457200"/>
            <a:ext cx="8229600" cy="475488"/>
          </a:xfrm>
        </p:spPr>
        <p:txBody>
          <a:bodyPr>
            <a:noAutofit/>
          </a:bodyPr>
          <a:lstStyle/>
          <a:p>
            <a:r>
              <a:rPr lang="en-US" dirty="0"/>
              <a:t>Using The Enhanced For Loop With The ArrayList </a:t>
            </a:r>
          </a:p>
        </p:txBody>
      </p:sp>
      <p:sp>
        <p:nvSpPr>
          <p:cNvPr id="3" name="Content Placeholder 2">
            <a:extLst>
              <a:ext uri="{FF2B5EF4-FFF2-40B4-BE49-F238E27FC236}">
                <a16:creationId xmlns:a16="http://schemas.microsoft.com/office/drawing/2014/main" id="{A0988D93-60CD-6B49-8E33-57345895B1B4}"/>
              </a:ext>
            </a:extLst>
          </p:cNvPr>
          <p:cNvSpPr>
            <a:spLocks noGrp="1"/>
          </p:cNvSpPr>
          <p:nvPr>
            <p:ph idx="1"/>
          </p:nvPr>
        </p:nvSpPr>
        <p:spPr>
          <a:xfrm>
            <a:off x="457200" y="1066800"/>
            <a:ext cx="8229600" cy="5379720"/>
          </a:xfrm>
        </p:spPr>
        <p:txBody>
          <a:bodyPr>
            <a:normAutofit fontScale="77500" lnSpcReduction="20000"/>
          </a:bodyPr>
          <a:lstStyle/>
          <a:p>
            <a:r>
              <a:rPr lang="en-US" dirty="0"/>
              <a:t>The enhanced for loop (sometimes called a "for each" loop) can be used with any class that implements the Iterable interface, such as ArrayList</a:t>
            </a:r>
          </a:p>
          <a:p>
            <a:pPr marL="0" indent="0">
              <a:buNone/>
            </a:pPr>
            <a:r>
              <a:rPr lang="en-US" dirty="0"/>
              <a:t>   </a:t>
            </a:r>
          </a:p>
          <a:p>
            <a:pPr marL="365760" lvl="1" indent="0">
              <a:buNone/>
            </a:pPr>
            <a:r>
              <a:rPr lang="en-US" dirty="0"/>
              <a:t>for (ClassName currentObject: ArrayListName)</a:t>
            </a:r>
          </a:p>
          <a:p>
            <a:pPr marL="365760" lvl="1" indent="0">
              <a:buNone/>
            </a:pPr>
            <a:r>
              <a:rPr lang="en-US" dirty="0"/>
              <a:t>{	</a:t>
            </a:r>
          </a:p>
          <a:p>
            <a:pPr marL="365760" lvl="1" indent="0">
              <a:buNone/>
            </a:pPr>
            <a:r>
              <a:rPr lang="en-US" dirty="0"/>
              <a:t>	Process currentObject </a:t>
            </a:r>
          </a:p>
          <a:p>
            <a:pPr marL="365760" lvl="1" indent="0">
              <a:buNone/>
            </a:pPr>
            <a:r>
              <a:rPr lang="en-US" dirty="0"/>
              <a:t>}</a:t>
            </a:r>
          </a:p>
          <a:p>
            <a:pPr marL="365760" lvl="1" indent="0">
              <a:buNone/>
            </a:pPr>
            <a:r>
              <a:rPr lang="en-US" dirty="0"/>
              <a:t> </a:t>
            </a:r>
          </a:p>
          <a:p>
            <a:r>
              <a:rPr lang="en-US" dirty="0"/>
              <a:t> The program does the same thing as we showed with the Iterator</a:t>
            </a:r>
          </a:p>
          <a:p>
            <a:pPr lvl="1"/>
            <a:r>
              <a:rPr lang="en-US" dirty="0"/>
              <a:t> The enhanced for loop accesses the String references in names and assigns them one-by-one to currentObject</a:t>
            </a:r>
          </a:p>
          <a:p>
            <a:r>
              <a:rPr lang="en-US" dirty="0"/>
              <a:t>With an enhanced for loop there is no danger an index will go out of bounds</a:t>
            </a:r>
          </a:p>
          <a:p>
            <a:pPr lvl="1"/>
            <a:r>
              <a:rPr lang="en-US" dirty="0"/>
              <a:t>The enhanced for loop only visits those cells that are not empty, beginning with cell zero</a:t>
            </a:r>
          </a:p>
          <a:p>
            <a:pPr lvl="1"/>
            <a:r>
              <a:rPr lang="en-US" dirty="0"/>
              <a:t>Since an ArrayList </a:t>
            </a:r>
            <a:r>
              <a:rPr lang="en-US" b="1" dirty="0">
                <a:solidFill>
                  <a:srgbClr val="FF0000"/>
                </a:solidFill>
              </a:rPr>
              <a:t>never has gaps </a:t>
            </a:r>
            <a:r>
              <a:rPr lang="en-US" dirty="0"/>
              <a:t>between cells, all occupied cells are visited</a:t>
            </a:r>
          </a:p>
          <a:p>
            <a:pPr lvl="1"/>
            <a:endParaRPr lang="en-US" dirty="0"/>
          </a:p>
          <a:p>
            <a:pPr marL="0" indent="0">
              <a:buNone/>
            </a:pPr>
            <a:r>
              <a:rPr lang="en-US" dirty="0"/>
              <a:t>See </a:t>
            </a:r>
            <a:r>
              <a:rPr lang="en-US" dirty="0">
                <a:solidFill>
                  <a:srgbClr val="FF0000"/>
                </a:solidFill>
              </a:rPr>
              <a:t>IntegersInArrayList.java</a:t>
            </a:r>
          </a:p>
        </p:txBody>
      </p:sp>
      <p:sp>
        <p:nvSpPr>
          <p:cNvPr id="4" name="Slide Number Placeholder 3">
            <a:extLst>
              <a:ext uri="{FF2B5EF4-FFF2-40B4-BE49-F238E27FC236}">
                <a16:creationId xmlns:a16="http://schemas.microsoft.com/office/drawing/2014/main" id="{213A2D00-760A-8243-83A5-949DF3921EFC}"/>
              </a:ext>
            </a:extLst>
          </p:cNvPr>
          <p:cNvSpPr>
            <a:spLocks noGrp="1"/>
          </p:cNvSpPr>
          <p:nvPr>
            <p:ph type="sldNum" sz="quarter" idx="12"/>
          </p:nvPr>
        </p:nvSpPr>
        <p:spPr/>
        <p:txBody>
          <a:bodyPr/>
          <a:lstStyle/>
          <a:p>
            <a:fld id="{13977939-A071-43C1-9268-F54CC2756BB5}" type="slidenum">
              <a:rPr lang="en-US" smtClean="0"/>
              <a:pPr/>
              <a:t>81</a:t>
            </a:fld>
            <a:endParaRPr lang="en-US" dirty="0"/>
          </a:p>
        </p:txBody>
      </p:sp>
    </p:spTree>
    <p:extLst>
      <p:ext uri="{BB962C8B-B14F-4D97-AF65-F5344CB8AC3E}">
        <p14:creationId xmlns:p14="http://schemas.microsoft.com/office/powerpoint/2010/main" val="15811898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79092-1214-E046-9E47-EE07540CC3B3}"/>
              </a:ext>
            </a:extLst>
          </p:cNvPr>
          <p:cNvSpPr>
            <a:spLocks noGrp="1"/>
          </p:cNvSpPr>
          <p:nvPr>
            <p:ph type="title"/>
          </p:nvPr>
        </p:nvSpPr>
        <p:spPr>
          <a:xfrm>
            <a:off x="381000" y="457200"/>
            <a:ext cx="8229600" cy="475488"/>
          </a:xfrm>
        </p:spPr>
        <p:txBody>
          <a:bodyPr>
            <a:noAutofit/>
          </a:bodyPr>
          <a:lstStyle/>
          <a:p>
            <a:r>
              <a:rPr lang="en-US" dirty="0"/>
              <a:t>Using The Enhanced For Loop When Nesting</a:t>
            </a:r>
          </a:p>
        </p:txBody>
      </p:sp>
      <p:sp>
        <p:nvSpPr>
          <p:cNvPr id="3" name="Content Placeholder 2">
            <a:extLst>
              <a:ext uri="{FF2B5EF4-FFF2-40B4-BE49-F238E27FC236}">
                <a16:creationId xmlns:a16="http://schemas.microsoft.com/office/drawing/2014/main" id="{A0988D93-60CD-6B49-8E33-57345895B1B4}"/>
              </a:ext>
            </a:extLst>
          </p:cNvPr>
          <p:cNvSpPr>
            <a:spLocks noGrp="1"/>
          </p:cNvSpPr>
          <p:nvPr>
            <p:ph idx="1"/>
          </p:nvPr>
        </p:nvSpPr>
        <p:spPr>
          <a:xfrm>
            <a:off x="457200" y="1066800"/>
            <a:ext cx="8229600" cy="5379720"/>
          </a:xfrm>
        </p:spPr>
        <p:txBody>
          <a:bodyPr>
            <a:normAutofit fontScale="92500"/>
          </a:bodyPr>
          <a:lstStyle/>
          <a:p>
            <a:pPr marL="0" indent="0">
              <a:buNone/>
            </a:pPr>
            <a:r>
              <a:rPr lang="en-US" dirty="0"/>
              <a:t>See </a:t>
            </a:r>
            <a:r>
              <a:rPr lang="en-US" dirty="0">
                <a:solidFill>
                  <a:srgbClr val="FF0000"/>
                </a:solidFill>
              </a:rPr>
              <a:t>NestedIterators.java </a:t>
            </a:r>
            <a:r>
              <a:rPr lang="en-US" dirty="0"/>
              <a:t>and</a:t>
            </a:r>
            <a:r>
              <a:rPr lang="en-US" dirty="0">
                <a:solidFill>
                  <a:srgbClr val="FF0000"/>
                </a:solidFill>
              </a:rPr>
              <a:t> NestedEnhancedFor.java</a:t>
            </a:r>
          </a:p>
          <a:p>
            <a:r>
              <a:rPr lang="en-US" dirty="0"/>
              <a:t>In the NestedIterators.java code we are calling the next() method again and again for itr1 (i.e., for Listl). </a:t>
            </a:r>
          </a:p>
          <a:p>
            <a:r>
              <a:rPr lang="en-US" dirty="0"/>
              <a:t>We are advancing the iterator without even checking if it has any more elements left in the collection(in the inner loop), thus we are advancing the iterator more than the number of elements in the collection which leads to NoSuchElementException.</a:t>
            </a:r>
          </a:p>
          <a:p>
            <a:endParaRPr lang="en-US" dirty="0"/>
          </a:p>
          <a:p>
            <a:r>
              <a:rPr lang="en-US" dirty="0"/>
              <a:t>Both Iterator and for-each loop are faster than simple for loop for collections with no random access, while in collections which allows random access there is no performance change with for-each loop/for loop/iterator.</a:t>
            </a:r>
          </a:p>
        </p:txBody>
      </p:sp>
      <p:sp>
        <p:nvSpPr>
          <p:cNvPr id="4" name="Slide Number Placeholder 3">
            <a:extLst>
              <a:ext uri="{FF2B5EF4-FFF2-40B4-BE49-F238E27FC236}">
                <a16:creationId xmlns:a16="http://schemas.microsoft.com/office/drawing/2014/main" id="{213A2D00-760A-8243-83A5-949DF3921EFC}"/>
              </a:ext>
            </a:extLst>
          </p:cNvPr>
          <p:cNvSpPr>
            <a:spLocks noGrp="1"/>
          </p:cNvSpPr>
          <p:nvPr>
            <p:ph type="sldNum" sz="quarter" idx="12"/>
          </p:nvPr>
        </p:nvSpPr>
        <p:spPr/>
        <p:txBody>
          <a:bodyPr/>
          <a:lstStyle/>
          <a:p>
            <a:fld id="{13977939-A071-43C1-9268-F54CC2756BB5}" type="slidenum">
              <a:rPr lang="en-US" smtClean="0"/>
              <a:pPr/>
              <a:t>82</a:t>
            </a:fld>
            <a:endParaRPr lang="en-US" dirty="0"/>
          </a:p>
        </p:txBody>
      </p:sp>
    </p:spTree>
    <p:extLst>
      <p:ext uri="{BB962C8B-B14F-4D97-AF65-F5344CB8AC3E}">
        <p14:creationId xmlns:p14="http://schemas.microsoft.com/office/powerpoint/2010/main" val="40598743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704088"/>
          </a:xfrm>
        </p:spPr>
        <p:txBody>
          <a:bodyPr>
            <a:normAutofit/>
          </a:bodyPr>
          <a:lstStyle/>
          <a:p>
            <a:r>
              <a:rPr lang="en-US" sz="3200" dirty="0"/>
              <a:t>Programming Exercises</a:t>
            </a:r>
          </a:p>
        </p:txBody>
      </p:sp>
      <p:sp>
        <p:nvSpPr>
          <p:cNvPr id="3" name="Content Placeholder 2"/>
          <p:cNvSpPr>
            <a:spLocks noGrp="1"/>
          </p:cNvSpPr>
          <p:nvPr>
            <p:ph idx="1"/>
          </p:nvPr>
        </p:nvSpPr>
        <p:spPr>
          <a:xfrm>
            <a:off x="457200" y="914400"/>
            <a:ext cx="8229600" cy="4876800"/>
          </a:xfrm>
        </p:spPr>
        <p:txBody>
          <a:bodyPr>
            <a:noAutofit/>
          </a:bodyPr>
          <a:lstStyle/>
          <a:p>
            <a:pPr marL="0" indent="0">
              <a:buNone/>
            </a:pPr>
            <a:r>
              <a:rPr lang="en-US" sz="2400" dirty="0">
                <a:latin typeface="Arial" pitchFamily="34" charset="0"/>
                <a:cs typeface="Arial" pitchFamily="34" charset="0"/>
              </a:rPr>
              <a:t>CollegeTranscript</a:t>
            </a:r>
          </a:p>
          <a:p>
            <a:pPr marL="0" indent="0">
              <a:buNone/>
            </a:pPr>
            <a:r>
              <a:rPr lang="en-US" sz="2400" dirty="0">
                <a:latin typeface="Arial" pitchFamily="34" charset="0"/>
                <a:cs typeface="Arial" pitchFamily="34" charset="0"/>
              </a:rPr>
              <a:t>A text file stores the courses you have taken along with the corresponding grade (A,B,C, D, F) that you received in each course. The file might look like:</a:t>
            </a:r>
          </a:p>
          <a:p>
            <a:pPr marL="0" indent="0">
              <a:buNone/>
            </a:pPr>
            <a:r>
              <a:rPr lang="en-US" sz="2400" dirty="0">
                <a:latin typeface="Arial" pitchFamily="34" charset="0"/>
                <a:cs typeface="Arial" pitchFamily="34" charset="0"/>
              </a:rPr>
              <a:t>Intro to Sociology           A</a:t>
            </a:r>
          </a:p>
          <a:p>
            <a:pPr marL="0" indent="0">
              <a:buNone/>
            </a:pPr>
            <a:r>
              <a:rPr lang="en-US" sz="2400" dirty="0">
                <a:latin typeface="Arial" pitchFamily="34" charset="0"/>
                <a:cs typeface="Arial" pitchFamily="34" charset="0"/>
              </a:rPr>
              <a:t>Physics                          B</a:t>
            </a:r>
          </a:p>
          <a:p>
            <a:pPr marL="0" indent="0">
              <a:buNone/>
            </a:pPr>
            <a:r>
              <a:rPr lang="en-US" sz="2400" dirty="0">
                <a:latin typeface="Arial" pitchFamily="34" charset="0"/>
                <a:cs typeface="Arial" pitchFamily="34" charset="0"/>
              </a:rPr>
              <a:t>Experimental Psych      C</a:t>
            </a:r>
          </a:p>
          <a:p>
            <a:pPr marL="0" indent="0">
              <a:buNone/>
            </a:pPr>
            <a:r>
              <a:rPr lang="en-US" sz="2400" dirty="0">
                <a:latin typeface="Arial" pitchFamily="34" charset="0"/>
                <a:cs typeface="Arial" pitchFamily="34" charset="0"/>
              </a:rPr>
              <a:t>o</a:t>
            </a:r>
          </a:p>
          <a:p>
            <a:pPr marL="0" indent="0">
              <a:buNone/>
            </a:pPr>
            <a:r>
              <a:rPr lang="en-US" sz="2400" dirty="0">
                <a:latin typeface="Arial" pitchFamily="34" charset="0"/>
                <a:cs typeface="Arial" pitchFamily="34" charset="0"/>
              </a:rPr>
              <a:t>o</a:t>
            </a:r>
          </a:p>
          <a:p>
            <a:pPr marL="0" indent="0">
              <a:buNone/>
            </a:pPr>
            <a:r>
              <a:rPr lang="en-US" sz="2400" dirty="0">
                <a:latin typeface="Arial" pitchFamily="34" charset="0"/>
                <a:cs typeface="Arial" pitchFamily="34" charset="0"/>
              </a:rPr>
              <a:t>o</a:t>
            </a:r>
          </a:p>
          <a:p>
            <a:pPr marL="0" indent="0">
              <a:buNone/>
            </a:pPr>
            <a:r>
              <a:rPr lang="en-US" sz="2400" dirty="0">
                <a:latin typeface="Arial" pitchFamily="34" charset="0"/>
                <a:cs typeface="Arial" pitchFamily="34" charset="0"/>
              </a:rPr>
              <a:t>Write a program that uses such a file to calculate a GPA.  Print the GPA with two decimal places.</a:t>
            </a:r>
          </a:p>
          <a:p>
            <a:pPr marL="0" indent="0">
              <a:buNone/>
            </a:pPr>
            <a:r>
              <a:rPr lang="en-US" sz="2400" dirty="0">
                <a:latin typeface="Arial" pitchFamily="34" charset="0"/>
                <a:cs typeface="Arial" pitchFamily="34" charset="0"/>
              </a:rPr>
              <a:t>Use </a:t>
            </a:r>
            <a:r>
              <a:rPr lang="en-US" sz="2400" dirty="0">
                <a:solidFill>
                  <a:srgbClr val="FF0000"/>
                </a:solidFill>
                <a:latin typeface="Arial" pitchFamily="34" charset="0"/>
                <a:cs typeface="Arial" pitchFamily="34" charset="0"/>
              </a:rPr>
              <a:t>collegetranscript_file.txt</a:t>
            </a:r>
          </a:p>
        </p:txBody>
      </p:sp>
      <p:sp>
        <p:nvSpPr>
          <p:cNvPr id="4" name="Slide Number Placeholder 3"/>
          <p:cNvSpPr>
            <a:spLocks noGrp="1"/>
          </p:cNvSpPr>
          <p:nvPr>
            <p:ph type="sldNum" sz="quarter" idx="12"/>
          </p:nvPr>
        </p:nvSpPr>
        <p:spPr/>
        <p:txBody>
          <a:bodyPr/>
          <a:lstStyle/>
          <a:p>
            <a:fld id="{13977939-A071-43C1-9268-F54CC2756BB5}" type="slidenum">
              <a:rPr lang="en-US" smtClean="0"/>
              <a:pPr/>
              <a:t>83</a:t>
            </a:fld>
            <a:endParaRPr lang="en-US" dirty="0"/>
          </a:p>
        </p:txBody>
      </p:sp>
    </p:spTree>
    <p:extLst>
      <p:ext uri="{BB962C8B-B14F-4D97-AF65-F5344CB8AC3E}">
        <p14:creationId xmlns:p14="http://schemas.microsoft.com/office/powerpoint/2010/main" val="28355745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13043</TotalTime>
  <Words>10539</Words>
  <Application>Microsoft Macintosh PowerPoint</Application>
  <PresentationFormat>On-screen Show (4:3)</PresentationFormat>
  <Paragraphs>1079</Paragraphs>
  <Slides>83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83</vt:i4>
      </vt:variant>
    </vt:vector>
  </HeadingPairs>
  <TitlesOfParts>
    <vt:vector size="89" baseType="lpstr">
      <vt:lpstr>Arial</vt:lpstr>
      <vt:lpstr>Calibri</vt:lpstr>
      <vt:lpstr>Constantia</vt:lpstr>
      <vt:lpstr>Times New Roman</vt:lpstr>
      <vt:lpstr>Wingdings 2</vt:lpstr>
      <vt:lpstr>Flow</vt:lpstr>
      <vt:lpstr>LESSON 2</vt:lpstr>
      <vt:lpstr>Course References</vt:lpstr>
      <vt:lpstr>Links</vt:lpstr>
      <vt:lpstr>Lesson Goals</vt:lpstr>
      <vt:lpstr>PowerPoint Presentation</vt:lpstr>
      <vt:lpstr>Obtaining Input Data Using Scanner</vt:lpstr>
      <vt:lpstr>There are 7 Input Methods Available For Primitive Data Types</vt:lpstr>
      <vt:lpstr>A Scanner Object Is Created From The Scanner Class</vt:lpstr>
      <vt:lpstr>The next() and nextLine() Methods (1)</vt:lpstr>
      <vt:lpstr>The nextLine() Method (2)</vt:lpstr>
      <vt:lpstr>Using the split() method to parse a String</vt:lpstr>
      <vt:lpstr>A String May Be Parsed To Extract Numeric Data </vt:lpstr>
      <vt:lpstr>Using A Scanner To Parse A String (2)</vt:lpstr>
      <vt:lpstr>A Practical Example Using Scanner</vt:lpstr>
      <vt:lpstr>PowerPoint Presentation</vt:lpstr>
      <vt:lpstr>Printing and Special Characters</vt:lpstr>
      <vt:lpstr>Printing Example</vt:lpstr>
      <vt:lpstr>Printing Example – Concatenation in Print Statements</vt:lpstr>
      <vt:lpstr>PowerPoint Presentation</vt:lpstr>
      <vt:lpstr>Notice And Warning</vt:lpstr>
      <vt:lpstr>Formatted Printing with printf (1)</vt:lpstr>
      <vt:lpstr>Formatted Printing with printf (2)</vt:lpstr>
      <vt:lpstr>Some Key Conversion Character Specifiers For Formatted Output</vt:lpstr>
      <vt:lpstr>Important Control Characters</vt:lpstr>
      <vt:lpstr>Formatted Integer Output Using The d Specifier</vt:lpstr>
      <vt:lpstr>Formatted Floating Point Output Using The f Specifier (1)</vt:lpstr>
      <vt:lpstr>Formatted Floating Point Output Using The f Specifier (2)</vt:lpstr>
      <vt:lpstr>Controlling Other Formatted Outputs (1)</vt:lpstr>
      <vt:lpstr>Formatted Printing With printf – Putting It All Together</vt:lpstr>
      <vt:lpstr>PowerPoint Presentation</vt:lpstr>
      <vt:lpstr>Files</vt:lpstr>
      <vt:lpstr>Processing Streams</vt:lpstr>
      <vt:lpstr>Input and Output Streams </vt:lpstr>
      <vt:lpstr>Java I/O Stream</vt:lpstr>
      <vt:lpstr>What Is A Binary File?</vt:lpstr>
      <vt:lpstr>Using Files in Java Programs </vt:lpstr>
      <vt:lpstr>Using Files in Java Programs – Input Files (1)</vt:lpstr>
      <vt:lpstr>Using Files in Java Programs – Input Files (2)</vt:lpstr>
      <vt:lpstr>Using Files in Java Programs – Input Files (2)</vt:lpstr>
      <vt:lpstr>Using Files in Java Programs – Input Files (3)</vt:lpstr>
      <vt:lpstr>Visualizing the Objects Used When Creating A Scanner</vt:lpstr>
      <vt:lpstr>Using Files in Java Programs – Output (1)</vt:lpstr>
      <vt:lpstr>Using Files in Java Programs – Output (2)</vt:lpstr>
      <vt:lpstr>Using Files in Java Programs – Output (3)</vt:lpstr>
      <vt:lpstr>Visualizing the File Objects for A PrintWriter</vt:lpstr>
      <vt:lpstr>Visualizing the File Objects for A FileWriter</vt:lpstr>
      <vt:lpstr>Examples: Reversal.java and Reversal2.java</vt:lpstr>
      <vt:lpstr>Example EncryptFile.java</vt:lpstr>
      <vt:lpstr>PowerPoint Presentation</vt:lpstr>
      <vt:lpstr>The Random class (1)</vt:lpstr>
      <vt:lpstr>The Random class (2)</vt:lpstr>
      <vt:lpstr>The Random class (3)</vt:lpstr>
      <vt:lpstr>The Random class (4)</vt:lpstr>
      <vt:lpstr>A Gaussian Distribution</vt:lpstr>
      <vt:lpstr>Using Random – An Example</vt:lpstr>
      <vt:lpstr>PowerPoint Presentation</vt:lpstr>
      <vt:lpstr>The var Reserved Type Name</vt:lpstr>
      <vt:lpstr>Why Have The var Reserved Type Name</vt:lpstr>
      <vt:lpstr>PowerPoint Presentation</vt:lpstr>
      <vt:lpstr>Data Structure Selection And Implementation Are Critical To Good Program Design</vt:lpstr>
      <vt:lpstr>Arrays and The ArrayList – Simple Definitions (1)</vt:lpstr>
      <vt:lpstr>Arrays and The ArrayList – Simple Definitions (2)</vt:lpstr>
      <vt:lpstr>A Simple Example Of The ArrayList</vt:lpstr>
      <vt:lpstr>Picturing Instantiation Of An ArrayList of String Objects</vt:lpstr>
      <vt:lpstr>Some  Basic Rules And Definitions</vt:lpstr>
      <vt:lpstr>Constructing An ArrayList Object (1)</vt:lpstr>
      <vt:lpstr>Constructing An ArrayList Object (2)</vt:lpstr>
      <vt:lpstr>Null and ArrayList </vt:lpstr>
      <vt:lpstr>Capacity And Size</vt:lpstr>
      <vt:lpstr>The ArrayList Implements The List Interface</vt:lpstr>
      <vt:lpstr>Common Methods Of The ArrayList class (1)</vt:lpstr>
      <vt:lpstr>Common Methods Of The ArrayList class (2)</vt:lpstr>
      <vt:lpstr>What Is The SequencedCollection Interface</vt:lpstr>
      <vt:lpstr>The SequencedCollection Interface – New In Java 21</vt:lpstr>
      <vt:lpstr>The SequencedCollection Interface – IFs and Classes </vt:lpstr>
      <vt:lpstr>What Is The SequencedCollection Interface In Detail</vt:lpstr>
      <vt:lpstr>New Methods Of The ArrayList class Added In Java 21 – Inherited Via SequencedCollection</vt:lpstr>
      <vt:lpstr>PowerPoint Presentation</vt:lpstr>
      <vt:lpstr>Using The Iterator And iterator() Method</vt:lpstr>
      <vt:lpstr>Iterator Methods</vt:lpstr>
      <vt:lpstr>Using The Enhanced For Loop With The ArrayList </vt:lpstr>
      <vt:lpstr>Using The Enhanced For Loop When Nesting</vt:lpstr>
      <vt:lpstr>Programming Exercises</vt:lpstr>
    </vt:vector>
  </TitlesOfParts>
  <Company>Northrop Grumman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Howard Rosenthal</dc:creator>
  <cp:lastModifiedBy>Howard Rosenthal</cp:lastModifiedBy>
  <cp:revision>928</cp:revision>
  <cp:lastPrinted>2019-02-10T00:27:07Z</cp:lastPrinted>
  <dcterms:created xsi:type="dcterms:W3CDTF">2013-08-30T21:41:43Z</dcterms:created>
  <dcterms:modified xsi:type="dcterms:W3CDTF">2026-06-10T21:21:12Z</dcterms:modified>
</cp:coreProperties>
</file>